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242255" y="0"/>
            <a:ext cx="6949440" cy="6858000"/>
          </a:xfrm>
          <a:prstGeom prst="rect">
            <a:avLst/>
          </a:prstGeom>
          <a:solidFill>
            <a:srgbClr val="EEF1F5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242255" y="3282696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A6472"/>
                </a:solidFill>
                <a:latin typeface="Noto Sans CJK KR"/>
              </a:rPr>
              <a:t>사진 미제출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242255" cy="6858000"/>
          </a:xfrm>
          <a:prstGeom prst="rect">
            <a:avLst/>
          </a:prstGeom>
          <a:solidFill>
            <a:srgbClr val="0C1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178247" y="0"/>
            <a:ext cx="64008" cy="685800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58368" y="1207008"/>
            <a:ext cx="41266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C9B386"/>
                </a:solidFill>
                <a:latin typeface="Noto Sans CJK KR"/>
              </a:rPr>
              <a:t>· INFORMATION MEMORANDUM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566928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8368" y="1623060"/>
            <a:ext cx="5669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</a:rPr>
              <a:t>매각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48256"/>
            <a:ext cx="4126687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Noto Sans CJK KR"/>
              </a:rPr>
              <a:t>잠원동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Noto Sans CJK KR"/>
              </a:rPr>
              <a:t>근생빌딩 매각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346704"/>
            <a:ext cx="412668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A9B6C8"/>
                </a:solidFill>
                <a:latin typeface="Noto Sans CJK KR"/>
              </a:rPr>
              <a:t>서울특별시 서초구 잠원동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621024"/>
            <a:ext cx="412668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A9B6C8"/>
                </a:solidFill>
                <a:latin typeface="Noto Sans CJK KR"/>
              </a:rPr>
              <a:t>잠원역 450m  ·  제2종일반주거지역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4096512"/>
            <a:ext cx="4126687" cy="27432"/>
          </a:xfrm>
          <a:prstGeom prst="rect">
            <a:avLst/>
          </a:prstGeom>
          <a:solidFill>
            <a:srgbClr val="2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" y="4224528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9FAFC5"/>
                </a:solidFill>
                <a:latin typeface="Noto Sans CJK KR"/>
              </a:rPr>
              <a:t>매매 희망가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1448" y="4151376"/>
            <a:ext cx="23436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000" b="1">
                <a:solidFill>
                  <a:srgbClr val="C00000"/>
                </a:solidFill>
                <a:latin typeface="Noto Sans CJK KR"/>
              </a:rPr>
              <a:t>80억원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4663440"/>
            <a:ext cx="4126687" cy="27432"/>
          </a:xfrm>
          <a:prstGeom prst="rect">
            <a:avLst/>
          </a:prstGeom>
          <a:solidFill>
            <a:srgbClr val="2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58368" y="479145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9FAFC5"/>
                </a:solidFill>
                <a:latin typeface="Noto Sans CJK KR"/>
              </a:rPr>
              <a:t>토지 평당가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41448" y="4718304"/>
            <a:ext cx="23436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Noto Sans CJK KR"/>
              </a:rPr>
              <a:t>4,293만원/평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5230368"/>
            <a:ext cx="4126687" cy="27432"/>
          </a:xfrm>
          <a:prstGeom prst="rect">
            <a:avLst/>
          </a:prstGeom>
          <a:solidFill>
            <a:srgbClr val="2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5358384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9FAFC5"/>
                </a:solidFill>
                <a:latin typeface="Noto Sans CJK KR"/>
              </a:rPr>
              <a:t>월 임대료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41448" y="5285232"/>
            <a:ext cx="23436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Noto Sans CJK KR"/>
              </a:rPr>
              <a:t>2,140만원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961888"/>
            <a:ext cx="412668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Noto Sans CJK KR"/>
              </a:rPr>
              <a:t>제이에스부동산중개(주)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236208"/>
            <a:ext cx="412668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B9BB2"/>
                </a:solidFill>
                <a:latin typeface="Noto Sans CJK KR"/>
              </a:rPr>
              <a:t>2026. 08   ·   본 자료는 투자 권유가 아닙니다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한 장 요약 · 제안 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1133856"/>
            <a:ext cx="4663440" cy="2395728"/>
          </a:xfrm>
          <a:prstGeom prst="rect">
            <a:avLst/>
          </a:prstGeom>
          <a:solidFill>
            <a:srgbClr val="EEF1F5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2185415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A6472"/>
                </a:solidFill>
                <a:latin typeface="Noto Sans CJK KR"/>
              </a:rPr>
              <a:t>사진 미제출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39312"/>
            <a:ext cx="2267712" cy="1755648"/>
          </a:xfrm>
          <a:prstGeom prst="rect">
            <a:avLst/>
          </a:prstGeom>
          <a:solidFill>
            <a:srgbClr val="EEF1F5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4370831"/>
            <a:ext cx="2267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A6472"/>
                </a:solidFill>
                <a:latin typeface="Noto Sans CJK KR"/>
              </a:rPr>
              <a:t>사진 미제출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44368" y="3639312"/>
            <a:ext cx="2267712" cy="1755648"/>
          </a:xfrm>
          <a:prstGeom prst="rect">
            <a:avLst/>
          </a:prstGeom>
          <a:solidFill>
            <a:srgbClr val="EEF1F5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944368" y="4370831"/>
            <a:ext cx="2267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A6472"/>
                </a:solidFill>
                <a:latin typeface="Noto Sans CJK KR"/>
              </a:rPr>
              <a:t>사진 미제출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04688" y="1239012"/>
            <a:ext cx="50292" cy="2560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687568" y="1188720"/>
            <a:ext cx="595548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Noto Sans CJK KR"/>
              </a:rPr>
              <a:t>잠원역(3호선) 450m · 도보 6분 — 강남대로 접근 600m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04688" y="1787651"/>
            <a:ext cx="50292" cy="2560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687568" y="1737360"/>
            <a:ext cx="595548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Noto Sans CJK KR"/>
              </a:rPr>
              <a:t>2필지 616.1㎡ — 제척 12.5㎡ 반영 시 유효 603.6㎡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04688" y="2336292"/>
            <a:ext cx="50292" cy="2560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687568" y="2286000"/>
            <a:ext cx="595548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Noto Sans CJK KR"/>
              </a:rPr>
              <a:t>토지 평당 4,293만원 — 인근 1.31억~1.62억 범위 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04688" y="2884932"/>
            <a:ext cx="50292" cy="2560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87568" y="2834639"/>
            <a:ext cx="595548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Noto Sans CJK KR"/>
              </a:rPr>
              <a:t>약국·의원·학원 등 5개 임차 · 지하 1층 공실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04688" y="3433572"/>
            <a:ext cx="50292" cy="2560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687568" y="3383280"/>
            <a:ext cx="595548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Noto Sans CJK KR"/>
              </a:rPr>
              <a:t>한시 완화 250% 조건 — 유효 기준 254.1%로 이탈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04688" y="4023359"/>
            <a:ext cx="6138367" cy="932688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705855" y="4169663"/>
            <a:ext cx="57360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A6472"/>
                </a:solidFill>
                <a:latin typeface="Noto Sans CJK KR"/>
              </a:rPr>
              <a:t>· 실투자금 · 월 순현금 (LTV 50% · 금리 4.5% 가정)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05855" y="4443983"/>
            <a:ext cx="28680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0161F"/>
                </a:solidFill>
                <a:latin typeface="Noto Sans CJK KR"/>
              </a:rPr>
              <a:t>41.20억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73871" y="4443983"/>
            <a:ext cx="28680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0161F"/>
                </a:solidFill>
                <a:latin typeface="Noto Sans CJK KR"/>
              </a:rPr>
              <a:t>+640만원/월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04688" y="5084064"/>
            <a:ext cx="6138367" cy="1298448"/>
          </a:xfrm>
          <a:prstGeom prst="rect">
            <a:avLst/>
          </a:prstGeom>
          <a:noFill/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504688" y="5084064"/>
            <a:ext cx="54864" cy="12984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724144" y="5212079"/>
            <a:ext cx="56994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00000"/>
                </a:solidFill>
                <a:latin typeface="Noto Sans CJK KR"/>
              </a:rPr>
              <a:t>확인 필요 7건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24144" y="5486400"/>
            <a:ext cx="569945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제척 12.5㎡ 관할 구청 확인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24144" y="5705856"/>
            <a:ext cx="569945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임대차계약 5건의 최초 계약일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24144" y="5925312"/>
            <a:ext cx="569945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임차인 대항력 요건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24144" y="6144768"/>
            <a:ext cx="569945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운영비 내역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Property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물건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52099" y="530352"/>
            <a:ext cx="790956" cy="292608"/>
          </a:xfrm>
          <a:prstGeom prst="rect">
            <a:avLst/>
          </a:prstGeom>
          <a:solidFill>
            <a:srgbClr val="E7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852099" y="589788"/>
            <a:ext cx="7909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276749"/>
                </a:solidFill>
                <a:latin typeface="Noto Sans CJK KR"/>
              </a:rPr>
              <a:t>공부 확인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115568"/>
          <a:ext cx="5074920" cy="42748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17320"/>
                <a:gridCol w="3657600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구  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내       용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소재지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서울특별시 서초구 잠원동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용도지역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제2종일반주거지역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대지면적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616.10㎡ (186.4평)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건축면적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299.40㎡ (90.6평)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연면적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1,789.00㎡ (541.2평)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건폐율 / 용적률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48.60% / 249.00%  (상한 60% / 250%)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주용도 / 구조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제2종근린생활시설 · 철근콘크리트구조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규모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지하 1층 / 지상 5층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사용승인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2009-06-22  ·  위반건축물 해당 없음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주차 / E·V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자주식 옥외 6대 · 승용 1대 (11인승)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공시지가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4,341만원/평  (총 80.91억)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매매 희망가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C00000"/>
                          </a:solidFill>
                          <a:latin typeface="Noto Sans CJK KR"/>
                        </a:rPr>
                        <a:t>80억원</a:t>
                      </a:r>
                    </a:p>
                  </a:txBody>
                  <a:tcPr marL="64008" marR="64008" marT="9144" marB="9144" anchor="ctr">
                    <a:solidFill>
                      <a:srgbClr val="FCECEA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토지 평당가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10161F"/>
                          </a:solidFill>
                          <a:latin typeface="Noto Sans CJK KR"/>
                        </a:rPr>
                        <a:t>4,293만원/평</a:t>
                      </a:r>
                    </a:p>
                  </a:txBody>
                  <a:tcPr marL="64008" marR="64008" marT="9144" marB="9144" anchor="ctr"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824727" y="1115568"/>
            <a:ext cx="5818327" cy="3145536"/>
          </a:xfrm>
          <a:prstGeom prst="rect">
            <a:avLst/>
          </a:prstGeom>
          <a:solidFill>
            <a:srgbClr val="EEF1F5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824727" y="2542032"/>
            <a:ext cx="58183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A6472"/>
                </a:solidFill>
                <a:latin typeface="Noto Sans CJK KR"/>
              </a:rPr>
              <a:t>사진 미제출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52743" y="1243584"/>
            <a:ext cx="1368552" cy="2560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071615" y="1284732"/>
            <a:ext cx="11308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Noto Sans CJK KR"/>
              </a:rPr>
              <a:t>잠원역 450m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12735" y="1243584"/>
            <a:ext cx="661797" cy="2560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531608" y="1284732"/>
            <a:ext cx="42405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Noto Sans CJK KR"/>
              </a:rPr>
              <a:t>2필지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65972" y="1243584"/>
            <a:ext cx="1368552" cy="2560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84845" y="1284732"/>
            <a:ext cx="11308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Noto Sans CJK KR"/>
              </a:rPr>
              <a:t>제척 12.5㎡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24727" y="4507992"/>
            <a:ext cx="45720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989319" y="4425696"/>
            <a:ext cx="565373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2필지 · 대장 616.1㎡ · 유효 603.6㎡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24727" y="4873752"/>
            <a:ext cx="45720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989319" y="4791456"/>
            <a:ext cx="565373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제척 12.5㎡ — 9M 도로 확폭 계획 저촉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24727" y="5239512"/>
            <a:ext cx="45720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989319" y="5157216"/>
            <a:ext cx="565373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지상 5층 · 지하 1층 · 2009년 준공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577840"/>
            <a:ext cx="11094415" cy="566928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48640" y="5577840"/>
            <a:ext cx="1188720" cy="566928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48640" y="5742431"/>
            <a:ext cx="1188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Noto Sans CJK KR"/>
              </a:rPr>
              <a:t>매각 조건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230368"/>
            <a:ext cx="5074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>
                <a:solidFill>
                  <a:srgbClr val="5A6472"/>
                </a:solidFill>
                <a:latin typeface="Noto Sans CJK KR"/>
              </a:rPr>
              <a:t>· 연면적은 건축물대장 층별개요 합으로 확정 (용적률 역산 검증)</a:t>
            </a:r>
          </a:p>
          <a:p>
            <a:pPr algn="l">
              <a:spcAft>
                <a:spcPts val="100"/>
              </a:spcAft>
            </a:pPr>
            <a:r>
              <a:rPr sz="950" b="0">
                <a:solidFill>
                  <a:srgbClr val="5A6472"/>
                </a:solidFill>
                <a:latin typeface="Noto Sans CJK KR"/>
              </a:rPr>
              <a:t>· 원장 계 행 1,789.00㎡는 오기 — 확인 필요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01952" y="5669279"/>
            <a:ext cx="220210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Noto Sans CJK KR"/>
              </a:rPr>
              <a:t>매매 희망가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01952" y="5861303"/>
            <a:ext cx="22021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Noto Sans CJK KR"/>
              </a:rPr>
              <a:t>80억원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78375" y="5669279"/>
            <a:ext cx="220210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Noto Sans CJK KR"/>
              </a:rPr>
              <a:t>승계 보증금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78375" y="5861303"/>
            <a:ext cx="22021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161F"/>
                </a:solidFill>
                <a:latin typeface="Noto Sans CJK KR"/>
              </a:rPr>
              <a:t>3.20억원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4799" y="5669279"/>
            <a:ext cx="220210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Noto Sans CJK KR"/>
              </a:rPr>
              <a:t>월 임대료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4799" y="5861303"/>
            <a:ext cx="22021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161F"/>
                </a:solidFill>
                <a:latin typeface="Noto Sans CJK KR"/>
              </a:rPr>
              <a:t>2,140만원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31223" y="5669279"/>
            <a:ext cx="220210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Noto Sans CJK KR"/>
              </a:rPr>
              <a:t>연 수익률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31223" y="5861303"/>
            <a:ext cx="22021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161F"/>
                </a:solidFill>
                <a:latin typeface="Noto Sans CJK KR"/>
              </a:rPr>
              <a:t>3.21% (총임대료 ÷ 매매가)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Location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입지 · 교통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68051" y="530352"/>
            <a:ext cx="1175004" cy="292608"/>
          </a:xfrm>
          <a:prstGeom prst="rect">
            <a:avLst/>
          </a:prstGeom>
          <a:solidFill>
            <a:srgbClr val="E7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468051" y="589788"/>
            <a:ext cx="11750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276749"/>
                </a:solidFill>
                <a:latin typeface="Noto Sans CJK KR"/>
              </a:rPr>
              <a:t>카카오 로컬 조회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48640" y="1115568"/>
            <a:ext cx="7360920" cy="5029200"/>
          </a:xfrm>
          <a:prstGeom prst="rect">
            <a:avLst/>
          </a:prstGeom>
          <a:solidFill>
            <a:srgbClr val="EEF1F5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3483863"/>
            <a:ext cx="7360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A6472"/>
                </a:solidFill>
                <a:latin typeface="Noto Sans CJK KR"/>
              </a:rPr>
              <a:t>지도 미확보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092440" y="1115568"/>
          <a:ext cx="3550614" cy="11978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32007"/>
                <a:gridCol w="866003"/>
                <a:gridCol w="952604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구분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거리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도보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301752"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잠원역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450m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도보 6분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신사역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900m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도보 13분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잠원동 사거리 정류장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130m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도보 2분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8092440" y="2569464"/>
            <a:ext cx="45720" cy="18288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57031" y="2542032"/>
            <a:ext cx="3386023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잠원역 3호선 450m · 강남대로 600m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3136392"/>
            <a:ext cx="45720" cy="18288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57031" y="3108960"/>
            <a:ext cx="3386023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배후 아파트 밀집 · 강남 업무지구 연계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3703320"/>
            <a:ext cx="45720" cy="18288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57031" y="3675888"/>
            <a:ext cx="3386023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상권 — 의료 21.4% · 음식 33.8% (소상공인 상권정보)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2179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A6472"/>
                </a:solidFill>
                <a:latin typeface="Noto Sans CJK KR"/>
              </a:rPr>
              <a:t>지도 출처 — 카카오맵 (권역 참고용) · 정확한 위치는 현장 안내 · 거리는 위 표 기준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Parcels &amp; Exclusions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필지 명세 · 제척</a:t>
            </a:r>
          </a:p>
        </p:txBody>
      </p:sp>
      <p:sp>
        <p:nvSpPr>
          <p:cNvPr id="5" name="Rectangle 4"/>
          <p:cNvSpPr/>
          <p:nvPr/>
        </p:nvSpPr>
        <p:spPr>
          <a:xfrm>
            <a:off x="11044123" y="530352"/>
            <a:ext cx="598932" cy="292608"/>
          </a:xfrm>
          <a:prstGeom prst="rect">
            <a:avLst/>
          </a:prstGeom>
          <a:solidFill>
            <a:srgbClr val="E7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1044123" y="589788"/>
            <a:ext cx="5989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276749"/>
                </a:solidFill>
                <a:latin typeface="Noto Sans CJK KR"/>
              </a:rPr>
              <a:t>2필지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115568"/>
          <a:ext cx="6492240" cy="12801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37360"/>
                <a:gridCol w="640080"/>
                <a:gridCol w="1097280"/>
                <a:gridCol w="731520"/>
                <a:gridCol w="1005840"/>
                <a:gridCol w="1280160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지  번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지목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대장(㎡)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지분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제척(㎡)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유효(㎡)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잠원동 26-14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대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511.7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단독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511.7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잠원동 26-16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대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104.4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단독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12.5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91.9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10161F"/>
                          </a:solidFill>
                          <a:latin typeface="Noto Sans CJK KR"/>
                        </a:rPr>
                        <a:t>계</a:t>
                      </a:r>
                    </a:p>
                  </a:txBody>
                  <a:tcPr marL="64008" marR="64008" marT="9144" marB="9144" anchor="ctr">
                    <a:solidFill>
                      <a:srgbClr val="EEF1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10161F"/>
                          </a:solidFill>
                          <a:latin typeface="Noto Sans CJK KR"/>
                        </a:rPr>
                        <a:t/>
                      </a:r>
                    </a:p>
                  </a:txBody>
                  <a:tcPr marL="64008" marR="64008" marT="9144" marB="9144" anchor="ctr">
                    <a:solidFill>
                      <a:srgbClr val="EEF1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10161F"/>
                          </a:solidFill>
                          <a:latin typeface="Noto Sans CJK KR"/>
                        </a:rPr>
                        <a:t>616.1</a:t>
                      </a:r>
                    </a:p>
                  </a:txBody>
                  <a:tcPr marL="64008" marR="64008" marT="9144" marB="9144" anchor="ctr">
                    <a:solidFill>
                      <a:srgbClr val="EEF1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10161F"/>
                          </a:solidFill>
                          <a:latin typeface="Noto Sans CJK KR"/>
                        </a:rPr>
                        <a:t/>
                      </a:r>
                    </a:p>
                  </a:txBody>
                  <a:tcPr marL="64008" marR="64008" marT="9144" marB="9144" anchor="ctr">
                    <a:solidFill>
                      <a:srgbClr val="EEF1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10161F"/>
                          </a:solidFill>
                          <a:latin typeface="Noto Sans CJK KR"/>
                        </a:rPr>
                        <a:t>12.5</a:t>
                      </a:r>
                    </a:p>
                  </a:txBody>
                  <a:tcPr marL="64008" marR="64008" marT="9144" marB="9144" anchor="ctr">
                    <a:solidFill>
                      <a:srgbClr val="EEF1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10161F"/>
                          </a:solidFill>
                          <a:latin typeface="Noto Sans CJK KR"/>
                        </a:rPr>
                        <a:t>603.6</a:t>
                      </a:r>
                    </a:p>
                  </a:txBody>
                  <a:tcPr marL="64008" marR="64008" marT="9144" marB="9144" anchor="ctr"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2615184"/>
            <a:ext cx="6492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· 잠원동 26-16 · 도시계획도로 저촉 12.5㎡ ●중개인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871216"/>
            <a:ext cx="63276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A6472"/>
                </a:solidFill>
                <a:latin typeface="Noto Sans CJK KR"/>
              </a:rPr>
              <a:t>용적률 산정 제외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127248"/>
            <a:ext cx="63276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A6472"/>
                </a:solidFill>
                <a:latin typeface="Noto Sans CJK KR"/>
              </a:rPr>
              <a:t>9M 도로 확폭 계획 저촉 (토지이용계획도 판독) — 관할 구청 확인 필요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59" y="1115568"/>
            <a:ext cx="4419295" cy="1298448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388352" y="1243584"/>
            <a:ext cx="409011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A6472"/>
                </a:solidFill>
                <a:latin typeface="Noto Sans CJK KR"/>
              </a:rPr>
              <a:t>P01 유효 대지면적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88352" y="1481328"/>
            <a:ext cx="4090111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161F"/>
                </a:solidFill>
                <a:latin typeface="Noto Sans CJK KR"/>
              </a:rPr>
              <a:t>603.6㎡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88352" y="2011680"/>
            <a:ext cx="4090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대장 616.1㎡ · 제척 12.5㎡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223759" y="2596896"/>
          <a:ext cx="4419294" cy="9875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04267"/>
                <a:gridCol w="1915027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용적률 기준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값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대장 기준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249.0%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P02 유효 기준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C00000"/>
                          </a:solidFill>
                          <a:latin typeface="Noto Sans CJK KR"/>
                        </a:rPr>
                        <a:t>254.1%</a:t>
                      </a:r>
                    </a:p>
                  </a:txBody>
                  <a:tcPr marL="64008" marR="64008" marT="9144" marB="9144" anchor="ctr"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7223759" y="3803904"/>
            <a:ext cx="4419295" cy="1463040"/>
          </a:xfrm>
          <a:prstGeom prst="rect">
            <a:avLst/>
          </a:prstGeom>
          <a:solidFill>
            <a:srgbClr val="F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370063" y="3931920"/>
            <a:ext cx="41266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00000"/>
                </a:solidFill>
                <a:latin typeface="Noto Sans CJK KR"/>
              </a:rPr>
              <a:t>한시 완화 조건 이탈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0063" y="4206240"/>
            <a:ext cx="4126687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서울시 소규모 건축물 한시적 용적률 완화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조건 250% 미만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대장 249.0% → 유효 254.1%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완화를 전제한 규모 산출을 하지 않습니다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504688"/>
            <a:ext cx="11094415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A6472"/>
                </a:solidFill>
                <a:latin typeface="Noto Sans CJK KR"/>
              </a:rPr>
              <a:t>· 제척 면적은 공공 API로 조회되지 않습니다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A6472"/>
                </a:solidFill>
                <a:latin typeface="Noto Sans CJK KR"/>
              </a:rPr>
              <a:t>· 토지이용계획도 판독값 — 관할 구청 확인 필요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A6472"/>
                </a:solidFill>
                <a:latin typeface="Noto Sans CJK KR"/>
              </a:rPr>
              <a:t>· 건폐율·용적률은 대장 대지 기준으로 고시됩니다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Land &amp; Zoning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토지 이용 · 공법 규제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68051" y="530352"/>
            <a:ext cx="1175004" cy="292608"/>
          </a:xfrm>
          <a:prstGeom prst="rect">
            <a:avLst/>
          </a:prstGeom>
          <a:solidFill>
            <a:srgbClr val="E7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468051" y="589788"/>
            <a:ext cx="11750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276749"/>
                </a:solidFill>
                <a:latin typeface="Noto Sans CJK KR"/>
              </a:rPr>
              <a:t>토지이용계획 조회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48640" y="1115568"/>
            <a:ext cx="6492240" cy="3383280"/>
          </a:xfrm>
          <a:prstGeom prst="rect">
            <a:avLst/>
          </a:prstGeom>
          <a:solidFill>
            <a:srgbClr val="EEF1F5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2660904"/>
            <a:ext cx="6492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A6472"/>
                </a:solidFill>
                <a:latin typeface="Noto Sans CJK KR"/>
              </a:rPr>
              <a:t>지적도 미확보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81728"/>
            <a:ext cx="6492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A6472"/>
                </a:solidFill>
                <a:latin typeface="Noto Sans CJK KR"/>
              </a:rPr>
              <a:t>· 토지이용계획 · 가치 상승 여력 관점 6항목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937760"/>
            <a:ext cx="6492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A6472"/>
                </a:solidFill>
                <a:latin typeface="Noto Sans CJK KR"/>
              </a:rPr>
              <a:t>· 전체 7항목은 부록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212080"/>
            <a:ext cx="605332" cy="237744"/>
          </a:xfrm>
          <a:prstGeom prst="rect">
            <a:avLst/>
          </a:prstGeom>
          <a:solidFill>
            <a:srgbClr val="1E2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48640" y="5257800"/>
            <a:ext cx="6053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C8D2E0"/>
                </a:solidFill>
                <a:latin typeface="Noto Sans CJK KR"/>
              </a:rPr>
              <a:t>용도지역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27124" y="5212080"/>
            <a:ext cx="605332" cy="237744"/>
          </a:xfrm>
          <a:prstGeom prst="rect">
            <a:avLst/>
          </a:prstGeom>
          <a:solidFill>
            <a:srgbClr val="1E2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227124" y="5257800"/>
            <a:ext cx="6053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C8D2E0"/>
                </a:solidFill>
                <a:latin typeface="Noto Sans CJK KR"/>
              </a:rPr>
              <a:t>정비구역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05609" y="5212080"/>
            <a:ext cx="1027785" cy="237744"/>
          </a:xfrm>
          <a:prstGeom prst="rect">
            <a:avLst/>
          </a:prstGeom>
          <a:solidFill>
            <a:srgbClr val="1E2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905609" y="5257800"/>
            <a:ext cx="102778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C8D2E0"/>
                </a:solidFill>
                <a:latin typeface="Noto Sans CJK KR"/>
              </a:rPr>
              <a:t>지구단위계획구역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06547" y="5212080"/>
            <a:ext cx="1133398" cy="237744"/>
          </a:xfrm>
          <a:prstGeom prst="rect">
            <a:avLst/>
          </a:prstGeom>
          <a:solidFill>
            <a:srgbClr val="1E2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006547" y="5257800"/>
            <a:ext cx="113339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C8D2E0"/>
                </a:solidFill>
                <a:latin typeface="Noto Sans CJK KR"/>
              </a:rPr>
              <a:t>도시계획시설 저촉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13098" y="5212080"/>
            <a:ext cx="1767078" cy="237744"/>
          </a:xfrm>
          <a:prstGeom prst="rect">
            <a:avLst/>
          </a:prstGeom>
          <a:solidFill>
            <a:srgbClr val="1E2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13098" y="5257800"/>
            <a:ext cx="176707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C8D2E0"/>
                </a:solidFill>
                <a:latin typeface="Noto Sans CJK KR"/>
              </a:rPr>
              <a:t>가로구역별 최고높이 제한구역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486400"/>
            <a:ext cx="1027785" cy="237744"/>
          </a:xfrm>
          <a:prstGeom prst="rect">
            <a:avLst/>
          </a:prstGeom>
          <a:solidFill>
            <a:srgbClr val="1E2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48640" y="5532120"/>
            <a:ext cx="102778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C8D2E0"/>
                </a:solidFill>
                <a:latin typeface="Noto Sans CJK KR"/>
              </a:rPr>
              <a:t>토지거래허가구역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7223759" y="1115568"/>
          <a:ext cx="4419294" cy="1828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06139"/>
                <a:gridCol w="3013155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구  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내  용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Noto Sans CJK KR"/>
                        </a:rPr>
                        <a:t>용도지역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제2종일반주거지역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Noto Sans CJK KR"/>
                        </a:rPr>
                        <a:t>기타 지구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정비구역
지구단위계획구역
도시계획시설 저촉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Noto Sans CJK KR"/>
                        </a:rPr>
                        <a:t>법정 건폐율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60%  (현행 48.60%)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Noto Sans CJK KR"/>
                        </a:rPr>
                        <a:t>법정 용적률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250%  (현행 249.00%)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Rectangle 24"/>
          <p:cNvSpPr/>
          <p:nvPr/>
        </p:nvSpPr>
        <p:spPr>
          <a:xfrm>
            <a:off x="7223759" y="3218687"/>
            <a:ext cx="4419295" cy="118872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388352" y="3364991"/>
            <a:ext cx="409011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A6472"/>
                </a:solidFill>
                <a:latin typeface="Noto Sans CJK KR"/>
              </a:rPr>
              <a:t>잔여 용적률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88352" y="3602735"/>
            <a:ext cx="4090111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0161F"/>
                </a:solidFill>
                <a:latin typeface="Noto Sans CJK KR"/>
              </a:rPr>
              <a:t>1.0%p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88352" y="4096511"/>
            <a:ext cx="409011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법정 상한까지 개발 완료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23759" y="4535423"/>
            <a:ext cx="4419295" cy="1481328"/>
          </a:xfrm>
          <a:prstGeom prst="rect">
            <a:avLst/>
          </a:prstGeom>
          <a:solidFill>
            <a:srgbClr val="F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388352" y="4663439"/>
            <a:ext cx="409011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00000"/>
                </a:solidFill>
                <a:latin typeface="Noto Sans CJK KR"/>
              </a:rPr>
              <a:t>제척 12.5㎡ 반영 — 유효 기준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7351775" y="4901183"/>
          <a:ext cx="4163262" cy="8778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42988"/>
                <a:gridCol w="1477286"/>
                <a:gridCol w="1342988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구  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대지면적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용적률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대장 대지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0161F"/>
                          </a:solidFill>
                          <a:latin typeface="Noto Sans CJK KR"/>
                        </a:rPr>
                        <a:t>616.1㎡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0161F"/>
                          </a:solidFill>
                          <a:latin typeface="Noto Sans CJK KR"/>
                        </a:rPr>
                        <a:t>249.0%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유효 대지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0161F"/>
                          </a:solidFill>
                          <a:latin typeface="Noto Sans CJK KR"/>
                        </a:rPr>
                        <a:t>603.6㎡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0161F"/>
                          </a:solidFill>
                          <a:latin typeface="Noto Sans CJK KR"/>
                        </a:rPr>
                        <a:t>254.1%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7388352" y="5724143"/>
            <a:ext cx="409011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00000"/>
                </a:solidFill>
                <a:latin typeface="Noto Sans CJK KR"/>
              </a:rPr>
              <a:t>▲ 한시 완화 250% 조건 이탈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Rent Roll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층별 이용 및 임대 현황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64063" y="530352"/>
            <a:ext cx="1078992" cy="292608"/>
          </a:xfrm>
          <a:prstGeom prst="rect">
            <a:avLst/>
          </a:prstGeom>
          <a:solidFill>
            <a:srgbClr val="F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564063" y="589788"/>
            <a:ext cx="10789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00000"/>
                </a:solidFill>
                <a:latin typeface="Noto Sans CJK KR"/>
              </a:rPr>
              <a:t>확인 필요 7건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115568"/>
          <a:ext cx="11094410" cy="21808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40204"/>
                <a:gridCol w="1410306"/>
                <a:gridCol w="940204"/>
                <a:gridCol w="2256491"/>
                <a:gridCol w="1504327"/>
                <a:gridCol w="1410306"/>
                <a:gridCol w="1598347"/>
                <a:gridCol w="1034225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층별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임대면적(㎡)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(평)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임차 업종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보증금(만원)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월세(만원)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계약 만료일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상태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1F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268.40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81.2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약국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9,000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680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2027-02-28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2F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298.20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90.2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의원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8,000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490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2026-10-31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3F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298.20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90.2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학원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6,000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380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2027-08-31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4F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298.20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90.2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사무실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5,000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330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2027-05-14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5F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298.20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90.2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사무실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4,000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260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2028-01-04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B1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327.80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99.2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자가 / 공실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확인 필요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공실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0161F"/>
                          </a:solidFill>
                          <a:latin typeface="Noto Sans CJK KR"/>
                        </a:rPr>
                        <a:t>계</a:t>
                      </a:r>
                    </a:p>
                  </a:txBody>
                  <a:tcPr marL="64008" marR="64008" marT="9144" marB="9144" anchor="ctr">
                    <a:solidFill>
                      <a:srgbClr val="EEF1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10161F"/>
                          </a:solidFill>
                          <a:latin typeface="Noto Sans CJK KR"/>
                        </a:rPr>
                        <a:t>1,789.00</a:t>
                      </a:r>
                    </a:p>
                  </a:txBody>
                  <a:tcPr marL="64008" marR="64008" marT="9144" marB="9144" anchor="ctr">
                    <a:solidFill>
                      <a:srgbClr val="EEF1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10161F"/>
                          </a:solidFill>
                          <a:latin typeface="Noto Sans CJK KR"/>
                        </a:rPr>
                        <a:t>541.2</a:t>
                      </a:r>
                    </a:p>
                  </a:txBody>
                  <a:tcPr marL="64008" marR="64008" marT="9144" marB="9144" anchor="ctr">
                    <a:solidFill>
                      <a:srgbClr val="EEF1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10161F"/>
                          </a:solidFill>
                          <a:latin typeface="Noto Sans CJK KR"/>
                        </a:rPr>
                        <a:t/>
                      </a:r>
                    </a:p>
                  </a:txBody>
                  <a:tcPr marL="64008" marR="64008" marT="9144" marB="9144" anchor="ctr">
                    <a:solidFill>
                      <a:srgbClr val="EEF1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10161F"/>
                          </a:solidFill>
                          <a:latin typeface="Noto Sans CJK KR"/>
                        </a:rPr>
                        <a:t>32,000</a:t>
                      </a:r>
                    </a:p>
                  </a:txBody>
                  <a:tcPr marL="64008" marR="64008" marT="9144" marB="9144" anchor="ctr">
                    <a:solidFill>
                      <a:srgbClr val="EEF1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10161F"/>
                          </a:solidFill>
                          <a:latin typeface="Noto Sans CJK KR"/>
                        </a:rPr>
                        <a:t>2,140</a:t>
                      </a:r>
                    </a:p>
                  </a:txBody>
                  <a:tcPr marL="64008" marR="64008" marT="9144" marB="9144" anchor="ctr">
                    <a:solidFill>
                      <a:srgbClr val="EEF1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0161F"/>
                          </a:solidFill>
                          <a:latin typeface="Noto Sans CJK KR"/>
                        </a:rPr>
                        <a:t/>
                      </a:r>
                    </a:p>
                  </a:txBody>
                  <a:tcPr marL="64008" marR="64008" marT="9144" marB="9144" anchor="ctr">
                    <a:solidFill>
                      <a:srgbClr val="EEF1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0161F"/>
                          </a:solidFill>
                          <a:latin typeface="Noto Sans CJK KR"/>
                        </a:rPr>
                        <a:t/>
                      </a:r>
                    </a:p>
                  </a:txBody>
                  <a:tcPr marL="64008" marR="64008" marT="9144" marB="9144" anchor="ctr"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3515868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구성 — 임대중 5 · 공실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71900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공실률 — 구획 16.67% · 면적 18.32%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27931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1층 월세 비중 31.8% — 소형상업용은 1층이 수입의 절반 안팎을 좌우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83964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금액은 VAT 별도 · 임차인 상호는 대외 문서에 표기하지 않음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741164"/>
            <a:ext cx="11094415" cy="932688"/>
          </a:xfrm>
          <a:prstGeom prst="rect">
            <a:avLst/>
          </a:prstGeom>
          <a:solidFill>
            <a:srgbClr val="F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48640" y="4741164"/>
            <a:ext cx="54864" cy="93268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8096" y="4869179"/>
            <a:ext cx="106555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Noto Sans CJK KR"/>
              </a:rPr>
              <a:t>매입 후 수익 개선 여지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5143500"/>
            <a:ext cx="106555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· 지하 1층 327.8㎡(99.2평) 공실 임대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· 금액은 비교 임대사례 확보 후 산출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Lease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임대차 분석 · 개선 여력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15568"/>
          <a:ext cx="5532120" cy="19019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08760"/>
                <a:gridCol w="4023360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항  목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판  정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갱신요구권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산출하지 않음 — 최초 계약일 미기재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환산보증금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전 계약 서울 기준 9억 이하 · 상가임대차법 전면 적용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만료 임박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해당 없음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운영비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자료 미제출 — 순수입 기준 수익률 미산출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336792" y="1115568"/>
            <a:ext cx="530626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325C"/>
                </a:solidFill>
                <a:latin typeface="Noto Sans CJK KR"/>
              </a:rPr>
              <a:t>개선 여력</a:t>
            </a:r>
          </a:p>
        </p:txBody>
      </p:sp>
      <p:sp>
        <p:nvSpPr>
          <p:cNvPr id="8" name="Rectangle 7"/>
          <p:cNvSpPr/>
          <p:nvPr/>
        </p:nvSpPr>
        <p:spPr>
          <a:xfrm>
            <a:off x="6336792" y="1536192"/>
            <a:ext cx="45720" cy="18288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01383" y="1463040"/>
            <a:ext cx="514167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지하 1층 327.8㎡(99.2평) 공실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36792" y="2103120"/>
            <a:ext cx="45720" cy="18288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1383" y="2029968"/>
            <a:ext cx="514167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금액은 비교 임대사례 확보 후 산출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36792" y="2670048"/>
            <a:ext cx="45720" cy="18288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01383" y="2596896"/>
            <a:ext cx="514167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제척 확정 후 증축 여력 재검토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328415"/>
            <a:ext cx="5532120" cy="109728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13232" y="3474720"/>
            <a:ext cx="52029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A6472"/>
                </a:solidFill>
                <a:latin typeface="Noto Sans CJK KR"/>
              </a:rPr>
              <a:t>· 자료 해상도 — 임대차 L축 / 물건자료 P축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3712463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6325C"/>
                </a:solidFill>
                <a:latin typeface="Noto Sans CJK KR"/>
              </a:rPr>
              <a:t>R2 · P2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730752"/>
            <a:ext cx="36118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다음 등급 R3 까지 부족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최초 계약일 · 대항력 요건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Investment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투자 구조 — 실투자금과 월 순현금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15568"/>
          <a:ext cx="4892039" cy="1938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29542"/>
                <a:gridCol w="2562497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구  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금  액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매매가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80.00억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취득세 4.6%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3.68억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중개보수 0.9%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0.72억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기타비용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자료 없음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총취득원가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>
                          <a:solidFill>
                            <a:srgbClr val="C00000"/>
                          </a:solidFill>
                          <a:latin typeface="Noto Sans CJK KR"/>
                        </a:rPr>
                        <a:t>84.40억</a:t>
                      </a:r>
                    </a:p>
                  </a:txBody>
                  <a:tcPr marL="64008" marR="64008" marT="9144" marB="9144" anchor="ctr"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182112"/>
            <a:ext cx="4892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매매가보다 4.40억원(5.5%) 추가 소요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529584"/>
            <a:ext cx="4892040" cy="1060704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3639312"/>
            <a:ext cx="452627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325C"/>
                </a:solidFill>
                <a:latin typeface="Noto Sans CJK KR"/>
              </a:rPr>
              <a:t>연 수익률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13632"/>
            <a:ext cx="3703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연 총임대료 ÷ 매매가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59" y="3895344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10161F"/>
                </a:solidFill>
                <a:latin typeface="Noto Sans CJK KR"/>
              </a:rPr>
              <a:t>3.21%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87952"/>
            <a:ext cx="3703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연 총임대료 ÷ (매매가 − 보증금)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59" y="4169663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10161F"/>
                </a:solidFill>
                <a:latin typeface="Noto Sans CJK KR"/>
              </a:rPr>
              <a:t>3.34%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63440"/>
            <a:ext cx="4892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운영비 미제출 — "순수익률" 라벨을 쓰지 않음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696712" y="1115568"/>
          <a:ext cx="5946340" cy="13350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10011"/>
                <a:gridCol w="976265"/>
                <a:gridCol w="1065016"/>
                <a:gridCol w="887513"/>
                <a:gridCol w="1065016"/>
                <a:gridCol w="1242519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LTV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대출금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실투자금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월 이자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월 순현금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자기자본 수익률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0%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81.20억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+2,140만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3.16%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40%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32.00억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49.20억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1,200만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+940만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2.29%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50%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40.00억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41.20억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1,500만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+640만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1.86%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696712" y="2670048"/>
            <a:ext cx="594634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A6472"/>
                </a:solidFill>
                <a:latin typeface="Noto Sans CJK KR"/>
              </a:rPr>
              <a:t>◇ 금리 4.5% 가정 (2026년 통상) · 이자만 · 운영비 미반영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96712" y="2980944"/>
            <a:ext cx="5946343" cy="969264"/>
          </a:xfrm>
          <a:prstGeom prst="rect">
            <a:avLst/>
          </a:prstGeom>
          <a:solidFill>
            <a:srgbClr val="F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861303" y="3127248"/>
            <a:ext cx="5617159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1">
                <a:solidFill>
                  <a:srgbClr val="C00000"/>
                </a:solidFill>
                <a:latin typeface="Noto Sans CJK KR"/>
              </a:rPr>
              <a:t>역레버리지 — 수익률 3.21% &lt; 금리 4.5%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1">
                <a:solidFill>
                  <a:srgbClr val="C00000"/>
                </a:solidFill>
                <a:latin typeface="Noto Sans CJK KR"/>
              </a:rPr>
              <a:t>대출을 늘릴수록 자기자본 수익률이 낮아집니다. 무차입 3.16%가 상한입니다.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065775"/>
            <a:ext cx="4892040" cy="11704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31520" y="5193791"/>
            <a:ext cx="452627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FAFC5"/>
                </a:solidFill>
                <a:latin typeface="Noto Sans CJK KR"/>
              </a:rPr>
              <a:t>· 자금 계획 (LTV 50% 기준)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449823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9B6C8"/>
                </a:solidFill>
                <a:latin typeface="Noto Sans CJK KR"/>
              </a:rPr>
              <a:t>총취득원가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5431536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Noto Sans CJK KR"/>
              </a:rPr>
              <a:t>84.40억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94659" y="5449823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9B6C8"/>
                </a:solidFill>
                <a:latin typeface="Noto Sans CJK KR"/>
              </a:rPr>
              <a:t>− 보증금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46219" y="5431536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Noto Sans CJK KR"/>
              </a:rPr>
              <a:t>3.20억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815583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9B6C8"/>
                </a:solidFill>
                <a:latin typeface="Noto Sans CJK KR"/>
              </a:rPr>
              <a:t>− 대출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83080" y="5797296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Noto Sans CJK KR"/>
              </a:rPr>
              <a:t>40.00억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94659" y="5815583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9B6C8"/>
                </a:solidFill>
                <a:latin typeface="Noto Sans CJK KR"/>
              </a:rPr>
              <a:t>= 실투자금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46219" y="5797296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2C98A"/>
                </a:solidFill>
                <a:latin typeface="Noto Sans CJK KR"/>
              </a:rPr>
              <a:t>41.20억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96712" y="4078224"/>
            <a:ext cx="5946343" cy="859536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861303" y="4206240"/>
            <a:ext cx="561715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은행은 매매가가 아니라 감정가로 한도를 정합니다.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잔금 일정 확정 전에 대출 승인을 받으시길 권합니다.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Market Comparables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가격 근거 — 인근 실거래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60075" y="530352"/>
            <a:ext cx="982980" cy="292608"/>
          </a:xfrm>
          <a:prstGeom prst="rect">
            <a:avLst/>
          </a:prstGeom>
          <a:solidFill>
            <a:srgbClr val="E7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660075" y="589788"/>
            <a:ext cx="9829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276749"/>
                </a:solidFill>
                <a:latin typeface="Noto Sans CJK KR"/>
              </a:rPr>
              <a:t>국토부 실거래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115568"/>
          <a:ext cx="11094413" cy="117043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51811"/>
                <a:gridCol w="1147698"/>
                <a:gridCol w="1243339"/>
                <a:gridCol w="1338981"/>
                <a:gridCol w="1434622"/>
                <a:gridCol w="1530264"/>
                <a:gridCol w="1147698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비교사례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거래일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거래금액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연면적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토지 평당가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연면적 평당가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규모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잠원동 대로변 근생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2024-09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95억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1,620.0㎡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14,800만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3,600만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지상5층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반포동 이면 근생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2024-06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72억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1,340.0㎡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13,100만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3,280만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지상4층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잠원동 역세권 근생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2024-03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110억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1,880.0㎡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16,200만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3,720만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지상6층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2560320"/>
          <a:ext cx="6675118" cy="9509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21100"/>
                <a:gridCol w="1430382"/>
                <a:gridCol w="2288612"/>
                <a:gridCol w="1335024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비교 기준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본 자산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인근 실거래 범위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하단 대비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050" b="1">
                          <a:solidFill>
                            <a:srgbClr val="10161F"/>
                          </a:solidFill>
                          <a:latin typeface="Noto Sans CJK KR"/>
                        </a:rPr>
                        <a:t>토지 평당가</a:t>
                      </a:r>
                    </a:p>
                  </a:txBody>
                  <a:tcPr marL="64008" marR="64008" marT="9144" marB="9144" anchor="ctr">
                    <a:solidFill>
                      <a:srgbClr val="EEF1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>
                          <a:solidFill>
                            <a:srgbClr val="10161F"/>
                          </a:solidFill>
                          <a:latin typeface="Noto Sans CJK KR"/>
                        </a:rPr>
                        <a:t>4,293만원</a:t>
                      </a:r>
                    </a:p>
                  </a:txBody>
                  <a:tcPr marL="64008" marR="64008" marT="9144" marB="9144" anchor="ctr">
                    <a:solidFill>
                      <a:srgbClr val="EEF1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>
                          <a:solidFill>
                            <a:srgbClr val="10161F"/>
                          </a:solidFill>
                          <a:latin typeface="Noto Sans CJK KR"/>
                        </a:rPr>
                        <a:t>13,100만 ~ 16,200만</a:t>
                      </a:r>
                    </a:p>
                  </a:txBody>
                  <a:tcPr marL="64008" marR="64008" marT="9144" marB="9144" anchor="ctr">
                    <a:solidFill>
                      <a:srgbClr val="EEF1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>
                          <a:solidFill>
                            <a:srgbClr val="C00000"/>
                          </a:solidFill>
                          <a:latin typeface="Noto Sans CJK KR"/>
                        </a:rPr>
                        <a:t>-67.2%</a:t>
                      </a:r>
                    </a:p>
                  </a:txBody>
                  <a:tcPr marL="64008" marR="64008" marT="9144" marB="9144" anchor="ctr">
                    <a:solidFill>
                      <a:srgbClr val="EEF1F5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연면적 평당가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1,478만원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3,280만 ~ 3,720만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>
                          <a:solidFill>
                            <a:srgbClr val="C00000"/>
                          </a:solidFill>
                          <a:latin typeface="Noto Sans CJK KR"/>
                        </a:rPr>
                        <a:t>-54.9%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452360" y="2560320"/>
            <a:ext cx="4190695" cy="950976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616952" y="2688336"/>
            <a:ext cx="386151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A6472"/>
                </a:solidFill>
                <a:latin typeface="Noto Sans CJK KR"/>
              </a:rPr>
              <a:t>· 매매가 ÷ 공시지가 총액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6952" y="2926079"/>
            <a:ext cx="386151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325C"/>
                </a:solidFill>
                <a:latin typeface="Noto Sans CJK KR"/>
              </a:rPr>
              <a:t>0.99배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9720" y="3035808"/>
            <a:ext cx="2270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공시지가 총액 80.91억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매매가의 101.1%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85615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· 두 기준 모두 인근 하단보다 낮음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· 용적률 249.00%의 저밀 개발 — 연면적이 적어 토지 평당가가 낮게 형성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· 같은 사실이 잔여 용적률 1.0%p라는 개선 여력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72000"/>
            <a:ext cx="11094415" cy="969264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68096" y="4700016"/>
            <a:ext cx="106555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325C"/>
                </a:solidFill>
                <a:latin typeface="Noto Sans CJK KR"/>
              </a:rPr>
              <a:t>조사 조건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4974336"/>
            <a:ext cx="106555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조회 범위 — 인근 상업·업무용 실거래 직전 12개월 (국토부)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실거래 API는 지번을 마스킹하고 집합건물 대지면적을 주지 않습니다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물건 식별·접면·규모·대지면적은 중개인 보강값입니다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Risk &amp; Due Diligence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리스크 및 확인사항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64063" y="530352"/>
            <a:ext cx="1078992" cy="292608"/>
          </a:xfrm>
          <a:prstGeom prst="rect">
            <a:avLst/>
          </a:prstGeom>
          <a:solidFill>
            <a:srgbClr val="F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564063" y="589788"/>
            <a:ext cx="10789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00000"/>
                </a:solidFill>
                <a:latin typeface="Noto Sans CJK KR"/>
              </a:rPr>
              <a:t>확인 필요 7건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48640" y="1115568"/>
            <a:ext cx="3564026" cy="32918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94944" y="1179576"/>
            <a:ext cx="327141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Noto Sans CJK KR"/>
              </a:rPr>
              <a:t>확인된 리스크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44752"/>
            <a:ext cx="3564026" cy="3931920"/>
          </a:xfrm>
          <a:prstGeom prst="rect">
            <a:avLst/>
          </a:prstGeom>
          <a:noFill/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94944" y="1664208"/>
            <a:ext cx="41148" cy="14630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59" y="1572768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제척 12.5㎡ — 한시 완화 250% 조건 이탈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" y="2139696"/>
            <a:ext cx="41148" cy="14630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2959" y="2048255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지하 1층 공실 — 면적 기준 공실률 18.32%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" y="2615184"/>
            <a:ext cx="41148" cy="14630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2959" y="2523744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제척은 도면 판독값 — 관할 구청 확인 필요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13834" y="1115568"/>
            <a:ext cx="3564026" cy="32918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460138" y="1179576"/>
            <a:ext cx="327141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Noto Sans CJK KR"/>
              </a:rPr>
              <a:t>미확인 사항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13834" y="1444752"/>
            <a:ext cx="3564026" cy="3931920"/>
          </a:xfrm>
          <a:prstGeom prst="rect">
            <a:avLst/>
          </a:prstGeom>
          <a:noFill/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4460138" y="1664208"/>
            <a:ext cx="41148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588154" y="1572768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제척 12.5㎡ 관할 구청 확인 (토지이용계획도 판독값)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60138" y="2139696"/>
            <a:ext cx="41148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588154" y="2048255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임대차계약 5건의 최초 계약일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60138" y="2615184"/>
            <a:ext cx="41148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588154" y="2523744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임차인 대항력 요건 (사업자등록 여부)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60138" y="3090672"/>
            <a:ext cx="41148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88154" y="2999232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운영비 내역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60138" y="3566160"/>
            <a:ext cx="41148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88154" y="3474720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등기부등본 — 근저당·권리 제한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60138" y="4041648"/>
            <a:ext cx="41148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588154" y="3950208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지하 1층 공실 — 목표 임대료·비교 임대사례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60138" y="4517136"/>
            <a:ext cx="41148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588154" y="4425696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건물 사진 0매 — 표준 최소 6매(외부3·내부3) 미달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79028" y="1115568"/>
            <a:ext cx="3564026" cy="32918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225332" y="1179576"/>
            <a:ext cx="327141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Noto Sans CJK KR"/>
              </a:rPr>
              <a:t>매수인 확인 권고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79028" y="1444752"/>
            <a:ext cx="3564026" cy="3931920"/>
          </a:xfrm>
          <a:prstGeom prst="rect">
            <a:avLst/>
          </a:prstGeom>
          <a:noFill/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8225332" y="1664208"/>
            <a:ext cx="41148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353348" y="1572768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등기부등본 — 근저당·권리 제한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5332" y="2139696"/>
            <a:ext cx="41148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353348" y="2048255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대출 감정가 — 잔금 전 확인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5332" y="2615184"/>
            <a:ext cx="41148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353348" y="2523744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임대차계약서 원본 — 최초 계약일·특약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5332" y="3090672"/>
            <a:ext cx="41148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353348" y="2999232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현장 — 누수·균열·설비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5541264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등기부등본 미제출 — 권리 제한 여부를 "없음"으로 판정하지 않았습니다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확인사항 칸은 공개 단계에서도 가리지 않습니다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Evidence &amp; Verification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근거 · 검증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60075" y="530352"/>
            <a:ext cx="982980" cy="292608"/>
          </a:xfrm>
          <a:prstGeom prst="rect">
            <a:avLst/>
          </a:prstGeom>
          <a:solidFill>
            <a:srgbClr val="E7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660075" y="589788"/>
            <a:ext cx="9829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276749"/>
                </a:solidFill>
                <a:latin typeface="Noto Sans CJK KR"/>
              </a:rPr>
              <a:t>공부 교차검증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335024"/>
          <a:ext cx="6675118" cy="16093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99049"/>
                <a:gridCol w="2567353"/>
                <a:gridCol w="1198098"/>
                <a:gridCol w="1198098"/>
                <a:gridCol w="1112520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코드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검증 내용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기대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실제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판정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X01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건폐율 × 대지 = 건축면적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299.42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299.40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일치 (0.01%)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X02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용적률 × 대지 = 용적률산정 연면적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1,534.09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1,534.00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일치 (0.01%)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X03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층별개요 합 = 연면적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1,789.00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1,789.00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일치 (0.00%)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X04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대지 × ㎡당 공시지가 = 총액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8,090,625,200.00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8,090,625,200.00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일치 (0.00%)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452360" y="1335024"/>
            <a:ext cx="4190695" cy="118872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5240" y="1463040"/>
            <a:ext cx="38249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A6472"/>
                </a:solidFill>
                <a:latin typeface="Noto Sans CJK KR"/>
              </a:rPr>
              <a:t>· 자료 해상도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1700784"/>
            <a:ext cx="382493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325C"/>
                </a:solidFill>
                <a:latin typeface="Noto Sans CJK KR"/>
              </a:rPr>
              <a:t>R2 · P2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2176272"/>
            <a:ext cx="38249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임대차 L축 / 물건자료 P축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55263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325C"/>
                </a:solidFill>
                <a:latin typeface="Noto Sans CJK KR"/>
              </a:rPr>
              <a:t>잠긴 블록 18종 — 사유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02735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161F"/>
                </a:solidFill>
                <a:latin typeface="Noto Sans CJK KR"/>
              </a:rPr>
              <a:t>· 외관 사진 전면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602735"/>
            <a:ext cx="32063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외부 사진 미입력 — 남색 표지로 대체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2151" y="3602735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161F"/>
                </a:solidFill>
                <a:latin typeface="Noto Sans CJK KR"/>
              </a:rPr>
              <a:t>· 실제 대출 조건 반영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6711" y="3602735"/>
            <a:ext cx="32063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담보대출 잔액 · 대출 금리 미입력 — 가정치로만 산출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95344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161F"/>
                </a:solidFill>
                <a:latin typeface="Noto Sans CJK KR"/>
              </a:rPr>
              <a:t>· 월 총수입 (관리비 포함)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895344"/>
            <a:ext cx="32063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관리비 부담 주체 미입력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2151" y="3895344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161F"/>
                </a:solidFill>
                <a:latin typeface="Noto Sans CJK KR"/>
              </a:rPr>
              <a:t>· 연 순수입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6711" y="3895344"/>
            <a:ext cx="32063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연간 운영비 미입력 — 연 순수입을 산출하지 않습니다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187951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161F"/>
                </a:solidFill>
                <a:latin typeface="Noto Sans CJK KR"/>
              </a:rPr>
              <a:t>· 순수익률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187951"/>
            <a:ext cx="32063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운영비 미입력 — "순수익률" 라벨 금지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42151" y="4187951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161F"/>
                </a:solidFill>
                <a:latin typeface="Noto Sans CJK KR"/>
              </a:rPr>
              <a:t>· 개요 사진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6711" y="4187951"/>
            <a:ext cx="32063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외부 사진 미입력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480559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161F"/>
                </a:solidFill>
                <a:latin typeface="Noto Sans CJK KR"/>
              </a:rPr>
              <a:t>· 접면 도로·코너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480559"/>
            <a:ext cx="32063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접면 도로 폭 미입력 — 현장 확인 항목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2151" y="4480559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161F"/>
                </a:solidFill>
                <a:latin typeface="Noto Sans CJK KR"/>
              </a:rPr>
              <a:t>· 통합계약 표기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6711" y="4480559"/>
            <a:ext cx="32063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계약 그룹 미입력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773168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161F"/>
                </a:solidFill>
                <a:latin typeface="Noto Sans CJK KR"/>
              </a:rPr>
              <a:t>· 갱신요구권 잔여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4773168"/>
            <a:ext cx="32063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최초 계약일 미입력 — 산출하지 않습니다 (불변조건 7)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42151" y="4773168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161F"/>
                </a:solidFill>
                <a:latin typeface="Noto Sans CJK KR"/>
              </a:rPr>
              <a:t>· 대항력 판정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6711" y="4773168"/>
            <a:ext cx="32063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대항력 요건 미입력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Land Value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토지 가치 · 개발 여력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68051" y="530352"/>
            <a:ext cx="1175004" cy="292608"/>
          </a:xfrm>
          <a:prstGeom prst="rect">
            <a:avLst/>
          </a:prstGeom>
          <a:solidFill>
            <a:srgbClr val="E7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468051" y="589788"/>
            <a:ext cx="11750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276749"/>
                </a:solidFill>
                <a:latin typeface="Noto Sans CJK KR"/>
              </a:rPr>
              <a:t>공부 · 공시지가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3564026" cy="13716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1335024"/>
            <a:ext cx="319826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토지 평당가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591056"/>
            <a:ext cx="31982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325C"/>
                </a:solidFill>
                <a:latin typeface="Noto Sans CJK KR"/>
              </a:rPr>
              <a:t>4,293만원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21408"/>
            <a:ext cx="319826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A6472"/>
                </a:solidFill>
                <a:latin typeface="Noto Sans CJK KR"/>
              </a:rPr>
              <a:t>· 매매가 ÷ 대지 186.4평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3834" y="1188720"/>
            <a:ext cx="3564026" cy="13716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96714" y="1335024"/>
            <a:ext cx="319826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공시지가 배수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6714" y="1591056"/>
            <a:ext cx="31982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325C"/>
                </a:solidFill>
                <a:latin typeface="Noto Sans CJK KR"/>
              </a:rPr>
              <a:t>0.99배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6714" y="2121408"/>
            <a:ext cx="319826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A6472"/>
                </a:solidFill>
                <a:latin typeface="Noto Sans CJK KR"/>
              </a:rPr>
              <a:t>· 공시지가 총액 80.91억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79028" y="1188720"/>
            <a:ext cx="3564026" cy="13716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61908" y="1335024"/>
            <a:ext cx="319826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잔여 용적률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1908" y="1591056"/>
            <a:ext cx="31982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325C"/>
                </a:solidFill>
                <a:latin typeface="Noto Sans CJK KR"/>
              </a:rPr>
              <a:t>1.0%p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1908" y="2121408"/>
            <a:ext cx="319826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A6472"/>
                </a:solidFill>
                <a:latin typeface="Noto Sans CJK KR"/>
              </a:rPr>
              <a:t>· 현행 249.00% / 상한 250%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798064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325C"/>
                </a:solidFill>
                <a:latin typeface="Noto Sans CJK KR"/>
              </a:rPr>
              <a:t>용적률 여력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163824"/>
            <a:ext cx="11094415" cy="402336"/>
          </a:xfrm>
          <a:prstGeom prst="rect">
            <a:avLst/>
          </a:prstGeom>
          <a:solidFill>
            <a:srgbClr val="EEF1F5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548640" y="3163824"/>
            <a:ext cx="11050037" cy="40233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94944" y="3264408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CJK KR"/>
              </a:rPr>
              <a:t>현행 249.00%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39151" y="3264408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2D3748"/>
                </a:solidFill>
                <a:latin typeface="Noto Sans CJK KR"/>
              </a:rPr>
              <a:t>법정 상한 250%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548640" y="3730752"/>
          <a:ext cx="11094413" cy="18470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83923"/>
                <a:gridCol w="3850953"/>
                <a:gridCol w="4859537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구  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값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출처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310896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용도지역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제2종일반주거지역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토지이용계획, 2026.08 조회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법정 건폐율 / 용적률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60% / 250%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토지이용계획, 2026.08 조회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현행 건폐율 / 용적률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48.60% / 249.00%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건축물대장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㎡당 공시지가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13,132,000원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개별공시지가 2025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토지 공시지가 총액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80.91억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대지면적 × ㎡당 공시지가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548640" y="5760720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· 법정 상한까지 개발 완료 — 증축 여력 사실상 없음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Terms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거래 조건 · 다음 단계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15568"/>
          <a:ext cx="5120640" cy="2487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06880"/>
                <a:gridCol w="3413760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구  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내  용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매매 희망가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1">
                          <a:solidFill>
                            <a:srgbClr val="C00000"/>
                          </a:solidFill>
                          <a:latin typeface="Noto Sans CJK KR"/>
                        </a:rPr>
                        <a:t>80억원</a:t>
                      </a:r>
                    </a:p>
                  </a:txBody>
                  <a:tcPr marL="64008" marR="64008" marT="9144" marB="9144" anchor="ctr">
                    <a:solidFill>
                      <a:srgbClr val="FCECE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승계 보증금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3.20억원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월 임대료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2,140만원 (VAT 별도)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잔금 일정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협의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대출 승계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확인 필요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소유 형태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확인 필요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25312" y="1115568"/>
            <a:ext cx="571774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325C"/>
                </a:solidFill>
                <a:latin typeface="Noto Sans CJK KR"/>
              </a:rPr>
              <a:t>진행 절차</a:t>
            </a:r>
          </a:p>
        </p:txBody>
      </p:sp>
      <p:sp>
        <p:nvSpPr>
          <p:cNvPr id="8" name="Rectangle 7"/>
          <p:cNvSpPr/>
          <p:nvPr/>
        </p:nvSpPr>
        <p:spPr>
          <a:xfrm>
            <a:off x="5925312" y="1481328"/>
            <a:ext cx="27432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925312" y="1531620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59" y="1508760"/>
            <a:ext cx="53336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관심 표명 · 담당자 연락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25312" y="1938528"/>
            <a:ext cx="27432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925312" y="1988820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1965960"/>
            <a:ext cx="53336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NDA 체결 · 임대차계약서 열람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25312" y="2395728"/>
            <a:ext cx="27432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925312" y="2446020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2423160"/>
            <a:ext cx="53336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현장 실사 일정 조율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25312" y="2852928"/>
            <a:ext cx="27432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925312" y="2903220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2880360"/>
            <a:ext cx="53336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LOI 제출 · 가격 협의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25312" y="3310128"/>
            <a:ext cx="27432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25312" y="3360420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59" y="3337560"/>
            <a:ext cx="53336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법률·세무 실사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25312" y="3767328"/>
            <a:ext cx="27432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925312" y="3817620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59" y="3794760"/>
            <a:ext cx="53336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매매계약 체결 · 잔금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913632"/>
            <a:ext cx="5120640" cy="100584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49808" y="4059936"/>
            <a:ext cx="47183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FAFC5"/>
                </a:solidFill>
                <a:latin typeface="Noto Sans CJK KR"/>
              </a:rPr>
              <a:t>문의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297680"/>
            <a:ext cx="47183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 CJK KR"/>
              </a:rPr>
              <a:t>제이에스부동산중개(주)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4608576"/>
            <a:ext cx="47183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C9D4E2"/>
                </a:solidFill>
                <a:latin typeface="Noto Sans CJK KR"/>
              </a:rPr>
              <a:t>담당 중개인  ·  02-000-0000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25312" y="5029200"/>
            <a:ext cx="5717743" cy="1316736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108192" y="5157216"/>
            <a:ext cx="535198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A6472"/>
                </a:solidFill>
                <a:latin typeface="Noto Sans CJK KR"/>
              </a:rPr>
              <a:t>· 자료를 넣으면 열리는 내용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08192" y="5413248"/>
            <a:ext cx="2103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325C"/>
                </a:solidFill>
                <a:latin typeface="Noto Sans CJK KR"/>
              </a:rPr>
              <a:t>· 외부 사진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7031" y="5413248"/>
            <a:ext cx="320314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→ 외관 사진 전면 · 개요 사진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08192" y="5724144"/>
            <a:ext cx="2103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325C"/>
                </a:solidFill>
                <a:latin typeface="Noto Sans CJK KR"/>
              </a:rPr>
              <a:t>· 연간 운영비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57031" y="5724144"/>
            <a:ext cx="320314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→ 연 순수입 · 순수익률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08192" y="6035040"/>
            <a:ext cx="2103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325C"/>
                </a:solidFill>
                <a:latin typeface="Noto Sans CJK KR"/>
              </a:rPr>
              <a:t>· 담보대출 잔액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57031" y="6035040"/>
            <a:ext cx="320314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→ 실제 대출 조건 반영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047488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Noto Sans CJK KR"/>
              </a:rPr>
              <a:t>· 문의 시 물건명·임차인 상호는 가려서 보내주십시오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Noto Sans CJK KR"/>
              </a:rPr>
              <a:t>· 본 자료의 수치는 제출된 임대 현황과 공부에서 산출했습니다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