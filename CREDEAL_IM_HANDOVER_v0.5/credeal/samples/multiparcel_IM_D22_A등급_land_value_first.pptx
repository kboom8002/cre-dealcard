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693615" y="0"/>
            <a:ext cx="7498079" cy="6858000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693615" y="3282696"/>
            <a:ext cx="749807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693615" cy="6858000"/>
          </a:xfrm>
          <a:prstGeom prst="rect">
            <a:avLst/>
          </a:prstGeom>
          <a:solidFill>
            <a:srgbClr val="5C45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629607" y="0"/>
            <a:ext cx="64008" cy="6858000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1207008"/>
            <a:ext cx="357804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C9B386"/>
                </a:solidFill>
                <a:latin typeface="Noto Sans CJK KR"/>
              </a:rPr>
              <a:t>· INFORMATION MEMORANDUM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66928" cy="274320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8368" y="1623060"/>
            <a:ext cx="56692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매각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048256"/>
            <a:ext cx="3578047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잠원동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Noto Sans CJK KR"/>
              </a:rPr>
              <a:t>근생빌딩 매각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346704"/>
            <a:ext cx="35780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서울특별시 서초구 잠원동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621024"/>
            <a:ext cx="35780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A9B6C8"/>
                </a:solidFill>
                <a:latin typeface="Noto Sans CJK KR"/>
              </a:rPr>
              <a:t>잠원역 450m  ·  제2종일반주거지역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931920"/>
            <a:ext cx="357804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8368" y="4059935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41448" y="3986783"/>
            <a:ext cx="1794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C00000"/>
                </a:solidFill>
                <a:latin typeface="Noto Sans CJK KR"/>
              </a:rPr>
              <a:t>80억원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4425696"/>
            <a:ext cx="357804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455371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41448" y="4480559"/>
            <a:ext cx="1794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4,293만원/평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4919472"/>
            <a:ext cx="357804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50474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공시지가 배수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1448" y="4974336"/>
            <a:ext cx="1794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0.99배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413248"/>
            <a:ext cx="3578047" cy="27432"/>
          </a:xfrm>
          <a:prstGeom prst="rect">
            <a:avLst/>
          </a:prstGeom>
          <a:solidFill>
            <a:srgbClr val="2A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8368" y="554126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FAFC5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41448" y="5468112"/>
            <a:ext cx="1794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Noto Sans CJK KR"/>
              </a:rPr>
              <a:t>1.0%p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961888"/>
            <a:ext cx="3578047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236208"/>
            <a:ext cx="3578047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8B9BB2"/>
                </a:solidFill>
                <a:latin typeface="Noto Sans CJK KR"/>
              </a:rPr>
              <a:t>2026. 08   ·   본 자료는 투자 권유가 아닙니다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한 장 요약 · 제안 Point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548640" y="1133856"/>
            <a:ext cx="4663440" cy="2395728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2185415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639312"/>
            <a:ext cx="2267712" cy="1755648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4370831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3639312"/>
            <a:ext cx="2267712" cy="1755648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944368" y="4370831"/>
            <a:ext cx="226771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4688" y="123901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687568" y="118872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잠원역(3호선) 450m · 도보 6분 — 강남대로 접근 600m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04688" y="1787651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687568" y="173736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2필지 616.1㎡ — 제척 12.5㎡ 반영 시 유효 603.6㎡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04688" y="233629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687568" y="228600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토지 평당 4,293만원 — 인근 1.31억~1.62억 범위 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04688" y="288493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687568" y="2834639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약국·의원·학원 등 5개 임차 · 지하 1층 공실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504688" y="3433572"/>
            <a:ext cx="5029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687568" y="3383280"/>
            <a:ext cx="5955487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300" b="0">
                <a:solidFill>
                  <a:srgbClr val="2D3748"/>
                </a:solidFill>
                <a:latin typeface="Noto Sans CJK KR"/>
              </a:rPr>
              <a:t>한시 완화 250% 조건 — 유효 기준 254.1%로 이탈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04688" y="4023359"/>
            <a:ext cx="6138367" cy="932688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705855" y="4169663"/>
            <a:ext cx="573603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실투자금 · 월 순현금 (LTV 50% · 금리 4.5% 가정)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05855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41.20억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3871" y="4443983"/>
            <a:ext cx="28680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10161F"/>
                </a:solidFill>
                <a:latin typeface="Noto Sans CJK KR"/>
              </a:rPr>
              <a:t>+640만원/월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04688" y="5084064"/>
            <a:ext cx="6138367" cy="1298448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504688" y="5084064"/>
            <a:ext cx="54864" cy="129844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724144" y="5212079"/>
            <a:ext cx="5699455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24144" y="5486400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제척 12.5㎡ 관할 구청 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24144" y="5705856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임대차계약 5건의 최초 계약일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24144" y="5925312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임차인 대항력 요건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6144768"/>
            <a:ext cx="56994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내역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Parcels &amp; Exclusions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필지 명세 · 제척</a:t>
            </a:r>
          </a:p>
        </p:txBody>
      </p:sp>
      <p:sp>
        <p:nvSpPr>
          <p:cNvPr id="5" name="Rectangle 4"/>
          <p:cNvSpPr/>
          <p:nvPr/>
        </p:nvSpPr>
        <p:spPr>
          <a:xfrm>
            <a:off x="11044123" y="530352"/>
            <a:ext cx="598932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044123" y="589788"/>
            <a:ext cx="5989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2필지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6492240" cy="12801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7360"/>
                <a:gridCol w="640080"/>
                <a:gridCol w="1097280"/>
                <a:gridCol w="731520"/>
                <a:gridCol w="1005840"/>
                <a:gridCol w="12801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지  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지목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대장(㎡)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지분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제척(㎡)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유효(㎡)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26-14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511.7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단독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511.7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26-16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104.4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단독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12.5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91.9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616.1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12.5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603.6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2615184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잠원동 26-16 · 도시계획도로 저촉 12.5㎡ ●중개인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871216"/>
            <a:ext cx="63276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용적률 산정 제외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127248"/>
            <a:ext cx="63276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9M 도로 확폭 계획 저촉 (토지이용계획도 판독) — 관할 구청 확인 필요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59" y="1115568"/>
            <a:ext cx="4419295" cy="1298448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88352" y="1243584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P01 유효 대지면적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88352" y="1481328"/>
            <a:ext cx="4090111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0161F"/>
                </a:solidFill>
                <a:latin typeface="Noto Sans CJK KR"/>
              </a:rPr>
              <a:t>603.6㎡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88352" y="2011680"/>
            <a:ext cx="409011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대장 616.1㎡ · 제척 12.5㎡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223759" y="2596896"/>
          <a:ext cx="4419294" cy="9875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04267"/>
                <a:gridCol w="191502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용적률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대장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249.0%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P02 유효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254.1%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7223759" y="3803904"/>
            <a:ext cx="4419295" cy="1463040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70063" y="3931920"/>
            <a:ext cx="41266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한시 완화 조건 이탈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0063" y="4206240"/>
            <a:ext cx="4126687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서울시 소규모 건축물 한시적 용적률 완화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조건 250% 미만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대장 249.0% → 유효 254.1%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완화를 전제한 규모 산출을 하지 않습니다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504688"/>
            <a:ext cx="1109441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제척 면적은 공공 API로 조회되지 않습니다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토지이용계획도 판독값 — 관할 구청 확인 필요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건폐율·용적률은 대장 대지 기준으로 고시됩니다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&amp; Zoning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이용 · 공법 규제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토지이용계획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6492240" cy="3383280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2660904"/>
            <a:ext cx="6492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지적도 미확보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681728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토지이용계획 · 가치 상승 여력 관점 6항목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937760"/>
            <a:ext cx="6492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A6472"/>
                </a:solidFill>
                <a:latin typeface="Noto Sans CJK KR"/>
              </a:rPr>
              <a:t>· 전체 7항목은 부록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212080"/>
            <a:ext cx="605332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6053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용도지역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27124" y="5212080"/>
            <a:ext cx="605332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27124" y="5257800"/>
            <a:ext cx="6053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정비구역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05609" y="5212080"/>
            <a:ext cx="1027785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905609" y="5257800"/>
            <a:ext cx="102778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지구단위계획구역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06547" y="5212080"/>
            <a:ext cx="1133398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006547" y="5257800"/>
            <a:ext cx="113339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도시계획시설 저촉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13098" y="5212080"/>
            <a:ext cx="1767078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13098" y="5257800"/>
            <a:ext cx="176707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가로구역별 최고높이 제한구역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486400"/>
            <a:ext cx="1027785" cy="237744"/>
          </a:xfrm>
          <a:prstGeom prst="rect">
            <a:avLst/>
          </a:prstGeom>
          <a:solidFill>
            <a:srgbClr val="1E2C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5532120"/>
            <a:ext cx="102778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C8D2E0"/>
                </a:solidFill>
                <a:latin typeface="Noto Sans CJK KR"/>
              </a:rPr>
              <a:t>토지거래허가구역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223759" y="1115568"/>
          <a:ext cx="4419294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06139"/>
                <a:gridCol w="301315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제2종일반주거지역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기타 지구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정비구역
지구단위계획구역
도시계획시설 저촉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60%  (현행 48.60%)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250%  (현행 249.00%)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7223759" y="3218687"/>
            <a:ext cx="4419295" cy="118872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88352" y="3364991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602735"/>
            <a:ext cx="4090111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0161F"/>
                </a:solidFill>
                <a:latin typeface="Noto Sans CJK KR"/>
              </a:rPr>
              <a:t>1.0%p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4096511"/>
            <a:ext cx="4090111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법정 상한까지 개발 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59" y="4535423"/>
            <a:ext cx="4419295" cy="148132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388352" y="4663439"/>
            <a:ext cx="40901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제척 12.5㎡ 반영 — 유효 기준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351775" y="4901183"/>
          <a:ext cx="4163262" cy="8778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42988"/>
                <a:gridCol w="1477286"/>
                <a:gridCol w="134298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대장 대지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0161F"/>
                          </a:solidFill>
                          <a:latin typeface="Noto Sans CJK KR"/>
                        </a:rPr>
                        <a:t>616.1㎡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0161F"/>
                          </a:solidFill>
                          <a:latin typeface="Noto Sans CJK KR"/>
                        </a:rPr>
                        <a:t>249.0%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CJK KR"/>
                        </a:rPr>
                        <a:t>유효 대지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0161F"/>
                          </a:solidFill>
                          <a:latin typeface="Noto Sans CJK KR"/>
                        </a:rPr>
                        <a:t>603.6㎡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00" b="0">
                          <a:solidFill>
                            <a:srgbClr val="10161F"/>
                          </a:solidFill>
                          <a:latin typeface="Noto Sans CJK KR"/>
                        </a:rPr>
                        <a:t>254.1%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7388352" y="5724143"/>
            <a:ext cx="409011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Noto Sans CJK KR"/>
              </a:rPr>
              <a:t>▲ 한시 완화 250% 조건 이탈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Land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토지 가치 · 개발 여력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공부 · 공시지가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3564026" cy="13716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토지 평당가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A5C2E"/>
                </a:solidFill>
                <a:latin typeface="Noto Sans CJK KR"/>
              </a:rPr>
              <a:t>4,293만원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대지 186.4평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3834" y="1188720"/>
            <a:ext cx="3564026" cy="13716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96714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공시지가 배수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6714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A5C2E"/>
                </a:solidFill>
                <a:latin typeface="Noto Sans CJK KR"/>
              </a:rPr>
              <a:t>0.99배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6714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공시지가 총액 80.91억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9028" y="1188720"/>
            <a:ext cx="3564026" cy="13716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61908" y="1335024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잔여 용적률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908" y="1591056"/>
            <a:ext cx="31982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7A5C2E"/>
                </a:solidFill>
                <a:latin typeface="Noto Sans CJK KR"/>
              </a:rPr>
              <a:t>1.0%p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1908" y="2121408"/>
            <a:ext cx="319826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현행 249.00% / 상한 250%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98064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용적률 여력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163824"/>
            <a:ext cx="11094415" cy="402336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3163824"/>
            <a:ext cx="11050037" cy="40233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4944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Noto Sans CJK KR"/>
              </a:rPr>
              <a:t>현행 249.00%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39151" y="3264408"/>
            <a:ext cx="3657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2D3748"/>
                </a:solidFill>
                <a:latin typeface="Noto Sans CJK KR"/>
              </a:rPr>
              <a:t>법정 상한 250%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548640" y="3730752"/>
          <a:ext cx="11094413" cy="18470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83923"/>
                <a:gridCol w="3850953"/>
                <a:gridCol w="485953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값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출처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제2종일반주거지역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법정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60% / 250%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토지이용계획, 2026.08 조회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현행 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48.60% / 249.00%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건축물대장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㎡당 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13,132,000원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개별공시지가 2025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토지 공시지가 총액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80.91억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대지면적 × ㎡당 공시지가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548640" y="5760720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법정 상한까지 개발 완료 — 증축 여력 사실상 없음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Location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입지 · 교통</a:t>
            </a:r>
          </a:p>
        </p:txBody>
      </p:sp>
      <p:sp>
        <p:nvSpPr>
          <p:cNvPr id="5" name="Rectangle 4"/>
          <p:cNvSpPr/>
          <p:nvPr/>
        </p:nvSpPr>
        <p:spPr>
          <a:xfrm>
            <a:off x="10468051" y="530352"/>
            <a:ext cx="1175004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468051" y="589788"/>
            <a:ext cx="11750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카카오 로컬 조회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7360920" cy="5029200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3483863"/>
            <a:ext cx="7360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지도 미확보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92440" y="1115568"/>
          <a:ext cx="3550614" cy="11978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32007"/>
                <a:gridCol w="866003"/>
                <a:gridCol w="95260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거리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도보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450m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6분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신사역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900m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13분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사거리 정류장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130m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도보 2분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8092440" y="2569464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57031" y="2542032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잠원역 3호선 450m · 강남대로 600m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3136392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57031" y="3108960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배후 아파트 밀집 · 강남 업무지구 연계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3703320"/>
            <a:ext cx="45720" cy="18288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57031" y="3675888"/>
            <a:ext cx="3386023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상권 — 의료 21.4% · 음식 33.8% (소상공인 상권정보)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2179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6472"/>
                </a:solidFill>
                <a:latin typeface="Noto Sans CJK KR"/>
              </a:rPr>
              <a:t>지도 출처 — 카카오맵 (권역 참고용) · 정확한 위치는 현장 안내 · 거리는 위 표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Property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물건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852099" y="530352"/>
            <a:ext cx="790956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52099" y="589788"/>
            <a:ext cx="79095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공부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5074920" cy="42748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/>
                <a:gridCol w="365760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   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소재지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서울특별시 서초구 잠원동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용도지역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제2종일반주거지역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대지면적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616.10㎡ (186.4평)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건축면적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299.40㎡ (90.6평)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1,789.00㎡ (541.2평)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건폐율 / 용적률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48.60% / 249.00%  (상한 60% / 250%)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주용도 / 구조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제2종근린생활시설 · 철근콘크리트구조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지하 1층 / 지상 5층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사용승인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2009-06-22  ·  위반건축물 해당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주차 / E·V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자주식 옥외 6대 · 승용 1대 (11인승)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공시지가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4,341만원/평  (총 80.91억)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C00000"/>
                          </a:solidFill>
                          <a:latin typeface="Noto Sans CJK KR"/>
                        </a:rPr>
                        <a:t>80억원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06324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1">
                          <a:solidFill>
                            <a:srgbClr val="10161F"/>
                          </a:solidFill>
                          <a:latin typeface="Noto Sans CJK KR"/>
                        </a:rPr>
                        <a:t>4,293만원/평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824727" y="1115568"/>
            <a:ext cx="5818327" cy="3145536"/>
          </a:xfrm>
          <a:prstGeom prst="rect">
            <a:avLst/>
          </a:prstGeom>
          <a:solidFill>
            <a:srgbClr val="FAF7F1"/>
          </a:solidFill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824727" y="2542032"/>
            <a:ext cx="581832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A6472"/>
                </a:solidFill>
                <a:latin typeface="Noto Sans CJK KR"/>
              </a:rPr>
              <a:t>사진 미제출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52743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07161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잠원역 450m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12735" y="1243584"/>
            <a:ext cx="661797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531608" y="1284732"/>
            <a:ext cx="42405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2필지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5972" y="1243584"/>
            <a:ext cx="1368552" cy="2560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84845" y="1284732"/>
            <a:ext cx="113080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Noto Sans CJK KR"/>
              </a:rPr>
              <a:t>제척 12.5㎡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24727" y="450799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89319" y="442569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2필지 · 대장 616.1㎡ · 유효 603.6㎡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24727" y="487375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989319" y="479145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제척 12.5㎡ — 9M 도로 확폭 계획 저촉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24727" y="5239512"/>
            <a:ext cx="45720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989319" y="5157216"/>
            <a:ext cx="565373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지상 5층 · 지하 1층 · 2009년 준공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577840"/>
            <a:ext cx="11094415" cy="566928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577840"/>
            <a:ext cx="1188720" cy="566928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548640" y="5742431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매각 조건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230368"/>
            <a:ext cx="50749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연면적은 건축물대장 층별개요 합으로 확정 (용적률 역산 검증)</a:t>
            </a:r>
          </a:p>
          <a:p>
            <a:pPr algn="l">
              <a:spcAft>
                <a:spcPts val="10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원장 계 행 1,789.00㎡는 오기 — 확인 필요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1952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매매 희망가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1952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00000"/>
                </a:solidFill>
                <a:latin typeface="Noto Sans CJK KR"/>
              </a:rPr>
              <a:t>80억원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8375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승계 보증금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8375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3.20억원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4799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월 임대료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4799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2,140만원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31223" y="5669279"/>
            <a:ext cx="2202103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연 수익률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31223" y="5861303"/>
            <a:ext cx="22021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3.21% (총임대료 ÷ 매매가)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Rent Roll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층별 이용 및 임대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0" cy="21808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40204"/>
                <a:gridCol w="1410306"/>
                <a:gridCol w="940204"/>
                <a:gridCol w="2256491"/>
                <a:gridCol w="1504327"/>
                <a:gridCol w="1410306"/>
                <a:gridCol w="1598347"/>
                <a:gridCol w="1034225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층별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임대면적(㎡)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(평)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임차 업종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보증금(만원)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월세(만원)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계약 만료일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상태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1F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268.40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81.2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약국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680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2027-02-28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298.20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90.2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의원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8,000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490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2026-10-31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298.20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90.2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학원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6,000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380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2027-08-31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298.20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90.2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330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2027-05-14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5F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298.20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90.2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사무실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4,000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260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2028-01-04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임대중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B1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327.80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99.2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자가 / 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>
                          <a:solidFill>
                            <a:srgbClr val="10161F"/>
                          </a:solidFill>
                          <a:latin typeface="Noto Sans CJK KR"/>
                        </a:rPr>
                        <a:t>공실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계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1,789.00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541.2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32,000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>2,140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1">
                          <a:solidFill>
                            <a:srgbClr val="10161F"/>
                          </a:solidFill>
                          <a:latin typeface="Noto Sans CJK KR"/>
                        </a:rPr>
                        <a:t/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515868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구성 — 임대중 5 · 공실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71900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공실률 — 구획 16.67% · 면적 18.32%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7931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1층 월세 비중 31.8% — 소형상업용은 1층이 수입의 절반 안팎을 좌우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83964"/>
            <a:ext cx="1109441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금액은 VAT 별도 · 임차인 상호는 대외 문서에 표기하지 않음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41164"/>
            <a:ext cx="11094415" cy="93268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4741164"/>
            <a:ext cx="54864" cy="93268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4869179"/>
            <a:ext cx="1065550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00000"/>
                </a:solidFill>
                <a:latin typeface="Noto Sans CJK KR"/>
              </a:rPr>
              <a:t>매입 후 수익 개선 여지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5143500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지하 1층 327.8㎡(99.2평) 공실 임대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금액은 비교 임대사례 확보 후 산출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Investment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투자 구조 — 실투자금과 월 순현금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4892039" cy="1938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29542"/>
                <a:gridCol w="2562497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금  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80.00억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취득세 4.6%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3.68억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중개보수 0.9%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0.72억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기타비용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자료 없음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총취득원가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84.40억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매매가보다 4.40억원(5.5%) 추가 소요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9584"/>
            <a:ext cx="4892040" cy="1060704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31520" y="3639312"/>
            <a:ext cx="452627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6325C"/>
                </a:solidFill>
                <a:latin typeface="Noto Sans CJK KR"/>
              </a:rPr>
              <a:t>연 수익률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1363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매매가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59" y="3895344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3.21%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87952"/>
            <a:ext cx="3703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 총임대료 ÷ (매매가 − 보증금)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4169663"/>
            <a:ext cx="10058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300" b="1">
                <a:solidFill>
                  <a:srgbClr val="10161F"/>
                </a:solidFill>
                <a:latin typeface="Noto Sans CJK KR"/>
              </a:rPr>
              <a:t>3.34%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63440"/>
            <a:ext cx="4892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운영비 미제출 — "순수익률" 라벨을 쓰지 않음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96712" y="1115568"/>
          <a:ext cx="5946340" cy="13350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10011"/>
                <a:gridCol w="976265"/>
                <a:gridCol w="1065016"/>
                <a:gridCol w="887513"/>
                <a:gridCol w="1065016"/>
                <a:gridCol w="1242519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LTV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대출금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실투자금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이자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월 순현금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자기자본 수익률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81.20억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+2,140만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3.16%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32.00억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49.20억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+940만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2.29%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50%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40.00억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41.20억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1,500만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+640만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1.86%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96712" y="2670048"/>
            <a:ext cx="594634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◇ 금리 4.5% 가정 (2026년 통상) · 이자만 · 운영비 미반영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96712" y="2980944"/>
            <a:ext cx="5946343" cy="969264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861303" y="3127248"/>
            <a:ext cx="5617159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역레버리지 — 수익률 3.21% &lt; 금리 4.5%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50" b="1">
                <a:solidFill>
                  <a:srgbClr val="C00000"/>
                </a:solidFill>
                <a:latin typeface="Noto Sans CJK KR"/>
              </a:rPr>
              <a:t>대출을 늘릴수록 자기자본 수익률이 낮아집니다. 무차입 3.16%가 상한입니다.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65775"/>
            <a:ext cx="4892040" cy="1170432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31520" y="5193791"/>
            <a:ext cx="452627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· 자금 계획 (LTV 50% 기준)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총취득원가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84.40억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4659" y="544982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보증금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6219" y="543153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3.20억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− 대출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83080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Noto Sans CJK KR"/>
              </a:rPr>
              <a:t>40.00억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4659" y="5815583"/>
            <a:ext cx="1051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9B6C8"/>
                </a:solidFill>
                <a:latin typeface="Noto Sans CJK KR"/>
              </a:rPr>
              <a:t>= 실투자금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46219" y="5797296"/>
            <a:ext cx="1188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C98A"/>
                </a:solidFill>
                <a:latin typeface="Noto Sans CJK KR"/>
              </a:rPr>
              <a:t>41.20억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96712" y="4078224"/>
            <a:ext cx="5946343" cy="859536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861303" y="4206240"/>
            <a:ext cx="5617159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은행은 매매가가 아니라 감정가로 한도를 정합니다.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잔금 일정 확정 전에 대출 승인을 받으시길 권합니다.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Market Comparables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가격 근거 — 인근 실거래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국토부 실거래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115568"/>
          <a:ext cx="11094413" cy="1170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51811"/>
                <a:gridCol w="1147698"/>
                <a:gridCol w="1243339"/>
                <a:gridCol w="1338981"/>
                <a:gridCol w="1434622"/>
                <a:gridCol w="1530264"/>
                <a:gridCol w="1147698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비교사례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거래일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거래금액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규모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대로변 근생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95억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1,620.0㎡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14,800만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3,600만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지상5층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반포동 이면 근생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2024-06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72억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1,340.0㎡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13,100만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3,280만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지상4층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잠원동 역세권 근생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2024-03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110억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1,880.0㎡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16,200만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3,720만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지상6층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2560320"/>
          <a:ext cx="6675118" cy="9509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21100"/>
                <a:gridCol w="1430382"/>
                <a:gridCol w="2288612"/>
                <a:gridCol w="1335024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비교 기준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본 자산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인근 실거래 범위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하단 대비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토지 평당가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4,293만원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10161F"/>
                          </a:solidFill>
                          <a:latin typeface="Noto Sans CJK KR"/>
                        </a:rPr>
                        <a:t>13,100만 ~ 16,200만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-67.2%</a:t>
                      </a:r>
                    </a:p>
                  </a:txBody>
                  <a:tcPr marL="64008" marR="64008" marT="9144" marB="9144" anchor="ctr">
                    <a:solidFill>
                      <a:srgbClr val="FAF7F1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연면적 평당가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1,478만원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3,280만 ~ 3,720만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-54.9%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452360" y="2560320"/>
            <a:ext cx="4190695" cy="950976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616952" y="2688336"/>
            <a:ext cx="3861511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매매가 ÷ 공시지가 총액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16952" y="2926079"/>
            <a:ext cx="3861511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0.99배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035808"/>
            <a:ext cx="22704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공시지가 총액 80.91억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매매가의 101.1%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85615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두 기준 모두 인근 하단보다 낮음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용적률 249.00%의 저밀 개발 — 연면적이 적어 토지 평당가가 낮게 형성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· 같은 사실이 잔여 용적률 1.0%p라는 개선 여력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72000"/>
            <a:ext cx="11094415" cy="969264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68096" y="4700016"/>
            <a:ext cx="106555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조사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4974336"/>
            <a:ext cx="106555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조회 범위 — 인근 상업·업무용 실거래 직전 12개월 (국토부)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실거래 API는 지번을 마스킹하고 집합건물 대지면적을 주지 않습니다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000" b="0">
                <a:solidFill>
                  <a:srgbClr val="2D3748"/>
                </a:solidFill>
                <a:latin typeface="Noto Sans CJK KR"/>
              </a:rPr>
              <a:t>· 물건 식별·접면·규모·대지면적은 중개인 보강값입니다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Risk &amp; Due Diligence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리스크 및 확인사항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64063" y="530352"/>
            <a:ext cx="1078992" cy="292608"/>
          </a:xfrm>
          <a:prstGeom prst="rect">
            <a:avLst/>
          </a:prstGeom>
          <a:solidFill>
            <a:srgbClr val="FC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64063" y="589788"/>
            <a:ext cx="10789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C00000"/>
                </a:solidFill>
                <a:latin typeface="Noto Sans CJK KR"/>
              </a:rPr>
              <a:t>확인 필요 7건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115568"/>
            <a:ext cx="3564026" cy="32918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확인된 리스크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94944" y="1664208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제척 12.5㎡ — 한시 완화 250% 조건 이탈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" y="2139696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59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면적 기준 공실률 18.32%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615184"/>
            <a:ext cx="41148" cy="1463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59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제척은 도면 판독값 — 관할 구청 확인 필요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13834" y="1115568"/>
            <a:ext cx="3564026" cy="32918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60138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미확인 사항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3834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460138" y="1664208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88154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제척 12.5㎡ 관할 구청 확인 (토지이용계획도 판독값)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0138" y="2139696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88154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 5건의 최초 계약일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60138" y="2615184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88154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임차인 대항력 요건 (사업자등록 여부)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60138" y="3090672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88154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내역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0138" y="3566160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88154" y="3474720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60138" y="4041648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88154" y="395020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지하 1층 공실 — 목표 임대료·비교 임대사례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60138" y="4517136"/>
            <a:ext cx="41148" cy="146304"/>
          </a:xfrm>
          <a:prstGeom prst="rect">
            <a:avLst/>
          </a:prstGeom>
          <a:solidFill>
            <a:srgbClr val="7A5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88154" y="4425696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건물 사진 0매 — 표준 최소 6매(외부3·내부3) 미달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79028" y="1115568"/>
            <a:ext cx="3564026" cy="32918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25332" y="1179576"/>
            <a:ext cx="327141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Noto Sans CJK KR"/>
              </a:rPr>
              <a:t>매수인 확인 권고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79028" y="1444752"/>
            <a:ext cx="3564026" cy="3931920"/>
          </a:xfrm>
          <a:prstGeom prst="rect">
            <a:avLst/>
          </a:prstGeom>
          <a:noFill/>
          <a:ln w="9525">
            <a:solidFill>
              <a:srgbClr val="CBD5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225332" y="1664208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353348" y="1572768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등기부등본 — 근저당·권리 제한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5332" y="2139696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353348" y="2048255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대출 감정가 — 잔금 전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5332" y="2615184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53348" y="2523744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임대차계약서 원본 — 최초 계약일·특약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5332" y="3090672"/>
            <a:ext cx="41148" cy="146304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353348" y="2999232"/>
            <a:ext cx="314340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현장 — 누수·균열·설비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541264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등기부등본 미제출 — 권리 제한 여부를 "없음"으로 판정하지 않았습니다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확인사항 칸은 공개 단계에서도 가리지 않습니다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Evidence &amp;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근거 · 검증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60075" y="530352"/>
            <a:ext cx="982980" cy="292608"/>
          </a:xfrm>
          <a:prstGeom prst="rect">
            <a:avLst/>
          </a:prstGeom>
          <a:solidFill>
            <a:srgbClr val="EAF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660075" y="589788"/>
            <a:ext cx="9829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B6D11"/>
                </a:solidFill>
                <a:latin typeface="Noto Sans CJK KR"/>
              </a:rPr>
              <a:t>공부 교차검증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335024"/>
          <a:ext cx="6675118" cy="16093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9049"/>
                <a:gridCol w="2567353"/>
                <a:gridCol w="1198098"/>
                <a:gridCol w="1198098"/>
                <a:gridCol w="111252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코드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검증 내용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기대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실제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판정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X01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건폐율 × 대지 = 건축면적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299.42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299.40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(0.01%)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X02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용적률 × 대지 = 용적률산정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1,534.09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1,534.00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(0.01%)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X03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층별개요 합 = 연면적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1,789.00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1,789.00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X04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대지 × ㎡당 공시지가 = 총액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8,090,625,200.00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8,090,625,200.00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0">
                          <a:solidFill>
                            <a:srgbClr val="10161F"/>
                          </a:solidFill>
                          <a:latin typeface="Noto Sans CJK KR"/>
                        </a:rPr>
                        <a:t>일치 (0.00%)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452360" y="1335024"/>
            <a:ext cx="4190695" cy="118872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35240" y="1463040"/>
            <a:ext cx="38249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A6472"/>
                </a:solidFill>
                <a:latin typeface="Noto Sans CJK KR"/>
              </a:rPr>
              <a:t>· 자료 해상도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00784"/>
            <a:ext cx="3824935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6325C"/>
                </a:solidFill>
                <a:latin typeface="Noto Sans CJK KR"/>
              </a:rPr>
              <a:t>R2 · 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176272"/>
            <a:ext cx="382493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· 임대차 L축 / 물건자료 P축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55263"/>
            <a:ext cx="1109441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잠긴 블록 18종 — 사유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외관 사진 전면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외부 사진 미입력 — 남색 표지로 대체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42151" y="3602735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실제 대출 조건 반영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6711" y="3602735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담보대출 잔액 · 대출 금리 미입력 — 가정치로만 산출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월 총수입 (관리비 포함)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관리비 부담 주체 미입력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3895344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연 순수입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6711" y="3895344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연간 운영비 미입력 — 연 순수입을 산출하지 않습니다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순수익률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운영비 미입력 — "순수익률" 라벨 금지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4187951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개요 사진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6711" y="4187951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외부 사진 미입력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접면 도로·코너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접면 도로 폭 미입력 — 현장 확인 항목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2151" y="4480559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통합계약 표기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6711" y="4480559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계약 그룹 미입력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갱신요구권 잔여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최초 계약일 미입력 — 산출하지 않습니다 (불변조건 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42151" y="4773168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0161F"/>
                </a:solidFill>
                <a:latin typeface="Noto Sans CJK KR"/>
              </a:rPr>
              <a:t>· 대항력 판정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6711" y="4773168"/>
            <a:ext cx="320634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D3748"/>
                </a:solidFill>
                <a:latin typeface="Noto Sans CJK KR"/>
              </a:rPr>
              <a:t>대항력 요건 미입력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6472"/>
                </a:solidFill>
                <a:latin typeface="Noto Sans CJK KR"/>
              </a:rPr>
              <a:t>Terms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534924"/>
            <a:ext cx="18288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7985455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6325C"/>
                </a:solidFill>
                <a:latin typeface="Noto Sans CJK KR"/>
              </a:rPr>
              <a:t>거래 조건 · 다음 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914400"/>
            <a:ext cx="11094415" cy="20116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15568"/>
          <a:ext cx="5120640" cy="2487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6880"/>
                <a:gridCol w="3413760"/>
              </a:tblGrid>
              <a:tr h="292608"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구  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Noto Sans CJK KR"/>
                        </a:rPr>
                        <a:t>내  용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매매 희망가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1">
                          <a:solidFill>
                            <a:srgbClr val="C00000"/>
                          </a:solidFill>
                          <a:latin typeface="Noto Sans CJK KR"/>
                        </a:rPr>
                        <a:t>80억원</a:t>
                      </a:r>
                    </a:p>
                  </a:txBody>
                  <a:tcPr marL="64008" marR="64008" marT="9144" marB="9144" anchor="ctr"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승계 보증금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3.20억원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월 임대료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2,140만원 (VAT 별도)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잔금 일정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협의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대출 승계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CJK KR"/>
                        </a:rPr>
                        <a:t>소유 형태</a:t>
                      </a:r>
                    </a:p>
                  </a:txBody>
                  <a:tcPr marL="64008" marR="64008" marT="9144" marB="9144" anchor="ctr">
                    <a:solidFill>
                      <a:srgbClr val="16325C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1050" b="0">
                          <a:solidFill>
                            <a:srgbClr val="10161F"/>
                          </a:solidFill>
                          <a:latin typeface="Noto Sans CJK KR"/>
                        </a:rPr>
                        <a:t>확인 필요</a:t>
                      </a:r>
                    </a:p>
                  </a:txBody>
                  <a:tcPr marL="64008" marR="64008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25312" y="1115568"/>
            <a:ext cx="57177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325C"/>
                </a:solidFill>
                <a:latin typeface="Noto Sans CJK KR"/>
              </a:rPr>
              <a:t>진행 절차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5925312" y="1481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25312" y="1531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59" y="1508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관심 표명 · 담당자 연락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25312" y="19385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25312" y="19888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9659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NDA 체결 · 임대차계약서 열람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5312" y="23957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25312" y="24460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24231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현장 실사 일정 조율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25312" y="28529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925312" y="29032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8803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LOI 제출 · 가격 협의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25312" y="33101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25312" y="33604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33375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법률·세무 실사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25312" y="3767328"/>
            <a:ext cx="274320" cy="27432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25312" y="3817620"/>
            <a:ext cx="274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3794760"/>
            <a:ext cx="5333695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2D3748"/>
                </a:solidFill>
                <a:latin typeface="Noto Sans CJK KR"/>
              </a:rPr>
              <a:t>매매계약 체결 · 잔금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913632"/>
            <a:ext cx="5120640" cy="1005840"/>
          </a:xfrm>
          <a:prstGeom prst="rect">
            <a:avLst/>
          </a:prstGeom>
          <a:solidFill>
            <a:srgbClr val="1632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49808" y="405993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FAFC5"/>
                </a:solidFill>
                <a:latin typeface="Noto Sans CJK KR"/>
              </a:rPr>
              <a:t>문의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4297680"/>
            <a:ext cx="471830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Noto Sans CJK KR"/>
              </a:rPr>
              <a:t>제이에스부동산중개(주)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608576"/>
            <a:ext cx="471830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9D4E2"/>
                </a:solidFill>
                <a:latin typeface="Noto Sans CJK KR"/>
              </a:rPr>
              <a:t>담당 중개인  ·  02-000-0000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25312" y="5029200"/>
            <a:ext cx="5717743" cy="1316736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108192" y="5157216"/>
            <a:ext cx="53519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A6472"/>
                </a:solidFill>
                <a:latin typeface="Noto Sans CJK KR"/>
              </a:rPr>
              <a:t>· 자료를 넣으면 열리는 내용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08192" y="5413248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외부 사진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57031" y="5413248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외관 사진 전면 · 개요 사진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08192" y="5724144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연간 운영비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57031" y="5724144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연 순수입 · 순수익률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035040"/>
            <a:ext cx="2103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6325C"/>
                </a:solidFill>
                <a:latin typeface="Noto Sans CJK KR"/>
              </a:rPr>
              <a:t>· 담보대출 잔액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57031" y="6035040"/>
            <a:ext cx="320314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2D3748"/>
                </a:solidFill>
                <a:latin typeface="Noto Sans CJK KR"/>
              </a:rPr>
              <a:t>→ 실제 대출 조건 반영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47488"/>
            <a:ext cx="11094415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문의 시 물건명·임차인 상호는 가려서 보내주십시오</a:t>
            </a:r>
          </a:p>
          <a:p>
            <a:pPr algn="l">
              <a:spcAft>
                <a:spcPts val="0"/>
              </a:spcAft>
            </a:pPr>
            <a:r>
              <a:rPr sz="950" b="0">
                <a:solidFill>
                  <a:srgbClr val="5A6472"/>
                </a:solidFill>
                <a:latin typeface="Noto Sans CJK KR"/>
              </a:rPr>
              <a:t>· 본 자료의 수치는 제출된 임대 현황과 공부에서 산출했습니다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400800"/>
            <a:ext cx="7766090" cy="201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제이에스부동산중개(주)   |   본 자료는 투자 권유가 아니며 실사·전문가 검토가 필요합니다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14730" y="6400800"/>
            <a:ext cx="33283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A6472"/>
                </a:solidFill>
                <a:latin typeface="Noto Sans CJK KR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