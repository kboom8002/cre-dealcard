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0"/>
            <a:ext cx="6949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42255" cy="6858000"/>
          </a:xfrm>
          <a:prstGeom prst="rect">
            <a:avLst/>
          </a:prstGeom>
          <a:solidFill>
            <a:srgbClr val="1B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178247" y="0"/>
            <a:ext cx="64008" cy="6858000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4126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386"/>
                </a:solidFill>
                <a:latin typeface="Noto Sans CJK KR"/>
              </a:rPr>
              <a:t>· INFORMATION MEMORANDUM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566928" cy="274320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16230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매각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48256"/>
            <a:ext cx="412668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양평동4가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오피스빌딩 매각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4670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서울특별시 영등포구 양평동4가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선유도역 95m  ·  준공업지역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468112"/>
            <a:ext cx="608076" cy="237744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5513832"/>
            <a:ext cx="6080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건축물대장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8740" y="5468112"/>
            <a:ext cx="685800" cy="237744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48740" y="55138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토지이용계획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16836" y="5468112"/>
            <a:ext cx="685800" cy="237744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116836" y="55138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개별공시지가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4932" y="5468112"/>
            <a:ext cx="763524" cy="237744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84932" y="5513832"/>
            <a:ext cx="7635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국토부 실거래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096512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422452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4151376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663440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479145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1448" y="4718304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15,933만원/평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230368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535838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월 임대료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1448" y="5285232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4,657만원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61888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236208"/>
            <a:ext cx="41266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B9BB2"/>
                </a:solidFill>
                <a:latin typeface="Noto Sans CJK KR"/>
              </a:rPr>
              <a:t>2026. 08   ·   본 자료는 투자 권유가 아닙니다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한 장 요약 · 제안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33856"/>
            <a:ext cx="4663440" cy="2395728"/>
          </a:xfrm>
          <a:prstGeom prst="rect">
            <a:avLst/>
          </a:prstGeom>
        </p:spPr>
      </p:pic>
      <p:pic>
        <p:nvPicPr>
          <p:cNvPr id="7" name="Picture 6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39312"/>
            <a:ext cx="2267712" cy="1755648"/>
          </a:xfrm>
          <a:prstGeom prst="rect">
            <a:avLst/>
          </a:prstGeom>
        </p:spPr>
      </p:pic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3639312"/>
            <a:ext cx="2267712" cy="17556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04688" y="123901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87568" y="118872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선유도역(9호선) 95m · 도보 1분 — 4번 출구 대로변 직결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1787651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87568" y="173736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2018년 준공 · 지상 10층 · 용적률 398.8% (상한 400%)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4688" y="233629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87568" y="228600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토지 평당 15,933만원 — 인근 1.38억~1.85억 범위 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4688" y="288493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87568" y="2834639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IT·법률·디자인 등 11개 법인 임차 · 지하 1층 공실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4688" y="343357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87568" y="338328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기계식 22 + 자주식 1 · 15인승 승강기 · 개별 EHP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4688" y="4023359"/>
            <a:ext cx="6138367" cy="9326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05855" y="4169663"/>
            <a:ext cx="57360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실투자금 · 월 순현금 (LTV 50% · 금리 4.5% 가정)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5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61F"/>
                </a:solidFill>
                <a:latin typeface="Noto Sans CJK KR"/>
              </a:rPr>
              <a:t>133.80억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3871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00000"/>
                </a:solidFill>
                <a:latin typeface="Noto Sans CJK KR"/>
              </a:rPr>
              <a:t>▼ -30만원/월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5084064"/>
            <a:ext cx="6138367" cy="1298448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504688" y="5084064"/>
            <a:ext cx="54864" cy="1298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24144" y="5212079"/>
            <a:ext cx="56994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확인 필요 8건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5486400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임대차계약 11건의 최초 계약일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4144" y="5705856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임차인 대항력 요건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4144" y="5925312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내역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6144768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등기부등본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Evidence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근거 ·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2603F"/>
                </a:solidFill>
                <a:latin typeface="Noto Sans CJK KR"/>
              </a:rPr>
              <a:t>공부 교차검증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576072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010412"/>
            <a:ext cx="5760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건축물대장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7864" y="969264"/>
            <a:ext cx="651052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97864" y="1010412"/>
            <a:ext cx="6510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토지이용계획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2068" y="969264"/>
            <a:ext cx="651052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22068" y="1010412"/>
            <a:ext cx="6510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개별공시지가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6273" y="969264"/>
            <a:ext cx="726033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46273" y="1010412"/>
            <a:ext cx="72603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국토부 실거래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5459" y="969264"/>
            <a:ext cx="651052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45459" y="1010412"/>
            <a:ext cx="6510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카카오 로컬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9663" y="969264"/>
            <a:ext cx="875995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169663" y="1010412"/>
            <a:ext cx="8759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임대 현황(원장)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1335024"/>
          <a:ext cx="6675118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9049"/>
                <a:gridCol w="2567353"/>
                <a:gridCol w="1198098"/>
                <a:gridCol w="1198098"/>
                <a:gridCol w="111252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코드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검증 내용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기대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건폐율 × 대지 = 건축면적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용적률 × 대지 = 용적률산정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2,068.58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2,068.63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계약면적 합 ≤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2,213.68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2,490.88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충족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대지 × ㎡당 공시지가 = 총액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4,919,350,800.00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4,919,350,800.00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7452360" y="1335024"/>
            <a:ext cx="4190695" cy="11887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35240" y="1463040"/>
            <a:ext cx="38249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자료 해상도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1700784"/>
            <a:ext cx="38249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R2 · 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176272"/>
            <a:ext cx="38249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임대차 L축 / 물건자료 P축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55263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잠긴 블록 19종 — 사유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실제 대출 조건 반영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담보대출 잔액 · 대출 금리 미입력 — 가정치로만 산출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51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월 총수입 (관리비 포함)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6711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관리비 부담 주체 미입력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연 순수입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연간 운영비 미입력 — 연 순수입을 산출하지 않습니다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2151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순수익률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6711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미입력 — "순수익률" 라벨 금지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접면 도로·코너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접면 도로 폭 미입력 — 현장 확인 항목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151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통합계약 표기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6711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계약 그룹 미입력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갱신요구권 잔여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최초 계약일 미입력 — 산출하지 않습니다 (불변조건 7)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51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대항력 판정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6711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대항력 요건 미입력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임대료 현실화 계획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임대료 현실화 계획 미입력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2151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공실 임대 여력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6711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공실 목표 임대료 · 비교 임대사례 미입력 — 금액을 산출하지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Property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물건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2099" y="530352"/>
            <a:ext cx="790956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2099" y="589788"/>
            <a:ext cx="790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2603F"/>
                </a:solidFill>
                <a:latin typeface="Noto Sans CJK KR"/>
              </a:rPr>
              <a:t>공부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576072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010412"/>
            <a:ext cx="5760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건축물대장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7864" y="969264"/>
            <a:ext cx="651052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97864" y="1010412"/>
            <a:ext cx="6510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토지이용계획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2068" y="969264"/>
            <a:ext cx="651052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22068" y="1010412"/>
            <a:ext cx="6510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개별공시지가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6273" y="969264"/>
            <a:ext cx="726033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46273" y="1010412"/>
            <a:ext cx="72603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국토부 실거래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5459" y="969264"/>
            <a:ext cx="651052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45459" y="1010412"/>
            <a:ext cx="6510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카카오 로컬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9663" y="969264"/>
            <a:ext cx="875995" cy="21945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169663" y="1010412"/>
            <a:ext cx="8759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BD8E8"/>
                </a:solidFill>
                <a:latin typeface="Noto Sans CJK KR"/>
              </a:rPr>
              <a:t>임대 현황(원장)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1115568"/>
          <a:ext cx="5074920" cy="42748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365760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   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소재지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서울특별시 영등포구 양평동4가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518.70㎡ (156.9평)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건축면적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302.92㎡ (91.6평)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2,490.88㎡ (753.5평)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58.40% / 398.80%  (상한 60% / 400%)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주용도 / 구조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업무시설 · 철근콘크리트구조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 1층 / 지상 10층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사용승인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2018-09-14  ·  위반건축물 해당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주차 / E·V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총 23대 (자주식 1 · 기계식 22) · 승용 1대 (15인승)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3,135만원/평  (총 49.19억)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15,933만원/평</a:t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pic>
        <p:nvPicPr>
          <p:cNvPr id="21" name="Picture 20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1115568"/>
            <a:ext cx="5818327" cy="314553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952743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71615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선유도역 95m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12735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31608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2018년 준공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72728" y="1243584"/>
            <a:ext cx="1651254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91600" y="1284732"/>
            <a:ext cx="14135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용적률 398.8%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24727" y="450799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89319" y="442569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3필지 합지 518.70㎡ · 건폐율 58.40% — 최적 설계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24727" y="487375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89319" y="479145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법정 상한 400% 대비 398.80% — 개발 완료 자산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24727" y="523951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89319" y="515721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위반건축물 없음 · 철근콘크리트 · 지하 1층~지상 10층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577840"/>
            <a:ext cx="11094415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48640" y="5577840"/>
            <a:ext cx="1188720" cy="566928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" y="5742431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매각 조건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30368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연면적은 건축물대장 층별개요 합으로 확정 (용적률 역산 검증)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원장 계 행 2,490.88㎡는 오기 — 확인 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1952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1952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8375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승계 보증금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8375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4.95억원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4799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월 임대료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4799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4,657만원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31223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연 수익률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31223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 (총임대료 ÷ 매매가)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&amp; Zoning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이용 · 공법 규제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2603F"/>
                </a:solidFill>
                <a:latin typeface="Noto Sans CJK KR"/>
              </a:rPr>
              <a:t>토지이용계획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59" y="1115568"/>
          <a:ext cx="4419294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6139"/>
                <a:gridCol w="301315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기타 지구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과밀억제권역
가로구역별 최고높이 제한구역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60%  (현행 58.40%)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400%  (현행 398.80%)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223759" y="3218687"/>
            <a:ext cx="4419295" cy="11887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88352" y="3364991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602735"/>
            <a:ext cx="409011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0161F"/>
                </a:solidFill>
                <a:latin typeface="Noto Sans CJK KR"/>
              </a:rPr>
              <a:t>1.2%p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4096511"/>
            <a:ext cx="4090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법정 상한까지 개발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가치 · 개발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2603F"/>
                </a:solidFill>
                <a:latin typeface="Noto Sans CJK KR"/>
              </a:rPr>
              <a:t>공부 · 공시지가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4026" cy="13716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B4C7E"/>
                </a:solidFill>
                <a:latin typeface="Noto Sans CJK KR"/>
              </a:rPr>
              <a:t>15,933만원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대지 156.9평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3834" y="1188720"/>
            <a:ext cx="3564026" cy="13716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96714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공시지가 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6714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B4C7E"/>
                </a:solidFill>
                <a:latin typeface="Noto Sans CJK KR"/>
              </a:rPr>
              <a:t>5.08배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714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공시지가 총액 49.19억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028" y="1188720"/>
            <a:ext cx="3564026" cy="13716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B4C7E"/>
                </a:solidFill>
                <a:latin typeface="Noto Sans CJK KR"/>
              </a:rPr>
              <a:t>1.2%p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현행 398.80% / 상한 400%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98064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용적률 여력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63824"/>
            <a:ext cx="11094415" cy="402336"/>
          </a:xfrm>
          <a:prstGeom prst="rect">
            <a:avLst/>
          </a:prstGeom>
          <a:solidFill>
            <a:srgbClr val="F4F7FB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61131" cy="40233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4944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KR"/>
              </a:rPr>
              <a:t>현행 398.80%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9151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2D3748"/>
                </a:solidFill>
                <a:latin typeface="Noto Sans CJK KR"/>
              </a:rPr>
              <a:t>법정 상한 400%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3730752"/>
          <a:ext cx="11094413" cy="1847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3923"/>
                <a:gridCol w="3850953"/>
                <a:gridCol w="485953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출처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60% / 400%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현행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58.40% / 398.80%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건축물대장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㎡당 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9,484,000원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개별공시지가 2024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토지 공시지가 총액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49.19억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대지면적 × ㎡당 공시지가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576072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법정 상한까지 개발 완료 — 증축 여력 사실상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Rent 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층별 이용 및 임대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8건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0" cy="37993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40204"/>
                <a:gridCol w="1410306"/>
                <a:gridCol w="940204"/>
                <a:gridCol w="2256491"/>
                <a:gridCol w="1504327"/>
                <a:gridCol w="1410306"/>
                <a:gridCol w="1598347"/>
                <a:gridCol w="103422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층별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임대면적(㎡)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(평)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임차 업종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보증금(만원)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월세(만원)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계약 만료일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상태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운동시설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459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2024-09-30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9F(2)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100.50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30.4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9F(1)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85.70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25.9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스튜디오렌탈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199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2025-09-07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483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5,700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2024-05-29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2024-06-29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치과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미용실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115.63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35.0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부동산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3,500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2025-11-11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B1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422.25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127.7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자가 / 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계</a:t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2,213.68</a:t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669.6</a:t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49,500</a:t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4,657</a:t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34356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구성 — 임대중 11 · 공실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038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공실률 — 구획 8.33% · 면적 16.95%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46420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1층 월세 비중 5.4% — 소형상업용은 1층이 수입의 절반 안팎을 좌우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0245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금액은 VAT 별도 · 임차인 상호는 대외 문서에 표기하지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Lease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임대차 분석 · 개선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53212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/>
                <a:gridCol w="40233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항  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  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갱신요구권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산출하지 않음 — 최초 계약일 미기재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환산보증금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전 계약 서울 기준 9억 이하 · 상가임대차법 전면 적용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만료 임박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만료 경과 11건 · 60일 내 0건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운영비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자료 미제출 — 순수입 기준 수익률 미산출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36792" y="1115568"/>
            <a:ext cx="53062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개선 여력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536192"/>
            <a:ext cx="45720" cy="182880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1383" y="1463040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지하 1층 422.25㎡(127.7평) 공실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— 임대 전환 시 수입 증가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— 비교 임대사례 없어 금액 미산출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2103120"/>
            <a:ext cx="45720" cy="182880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3" y="2029968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11개 법인 임차 · 업종 분산 — 만기 자료만으로는 공실 위험 계량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2670048"/>
            <a:ext cx="45720" cy="182880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01383" y="2596896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◇ 용적률 잔여 1.2%p — 증축 여력 사실상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5"/>
            <a:ext cx="5532120" cy="10972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474720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 해상도 — 임대차 L축 / 물건자료 P축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712463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325C"/>
                </a:solidFill>
                <a:latin typeface="Noto Sans CJK KR"/>
              </a:rPr>
              <a:t>R2 · 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30752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다음 등급 R3 까지 부족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최초 계약일 · 대항력 요건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Investment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투자 구조 — 실투자금과 월 순현금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4892039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9542"/>
                <a:gridCol w="256249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금  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취득세 4.6%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11.50억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중개보수 0.9%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2.25억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기타비용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자료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총취득원가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263.75억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82112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매매가보다 13.75억원(5.5%) 추가 소요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9584"/>
            <a:ext cx="4892040" cy="106070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639312"/>
            <a:ext cx="4526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325C"/>
                </a:solidFill>
                <a:latin typeface="Noto Sans CJK KR"/>
              </a:rPr>
              <a:t>연 수익률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1363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매매가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389534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(매매가 − 보증금)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4169663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미제출 — "순수익률" 라벨을 쓰지 않음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96712" y="1115568"/>
          <a:ext cx="594634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0011"/>
                <a:gridCol w="976265"/>
                <a:gridCol w="1065016"/>
                <a:gridCol w="887513"/>
                <a:gridCol w="1065016"/>
                <a:gridCol w="1242519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+4,657만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2.16%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100.00억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3,750만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+907만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0.69%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125.00억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133.80억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4,688만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▼ -30만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-0.03%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96712" y="2670048"/>
            <a:ext cx="59463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◇ 금리 4.5% 가정 (2026년 통상) · 이자만 · 운영비 미반영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96712" y="2980944"/>
            <a:ext cx="5946343" cy="969264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61303" y="3127248"/>
            <a:ext cx="56171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역레버리지 — 수익률 2.24% &lt; 금리 4.5%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대출을 늘릴수록 자기자본 수익률이 낮아집니다. 무차입 2.16%가 상한입니다.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65775"/>
            <a:ext cx="4892040" cy="11704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193791"/>
            <a:ext cx="45262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· 자금 계획 (LTV 50%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총취득원가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263.75억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4659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보증금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19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4.95억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대출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125.00억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4659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= 실투자금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6219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C98A"/>
                </a:solidFill>
                <a:latin typeface="Noto Sans CJK KR"/>
              </a:rPr>
              <a:t>133.80억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4078224"/>
            <a:ext cx="5946343" cy="859536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61303" y="4206240"/>
            <a:ext cx="56171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은행은 매매가가 아니라 감정가로 한도를 정합니다.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잔금 일정 확정 전에 대출 승인을 받으시길 권합니다.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Market Comparables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가격 근거 — 인근 실거래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2603F"/>
                </a:solidFill>
                <a:latin typeface="Noto Sans CJK KR"/>
              </a:rPr>
              <a:t>국토부 실거래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3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51811"/>
                <a:gridCol w="1147698"/>
                <a:gridCol w="1243339"/>
                <a:gridCol w="1338981"/>
                <a:gridCol w="1434622"/>
                <a:gridCol w="1530264"/>
                <a:gridCol w="1147698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비교사례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거래금액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 역세권 업무시설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2,650.0㎡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17,200만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3,492만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지상11층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양평로 대로변 근생/오피스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215억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2,120.0㎡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15,400만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3,353만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지상9층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당산역 인근 중대형 사옥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310억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3,100.0㎡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18,500만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3,306만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지상12층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양평동 이면부 중소형 사옥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165억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13,800만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3,065만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지상8층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852928"/>
          <a:ext cx="6675118" cy="950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1100"/>
                <a:gridCol w="1430382"/>
                <a:gridCol w="2288612"/>
                <a:gridCol w="133502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본 자산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인근 실거래 범위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하단 대비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</a:t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13,800만 ~ 18,500만</a:t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+15.5%</a:t>
                      </a:r>
                    </a:p>
                  </a:txBody>
                  <a:tcPr marL="64008" marR="64008" marT="9144" marB="9144" anchor="ctr"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3,318만원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3,065만 ~ 3,492만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+8.3%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52360" y="2852928"/>
            <a:ext cx="4190695" cy="950976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16952" y="2980944"/>
            <a:ext cx="38615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공시지가 총액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3218688"/>
            <a:ext cx="38615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5.08배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328416"/>
            <a:ext cx="2270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공시지가 총액 49.19억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매매가의 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78224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토지·연면적 두 기준을 나눠 비교했습니다. 기준이 다르면 배수가 왜곡됩니다.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64608"/>
            <a:ext cx="11094415" cy="96926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4992624"/>
            <a:ext cx="106555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조사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266944"/>
            <a:ext cx="106555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조회 범위 — 인근 상업·업무용 실거래 직전 12개월 (국토부)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실거래 API는 지번을 마스킹하고 집합건물 대지면적을 주지 않습니다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물건 식별·접면·규모·대지면적은 중개인 보강값입니다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입지 · 교통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2603F"/>
                </a:solidFill>
                <a:latin typeface="Noto Sans CJK KR"/>
              </a:rPr>
              <a:t>카카오 로컬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7360920" cy="5029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92440" y="1115568"/>
          <a:ext cx="3550614" cy="1197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2007"/>
                <a:gridCol w="866003"/>
                <a:gridCol w="95260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도보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95m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당산역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1,100m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지하철 1정거장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 4번출구 정류소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60m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92440" y="2569464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57031" y="2542032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양평로·올림픽대로·서부간선 300m — 여의도·마포·DMC 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31363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57031" y="3108960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선유도 IT·지식산업 클러스터 · 선유도공원 인접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7033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57031" y="3675888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상권 — IT·전문서비스 54.2% (소상공인 상권정보)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Noto Sans CJK KR"/>
              </a:rPr>
              <a:t>지도 출처 — 카카오맵 (권역 참고용) · 정확한 위치는 현장 안내 · 거리는 위 표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Risk &amp; Due Diligence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리스크 및 확인사항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8건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3564026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확인된 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4944" y="1664208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역레버리지 — LTV 50%에서 월 −30만원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139696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지하 1층 공실 — 면적 기준 공실률 16.95%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3834" y="1115568"/>
            <a:ext cx="3564026" cy="329184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60138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미확인 사항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3834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460138" y="1664208"/>
            <a:ext cx="41148" cy="146304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88154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 11건의 최초 계약일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0138" y="2139696"/>
            <a:ext cx="41148" cy="146304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88154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임차인 대항력 요건 (사업자등록 여부)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0138" y="2615184"/>
            <a:ext cx="41148" cy="146304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88154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내역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0138" y="3090672"/>
            <a:ext cx="41148" cy="146304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88154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0138" y="3566160"/>
            <a:ext cx="41148" cy="146304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88154" y="3474720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필지 3개 합지 — 필지별 면적·제척 미확보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0138" y="4041648"/>
            <a:ext cx="41148" cy="146304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88154" y="395020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만료 경과 11건 · 임대중 전 호실 — 묵시적 갱신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0138" y="4517136"/>
            <a:ext cx="41148" cy="146304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88154" y="4425696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건물 사진 4매 — 표준 최소 6매(외부3·내부3) 미달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0138" y="4992624"/>
            <a:ext cx="41148" cy="146304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88154" y="490118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사진 화질 미달 3매 — cadastre · hero · 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9028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25332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매수인 확인 권고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9028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225332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53348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5332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53348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대출 감정가 — 잔금 전 확인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5332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53348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임대차계약서 원본 — 최초 계약일·특약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5332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53348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현장 — 누수·균열·설비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541264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등기부등본 미제출 — 권리 제한 여부를 "없음"으로 판정하지 않았습니다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확인사항 칸은 공개 단계에서도 가리지 않습니다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Photographs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건물 사진 — 외부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79008"/>
            <a:ext cx="6492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건물 전경 — 선유도역 4번 출구 대로변</a:t>
            </a:r>
          </a:p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59" y="1115568"/>
            <a:ext cx="4419295" cy="1408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59" y="2551175"/>
            <a:ext cx="4419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배후 주거·업무 밀집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Terms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거래 조건 ·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120640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6880"/>
                <a:gridCol w="34137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승계 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4.95억원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월 임대료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4,657만원 (VAT 별도)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잔금 일정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협의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대출 승계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소유 형태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25312" y="1115568"/>
            <a:ext cx="57177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진행 절차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5312" y="1481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25312" y="1531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508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관심 표명 · 담당자 연락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9385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25312" y="19888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NDA 체결 · 임대차계약서 열람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23957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25312" y="24460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4231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현장 실사 일정 조율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529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25312" y="29032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803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LOI 제출 · 가격 협의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01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25312" y="33604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3375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법률·세무 실사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767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25312" y="3817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794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매매계약 체결 · 잔금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5120640" cy="10058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405993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4718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0857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9D4E2"/>
                </a:solidFill>
                <a:latin typeface="Noto Sans CJK KR"/>
              </a:rPr>
              <a:t>담당 중개인  ·  02-000-0000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5312" y="5029200"/>
            <a:ext cx="5717743" cy="1316736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08192" y="5157216"/>
            <a:ext cx="53519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자료를 넣으면 열리는 내용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5413248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연간 운영비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5413248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연 순수입 · 순수익률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572414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제척 면적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5724144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유효 대지면적 (P01·L11) · 유효 용적률 (P02)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03504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담보대출 잔액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6035040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실제 대출 조건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4748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문의 시 물건명·임차인 상호는 가려서 보내주십시오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본 자료의 수치는 제출된 임대 현황과 공부에서 산출했습니다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