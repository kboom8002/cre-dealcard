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255" y="0"/>
            <a:ext cx="69494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0C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178247" y="0"/>
            <a:ext cx="64008" cy="685800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48256"/>
            <a:ext cx="412668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양평동4가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오피스빌딩 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4670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영등포구 양평동4가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21024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선유도역 95m  ·  준공업지역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96512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422452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4151376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663440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47914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1448" y="4718304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15,933만원/평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230368"/>
            <a:ext cx="412668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535838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월 임대료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8" y="5285232"/>
            <a:ext cx="23436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4,657만원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961888"/>
            <a:ext cx="412668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236208"/>
            <a:ext cx="412668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33856"/>
            <a:ext cx="4663440" cy="2395728"/>
          </a:xfrm>
          <a:prstGeom prst="rect">
            <a:avLst/>
          </a:prstGeom>
        </p:spPr>
      </p:pic>
      <p:pic>
        <p:nvPicPr>
          <p:cNvPr id="7" name="Picture 6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39312"/>
            <a:ext cx="2267712" cy="1755648"/>
          </a:xfrm>
          <a:prstGeom prst="rect">
            <a:avLst/>
          </a:prstGeom>
        </p:spPr>
      </p:pic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3639312"/>
            <a:ext cx="2267712" cy="17556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선유도역(9호선) 95m · 도보 1분 — 4번 출구 대로변 직결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2018년 준공 · 지상 10층 · 용적률 398.8% (상한 400%)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토지 평당 15,933만원 — 인근 1.38억~1.85억 범위 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IT·법률·디자인 등 11개 법인 임차 · 지하 1층 공실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기계식 22 + 자주식 1 · 15인승 승강기 · 개별 EHP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133.80억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C00000"/>
                </a:solidFill>
                <a:latin typeface="Noto Sans CJK KR"/>
              </a:rPr>
              <a:t>▼ -30만원/월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10건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표지 요약과 각 행의 합 중 정본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 현황 기준일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11건의 최초 계약일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5074920" cy="4274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영등포구 양평동4가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518.70㎡ (156.9평)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건축면적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302.92㎡ (91.6평)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2,490.88㎡ (753.5평)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  (상한 60% / 400%)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 / 구조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업무시설 · 철근콘크리트구조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 1층 / 지상 10층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사용승인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2018-09-14  ·  위반건축물 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주차 / E·V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총 23대 (자주식 1 · 기계식 22) · 승용 1대 (15인승)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3,135만원/평  (총 49.19억)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15,933만원/평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1115568"/>
            <a:ext cx="5818327" cy="31455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52743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7161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선유도역 95m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2735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31608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2018년 준공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2728" y="1243584"/>
            <a:ext cx="1651254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991600" y="1284732"/>
            <a:ext cx="141351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용적률 398.8%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3필지 합지 518.70㎡ · 건폐율 58.40% — 최적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법정 상한 400% 대비 398.80% — 개발 완료 자산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24727" y="523951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89319" y="515721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위반건축물 없음 · 철근콘크리트 · 지하 1층~지상 10층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3036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연면적은 건축물대장 층별개요 합으로 확정 (용적률 역산 검증)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원장 계 행 2,490.88㎡는 오기 — 확인 필요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250억원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4.95억원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4,657만원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 (총임대료 ÷ 매매가)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카카오 로컬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7360920" cy="5029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92440" y="1115568"/>
          <a:ext cx="3550614" cy="1197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2007"/>
                <a:gridCol w="866003"/>
                <a:gridCol w="95260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도보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95m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1,100m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지하철 1정거장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4번출구 정류소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60m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92440" y="2569464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57031" y="2542032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양평로·올림픽대로·서부간선 300m — 여의도·마포·DMC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31363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7031" y="3108960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선유도 IT·지식산업 클러스터 · 선유도공원 인접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7033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57031" y="3675888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상권 — IT·전문서비스 54.2% (소상공인 상권정보)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토지이용계획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59" y="1115568"/>
          <a:ext cx="4419294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139"/>
                <a:gridCol w="301315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기타 지구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과밀억제권역
가로구역별 최고높이 제한구역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60%  (현행 58.40%)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400%  (현행 398.80%)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223759" y="3218687"/>
            <a:ext cx="4419295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88352" y="3364991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8352" y="3602735"/>
            <a:ext cx="40901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0161F"/>
                </a:solidFill>
                <a:latin typeface="Noto Sans CJK KR"/>
              </a:rPr>
              <a:t>1.2%p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4096511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법정 상한까지 개발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10건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37993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운동시설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459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2024-09-30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9F(2)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100.50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30.4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9F(1)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85.70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25.9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스튜디오렌탈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199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2025-09-07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2025-10-03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483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5,700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2024-05-29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2024-06-29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치과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7,000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2024-10-31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186.20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56.3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미용실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2026-02-21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115.63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35.0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부동산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3,500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2025-11-11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422.25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127.7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669.6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49,500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4,657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34356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11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038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8.33% · 면적 16.95%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642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5.4%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02452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Lease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임대차 분석 · 개선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532120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40233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항  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  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갱신요구권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산출하지 않음 — 최초 계약일 미기재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환산보증금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전 계약 서울 기준 9억 이하 · 상가임대차법 전면 적용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만료 임박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만료 경과 11건 · 60일 내 0건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운영비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자료 미제출 — 순수입 기준 수익률 미산출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36792" y="1115568"/>
            <a:ext cx="530626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개선 여력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6792" y="15361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01383" y="1463040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지하 1층 422.25㎡(127.7평) 공실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임대 전환 시 수입 증가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— 비교 임대사례 없어 금액 미산출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21031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1383" y="2029968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11개 법인 임차 · 업종 분산 — 만기 자료만으로는 공실 위험 계량 불가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2670048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01383" y="2596896"/>
            <a:ext cx="5141671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◇ 용적률 잔여 1.2%p — 증축 여력 사실상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8415"/>
            <a:ext cx="5532120" cy="109728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474720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 해상도 — 임대차 L축 / 물건자료 P축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712463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30752"/>
            <a:ext cx="3611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다음 등급 R3 까지 부족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최초 계약일 · 대항력 요건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11.50억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263.75억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13.75억원(5.5%)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2.28%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+4,657만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100.00억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158.80억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3,750만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+907만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0.69%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125.00억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133.80억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4,688만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▼ -30만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-0.03%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2.24%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2.16%가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263.75억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4.95억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125.00억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133.80억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811"/>
                <a:gridCol w="1147698"/>
                <a:gridCol w="1243339"/>
                <a:gridCol w="1338981"/>
                <a:gridCol w="1434622"/>
                <a:gridCol w="1530264"/>
                <a:gridCol w="114769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비교사례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거래금액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선유도역 역세권 업무시설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2024-10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280억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2,650.0㎡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17,200만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지상11층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양평로 대로변 근생/오피스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215억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2,120.0㎡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15,400만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3,353만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지상9층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당산역 인근 중대형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310억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3,100.0㎡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18,500만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3,306만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지상12층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양평동 이면부 중소형 사옥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165억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13,800만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지상8층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852928"/>
          <a:ext cx="667511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1100"/>
                <a:gridCol w="1430382"/>
                <a:gridCol w="2288612"/>
                <a:gridCol w="133502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본 자산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인근 실거래 범위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하단 대비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15,933만원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13,800만 ~ 18,500만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+15.5%</a:t>
                      </a:r>
                    </a:p>
                  </a:txBody>
                  <a:tcPr marL="64008" marR="64008" marT="9144" marB="9144" anchor="ctr">
                    <a:solidFill>
                      <a:srgbClr val="EEF1F5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3,318만원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3,065만 ~ 3,492만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+8.3%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2852928"/>
            <a:ext cx="4190695" cy="95097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16952" y="2980944"/>
            <a:ext cx="38615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공시지가 총액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3218688"/>
            <a:ext cx="3861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5.08배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328416"/>
            <a:ext cx="2270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공시지가 총액 49.19억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매매가의 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78224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토지·연면적 두 기준을 나눠 비교했습니다. 기준이 다르면 배수가 왜곡됩니다.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64608"/>
            <a:ext cx="11094415" cy="96926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992624"/>
            <a:ext cx="10655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조사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266944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조회 범위 — 인근 상업·업무용 실거래 직전 12개월 (국토부)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실거래 API는 지번을 마스킹하고 집합건물 대지면적을 주지 않습니다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물건 식별·접면·규모·대지면적은 중개인 보강값입니다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10건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표지 요약과 원장 합계 월 360만원 불일치 (연 4,320만원)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역레버리지 — LTV 50%에서 월 −30만원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615184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16.95%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" y="3090672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첨부 공부 오첨부 (R1판) — 정본 필지 교체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표지 요약과 각 행의 합 중 정본 (월세 5,017만 vs 4,657만)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 현황 기준일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11건의 최초 계약일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필지 3개 합지 — 필지별 면적·제척 미확보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0138" y="499262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88154" y="490118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D3748"/>
                </a:solidFill>
                <a:latin typeface="Noto Sans CJK KR"/>
              </a:rPr>
              <a:t>외 3건 — 모바일 IM 에 전량 표기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Evidence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근거 ·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교차검증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35024"/>
          <a:ext cx="6675118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9049"/>
                <a:gridCol w="2567353"/>
                <a:gridCol w="1198098"/>
                <a:gridCol w="1198098"/>
                <a:gridCol w="111252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내용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기대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건폐율 × 대지 = 건축면적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302.92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용적률 × 대지 = 용적률산정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2,068.58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2,068.63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계약면적 합 ≤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2,213.68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2,490.88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충족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대지 × ㎡당 공시지가 = 총액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4,919,350,800.00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1335024"/>
            <a:ext cx="4190695" cy="118872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5240" y="1463040"/>
            <a:ext cx="38249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자료 해상도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00784"/>
            <a:ext cx="38249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R2 · 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76272"/>
            <a:ext cx="38249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임대차 L축 / 물건자료 P축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55263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잠긴 블록 20종 —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실제 대출 조건 반영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담보대출 잔액 · 대출 금리 미입력 — 가정치로만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51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월 총수입 (관리비 포함)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6711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관리비 부담 주체 미입력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연 순수입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연간 운영비 미입력 — 연 순수입을 산출하지 않습니다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순수익률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6711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미입력 — "순수익률" 라벨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접면 도로·코너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접면 도로 폭 미입력 — 현장 확인 항목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통합계약 표기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6711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계약 그룹 미입력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만료 경과·임박 구분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 현황 기준일 미입력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51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갱신요구권 잔여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6711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최초 계약일 미입력 — 산출하지 않습니다 (불변조건 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대항력 판정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대항력 요건 미입력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2151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임대료 현실화 계획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6711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임대료 현실화 계획 미입력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가치 · 개발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276749"/>
                </a:solidFill>
                <a:latin typeface="Noto Sans CJK KR"/>
              </a:rPr>
              <a:t>공부 · 공시지가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15,933만원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대지 156.9평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96714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714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5.08배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714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공시지가 총액 49.19억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028" y="1188720"/>
            <a:ext cx="3564026" cy="13716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6325C"/>
                </a:solidFill>
                <a:latin typeface="Noto Sans CJK KR"/>
              </a:rPr>
              <a:t>1.2%p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현행 398.80% / 상한 400%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98064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용적률 여력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63824"/>
            <a:ext cx="11094415" cy="402336"/>
          </a:xfrm>
          <a:prstGeom prst="rect">
            <a:avLst/>
          </a:prstGeom>
          <a:solidFill>
            <a:srgbClr val="EEF1F5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61131" cy="40233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현행 398.80%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9151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D3748"/>
                </a:solidFill>
                <a:latin typeface="Noto Sans CJK KR"/>
              </a:rPr>
              <a:t>법정 상한 400%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730752"/>
          <a:ext cx="1109441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3923"/>
                <a:gridCol w="3850953"/>
                <a:gridCol w="485953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준공업지역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60% / 400%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현행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58.40% / 398.80%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건축물대장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㎡당 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9,484,000원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개별공시지가 2024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토지 공시지가 총액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49.19억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대지면적 × ㎡당 공시지가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57607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법정 상한까지 개발 완료 — 증축 여력 사실상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Photographs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건물 사진 — 외부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_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5568"/>
            <a:ext cx="649224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79008"/>
            <a:ext cx="6492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건물 전경 — 선유도역 4번 출구 대로변</a:t>
            </a:r>
          </a:p>
        </p:txBody>
      </p:sp>
      <p:pic>
        <p:nvPicPr>
          <p:cNvPr id="8" name="Picture 7" descr="_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59" y="1115568"/>
            <a:ext cx="4419295" cy="140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23759" y="2551175"/>
            <a:ext cx="4419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배후 주거·업무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250억원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4.95억원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4,657만원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제척 면적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유효 대지면적 (P01·L11) · 유효 용적률 (P02)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담보대출 잔액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실제 대출 조건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