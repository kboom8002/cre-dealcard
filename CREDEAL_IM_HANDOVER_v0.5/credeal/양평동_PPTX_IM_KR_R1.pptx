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255" y="0"/>
            <a:ext cx="6949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242255" cy="6858000"/>
          </a:xfrm>
          <a:prstGeom prst="rect">
            <a:avLst/>
          </a:prstGeom>
          <a:solidFill>
            <a:srgbClr val="0C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178247" y="0"/>
            <a:ext cx="64008" cy="685800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41266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9B386"/>
                </a:solidFill>
                <a:latin typeface="Noto Sans CJK KR"/>
              </a:rPr>
              <a:t>· INFORMATION MEMORANDUM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566928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162306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매각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48256"/>
            <a:ext cx="412668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양평동4가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오피스빌딩 매각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46704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9B6C8"/>
                </a:solidFill>
                <a:latin typeface="Noto Sans CJK KR"/>
              </a:rPr>
              <a:t>서울특별시 영등포구 양평동4가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096512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422452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매매 희망가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4151376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C00000"/>
                </a:solidFill>
                <a:latin typeface="Noto Sans CJK KR"/>
              </a:rPr>
              <a:t>250억원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663440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479145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토지 평당가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4718304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15,933만원/평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535838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월 임대료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1448" y="5285232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4,657만원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61888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KR"/>
              </a:rPr>
              <a:t>제이에스부동산중개(주)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236208"/>
            <a:ext cx="41266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B9BB2"/>
                </a:solidFill>
                <a:latin typeface="Noto Sans CJK KR"/>
              </a:rPr>
              <a:t>2026. 08   ·   본 자료는 투자 권유가 아닙니다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한 장 요약 · 제안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33856"/>
            <a:ext cx="4663440" cy="2395728"/>
          </a:xfrm>
          <a:prstGeom prst="rect">
            <a:avLst/>
          </a:prstGeom>
        </p:spPr>
      </p:pic>
      <p:pic>
        <p:nvPicPr>
          <p:cNvPr id="7" name="Picture 6" descr="_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39312"/>
            <a:ext cx="2267712" cy="1755648"/>
          </a:xfrm>
          <a:prstGeom prst="rect">
            <a:avLst/>
          </a:prstGeom>
        </p:spPr>
      </p:pic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3639312"/>
            <a:ext cx="2267712" cy="17556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04688" y="123901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87568" y="118872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임대 11구획 · 공실 1구획 (지하 1층)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4688" y="1787651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87568" y="173736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월 임대료 4,657만원 · 관리비 576만원 (원장 12행 합계)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04688" y="233629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87568" y="228600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표지 요약 5,017만원과 원장 합계 4,657만원 불일치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04688" y="288493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687568" y="2834639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첨부 토지이용계획확인원이 타 자치구 필지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04688" y="343357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87568" y="338328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임대면적·용도지역·공시지가 미확보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04688" y="4023359"/>
            <a:ext cx="6138367" cy="932688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705855" y="4169663"/>
            <a:ext cx="57360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실투자금 · 월 순현금 (LTV 50% · 금리 4.5% 가정)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5" y="4443983"/>
            <a:ext cx="2868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161F"/>
                </a:solidFill>
                <a:latin typeface="Noto Sans CJK KR"/>
              </a:rPr>
              <a:t>133.80억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3871" y="4443983"/>
            <a:ext cx="2868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C00000"/>
                </a:solidFill>
                <a:latin typeface="Noto Sans CJK KR"/>
              </a:rPr>
              <a:t>▼ -30만원/월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04688" y="5084064"/>
            <a:ext cx="6138367" cy="1298448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504688" y="5084064"/>
            <a:ext cx="54864" cy="12984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24144" y="5212079"/>
            <a:ext cx="56994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확인 필요 7건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4144" y="5486400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표지 요약과 각 행의 합 중 정본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4144" y="5705856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임대 현황 기준일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24144" y="5925312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임대차계약 11건의 최초 계약일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4144" y="6144768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임차인 대항력 요건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Property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물건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6087" y="530352"/>
            <a:ext cx="886968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756087" y="589788"/>
            <a:ext cx="8869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중개인 제공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5074920" cy="33558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365760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   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소재지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서울특별시 영등포구 양평동4가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대지면적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 — 계 행과 층별 합 불일치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주용도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업무시설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규모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12개 구획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공시지가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Noto Sans CJK KR"/>
                        </a:rPr>
                        <a:t>250억원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>15,933만원/평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7" y="1115568"/>
            <a:ext cx="5818327" cy="314553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52743" y="1243584"/>
            <a:ext cx="1227201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71615" y="1284732"/>
            <a:ext cx="9894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임대 11구획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71384" y="1243584"/>
            <a:ext cx="803148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90257" y="1284732"/>
            <a:ext cx="5654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공실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24727" y="450799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89319" y="442569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지하 1층~지상 10층 · 12개 구획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24727" y="487375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89319" y="479145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공부 미조회 — 대지·연면적·용적률 확인 필요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77840"/>
            <a:ext cx="11094415" cy="566928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5577840"/>
            <a:ext cx="1188720" cy="566928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5742431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매각 조건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1952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매매 희망가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952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Noto Sans CJK KR"/>
              </a:rPr>
              <a:t>250억원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8375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승계 보증금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8375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4.95억원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4799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월 임대료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4799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4,657만원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1223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연 수익률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1223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2.24% (총임대료 ÷ 매매가)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입지 · 교통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52099" y="530352"/>
            <a:ext cx="790956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52099" y="589788"/>
            <a:ext cx="7909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736092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92440" y="1115568"/>
            <a:ext cx="3550615" cy="914400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38744" y="1298448"/>
            <a:ext cx="3258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C00000"/>
                </a:solidFill>
                <a:latin typeface="Noto Sans CJK KR"/>
              </a:rPr>
              <a:t>인근 역까지의 실측 거리가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C00000"/>
                </a:solidFill>
                <a:latin typeface="Noto Sans CJK KR"/>
              </a:rPr>
              <a:t>제출 자료에 없습니다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2212848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57031" y="2185416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접면 도로·배후 시설 현장 확인 필요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2779776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57031" y="2752344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역 거리 미확보 — 도보 시간 임의 기재하지 않음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179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Noto Sans CJK KR"/>
              </a:rPr>
              <a:t>지도 출처 — 카카오맵 (권역 참고용) · 정확한 위치는 현장 안내 · 거리는 위 표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Land &amp; Zoning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토지 이용 · 공법 규제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52099" y="530352"/>
            <a:ext cx="790956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52099" y="589788"/>
            <a:ext cx="7909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6492240" cy="4663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223759" y="1115568"/>
            <a:ext cx="4419295" cy="1097280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70063" y="1316736"/>
            <a:ext cx="41266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00000"/>
                </a:solidFill>
                <a:latin typeface="Noto Sans CJK KR"/>
              </a:rPr>
              <a:t>용도지역·건폐율·용적률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C00000"/>
                </a:solidFill>
                <a:latin typeface="Noto Sans CJK KR"/>
              </a:rPr>
              <a:t>확인 필요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C00000"/>
                </a:solidFill>
                <a:latin typeface="Noto Sans CJK KR"/>
              </a:rPr>
              <a:t>(토지이용계획 미조회)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Rent Roll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층별 이용 및 임대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4063" y="530352"/>
            <a:ext cx="1078992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64063" y="589788"/>
            <a:ext cx="1078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 7건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11094410" cy="37993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40204"/>
                <a:gridCol w="1410306"/>
                <a:gridCol w="940204"/>
                <a:gridCol w="2256491"/>
                <a:gridCol w="1504327"/>
                <a:gridCol w="1410306"/>
                <a:gridCol w="1598347"/>
                <a:gridCol w="1034225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층별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임대면적(㎡)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(평)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임차 업종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보증금(만원)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월세(만원)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계약 만료일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상태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10F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운동시설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4,300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459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2024-09-30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9F(2)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2025-11-30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9F(1)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스튜디오렌탈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199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2025-10-31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8F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2025-09-07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7F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588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2025-10-03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483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2026-02-28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5,700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528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2024-05-29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440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2024-06-29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치과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7,000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310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2024-10-31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미용실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540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2026-02-21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부동산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3,500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250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2025-11-11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B1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422.25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127.7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자가 / 공실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공실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계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422.25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127.7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49,500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4,657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134356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구성 — 임대중 11 · 공실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038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공실률 — 구획 8.33% · 면적 16.95%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46420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1층 월세 비중 5.4% — 소형상업용은 1층이 수입의 절반 안팎을 좌우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0245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금액은 VAT 별도 · 임차인 상호는 대외 문서에 표기하지 않음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Lease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임대차 분석 · 개선 여력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5532120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8760"/>
                <a:gridCol w="402336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항  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판  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갱신요구권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산출하지 않음 — 최초 계약일 미기재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환산보증금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전 계약 서울 기준 9억 이하 · 상가임대차법 전면 적용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만료 임박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만료 경과 11건 · 60일 내 0건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운영비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자료 미제출 — 순수입 기준 수익률 미산출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36792" y="1115568"/>
            <a:ext cx="530626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개선 여력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6792" y="1536192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01383" y="1463040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지하 1층 422.25㎡(127.7평) 공실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— 임대 전환 시 수입 증가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— 비교 임대사례 없어 금액 미산출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2103120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1383" y="2029968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11개 법인 임차 · 업종 분산 — 만기 자료만으로는 공실 위험 계량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2670048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01383" y="2596896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◇ 용적률 잔여 1.2%p — 증축 여력 사실상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8415"/>
            <a:ext cx="5532120" cy="10972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3474720"/>
            <a:ext cx="52029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자료 해상도 — 임대차 L축 / 물건자료 P축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712463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325C"/>
                </a:solidFill>
                <a:latin typeface="Noto Sans CJK KR"/>
              </a:rPr>
              <a:t>R1 · P0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730752"/>
            <a:ext cx="3611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다음 등급 R2 까지 부족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임대면적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Investment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투자 구조 — 실투자금과 월 순현금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4892039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29542"/>
                <a:gridCol w="2562497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금  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매매가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250.00억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취득세 4.6%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11.50억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중개보수 0.9%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2.25억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기타비용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자료 없음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총취득원가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263.75억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182112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매매가보다 13.75억원(5.5%) 추가 소요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9584"/>
            <a:ext cx="4892040" cy="1060704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639312"/>
            <a:ext cx="45262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325C"/>
                </a:solidFill>
                <a:latin typeface="Noto Sans CJK KR"/>
              </a:rPr>
              <a:t>연 수익률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1363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 총임대료 ÷ 매매가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389534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8795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 총임대료 ÷ (매매가 − 보증금)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4169663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운영비 미제출 — "순수익률" 라벨을 쓰지 않음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96712" y="1115568"/>
          <a:ext cx="594634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10011"/>
                <a:gridCol w="976265"/>
                <a:gridCol w="1065016"/>
                <a:gridCol w="887513"/>
                <a:gridCol w="1065016"/>
                <a:gridCol w="1242519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LTV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대출금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실투자금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 이자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 순현금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자기자본 수익률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258.80억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+4,657만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2.16%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100.00억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158.80억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3,750만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+907만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0.69%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50%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125.00억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133.80억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4,688만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▼ -30만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-0.03%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96712" y="2670048"/>
            <a:ext cx="59463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◇ 금리 4.5% 가정 (2026년 통상) · 이자만 · 운영비 미반영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96712" y="2980944"/>
            <a:ext cx="5946343" cy="969264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61303" y="3127248"/>
            <a:ext cx="5617159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역레버리지 — 수익률 2.24% &lt; 금리 4.5%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대출을 늘릴수록 자기자본 수익률이 낮아집니다. 무차입 2.16%가 상한입니다.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65775"/>
            <a:ext cx="4892040" cy="11704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5193791"/>
            <a:ext cx="45262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FC5"/>
                </a:solidFill>
                <a:latin typeface="Noto Sans CJK KR"/>
              </a:rPr>
              <a:t>· 자금 계획 (LTV 50% 기준)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9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총취득원가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43153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263.75억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4659" y="5449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− 보증금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6219" y="543153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4.95억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1558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− 대출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797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125.00억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4659" y="581558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= 실투자금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6219" y="5797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C98A"/>
                </a:solidFill>
                <a:latin typeface="Noto Sans CJK KR"/>
              </a:rPr>
              <a:t>133.80억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4078224"/>
            <a:ext cx="5946343" cy="85953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861303" y="4206240"/>
            <a:ext cx="56171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은행은 매매가가 아니라 감정가로 한도를 정합니다.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잔금 일정 확정 전에 대출 승인을 받으시길 권합니다.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Market Comparables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가격 근거 — 인근 실거래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52099" y="530352"/>
            <a:ext cx="790956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52099" y="589788"/>
            <a:ext cx="7909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94415" cy="1188720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1426464"/>
            <a:ext cx="106555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Noto Sans CJK KR"/>
              </a:rPr>
              <a:t>인근 실거래 비교사례 미확보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Noto Sans CJK KR"/>
              </a:rPr>
              <a:t>시세 대비 위치와 목표 매각가를 산출하지 않았습니다.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Noto Sans CJK KR"/>
              </a:rPr>
              <a:t>비교 물건 식별 · comps_raw 미입력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단가 비교 시 분자와 분모의 기준을 맞춥니다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연면적 단가를 토지 실거래와 비교하면 항상 몇 배로 나옵니다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Risk &amp; Due Diligence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리스크 및 확인사항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4063" y="530352"/>
            <a:ext cx="1078992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64063" y="589788"/>
            <a:ext cx="1078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 7건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3564026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확인된 리스크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94944" y="1664208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표지 요약과 원장 합계 월 360만원 불일치 (연 4,320만원)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2139696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역레버리지 — LTV 50%에서 월 −30만원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" y="2615184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59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지하 1층 공실 — 면적 기준 공실률 16.95%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" y="3090672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59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첨부 공부 오첨부 (R1판) — 정본 필지 교체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3834" y="1115568"/>
            <a:ext cx="3564026" cy="32918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60138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미확인 사항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3834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460138" y="166420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88154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표지 요약과 각 행의 합 중 정본 (월세 5,017만 vs 4,657만)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0138" y="213969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88154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 현황 기준일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60138" y="2615184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88154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임대차계약 11건의 최초 계약일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0138" y="3090672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88154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임차인 대항력 요건 (사업자등록 여부)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0138" y="3566160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88154" y="3474720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운영비 내역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60138" y="404164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88154" y="395020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등기부등본 — 근저당·권리 제한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60138" y="451713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88154" y="4425696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필지 3개 합지 — 필지별 면적·제척 미확보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79028" y="1115568"/>
            <a:ext cx="3564026" cy="32918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25332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매수인 확인 권고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79028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225332" y="166420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53348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등기부등본 — 근저당·권리 제한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5332" y="213969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53348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대출 감정가 — 잔금 전 확인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5332" y="2615184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353348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임대차계약서 원본 — 최초 계약일·특약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5332" y="3090672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53348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현장 — 누수·균열·설비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541264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등기부등본 미제출 — 권리 제한 여부를 "없음"으로 판정하지 않았습니다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확인사항 칸은 공개 단계에서도 가리지 않습니다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Photographs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건물 사진 — 외부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649224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779008"/>
            <a:ext cx="6492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· 건물 전경 — 선유도역 4번 출구 대로변</a:t>
            </a:r>
          </a:p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59" y="1115568"/>
            <a:ext cx="4419295" cy="1408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59" y="2551175"/>
            <a:ext cx="4419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배후 주거·업무 밀집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Photographs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건물 사진 — 내부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18288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5A6472"/>
                </a:solidFill>
                <a:latin typeface="Noto Sans CJK KR"/>
              </a:rPr>
              <a:t>사진 미제출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08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표준은 외부·내부 6장 이상을 필수로 둡니다. 촬영 후 보완이 필요합니다.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Terms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거래 조건 ·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5120640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06880"/>
                <a:gridCol w="341376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250억원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승계 보증금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4.95억원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월 임대료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4,657만원 (VAT 별도)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잔금 일정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협의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대출 승계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소유 형태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25312" y="1115568"/>
            <a:ext cx="57177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진행 절차</a:t>
            </a:r>
          </a:p>
        </p:txBody>
      </p:sp>
      <p:sp>
        <p:nvSpPr>
          <p:cNvPr id="8" name="Rectangle 7"/>
          <p:cNvSpPr/>
          <p:nvPr/>
        </p:nvSpPr>
        <p:spPr>
          <a:xfrm>
            <a:off x="5925312" y="14813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25312" y="15316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15087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관심 표명 · 담당자 연락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25312" y="19385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25312" y="19888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9659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NDA 체결 · 임대차계약서 열람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23957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25312" y="24460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4231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현장 실사 일정 조율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529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25312" y="29032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8803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LOI 제출 · 가격 협의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01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25312" y="33604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3375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법률·세무 실사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7673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25312" y="38176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37947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매매계약 체결 · 잔금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13632"/>
            <a:ext cx="5120640" cy="100584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4059936"/>
            <a:ext cx="471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FC5"/>
                </a:solidFill>
                <a:latin typeface="Noto Sans CJK KR"/>
              </a:rPr>
              <a:t>문의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297680"/>
            <a:ext cx="47183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</a:rPr>
              <a:t>제이에스부동산중개(주)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608576"/>
            <a:ext cx="471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9D4E2"/>
                </a:solidFill>
                <a:latin typeface="Noto Sans CJK KR"/>
              </a:rPr>
              <a:t>담당 중개인  ·  02-000-0000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25312" y="5029200"/>
            <a:ext cx="5717743" cy="131673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108192" y="5157216"/>
            <a:ext cx="535198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자료를 넣으면 열리는 내용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5413248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외부 사진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5413248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외관 사진 전면 · 개요 사진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5724144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연간 운영비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5724144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연 순수입 · 순수익률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6035040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제척 면적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6035040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유효 대지면적 (P01·L11) · 유효 용적률 (P02)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4748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문의 시 물건명·임차인 상호는 가려서 보내주십시오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본 자료의 수치는 제출된 임대 현황과 공부에서 산출했습니다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