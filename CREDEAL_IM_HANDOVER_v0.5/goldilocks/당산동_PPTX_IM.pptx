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92024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5B66"/>
                </a:solidFill>
                <a:latin typeface="Noto Sans CJK KR"/>
              </a:rPr>
              <a:t>CREDEAL INVESTMENT MEMORANDUM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331720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Noto Sans CJK KR"/>
              </a:rPr>
              <a:t>당산동5가 제2종근린생활시설 매각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29184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8B2C1"/>
                </a:solidFill>
                <a:latin typeface="Noto Sans CJK KR"/>
              </a:rPr>
              <a:t>서울특별시 영등포구 당산동5가  ·  수익형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77639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Noto Sans CJK KR"/>
              </a:rPr>
              <a:t>매매 희망가 115억   |   월 임대료 1,946만원   |   원장 8행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07492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8B95A5"/>
                </a:solidFill>
                <a:latin typeface="Noto Sans CJK KR"/>
              </a:rPr>
              <a:t>본 자료의 모든 수치는 제출된 임대차 원장에서 산출했습니다.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8B95A5"/>
                </a:solidFill>
                <a:latin typeface="Noto Sans CJK KR"/>
              </a:rPr>
              <a:t>확인되지 않은 항목 7건은 "확인 필요"로 표기했으며, 추정값으로 채우지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8B95A5"/>
                </a:solidFill>
                <a:latin typeface="Noto Sans CJK KR"/>
              </a:rPr>
              <a:t>않았습니다.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당산동5가 · 해상도 R1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A01   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한 장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여기서 판단이 끝납니다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25296"/>
            <a:ext cx="110578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당산동5가 · 6개 임차 · 공실 없음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3564026" cy="1225296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1883664"/>
            <a:ext cx="323484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C434E"/>
                </a:solidFill>
                <a:latin typeface="Noto Sans CJK KR"/>
              </a:rPr>
              <a:t>매매가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39696"/>
            <a:ext cx="323484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2161C"/>
                </a:solidFill>
                <a:latin typeface="Noto Sans CJK KR"/>
              </a:rPr>
              <a:t>115억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33472"/>
            <a:ext cx="323484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C434E"/>
                </a:solidFill>
                <a:latin typeface="Noto Sans CJK KR"/>
              </a:rPr>
              <a:t>평당가 확인 필요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3834" y="1737360"/>
            <a:ext cx="3564026" cy="1225296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478426" y="1883664"/>
            <a:ext cx="323484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C434E"/>
                </a:solidFill>
                <a:latin typeface="Noto Sans CJK KR"/>
              </a:rPr>
              <a:t>실투자금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8426" y="2139696"/>
            <a:ext cx="323484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2161C"/>
                </a:solidFill>
                <a:latin typeface="Noto Sans CJK KR"/>
              </a:rPr>
              <a:t>60.92억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8426" y="2633472"/>
            <a:ext cx="323484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C434E"/>
                </a:solidFill>
                <a:latin typeface="Noto Sans CJK KR"/>
              </a:rPr>
              <a:t>LTV 50% 기준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0740" y="1737360"/>
            <a:ext cx="3564026" cy="12252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5332" y="1883664"/>
            <a:ext cx="323484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C434E"/>
                </a:solidFill>
                <a:latin typeface="Noto Sans CJK KR"/>
              </a:rPr>
              <a:t>월 순현금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5332" y="2139696"/>
            <a:ext cx="323484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8A2C1A"/>
                </a:solidFill>
                <a:latin typeface="Noto Sans CJK KR"/>
              </a:rPr>
              <a:t>-210만원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5332" y="2633472"/>
            <a:ext cx="323484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A2C1A"/>
                </a:solidFill>
                <a:latin typeface="Noto Sans CJK KR"/>
              </a:rPr>
              <a:t>▼ 대출 시 적자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66928" y="3108960"/>
          <a:ext cx="11057836" cy="10424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38477"/>
                <a:gridCol w="1769254"/>
                <a:gridCol w="1946179"/>
                <a:gridCol w="1769254"/>
                <a:gridCol w="2034642"/>
                <a:gridCol w="2300030"/>
              </a:tblGrid>
              <a:tr h="274320"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3C434E"/>
                          </a:solidFill>
                          <a:latin typeface="Noto Sans CJK KR"/>
                        </a:rPr>
                        <a:t>LTV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3C434E"/>
                          </a:solidFill>
                          <a:latin typeface="Noto Sans CJK KR"/>
                        </a:rPr>
                        <a:t>대출금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3C434E"/>
                          </a:solidFill>
                          <a:latin typeface="Noto Sans CJK KR"/>
                        </a:rPr>
                        <a:t>실투자금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3C434E"/>
                          </a:solidFill>
                          <a:latin typeface="Noto Sans CJK KR"/>
                        </a:rPr>
                        <a:t>월 이자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3C434E"/>
                          </a:solidFill>
                          <a:latin typeface="Noto Sans CJK KR"/>
                        </a:rPr>
                        <a:t>월 순현금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3C434E"/>
                          </a:solidFill>
                          <a:latin typeface="Noto Sans CJK KR"/>
                        </a:rPr>
                        <a:t>자기자본 수익률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118.42억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+1,946만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1.97%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40%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46.00억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72.42억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1,725만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+221만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0.37%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50%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57.50억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60.92억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2,156만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0">
                          <a:solidFill>
                            <a:srgbClr val="12161C"/>
                          </a:solidFill>
                          <a:latin typeface="Noto Sans CJK KR"/>
                        </a:rPr>
                        <a:t>▼ -210만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100" b="1">
                          <a:solidFill>
                            <a:srgbClr val="8A2C1A"/>
                          </a:solidFill>
                          <a:latin typeface="Noto Sans CJK KR"/>
                        </a:rPr>
                        <a:t>-0.41%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566928" y="4261104"/>
            <a:ext cx="5437479" cy="129844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51082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C434E"/>
                </a:solidFill>
                <a:latin typeface="Noto Sans CJK KR"/>
              </a:rPr>
              <a:t>임대 요약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645152"/>
            <a:ext cx="5108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자가사용 2 · 임대중 6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월세 1,946만원 · 보증금 2.90억원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연 수익률 2.03% (총임대료 ÷ 매매가)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7287" y="4261104"/>
            <a:ext cx="5437479" cy="1298448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51879" y="4389120"/>
            <a:ext cx="510829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8A2C1A"/>
                </a:solidFill>
                <a:latin typeface="Noto Sans CJK KR"/>
              </a:rPr>
              <a:t>확인 필요 7건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1879" y="4645152"/>
            <a:ext cx="5108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8A2C1A"/>
                </a:solidFill>
                <a:latin typeface="Noto Sans CJK KR"/>
              </a:rPr>
              <a:t>· 연면적 확정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2C1A"/>
                </a:solidFill>
                <a:latin typeface="Noto Sans CJK KR"/>
              </a:rPr>
              <a:t>· 임대차계약 6건의 최초 계약일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2C1A"/>
                </a:solidFill>
                <a:latin typeface="Noto Sans CJK KR"/>
              </a:rPr>
              <a:t>· 관리비 부담 주체와 금액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8A2C1A"/>
                </a:solidFill>
                <a:latin typeface="Noto Sans CJK KR"/>
              </a:rPr>
              <a:t>· 임차인 대항력 요건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687568"/>
            <a:ext cx="110578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C434E"/>
                </a:solidFill>
                <a:latin typeface="Noto Sans CJK KR"/>
              </a:rPr>
              <a:t>저희가 보기에 무차입 또는 저LTV 구조가 맞습니다. 수익률이 대출금리 4.5%를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C434E"/>
                </a:solidFill>
                <a:latin typeface="Noto Sans CJK KR"/>
              </a:rPr>
              <a:t>밑돕니다.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당산동5가 · 해상도 R1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A02   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물건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물건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33127" y="640080"/>
            <a:ext cx="1691640" cy="3108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06279" y="704088"/>
            <a:ext cx="1545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8A2C1A"/>
                </a:solidFill>
                <a:latin typeface="Noto Sans CJK KR"/>
              </a:rPr>
              <a:t>확인 필요 4건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당산동5가 소재 제2종근린생활시설입니다.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54480"/>
          <a:ext cx="11057838" cy="24048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93884"/>
                <a:gridCol w="4581977"/>
                <a:gridCol w="4581977"/>
              </a:tblGrid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항목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내용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출처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소재지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서울특별시 영등포구 당산동5가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중개인 제공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주요 용도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제2종근린생활시설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임대 현황 기재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자산 유형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소형 빌딩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내부 판정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매매 희망가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115억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중개인 제공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대지면적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공부 원본 미제출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토지 평당가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대지면적 확보 후 산출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연면적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층별 합 1,441.15㎡ vs 계 행 1,141.15㎡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용도지역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토지이용계획 미조회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개별공시지가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조회 후 매매가 배수 산출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4105656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연면적이 확정되지 않았습니다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453128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층별 면적의 합은 1,441.15㎡입니다. 표의 계 행은 1,141.15㎡입니다.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정확히 300.00㎡ 차이입니다.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937760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건축물대장이 없어 어느 쪽이 맞는지 확정할 수 없습니다.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193792"/>
            <a:ext cx="11057839" cy="502920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76656" y="5230368"/>
            <a:ext cx="10838383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8A2C1A"/>
                </a:solidFill>
                <a:latin typeface="Noto Sans CJK KR"/>
              </a:rPr>
              <a:t>검증 C19 — 면적 차이 20.8%가 허용치 ±2%를 넘습니다. 발행이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8A2C1A"/>
                </a:solidFill>
                <a:latin typeface="Noto Sans CJK KR"/>
              </a:rPr>
              <a:t>중단됩니다.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843016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B66"/>
                </a:solidFill>
                <a:latin typeface="Noto Sans CJK KR"/>
              </a:rPr>
              <a:t>자료 해상도 R1 — 등급별 열리는 내용은 다음 단계 면을 보십시오.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당산동5가 · 해상도 R1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A04   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입지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입지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33127" y="640080"/>
            <a:ext cx="1691640" cy="3108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06279" y="704088"/>
            <a:ext cx="1545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8A2C1A"/>
                </a:solidFill>
                <a:latin typeface="Noto Sans CJK KR"/>
              </a:rPr>
              <a:t>확인 필요 2건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당산동5가 일대입니다. 아래는 제출 자료로 확인한 사실입니다.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554480"/>
          <a:ext cx="11057837" cy="12161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99258"/>
                <a:gridCol w="4789246"/>
                <a:gridCol w="2969333"/>
              </a:tblGrid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항목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내용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출처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행정구역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서울특별시 영등포구 당산동5가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중개인 제공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인근 역 도보 거리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실측 자료 미제출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접면 도로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현장 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배후 시설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현장 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2916936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확인 필요 — 인근 역까지의 실측 거리가 제출 자료에 없습니다. 도보 소요시간을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임의로 적지 않았습니다.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401568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B66"/>
                </a:solidFill>
                <a:latin typeface="Noto Sans CJK KR"/>
              </a:rPr>
              <a:t>거리(m)가 확인되면 도보 시간보다 거리를 먼저 적습니다.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당산동5가 · 해상도 R1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A06   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임대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임대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33127" y="640080"/>
            <a:ext cx="1691640" cy="3108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06279" y="704088"/>
            <a:ext cx="1545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8A2C1A"/>
                </a:solidFill>
                <a:latin typeface="Noto Sans CJK KR"/>
              </a:rPr>
              <a:t>확인 필요 1건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기준일은 2025-05-01입니다. 총 8개 구획이며 임대중 6 · 자가사용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2입니다.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46504"/>
          <a:ext cx="11057838" cy="9784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371892"/>
                <a:gridCol w="3685946"/>
              </a:tblGrid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항목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합계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보증금 합계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2.90억원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월세 합계 (VAT 별도)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1,946만원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1층 월세 비중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54.8%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2871215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B66"/>
                </a:solidFill>
                <a:latin typeface="Noto Sans CJK KR"/>
              </a:rPr>
              <a:t>소형상업용은 1층이 임대수입의 절반 안팎을 좌우합니다.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163823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임대 현황 — 전 8행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66928" y="3511295"/>
          <a:ext cx="11057834" cy="21671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4768"/>
                <a:gridCol w="2764459"/>
                <a:gridCol w="789845"/>
                <a:gridCol w="789845"/>
                <a:gridCol w="1382229"/>
                <a:gridCol w="789845"/>
                <a:gridCol w="1974614"/>
                <a:gridCol w="1382229"/>
              </a:tblGrid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호실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면적(㎡/평)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업종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상태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보증금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월세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만료일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만료 상태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B1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317.22 / 95.96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카페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자가사용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1F (A)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78.39 / 23.71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약국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6,000만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183만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2026-08-31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1F (B)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105.60 / 31.94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의원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14,000만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883만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2026-08-31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2F (B)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252.09 / 76.26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의원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2026-08-31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3F (C)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252.09 / 76.26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헬쓰장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5,000만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455만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2026-04-17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4F (D)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169.06 / 51.14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주류판매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3,000만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260만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2025-04-30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▼ 만료 경과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4F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83.03 / 25.12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자가사용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5F (E)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183.67 / 55.56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의원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1,000만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165만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2026-08-31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당산동5가 · 해상도 R1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A03   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임대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임대 현황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33127" y="640080"/>
            <a:ext cx="1691640" cy="3108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06279" y="704088"/>
            <a:ext cx="1545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8A2C1A"/>
                </a:solidFill>
                <a:latin typeface="Noto Sans CJK KR"/>
              </a:rPr>
              <a:t>확인 필요 1건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B66"/>
                </a:solidFill>
                <a:latin typeface="Noto Sans CJK KR"/>
              </a:rPr>
              <a:t>업종은 제출 자료의 원문 그대로입니다. 임차인 상호는 적지 않습니다. 금액은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B66"/>
                </a:solidFill>
                <a:latin typeface="Noto Sans CJK KR"/>
              </a:rPr>
              <a:t>VAT 별도입니다.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46504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환산보증금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093976"/>
          <a:ext cx="11057836" cy="502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24720"/>
                <a:gridCol w="2174162"/>
                <a:gridCol w="2898883"/>
                <a:gridCol w="5260071"/>
              </a:tblGrid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호실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환산보증금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지역기준(서울)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판정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1F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10.23억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9.00억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초과 — 5% 인상상한 미적용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2743200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B66"/>
                </a:solidFill>
                <a:latin typeface="Noto Sans CJK KR"/>
              </a:rPr>
              <a:t>환산보증금 = 보증금 + 월세 ×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035808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통합계약 표기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383279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1F + 2F이 하나의 계약(그룹 B)입니다. 금액 14,000만/883만은 대표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행에만 적었습니다. 통합계약의 금액을 층별로 나누지 않습니다.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867911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공실률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6928" y="4215383"/>
          <a:ext cx="11057838" cy="7406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55217"/>
                <a:gridCol w="2255217"/>
                <a:gridCol w="6547404"/>
              </a:tblGrid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기준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값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산식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구획 기준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0.00%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공실 구획 수 ÷ 전체 구획 수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면적 기준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0.00%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공실 면적 ÷ 연면적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66928" y="5102351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자가사용 2개 구획은 공실이 아닙니다. 공실률 계산에서 분자·분모 모두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제외했습니다.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당산동5가 · 해상도 R1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A03   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임대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임대 현황 (계속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33127" y="640080"/>
            <a:ext cx="1691640" cy="3108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06279" y="704088"/>
            <a:ext cx="1545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8A2C1A"/>
                </a:solidFill>
                <a:latin typeface="Noto Sans CJK KR"/>
              </a:rPr>
              <a:t>확인 필요 1건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갱신요구권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09343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상가 계약 6건에 최초 계약일이 없습니다. 갱신요구권은 최초 계약일에서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기산합니다. 잔여 기간을 산출하지 않았습니다.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057400"/>
            <a:ext cx="11057839" cy="3108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76656" y="2093976"/>
            <a:ext cx="1083838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8A2C1A"/>
                </a:solidFill>
                <a:latin typeface="Noto Sans CJK KR"/>
              </a:rPr>
              <a:t>기준일 2025-05-01 시점 만료 경과 1건입니다.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514600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해당 호실은 위 표의 만료 상태 열에 표시했습니다. 재계약 조건이 수익에 영향을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줍니다.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당산동5가 · 해상도 R1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A03   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투자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투자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33127" y="640080"/>
            <a:ext cx="1691640" cy="3108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06279" y="704088"/>
            <a:ext cx="1545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8A2C1A"/>
                </a:solidFill>
                <a:latin typeface="Noto Sans CJK KR"/>
              </a:rPr>
              <a:t>확인 필요 2건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총취득원가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09343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총취득원가는 121.33억원입니다. 매매가만으로는 실제로 드는 돈을 알 수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없습니다.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2093976"/>
          <a:ext cx="11057838" cy="14538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61244"/>
                <a:gridCol w="2536523"/>
                <a:gridCol w="5260071"/>
              </a:tblGrid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항목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금액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산출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매매가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115.00억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중개인 제공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취득세 4.6%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5.29억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취득세 4.0 + 지방교육세 0.4 + 농특세 0.2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중개보수 0.9%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1.03억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법정 상한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기타비용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자료 없음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총취득원가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121.33억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매매가 + 취득세 + 중개보수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3694176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매매가보다 6.33억원(5.5%) 이 더 듭니다.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986784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연 수익률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66928" y="4334256"/>
          <a:ext cx="11057838" cy="7406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224838"/>
                <a:gridCol w="2833000"/>
              </a:tblGrid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기준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값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연 총임대료 ÷ 매매가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2.03%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연 총임대료 ÷ (매매가 − 보증금)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2.08%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66928" y="5221224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운영비 자료가 없어 연 순수입 기준 수익률을 산출하지 않았습니다. 운영비를 빼지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않았으므로 "순"을 쓰지 않습니다.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당산동5가 · 해상도 R1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A16   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투자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투자 구조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33127" y="640080"/>
            <a:ext cx="1691640" cy="3108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06279" y="704088"/>
            <a:ext cx="1545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8A2C1A"/>
                </a:solidFill>
                <a:latin typeface="Noto Sans CJK KR"/>
              </a:rPr>
              <a:t>확인 필요 2건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실투자금과 월 순현금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09343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B66"/>
                </a:solidFill>
                <a:latin typeface="Noto Sans CJK KR"/>
              </a:rPr>
              <a:t>실투자금 = 총취득원가 − 보증금 − 대출금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01951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B66"/>
                </a:solidFill>
                <a:latin typeface="Noto Sans CJK KR"/>
              </a:rPr>
              <a:t>월 순현금 = 월세 − 월 대출이자 (운영비 미반영)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2194559"/>
          <a:ext cx="11057837" cy="9784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96581"/>
                <a:gridCol w="1793163"/>
                <a:gridCol w="2092023"/>
                <a:gridCol w="1793163"/>
                <a:gridCol w="2092023"/>
                <a:gridCol w="2390884"/>
              </a:tblGrid>
              <a:tr h="265176"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LTV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대출금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실투자금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월 이자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월 순현금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자기자본 수익률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118.42억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+1,946만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1.97%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40%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46.00억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72.42억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1,725만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+221만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0.37%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50%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57.50억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60.92억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2,156만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▼ -210만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8A2C1A"/>
                          </a:solidFill>
                          <a:latin typeface="Noto Sans CJK KR"/>
                        </a:rPr>
                        <a:t>-0.41%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3319271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B66"/>
                </a:solidFill>
                <a:latin typeface="Noto Sans CJK KR"/>
              </a:rPr>
              <a:t>◇ 금리 4.5% — 2026년 통상 수준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611879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B66"/>
                </a:solidFill>
                <a:latin typeface="Noto Sans CJK KR"/>
              </a:rPr>
              <a:t>이자만 계산했습니다. 운영비는 반영하지 않았습니다.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867911"/>
            <a:ext cx="11057839" cy="502920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76656" y="3904487"/>
            <a:ext cx="10838383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8A2C1A"/>
                </a:solidFill>
                <a:latin typeface="Noto Sans CJK KR"/>
              </a:rPr>
              <a:t>수익률 2.03%가 금리 4.5%보다 낮습니다. 대출을 늘릴수록 자기자본 수익률이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8A2C1A"/>
                </a:solidFill>
                <a:latin typeface="Noto Sans CJK KR"/>
              </a:rPr>
              <a:t>낮아집니다.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517136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LTV 50%에서 월 순현금이 -210만원이 됩니다. 자기자본 수익률은 무차입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1.97%가 가장 높습니다. 이보다 높은 수치가 제시되면 산식을 확인하십시오.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965192"/>
            <a:ext cx="11057839" cy="69951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76656" y="5001768"/>
            <a:ext cx="10838383" cy="589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8A2C1A"/>
                </a:solidFill>
                <a:latin typeface="Noto Sans CJK KR"/>
              </a:rPr>
              <a:t>은행은 매매가가 아니라 감정가를 기준으로 대출한도를 정합니다. 감정가가 매매가보다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8A2C1A"/>
                </a:solidFill>
                <a:latin typeface="Noto Sans CJK KR"/>
              </a:rPr>
              <a:t>낮게 나오는 경우가 있습니다. 잔금 일정을 확정하기 전에 대출 승인을 받으시길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8A2C1A"/>
                </a:solidFill>
                <a:latin typeface="Noto Sans CJK KR"/>
              </a:rPr>
              <a:t>권합니다.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당산동5가 · 해상도 R1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A16   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가격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가격 근거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33127" y="640080"/>
            <a:ext cx="1691640" cy="3108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06279" y="704088"/>
            <a:ext cx="1545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8A2C1A"/>
                </a:solidFill>
                <a:latin typeface="Noto Sans CJK KR"/>
              </a:rPr>
              <a:t>확인 필요 2건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가격 근거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09343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인근 실거래 비교사례가 제출되지 않았습니다. 시세 대비 위치와 목표 매각가를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산출하지 않았습니다. 비교사례 3~5건을 확보한 뒤 산출합니다.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93976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B66"/>
                </a:solidFill>
                <a:latin typeface="Noto Sans CJK KR"/>
              </a:rPr>
              <a:t>단가를 비교할 때는 분자와 분모의 기준을 맞춥니다.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당산동5가 · 해상도 R1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A03   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개선 여력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개선 여력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33127" y="640080"/>
            <a:ext cx="1691640" cy="3108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06279" y="704088"/>
            <a:ext cx="1545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8A2C1A"/>
                </a:solidFill>
                <a:latin typeface="Noto Sans CJK KR"/>
              </a:rPr>
              <a:t>확인 필요 1건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공실이 없습니다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09343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임대 6구획이 전부 임차 중입니다. 공실률 0%입니다. 다만 4층 계약이 기준일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시점에 만료 경과 상태입니다.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93976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자가사용 2구획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441448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지하 1층과 4층 일부를 소유자가 직접 쓰고 있습니다. 시장 임차료 자료가 없어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임대 전환 시 예상 수입을 산출하지 않았습니다.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926080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저희 견해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273552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저희가 보기에 무차입 또는 저LTV 구조가 맞습니다. 수익률 2.03%가 금리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4.5%를 밑돕니다. 레버리지로 수익을 키우는 구조가 아닙니다.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758184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지금 판단할 수 없는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105656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가격의 적정성은 비교사례 없이 판정하지 않았습니다. 확인 필요 7건이 남아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있습니다. 자료 해상도는 R1이며 현 단계는 예비 검토입니다.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당산동5가 · 해상도 R1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A05   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리스크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리스크 및 확인사항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33127" y="640080"/>
            <a:ext cx="1691640" cy="3108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06279" y="704088"/>
            <a:ext cx="1545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8A2C1A"/>
                </a:solidFill>
                <a:latin typeface="Noto Sans CJK KR"/>
              </a:rPr>
              <a:t>확인 필요 7건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아래를 세 구획으로 나눠 적었습니다. 확인하지 못한 항목을 "없음"으로 적지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않았습니다.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46504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확인된 리스크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93976"/>
            <a:ext cx="11057839" cy="589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4층 주류판매 계약이 기준일 시점에 만료 경과 상태입니다.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역레버리지 구간입니다. LTV 50%에서 월 순현금이 마이너스입니다.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1층과 2층이 통합계약입니다. 분리 임대 시 재계약이 필요합니다.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811780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미확인 사항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159252"/>
            <a:ext cx="11057839" cy="1376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연면적 확정 (층별 합 1,441.15㎡ vs 표 계 행 1,141.15㎡)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임대차계약 6건의 최초 계약일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관리비 부담 주체와 금액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임차인 대항력 요건 (사업자등록 여부)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운영비 내역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등기부등본 — 근저당·권리 제한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인근 지하철역까지의 실측 거리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663440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매수인 확인 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010912"/>
            <a:ext cx="1105783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건축물대장으로 연면적·대지면적을 확인하십시오.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등기부등본으로 근저당·권리 제한을 확인하십시오.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대출 감정가를 잔금 일정 확정 전에 확인하십시오.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임대차계약서로 최초 계약일과 특약을 확인하십시오.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92531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등기부등본이 없어 권리 제한 여부를 판정하지 않았습니다.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당산동5가 · 해상도 R1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A07   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리스크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리스크 및 확인사항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33127" y="640080"/>
            <a:ext cx="1691640" cy="3108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06279" y="704088"/>
            <a:ext cx="1545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8A2C1A"/>
                </a:solidFill>
                <a:latin typeface="Noto Sans CJK KR"/>
              </a:rPr>
              <a:t>확인 필요 7건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발행 전 검증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09343"/>
          <a:ext cx="11057838" cy="7406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51383"/>
                <a:gridCol w="7805533"/>
                <a:gridCol w="1300922"/>
              </a:tblGrid>
              <a:tr h="265176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코드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내용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3C434E"/>
                          </a:solidFill>
                          <a:latin typeface="Noto Sans CJK KR"/>
                        </a:rPr>
                        <a:t>판정</a:t>
                      </a:r>
                    </a:p>
                  </a:txBody>
                  <a:tcPr marL="64008" marR="64008" marT="18288" marB="18288" anchor="ctr">
                    <a:solidFill>
                      <a:srgbClr val="F4F5F7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C19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면적 차이 ±2% 초과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중단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G18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기준일 부재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2161C"/>
                          </a:solidFill>
                          <a:latin typeface="Noto Sans CJK KR"/>
                        </a:rPr>
                        <a:t>경고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2459736"/>
            <a:ext cx="11057839" cy="310896"/>
          </a:xfrm>
          <a:prstGeom prst="rect">
            <a:avLst/>
          </a:prstGeom>
          <a:solidFill>
            <a:srgbClr val="FF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76656" y="2496312"/>
            <a:ext cx="1083838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8A2C1A"/>
                </a:solidFill>
                <a:latin typeface="Noto Sans CJK KR"/>
              </a:rPr>
              <a:t>중단 사유 1건이 있습니다. 현재 상태로 대외 발행할 수 없습니다.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당산동5가 · 해상도 R1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A07   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사진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외부 사진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1057839" cy="28346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265176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3C434E"/>
                </a:solidFill>
                <a:latin typeface="Noto Sans CJK KR"/>
              </a:rPr>
              <a:t>사진이 제출되지 않았습니다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526280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C434E"/>
                </a:solidFill>
                <a:latin typeface="Noto Sans CJK KR"/>
              </a:rPr>
              <a:t>정본 표준은 사진 6장 이상을 필수로 둡니다.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C434E"/>
                </a:solidFill>
                <a:latin typeface="Noto Sans CJK KR"/>
              </a:rPr>
              <a:t>현장 사진은 매수인의 현장 방문 결정에 가장 큰 영향을 줍니다.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C434E"/>
                </a:solidFill>
                <a:latin typeface="Noto Sans CJK KR"/>
              </a:rPr>
              <a:t>중개인이 직접 촬영한 사진으로 채워 주십시오.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당산동5가 · 해상도 R1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A14   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사진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내부 사진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1057839" cy="28346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265176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3C434E"/>
                </a:solidFill>
                <a:latin typeface="Noto Sans CJK KR"/>
              </a:rPr>
              <a:t>사진이 제출되지 않았습니다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526280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C434E"/>
                </a:solidFill>
                <a:latin typeface="Noto Sans CJK KR"/>
              </a:rPr>
              <a:t>정본 표준은 사진 6장 이상을 필수로 둡니다.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C434E"/>
                </a:solidFill>
                <a:latin typeface="Noto Sans CJK KR"/>
              </a:rPr>
              <a:t>현장 사진은 매수인의 현장 방문 결정에 가장 큰 영향을 줍니다.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C434E"/>
                </a:solidFill>
                <a:latin typeface="Noto Sans CJK KR"/>
              </a:rPr>
              <a:t>중개인이 직접 촬영한 사진으로 채워 주십시오.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당산동5가 · 해상도 R1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A14   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거래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2161C"/>
                </a:solidFill>
                <a:latin typeface="Noto Sans CJK KR"/>
              </a:rPr>
              <a:t>거래 조건·다음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11057839" cy="18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2161C"/>
                </a:solidFill>
                <a:latin typeface="Noto Sans CJK KR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097280"/>
            <a:ext cx="11057839" cy="10972"/>
          </a:xfrm>
          <a:prstGeom prst="rect">
            <a:avLst/>
          </a:prstGeom>
          <a:solidFill>
            <a:srgbClr val="DF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933127" y="640080"/>
            <a:ext cx="1691640" cy="310896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006279" y="704088"/>
            <a:ext cx="154533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56B42"/>
                </a:solidFill>
                <a:latin typeface="Noto Sans CJK KR"/>
              </a:rPr>
              <a:t>자료 확보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61872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아래 순서로 진행하면 미확인 사항이 줄어듭니다.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54480"/>
            <a:ext cx="11057839" cy="982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연면적 확정 — 건축물대장으로 1,441.15㎡와 1,141.15㎡ 중 확인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자료 요청 — 임대차계약서 6건, 등기부등본, 운영비·관리비 내역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공부 조회 — 토지이용계획(용도지역), 개별공시지가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비교사례 확보 — 인근 제2종근린생활시설 유사 규모 실거래 3~5건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현장 확인 — 담당자에게 일정을 문의해 주십시오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665476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자료가 채워지면 무엇이 열리나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012948"/>
            <a:ext cx="11057839" cy="5897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현재 자료 해상도는 R1입니다. 임대면적·적용법령·관리비·시작일이 채워지면 평당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단가가 열립니다. 최초 계약일과 대항력이 채워지면 갱신요구권이 열립니다. 지금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부족한 항목은 아래와 같습니다.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694176"/>
            <a:ext cx="1105783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관리비 6건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현 계약 시작일 6건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최초 계약일 6건</a:t>
            </a:r>
          </a:p>
          <a:p>
            <a:pPr algn="l">
              <a:spcAft>
                <a:spcPts val="5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· 대항력 6건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608576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2161C"/>
                </a:solidFill>
                <a:latin typeface="Noto Sans CJK KR"/>
              </a:rPr>
              <a:t>거래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956048"/>
            <a:ext cx="1105783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매매 희망가 115억 · 승계 보증금 2.90억원입니다. 잔금 일정은 협의합니다.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12161C"/>
                </a:solidFill>
                <a:latin typeface="Noto Sans CJK KR"/>
              </a:rPr>
              <a:t>대출 승계 여부는 확인 필요입니다.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440680"/>
            <a:ext cx="1105783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B66"/>
                </a:solidFill>
                <a:latin typeface="Noto Sans CJK KR"/>
              </a:rPr>
              <a:t>문의 시 물건명과 임차인 상호는 가려서 보내주십시오.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45936"/>
            <a:ext cx="66347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CREDEAL IM · 수익형 · 서울특별시 영등포구 당산동5가 · 해상도 R1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1631" y="6345936"/>
            <a:ext cx="4423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55B66"/>
                </a:solidFill>
                <a:latin typeface="Noto Sans CJK KR"/>
              </a:rPr>
              <a:t>A09   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