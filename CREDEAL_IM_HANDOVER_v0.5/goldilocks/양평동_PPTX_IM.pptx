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CREDEAL INVESTMENT MEMORANDUM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ans CJK KR"/>
              </a:rPr>
              <a:t>양평동4가 업무시설 매각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8B2C1"/>
                </a:solidFill>
                <a:latin typeface="Noto Sans CJK KR"/>
              </a:rPr>
              <a:t>서울특별시 영등포구 양평동4가  ·  수익형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77639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oto Sans CJK KR"/>
              </a:rPr>
              <a:t>매매 희망가 250억   |   월 임대료 4,657만원   |   원장 12행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07492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B95A5"/>
                </a:solidFill>
                <a:latin typeface="Noto Sans CJK KR"/>
              </a:rPr>
              <a:t>본 자료의 모든 수치는 제출된 임대차 원장에서 산출했습니다.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8B95A5"/>
                </a:solidFill>
                <a:latin typeface="Noto Sans CJK KR"/>
              </a:rPr>
              <a:t>확인되지 않은 항목 6건은 "확인 필요"로 표기했으며, 추정값으로 채우지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8B95A5"/>
                </a:solidFill>
                <a:latin typeface="Noto Sans CJK KR"/>
              </a:rPr>
              <a:t>않았습니다.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A01   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한 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여기서 판단이 끝납니다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양평동4가 · 11개 임차 · 공실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3564026" cy="122529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883664"/>
            <a:ext cx="32348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434E"/>
                </a:solidFill>
                <a:latin typeface="Noto Sans CJK KR"/>
              </a:rPr>
              <a:t>매매가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9696"/>
            <a:ext cx="323484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161C"/>
                </a:solidFill>
                <a:latin typeface="Noto Sans CJK KR"/>
              </a:rPr>
              <a:t>250억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33472"/>
            <a:ext cx="323484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434E"/>
                </a:solidFill>
                <a:latin typeface="Noto Sans CJK KR"/>
              </a:rPr>
              <a:t>평당 15,933만원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3834" y="1737360"/>
            <a:ext cx="3564026" cy="122529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78426" y="1883664"/>
            <a:ext cx="32348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434E"/>
                </a:solidFill>
                <a:latin typeface="Noto Sans CJK KR"/>
              </a:rPr>
              <a:t>실투자금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8426" y="2139696"/>
            <a:ext cx="323484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161C"/>
                </a:solidFill>
                <a:latin typeface="Noto Sans CJK KR"/>
              </a:rPr>
              <a:t>133.80억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8426" y="2633472"/>
            <a:ext cx="323484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434E"/>
                </a:solidFill>
                <a:latin typeface="Noto Sans CJK KR"/>
              </a:rPr>
              <a:t>LTV 50%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0740" y="1737360"/>
            <a:ext cx="3564026" cy="12252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5332" y="1883664"/>
            <a:ext cx="32348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434E"/>
                </a:solidFill>
                <a:latin typeface="Noto Sans CJK KR"/>
              </a:rPr>
              <a:t>월 순현금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5332" y="2139696"/>
            <a:ext cx="323484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8A2C1A"/>
                </a:solidFill>
                <a:latin typeface="Noto Sans CJK KR"/>
              </a:rPr>
              <a:t>-30만원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5332" y="2633472"/>
            <a:ext cx="323484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▼ 대출 시 적자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6928" y="3108960"/>
          <a:ext cx="11057836" cy="1042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8477"/>
                <a:gridCol w="1769254"/>
                <a:gridCol w="1946179"/>
                <a:gridCol w="1769254"/>
                <a:gridCol w="2034642"/>
                <a:gridCol w="2300030"/>
              </a:tblGrid>
              <a:tr h="274320"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258.80억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+4,657만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2.16%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100.00억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158.80억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3,750만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+907만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0.69%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125.00억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133.80억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4,688만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▼ -30만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8A2C1A"/>
                          </a:solidFill>
                          <a:latin typeface="Noto Sans CJK KR"/>
                        </a:rPr>
                        <a:t>-0.03%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66928" y="4261104"/>
            <a:ext cx="5437479" cy="12984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5108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C434E"/>
                </a:solidFill>
                <a:latin typeface="Noto Sans CJK KR"/>
              </a:rPr>
              <a:t>임대 요약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45152"/>
            <a:ext cx="5108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임대중 11 · 공실 1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월세 4,657만원 · 보증금 4.95억원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연 수익률 2.24% (총임대료 ÷ 매매가)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287" y="4261104"/>
            <a:ext cx="5437479" cy="1298448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51879" y="4389120"/>
            <a:ext cx="5108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2C1A"/>
                </a:solidFill>
                <a:latin typeface="Noto Sans CJK KR"/>
              </a:rPr>
              <a:t>확인 필요 6건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879" y="4645152"/>
            <a:ext cx="5108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· 표지 요약과 각 행의 합 중 정본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· 임대 현황 기준일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· 임대차계약 11건의 최초 계약일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87568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저희가 보기에 무차입 또는 저LTV 구조가 맞습니다. 수익률이 대출금리 4.5%를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밑돕니다.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A02  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물건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물건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3건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양평동4가 소재 업무시설입니다. 연면적 2,490.88㎡(753.49평)입니다.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건폐율 58.4% · 용적률 398.8%입니다. (건축물대장)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46504"/>
          <a:ext cx="11057838" cy="2404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2203"/>
                <a:gridCol w="4650493"/>
                <a:gridCol w="4485142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내용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서울특별시 영등포구 양평동4가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중개인 제공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주요 용도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업무시설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 현황 기재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자산 유형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오피스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내부 판정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250억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중개인 제공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518.71㎡(156.91평) (파생)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용적률산정연면적 ÷ 용적률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15,933만원/평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매매가 ÷ 대지 평수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2,490.88㎡(753.49평)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건축물대장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토지이용계획 미조회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개별공시지가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조회 후 매매가 배수 산출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261104"/>
            <a:ext cx="11057839" cy="502920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656" y="4297680"/>
            <a:ext cx="10838383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검증 G21 — 제출된 토지이용계획원의 소재지가 다릅니다. 서울특별시 강남구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논현동 필지입니다. 서류 교체가 필요합니다.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10328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자료 해상도 R1 — 등급별 열리는 내용은 다음 단계 면을 보십시오.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A04  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입지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입지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양평동4가 일대입니다. 아래는 제출 자료로 확인한 사실입니다.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54480"/>
          <a:ext cx="11057837" cy="1216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9258"/>
                <a:gridCol w="4789246"/>
                <a:gridCol w="2969333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내용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행정구역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서울특별시 영등포구 양평동4가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중개인 제공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인근 역 도보 거리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실측 자료 미제출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접면 도로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현장 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배후 시설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현장 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2916936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확인 필요 — 인근 역까지의 실측 거리가 제출 자료에 없습니다. 도보 소요시간을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임의로 적지 않았습니다.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01568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거리(m)가 확인되면 도보 시간보다 거리를 먼저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A06  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임대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임대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4건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총 12개 구획이며 임대중 11 · 공실 1입니다. 확인 필요 — 기준일이 적혀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있지 않습니다. 만기의 신선도를 판정할 수 없습니다.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46504"/>
          <a:ext cx="11057838" cy="1216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460311"/>
                <a:gridCol w="3597527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합계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보증금 합계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4.95억원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월세 합계 (VAT 별도)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4,657만원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관리비 합계 (VAT 별도)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576만원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1층 월세 비중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10896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소형상업용은 1층이 임대수입의 절반 안팎을 좌우합니다.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01568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표지 요약과 합계가 다릅니다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749039"/>
          <a:ext cx="11057837" cy="502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28648"/>
                <a:gridCol w="3685946"/>
                <a:gridCol w="3685946"/>
                <a:gridCol w="2457297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표지 요약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각 행의 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차이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월세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5,017만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4,657만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360만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4398264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월 360만원 차이는 연 4,320만원입니다. 매매가 250억 기준 수익률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0.17%p에 해당합니다. 매수인이 검산하면 즉시 드러납니다.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846320"/>
            <a:ext cx="11057839" cy="502920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6656" y="4882896"/>
            <a:ext cx="10838383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검증 G19 — 표지 합계와 각 행의 합이 다릅니다. 발행이 중단됩니다. 본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자료의 수치는 각 행의 합을 씁니다.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A03  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임대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임대 현황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4건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임대 현황 — 전 12행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09343"/>
          <a:ext cx="11057835" cy="3118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5912"/>
                <a:gridCol w="2891358"/>
                <a:gridCol w="1195094"/>
                <a:gridCol w="597547"/>
                <a:gridCol w="1195094"/>
                <a:gridCol w="796729"/>
                <a:gridCol w="1991824"/>
                <a:gridCol w="1394277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호실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면적(㎡/평)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업종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보증금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월세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만료일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만료 상태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10F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운동시설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4,300만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459만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2024-09-30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9F(2)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2025-11-30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9F(1)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스튜디오렌탈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199만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2025-10-31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8F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560만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2025-09-07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7F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588만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2025-10-03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6F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483만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2026-02-28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5,700만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528만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2024-05-29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440만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2024-06-29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치과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7,000만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310만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2024-10-31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미용실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540만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2026-02-21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부동산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3,500만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250만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2025-11-11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422.25 / 127.73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공실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87375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업종은 제출 자료의 원문 그대로입니다. 임차인 상호는 적지 않습니다. 금액은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VAT 별도입니다.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A03  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임대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임대 현황 (계속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4건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환산보증금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상가 계약 11건 모두 서울 지역기준 9억 이하입니다. 상가건물임대차보호법이 전면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적용됩니다.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939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환산보증금 = 보증금 + 월세 ×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8658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공실률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2734056"/>
          <a:ext cx="11057838" cy="740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66833"/>
                <a:gridCol w="2600199"/>
                <a:gridCol w="6290806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기준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산식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구획 기준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8.33%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공실 구획 수 ÷ 전체 구획 수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면적 기준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16.95%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공실 면적 ÷ 연면적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362102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갱신요구권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968496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상가 계약 11건에 최초 계약일이 없습니다. 갱신요구권은 최초 계약일에서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기산합니다. 잔여 기간을 산출하지 않았습니다.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16552"/>
            <a:ext cx="11057839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6" y="4453128"/>
            <a:ext cx="108383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기준일 2026-08-24 시점 만료 경과 11건입니다.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7375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해당 호실은 위 표의 만료 상태 열에 표시했습니다. 재계약 조건이 수익에 영향을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A03  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투자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투자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총취득원가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총취득원가는 263.75억원입니다. 매매가만으로는 실제로 드는 돈을 알 수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없습니다.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093976"/>
          <a:ext cx="11057838" cy="1453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61244"/>
                <a:gridCol w="2536523"/>
                <a:gridCol w="5260071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금액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산출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250.00억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중개인 제공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11.50억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취득세 4.0 + 지방교육세 0.4 + 농특세 0.2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2.25억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법정 상한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263.75억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매매가 + 취득세 + 중개보수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36941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매매가보다 13.75억원(5.5%) 이 더 듭니다.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8678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연 수익률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4334256"/>
          <a:ext cx="11057838" cy="740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4838"/>
                <a:gridCol w="2833000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기준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연 총임대료 ÷ 매매가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2.24%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연 총임대료 ÷ (매매가 − 보증금)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2.28%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221224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운영비 자료가 없어 연 순수입 기준 수익률을 산출하지 않았습니다. 운영비를 빼지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않았으므로 "순"을 쓰지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A16  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투자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투자 구조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실투자금과 월 순현금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실투자금 = 총취득원가 − 보증금 − 대출금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01951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월 순현금 = 월세 − 월 대출이자 (운영비 미반영)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194559"/>
          <a:ext cx="11057837" cy="978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72987"/>
                <a:gridCol w="2036970"/>
                <a:gridCol w="2036970"/>
                <a:gridCol w="1745974"/>
                <a:gridCol w="2036970"/>
                <a:gridCol w="2327966"/>
              </a:tblGrid>
              <a:tr h="265176"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258.80억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+4,657만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2.16%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100.00억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158.80억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3,750만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+907만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0.69%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125.00억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133.80억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4,688만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-30만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8A2C1A"/>
                          </a:solidFill>
                          <a:latin typeface="Noto Sans CJK KR"/>
                        </a:rPr>
                        <a:t>-0.03%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3319271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◇ 금리 4.5% — 2026년 통상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11879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이자만 계산했습니다. 운영비는 반영하지 않았습니다.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67911"/>
            <a:ext cx="11057839" cy="502920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6656" y="3904487"/>
            <a:ext cx="10838383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수익률 2.24%가 금리 4.5%보다 낮습니다. 대출을 늘릴수록 자기자본 수익률이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낮아집니다.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517136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LTV 50%에서 월 순현금이 -30만원이 됩니다. 자기자본 수익률은 무차입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2.16%가 가장 높습니다. 이보다 높은 수치가 제시되면 산식을 확인하십시오.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965192"/>
            <a:ext cx="11057839" cy="69951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6656" y="5001768"/>
            <a:ext cx="10838383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은행은 매매가가 아니라 감정가를 기준으로 대출한도를 정합니다. 감정가가 매매가보다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낮게 나오는 경우가 있습니다. 잔금 일정을 확정하기 전에 대출 승인을 받으시길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권합니다.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A16  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가격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가격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가격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인근 실거래 비교사례가 제출되지 않았습니다. 시세 대비 위치와 목표 매각가를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산출하지 않았습니다. 비교사례 3~5건을 확보한 뒤 산출합니다.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939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단가를 비교할 때는 분자와 분모의 기준을 맞춥니다.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A03 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개선 여력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개선 여력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1건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임차 구성이 분산되어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11개 호실이 사무실·의료·미용·운동으로 나뉘어 있습니다. 만기 자료만으로는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분산이 공실 위험을 낮추는 정도를 산출하지 않았습니다.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939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지하층 공실 임대 여력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41448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지하 1층 422.25㎡(127.73평)가 비어 있습니다. 비교 임대사례가 없어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공실 임대 시 예상 임대료를 산출하지 않았습니다.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2608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저희 견해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7355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저희가 보기에 무차입 또는 저LTV 구조가 맞습니다. 수익률 2.24%가 금리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4.5%를 밑돕니다. 레버리지로 수익을 키우는 구조가 아닙니다.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5818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지금 판단할 수 없는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105656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가격의 적정성은 비교사례 없이 판정하지 않았습니다. 확인 필요 6건이 남아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있습니다. 자료 해상도는 R1이며 현 단계는 예비 검토입니다.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A05 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6건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아래를 세 구획으로 나눠 적었습니다. 확인하지 못한 항목을 "없음"으로 적지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않았습니다.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4650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93976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지하 1층 422.25㎡가 공실입니다. 면적 기준 공실률 16.95%입니다.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역레버리지 구간입니다. LTV 50%에서 월 순현금이 마이너스입니다.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표지 요약과 각 행의 합이 월 360만원 다릅니다.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첨부된 토지이용계획확인원이 본건이 아닙니다.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083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55848"/>
            <a:ext cx="1105783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표지 요약과 각 행의 합 중 정본 (월세 5,017만 vs 4,657만)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임대 현황 기준일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임대차계약 11건의 최초 계약일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임차인 대항력 요건 (사업자등록 여부)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운영비 내역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등기부등본 — 근저당·권리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66344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01091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건축물대장으로 연면적·대지면적을 확인하십시오.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등기부등본으로 근저당·권리 제한을 확인하십시오.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대출 감정가를 잔금 일정 확정 전에 확인하십시오.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임대차계약서로 최초 계약일과 특약을 확인하십시오.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253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등기부등본이 없어 권리 제한 여부를 판정하지 않았습니다.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A07 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리스크 및 확인사항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6건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발행 전 검증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09343"/>
          <a:ext cx="11057838" cy="978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45974"/>
                <a:gridCol w="8147881"/>
                <a:gridCol w="1163983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코드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내용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G19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표지 합계 ≠ 각 행의 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G21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첨부 공부 소재지 불일치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G18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기준일 부재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경고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2697479"/>
            <a:ext cx="11057839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656" y="2734056"/>
            <a:ext cx="108383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중단 사유 2건이 있습니다. 현재 상태로 대외 발행할 수 없습니다.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A07  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사진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외부 사진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1057839" cy="2834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26517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C434E"/>
                </a:solidFill>
                <a:latin typeface="Noto Sans CJK KR"/>
              </a:rPr>
              <a:t>사진이 제출되지 않았습니다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2628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정본 표준은 사진 6장 이상을 필수로 둡니다.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현장 사진은 매수인의 현장 방문 결정에 가장 큰 영향을 줍니다.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중개인이 직접 촬영한 사진으로 채워 주십시오.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A14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사진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내부 사진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1057839" cy="2834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26517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C434E"/>
                </a:solidFill>
                <a:latin typeface="Noto Sans CJK KR"/>
              </a:rPr>
              <a:t>사진이 제출되지 않았습니다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2628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정본 표준은 사진 6장 이상을 필수로 둡니다.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현장 사진은 매수인의 현장 방문 결정에 가장 큰 영향을 줍니다.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중개인이 직접 촬영한 사진으로 채워 주십시오.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A14 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거래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거래 조건·다음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B42"/>
                </a:solidFill>
                <a:latin typeface="Noto Sans CJK KR"/>
              </a:rPr>
              <a:t>자료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아래 순서로 진행하면 미확인 사항이 줄어듭니다.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1105783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정본 확정 — 표지 요약과 각 행의 합 중 어느 쪽이 맞는지 확인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서류 교체 — 토지이용계획확인원이 본건이 아닙니다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자료 요청 — 임대차계약서 11건, 등기부등본, 운영비·관리비 내역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공부 조회 — 토지이용계획(용도지역), 개별공시지가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비교사례 확보 — 인근 업무시설 유사 규모 실거래 3~5건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현장 확인 — 담당자에게 일정을 문의해 주십시오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620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자료가 채워지면 무엇이 열리나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09544"/>
            <a:ext cx="11057839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현재 자료 해상도는 R1입니다. 임대면적·적용법령·관리비·시작일이 채워지면 평당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단가가 열립니다. 최초 계약일과 대항력이 채워지면 갱신요구권이 열립니다. 지금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부족한 항목은 아래와 같습니다.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90772"/>
            <a:ext cx="11057839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임대면적 11건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최초 계약일 11건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대항력 11건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6085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거래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956048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매매 희망가 250억 · 승계 보증금 4.95억원입니다. 잔금 일정은 협의합니다.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대출 승계 여부는 확인 필요입니다.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4068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문의 시 물건명과 임차인 상호는 가려서 보내주십시오.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양평동4가 · 해상도 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A09 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