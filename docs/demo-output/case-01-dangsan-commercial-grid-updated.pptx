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jpeg"/><Relationship Id="rId3" Type="http://schemas.openxmlformats.org/officeDocument/2006/relationships/image" Target="../media/image-2-3.jpeg"/><Relationship Id="rId4" Type="http://schemas.openxmlformats.org/officeDocument/2006/relationships/image" Target="../media/image-2-4.jpe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72400" y="0"/>
            <a:ext cx="44192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772400" y="5029200"/>
            <a:ext cx="4419295" cy="1097280"/>
          </a:xfrm>
          <a:prstGeom prst="rect">
            <a:avLst/>
          </a:prstGeom>
          <a:solidFill>
            <a:srgbClr val="0F172A">
              <a:alpha val="6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566928" y="475488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</a:t>
            </a:r>
            <a:pPr indent="0" marL="0">
              <a:buNone/>
            </a:pPr>
            <a:r>
              <a:rPr lang="en-US" sz="1500" b="1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DEAL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8229600" y="530352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상업용 부동산 투자 플랫폼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566928" y="2029968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5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INVESTMENT MEMORANDUM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566928" y="2304288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당산역세권 메디컬·근린생활 빌딩</a:t>
            </a:r>
            <a:endParaRPr lang="en-US" sz="4000" dirty="0"/>
          </a:p>
        </p:txBody>
      </p:sp>
      <p:sp>
        <p:nvSpPr>
          <p:cNvPr id="8" name="Text 5"/>
          <p:cNvSpPr/>
          <p:nvPr/>
        </p:nvSpPr>
        <p:spPr>
          <a:xfrm>
            <a:off x="566928" y="309067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income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66928" y="3584448"/>
            <a:ext cx="1243584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0" name="Text 7"/>
          <p:cNvSpPr/>
          <p:nvPr/>
        </p:nvSpPr>
        <p:spPr>
          <a:xfrm>
            <a:off x="566928" y="3584448"/>
            <a:ext cx="12435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income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920240" y="3584448"/>
            <a:ext cx="1097280" cy="310896"/>
          </a:xfrm>
          <a:prstGeom prst="roundRect">
            <a:avLst>
              <a:gd name="adj" fmla="val 50000"/>
            </a:avLst>
          </a:prstGeom>
          <a:solidFill>
            <a:srgbClr val="334155"/>
          </a:solidFill>
          <a:ln/>
        </p:spPr>
      </p:sp>
      <p:sp>
        <p:nvSpPr>
          <p:cNvPr id="12" name="Text 9"/>
          <p:cNvSpPr/>
          <p:nvPr/>
        </p:nvSpPr>
        <p:spPr>
          <a:xfrm>
            <a:off x="1920240" y="3584448"/>
            <a:ext cx="1097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115억원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566928" y="4224528"/>
            <a:ext cx="6858000" cy="1225296"/>
          </a:xfrm>
          <a:prstGeom prst="roundRect">
            <a:avLst>
              <a:gd name="adj" fmla="val 2985"/>
            </a:avLst>
          </a:prstGeom>
          <a:solidFill>
            <a:srgbClr val="1E40AF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960" y="4425696"/>
            <a:ext cx="63459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DBE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115억원</a:t>
            </a:r>
            <a:endParaRPr lang="en-US" sz="2200" dirty="0"/>
          </a:p>
        </p:txBody>
      </p:sp>
      <p:sp>
        <p:nvSpPr>
          <p:cNvPr id="15" name="Text 12"/>
          <p:cNvSpPr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Gallery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주요 전경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234440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66928" y="1234440"/>
            <a:ext cx="5464912" cy="2290572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9" name="Shape 6"/>
          <p:cNvSpPr/>
          <p:nvPr/>
        </p:nvSpPr>
        <p:spPr>
          <a:xfrm>
            <a:off x="566928" y="3232404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0" name="Text 7"/>
          <p:cNvSpPr/>
          <p:nvPr/>
        </p:nvSpPr>
        <p:spPr>
          <a:xfrm>
            <a:off x="676656" y="3232404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외관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159856" y="1234440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159856" y="1234440"/>
            <a:ext cx="5464912" cy="2290572"/>
          </a:xfrm>
          <a:prstGeom prst="rect">
            <a:avLst/>
          </a:prstGeom>
        </p:spPr>
      </p:pic>
      <p:sp>
        <p:nvSpPr>
          <p:cNvPr id="13" name="Shape 9"/>
          <p:cNvSpPr/>
          <p:nvPr/>
        </p:nvSpPr>
        <p:spPr>
          <a:xfrm>
            <a:off x="6233008" y="1307592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14" name="Text 10"/>
          <p:cNvSpPr/>
          <p:nvPr/>
        </p:nvSpPr>
        <p:spPr>
          <a:xfrm>
            <a:off x="6233008" y="1307592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15" name="Shape 11"/>
          <p:cNvSpPr/>
          <p:nvPr/>
        </p:nvSpPr>
        <p:spPr>
          <a:xfrm>
            <a:off x="6159856" y="3232404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16" name="Text 12"/>
          <p:cNvSpPr/>
          <p:nvPr/>
        </p:nvSpPr>
        <p:spPr>
          <a:xfrm>
            <a:off x="6269584" y="3232404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17" name="Shape 13"/>
          <p:cNvSpPr/>
          <p:nvPr/>
        </p:nvSpPr>
        <p:spPr>
          <a:xfrm>
            <a:off x="566928" y="3653028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566928" y="3653028"/>
            <a:ext cx="5464912" cy="2290572"/>
          </a:xfrm>
          <a:prstGeom prst="rect">
            <a:avLst/>
          </a:prstGeom>
        </p:spPr>
      </p:pic>
      <p:sp>
        <p:nvSpPr>
          <p:cNvPr id="19" name="Shape 14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0" name="Text 15"/>
          <p:cNvSpPr/>
          <p:nvPr/>
        </p:nvSpPr>
        <p:spPr>
          <a:xfrm>
            <a:off x="640080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566928" y="5650992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2" name="Text 17"/>
          <p:cNvSpPr/>
          <p:nvPr/>
        </p:nvSpPr>
        <p:spPr>
          <a:xfrm>
            <a:off x="676656" y="5650992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실내 공간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6159856" y="3653028"/>
            <a:ext cx="5464912" cy="2290572"/>
          </a:xfrm>
          <a:prstGeom prst="roundRect">
            <a:avLst>
              <a:gd name="adj" fmla="val 2395"/>
            </a:avLst>
          </a:prstGeom>
          <a:solidFill>
            <a:srgbClr val="F0F0F0"/>
          </a:solidFill>
          <a:ln w="6350">
            <a:solidFill>
              <a:srgbClr val="E0E0E0"/>
            </a:solidFill>
            <a:prstDash val="solid"/>
          </a:ln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6159856" y="3653028"/>
            <a:ext cx="5464912" cy="2290572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233008" y="3726180"/>
            <a:ext cx="868680" cy="237744"/>
          </a:xfrm>
          <a:prstGeom prst="rect">
            <a:avLst/>
          </a:prstGeom>
          <a:solidFill>
            <a:srgbClr val="10161F">
              <a:alpha val="80000"/>
            </a:srgbClr>
          </a:solidFill>
          <a:ln/>
        </p:spPr>
      </p:sp>
      <p:sp>
        <p:nvSpPr>
          <p:cNvPr id="26" name="Text 20"/>
          <p:cNvSpPr/>
          <p:nvPr/>
        </p:nvSpPr>
        <p:spPr>
          <a:xfrm>
            <a:off x="6233008" y="3726180"/>
            <a:ext cx="86868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로비</a:t>
            </a:r>
            <a:endParaRPr lang="en-US" sz="900" dirty="0"/>
          </a:p>
        </p:txBody>
      </p:sp>
      <p:sp>
        <p:nvSpPr>
          <p:cNvPr id="27" name="Shape 21"/>
          <p:cNvSpPr/>
          <p:nvPr/>
        </p:nvSpPr>
        <p:spPr>
          <a:xfrm>
            <a:off x="6159856" y="5650992"/>
            <a:ext cx="5464912" cy="292608"/>
          </a:xfrm>
          <a:prstGeom prst="rect">
            <a:avLst/>
          </a:prstGeom>
          <a:solidFill>
            <a:srgbClr val="000000">
              <a:alpha val="60000"/>
            </a:srgbClr>
          </a:solidFill>
          <a:ln/>
        </p:spPr>
      </p:sp>
      <p:sp>
        <p:nvSpPr>
          <p:cNvPr id="28" name="Text 22"/>
          <p:cNvSpPr/>
          <p:nvPr/>
        </p:nvSpPr>
        <p:spPr>
          <a:xfrm>
            <a:off x="6269584" y="5650992"/>
            <a:ext cx="52454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1층 로비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2</a:t>
            </a:r>
            <a:endParaRPr lang="en-US" sz="900" dirty="0"/>
          </a:p>
        </p:txBody>
      </p:sp>
      <p:sp>
        <p:nvSpPr>
          <p:cNvPr id="30" name="Shape 2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Summary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핵심요약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3152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345.20㎡ (104.42평)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337710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4170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354170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1,141.15㎡ (345.20평)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6187288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51880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351880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8대 자주식</a:t>
            </a:r>
            <a:endParaRPr lang="en-US" sz="2000" dirty="0"/>
          </a:p>
        </p:txBody>
      </p:sp>
      <p:sp>
        <p:nvSpPr>
          <p:cNvPr id="14" name="Shape 12"/>
          <p:cNvSpPr/>
          <p:nvPr/>
        </p:nvSpPr>
        <p:spPr>
          <a:xfrm>
            <a:off x="8997467" y="1371600"/>
            <a:ext cx="2627300" cy="1280160"/>
          </a:xfrm>
          <a:prstGeom prst="roundRect">
            <a:avLst>
              <a:gd name="adj" fmla="val 4286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62059" y="1499616"/>
            <a:ext cx="229811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건폐율/용적률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9162059" y="1719072"/>
            <a:ext cx="229811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0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 59.8% / 용적률 298.5%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566928" y="3429000"/>
            <a:ext cx="1105783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3대 핵심 투자 포인트 (Investment Highlights)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3758184"/>
            <a:ext cx="11057839" cy="585216"/>
          </a:xfrm>
          <a:prstGeom prst="roundRect">
            <a:avLst>
              <a:gd name="adj" fmla="val 7813"/>
            </a:avLst>
          </a:prstGeom>
          <a:solidFill>
            <a:srgbClr val="F8F9FA"/>
          </a:solidFill>
          <a:ln w="7620">
            <a:solidFill>
              <a:srgbClr val="E2E8F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76656" y="3867912"/>
            <a:ext cx="411480" cy="365760"/>
          </a:xfrm>
          <a:prstGeom prst="roundRect">
            <a:avLst>
              <a:gd name="adj" fmla="val 10000"/>
            </a:avLst>
          </a:prstGeom>
          <a:solidFill>
            <a:srgbClr val="EFF6FF"/>
          </a:solidFill>
          <a:ln w="6350">
            <a:solidFill>
              <a:srgbClr val="3B82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76656" y="3867912"/>
            <a:ext cx="411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207008" y="3831336"/>
            <a:ext cx="1028059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준공연도 2011년, 지하 1층 ~ 지상 5층 자주식 주차 8대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3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Location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접근성 분석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및 도로 교통망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지하철 2·9호선 환승역 당산역 도보 3분 초역세권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올림픽대로 및 노들로 차량 2분 진입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4</a:t>
            </a:r>
            <a:endParaRPr lang="en-US" sz="900" dirty="0"/>
          </a:p>
        </p:txBody>
      </p:sp>
      <p:sp>
        <p:nvSpPr>
          <p:cNvPr id="13" name="Shape 10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Land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현황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토지이용계획 · 개별공시지가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준공업지역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용도지구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가열지구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 상한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60%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 상한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400%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개별공시지가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5,500,000원/㎡ (18,181,900원/평, 2024년)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1D4ED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2" name="Shape 20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3" name="Text 21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25" name="Shape 23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26" name="Shape 24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7" name="Text 25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29" name="Text 27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5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Building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토지 및 건물 제원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기준 제원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대지면적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345.20㎡ (104.42평)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1,141.15㎡ (345.20평)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8대 자주식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건폐율/용적률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건폐율 59.8% / 용적률 298.5%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1D4ED8"/>
            </a:solidFill>
            <a:prstDash val="solid"/>
          </a:ln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84287" y="1645920"/>
            <a:ext cx="3840480" cy="2926080"/>
          </a:xfrm>
          <a:prstGeom prst="rect">
            <a:avLst/>
          </a:prstGeom>
        </p:spPr>
      </p:pic>
      <p:sp>
        <p:nvSpPr>
          <p:cNvPr id="19" name="Shape 16"/>
          <p:cNvSpPr/>
          <p:nvPr/>
        </p:nvSpPr>
        <p:spPr>
          <a:xfrm>
            <a:off x="7784287" y="4709160"/>
            <a:ext cx="3840480" cy="1417320"/>
          </a:xfrm>
          <a:prstGeom prst="roundRect">
            <a:avLst>
              <a:gd name="adj" fmla="val 3871"/>
            </a:avLst>
          </a:prstGeom>
          <a:solidFill>
            <a:srgbClr val="DBEAFE"/>
          </a:solidFill>
          <a:ln/>
        </p:spPr>
      </p:sp>
      <p:sp>
        <p:nvSpPr>
          <p:cNvPr id="20" name="Shape 17"/>
          <p:cNvSpPr/>
          <p:nvPr/>
        </p:nvSpPr>
        <p:spPr>
          <a:xfrm>
            <a:off x="7784287" y="4764024"/>
            <a:ext cx="36576" cy="13075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Text 18"/>
          <p:cNvSpPr/>
          <p:nvPr/>
        </p:nvSpPr>
        <p:spPr>
          <a:xfrm>
            <a:off x="7967167" y="481888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자산 하이라이트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7967167" y="5038344"/>
            <a:ext cx="3511296" cy="10149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및 교통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상세 임대차 계약 내역은 원본 계약서 대조가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 구성 및 만기 분산 현황을 점검하였습니다</a:t>
            </a:r>
            <a:endParaRPr lang="en-US" sz="930" dirty="0"/>
          </a:p>
        </p:txBody>
      </p:sp>
      <p:sp>
        <p:nvSpPr>
          <p:cNvPr id="23" name="Text 2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6</a:t>
            </a:r>
            <a:endParaRPr lang="en-US" sz="900" dirty="0"/>
          </a:p>
        </p:txBody>
      </p:sp>
      <p:sp>
        <p:nvSpPr>
          <p:cNvPr id="24" name="Shape 2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Rent Roll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현황 (Rent Roll)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1442327"/>
                <a:gridCol w="2403878"/>
                <a:gridCol w="2403878"/>
                <a:gridCol w="2403878"/>
                <a:gridCol w="2403878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층수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임차인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보증금(원)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월차임(원)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계약만기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B1F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직영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카페/창고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자가사용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연세의원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본관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(그룹B)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140,000,000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8,830,000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2027-04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연세의원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별관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(그룹B)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2027-04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1F일부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온누리약국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(그룹A)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60,000,000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1,830,000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2026-10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바디짐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헬스클럽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4,550,000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2028-01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4F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전통주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보틀샵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30,000,000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2,600,000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2025-04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5F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밝은이비인후과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1,650,000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2026-08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합계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총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8개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구획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290,000,000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19,460,000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공실률 </a:t>
                      </a:r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0%</a:t>
                      </a:r>
                      <a:endParaRPr lang="en-US" sz="11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7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Stability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임대안정성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실측 렌트롤 상세 분석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B1F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직영 카페/창고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연세의원 본관 (그룹B)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2F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연세의원 별관 (그룹B)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1F일부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온누리약국 (그룹A)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3F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바디짐 헬스클럽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4F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전통주 보틀샵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" y="405993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05993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5F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72968" y="40599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밝은이비인후과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" y="446227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4622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합계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172968" y="446227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 8개 구획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1D4E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31" name="Shape 2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2" name="Text 3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35" name="Shape 33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6" name="Text 34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8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Profit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수익성 및 현금흐름 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25880"/>
            <a:ext cx="110578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순영업소득 (NOI) 및 수익률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66928" y="1737360"/>
            <a:ext cx="11057839" cy="0"/>
          </a:xfrm>
          <a:prstGeom prst="line">
            <a:avLst/>
          </a:prstGeom>
          <a:noFill/>
          <a:ln w="19050">
            <a:solidFill>
              <a:srgbClr val="1D4E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3152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연간 총임대료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233,520,000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31520" y="264261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월 1,946만 원 × 12개월</a:t>
            </a:r>
            <a:endParaRPr lang="en-US" sz="880" dirty="0"/>
          </a:p>
        </p:txBody>
      </p:sp>
      <p:sp>
        <p:nvSpPr>
          <p:cNvPr id="11" name="Shape 9"/>
          <p:cNvSpPr/>
          <p:nvPr/>
        </p:nvSpPr>
        <p:spPr>
          <a:xfrm>
            <a:off x="4307738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72330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운영비용 (OPEX)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472330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21,500,000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4472330" y="264261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실질 관리비 및 유지보수비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8048549" y="1965960"/>
            <a:ext cx="3576218" cy="1188720"/>
          </a:xfrm>
          <a:prstGeom prst="roundRect">
            <a:avLst>
              <a:gd name="adj" fmla="val 4615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213141" y="2093976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순영업소득 (NOI)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8213141" y="2313432"/>
            <a:ext cx="324703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212,020,000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8213141" y="2642616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총수익 - 운영비용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566928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31520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실질 투자금액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731520" y="3666744"/>
            <a:ext cx="324703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11,210,000,000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731520" y="3995928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매매가 115억 - 보증금 2.9억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4307738" y="3319272"/>
            <a:ext cx="3576218" cy="1051560"/>
          </a:xfrm>
          <a:prstGeom prst="roundRect">
            <a:avLst>
              <a:gd name="adj" fmla="val 5217"/>
            </a:avLst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72330" y="3447288"/>
            <a:ext cx="324703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4472330" y="3666744"/>
            <a:ext cx="3247034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5.33%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4472330" y="3995928"/>
            <a:ext cx="324703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NOI / 실질매입원가</a:t>
            </a:r>
            <a:endParaRPr lang="en-US" sz="880" dirty="0"/>
          </a:p>
        </p:txBody>
      </p:sp>
      <p:sp>
        <p:nvSpPr>
          <p:cNvPr id="27" name="Text 25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9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Comps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인근 거래 사례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7839" cy="914400"/>
        </p:xfrm>
        <a:graphic>
          <a:graphicData uri="http://schemas.openxmlformats.org/drawingml/2006/table">
            <a:tbl>
              <a:tblPr/>
              <a:tblGrid>
                <a:gridCol w="3685946"/>
                <a:gridCol w="3685946"/>
                <a:gridCol w="3685946"/>
              </a:tblGrid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항목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금액(원)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산출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64748B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기준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연간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총임대료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233,520,000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월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1,946만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원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×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12개월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운영비용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(OPEX)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21,500,000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관리비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및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유지보수비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순영업소득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(NOI)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212,020,000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총수익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운영비용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실질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투자금액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11,210,000,000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매매가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115억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-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보증금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2.9억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연 </a:t>
                      </a:r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순수익률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5.33%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NOI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/ </a:t>
                      </a:r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0F172A"/>
                          </a:solidFill>
                          <a:latin typeface="Pretendard" pitchFamily="34" charset="0"/>
                          <a:ea typeface="Pretendard" pitchFamily="34" charset="-122"/>
                          <a:cs typeface="Pretendard" pitchFamily="34" charset="-120"/>
                        </a:rPr>
                        <a:t>실질매입원가</a:t>
                      </a:r>
                      <a:endParaRPr lang="en-US" sz="1300" dirty="0">
                        <a:latin typeface="Pretendard" charset="0"/>
                        <a:ea typeface="Pretendard" charset="0"/>
                        <a:cs typeface="Pretendard" charset="0"/>
                      </a:endParaRPr>
                    </a:p>
                  </a:txBody>
                  <a:tcPr marL="50800" marR="50800" marT="25400" marB="25400" anchor="ctr">
                    <a:lnL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10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78638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 Thesis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투자 가치 제안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49808" y="950976"/>
            <a:ext cx="1087495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Value Proposition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566928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66928" y="1481328"/>
            <a:ext cx="3472586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Shape 6"/>
          <p:cNvSpPr/>
          <p:nvPr/>
        </p:nvSpPr>
        <p:spPr>
          <a:xfrm>
            <a:off x="795528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9" name="Text 7"/>
          <p:cNvSpPr/>
          <p:nvPr/>
        </p:nvSpPr>
        <p:spPr>
          <a:xfrm>
            <a:off x="795528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95528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초역세권 대로변 코너 입지 프리미엄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95528" y="2624328"/>
            <a:ext cx="3015386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5528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초역세권 대로변 코너 입지 프리미엄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359554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359554" y="1481328"/>
            <a:ext cx="3472586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5" name="Shape 13"/>
          <p:cNvSpPr/>
          <p:nvPr/>
        </p:nvSpPr>
        <p:spPr>
          <a:xfrm>
            <a:off x="4588154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16" name="Text 14"/>
          <p:cNvSpPr/>
          <p:nvPr/>
        </p:nvSpPr>
        <p:spPr>
          <a:xfrm>
            <a:off x="4588154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588154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1~2층 메디컬 앵커 테넌트 장기 임차로 공실 리스크 완전 차단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88154" y="2624328"/>
            <a:ext cx="3015386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88154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1~2층 메디컬 앵커 테넌트 장기 임차로 공실 리스크 완전 차단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8152181" y="1481328"/>
            <a:ext cx="3472586" cy="3474720"/>
          </a:xfrm>
          <a:prstGeom prst="roundRect">
            <a:avLst>
              <a:gd name="adj" fmla="val 2107"/>
            </a:avLst>
          </a:prstGeom>
          <a:solidFill>
            <a:srgbClr val="F8FAFC"/>
          </a:solidFill>
          <a:ln w="10160">
            <a:solidFill>
              <a:srgbClr val="CBD5E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152181" y="1481328"/>
            <a:ext cx="3472586" cy="54864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2" name="Shape 20"/>
          <p:cNvSpPr/>
          <p:nvPr/>
        </p:nvSpPr>
        <p:spPr>
          <a:xfrm>
            <a:off x="8380781" y="1755648"/>
            <a:ext cx="475488" cy="292608"/>
          </a:xfrm>
          <a:prstGeom prst="roundRect">
            <a:avLst>
              <a:gd name="adj" fmla="val 12500"/>
            </a:avLst>
          </a:prstGeom>
          <a:solidFill>
            <a:srgbClr val="3B82F6"/>
          </a:solidFill>
          <a:ln/>
        </p:spPr>
      </p:sp>
      <p:sp>
        <p:nvSpPr>
          <p:cNvPr id="23" name="Text 21"/>
          <p:cNvSpPr/>
          <p:nvPr/>
        </p:nvSpPr>
        <p:spPr>
          <a:xfrm>
            <a:off x="8380781" y="1755648"/>
            <a:ext cx="47548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380781" y="2194560"/>
            <a:ext cx="301538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 5.33% 달성 및 밸류애드 기회 확보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8380781" y="2624328"/>
            <a:ext cx="3015386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380781" y="2779776"/>
            <a:ext cx="301538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2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 순수익률 5.33% 달성 및 밸류애드 기회 확보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566928" y="5138928"/>
            <a:ext cx="11057839" cy="804672"/>
          </a:xfrm>
          <a:prstGeom prst="roundRect">
            <a:avLst>
              <a:gd name="adj" fmla="val 6818"/>
            </a:avLst>
          </a:prstGeom>
          <a:solidFill>
            <a:srgbClr val="EFF6FF"/>
          </a:solidFill>
          <a:ln w="10160">
            <a:solidFill>
              <a:srgbClr val="3B82F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49808" y="5248656"/>
            <a:ext cx="1691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종합 가치 제안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2487168" y="5212080"/>
            <a:ext cx="8954719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자산에 대한 상세 분석 및 투자 의사결정은 원본 임대차 계약서 및 공부상 권리관계 실사를 바탕으로 진행됩니다.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11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 Risk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권리관계 및 리스크 체크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17320"/>
            <a:ext cx="11057839" cy="36576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417320"/>
            <a:ext cx="11057839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417320"/>
            <a:ext cx="11057839" cy="457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95528" y="1618488"/>
            <a:ext cx="1060063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40A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 및 권리 분석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795528" y="1947672"/>
            <a:ext cx="1060063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확인 필요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795528" y="2377440"/>
            <a:ext cx="10600639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>
              <a:lnSpc>
                <a:spcPct val="125000"/>
              </a:lnSpc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소유권: 개인 2인 공동소유 (매각 동의 완료)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근저당권: 채권최고액 42억 원 설정 (잔금 시 전액 말소 조건)</a:t>
            </a:r>
            <a:endParaRPr lang="en-US" sz="1100" dirty="0"/>
          </a:p>
          <a:p>
            <a:pPr marL="342900" indent="-342900">
              <a:lnSpc>
                <a:spcPct val="125000"/>
              </a:lnSpc>
              <a:spcBef>
                <a:spcPts val="600"/>
              </a:spcBef>
              <a:buSzPct val="100000"/>
              <a:buChar char="•"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위반건축물: 건축물대장상 위반건축물 표기 없음 (적법 건물)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66928" y="5193792"/>
            <a:ext cx="11057839" cy="621792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66928" y="5193792"/>
            <a:ext cx="11057839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795528" y="5193792"/>
            <a:ext cx="10600639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※ 본 리스크 체크는 공부 및 브로커 확인 기반이며, 매수 전 전문 실사팀(변호사/건축사)을 통한 정밀 실사가 필요합니다.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12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 Process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매수 진행 절차 및 타임라인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66928" y="1572768"/>
            <a:ext cx="3442106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7" name="Shape 5"/>
          <p:cNvSpPr/>
          <p:nvPr/>
        </p:nvSpPr>
        <p:spPr>
          <a:xfrm>
            <a:off x="786384" y="1792224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786384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786384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1단계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86384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LOI (매수의향서) 접수 및 세부 실사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100474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374794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74794" y="1572768"/>
            <a:ext cx="3442106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Shape 12"/>
          <p:cNvSpPr/>
          <p:nvPr/>
        </p:nvSpPr>
        <p:spPr>
          <a:xfrm>
            <a:off x="4594250" y="1792224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5" name="Text 13"/>
          <p:cNvSpPr/>
          <p:nvPr/>
        </p:nvSpPr>
        <p:spPr>
          <a:xfrm>
            <a:off x="4594250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94250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2단계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594250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매매계약 체결 (계약금 10%)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908341" y="3035808"/>
            <a:ext cx="182880" cy="274320"/>
          </a:xfrm>
          <a:prstGeom prst="rightArrow">
            <a:avLst/>
          </a:prstGeom>
          <a:solidFill>
            <a:srgbClr val="CBD5E1"/>
          </a:solidFill>
          <a:ln w="6350">
            <a:solidFill>
              <a:srgbClr val="64748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182661" y="1572768"/>
            <a:ext cx="3442106" cy="3200400"/>
          </a:xfrm>
          <a:prstGeom prst="rect">
            <a:avLst/>
          </a:prstGeom>
          <a:solidFill>
            <a:srgbClr val="F8FAFC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182661" y="1572768"/>
            <a:ext cx="3442106" cy="36576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1" name="Shape 19"/>
          <p:cNvSpPr/>
          <p:nvPr/>
        </p:nvSpPr>
        <p:spPr>
          <a:xfrm>
            <a:off x="8402117" y="1792224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22" name="Text 20"/>
          <p:cNvSpPr/>
          <p:nvPr/>
        </p:nvSpPr>
        <p:spPr>
          <a:xfrm>
            <a:off x="8402117" y="1792224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02117" y="2304288"/>
            <a:ext cx="300319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3단계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402117" y="2761488"/>
            <a:ext cx="3003194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근저당 말소 확인 및 잔금 지급 (명도 확약 이행)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13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 Closing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표기 기준 및 면책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566928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6" name="Shape 4"/>
          <p:cNvSpPr/>
          <p:nvPr/>
        </p:nvSpPr>
        <p:spPr>
          <a:xfrm>
            <a:off x="676656" y="1572768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7" name="Text 5"/>
          <p:cNvSpPr/>
          <p:nvPr/>
        </p:nvSpPr>
        <p:spPr>
          <a:xfrm>
            <a:off x="676656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25296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관심 표명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25296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담당 중개사에게 초기 관심 표명 및 상담 요청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55338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301642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2" name="Shape 10"/>
          <p:cNvSpPr/>
          <p:nvPr/>
        </p:nvSpPr>
        <p:spPr>
          <a:xfrm>
            <a:off x="4411370" y="1572768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3" name="Text 11"/>
          <p:cNvSpPr/>
          <p:nvPr/>
        </p:nvSpPr>
        <p:spPr>
          <a:xfrm>
            <a:off x="4411370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960010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NDA 체결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960010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비밀유지계약 후 상세 임대차·재무 자료 제공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7890053" y="1600200"/>
            <a:ext cx="1463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36357" y="1463040"/>
            <a:ext cx="3588410" cy="658368"/>
          </a:xfrm>
          <a:prstGeom prst="roundRect">
            <a:avLst>
              <a:gd name="adj" fmla="val 5556"/>
            </a:avLst>
          </a:prstGeom>
          <a:solidFill>
            <a:srgbClr val="334155"/>
          </a:solidFill>
          <a:ln/>
        </p:spPr>
      </p:sp>
      <p:sp>
        <p:nvSpPr>
          <p:cNvPr id="18" name="Shape 16"/>
          <p:cNvSpPr/>
          <p:nvPr/>
        </p:nvSpPr>
        <p:spPr>
          <a:xfrm>
            <a:off x="8146085" y="1572768"/>
            <a:ext cx="438912" cy="438912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9" name="Text 17"/>
          <p:cNvSpPr/>
          <p:nvPr/>
        </p:nvSpPr>
        <p:spPr>
          <a:xfrm>
            <a:off x="8146085" y="1572768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8694725" y="1554480"/>
            <a:ext cx="282031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현장 실사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694725" y="1792224"/>
            <a:ext cx="282031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건물 컨디션 및 설비 직접 확인 후 의향서(LOI) 제출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66928" y="2395728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데이터 출처 표기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66928" y="2724912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4" name="Text 22"/>
          <p:cNvSpPr/>
          <p:nvPr/>
        </p:nvSpPr>
        <p:spPr>
          <a:xfrm>
            <a:off x="566928" y="2724912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✓ 공부확인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93392" y="2706624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등기부·대장 등 공적 장부 직접 확인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566928" y="3200400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3200400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★ 전문가검증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993392" y="3182112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세무사·감정평가사 등 전문가 확인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6928" y="3675888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0" name="Text 28"/>
          <p:cNvSpPr/>
          <p:nvPr/>
        </p:nvSpPr>
        <p:spPr>
          <a:xfrm>
            <a:off x="566928" y="3675888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▲ 매도인고지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993392" y="3657600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매도인이 구두 또는 서면으로 고지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566928" y="4151376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3" name="Text 31"/>
          <p:cNvSpPr/>
          <p:nvPr/>
        </p:nvSpPr>
        <p:spPr>
          <a:xfrm>
            <a:off x="566928" y="4151376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● 중개인입력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993392" y="4133088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중개인 현장 조사 및 경험 기반 입력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566928" y="4626864"/>
            <a:ext cx="1280160" cy="292608"/>
          </a:xfrm>
          <a:prstGeom prst="roundRect">
            <a:avLst>
              <a:gd name="adj" fmla="val 12500"/>
            </a:avLst>
          </a:prstGeom>
          <a:solidFill>
            <a:srgbClr val="334155"/>
          </a:solidFill>
          <a:ln/>
        </p:spPr>
      </p:sp>
      <p:sp>
        <p:nvSpPr>
          <p:cNvPr id="36" name="Text 34"/>
          <p:cNvSpPr/>
          <p:nvPr/>
        </p:nvSpPr>
        <p:spPr>
          <a:xfrm>
            <a:off x="566928" y="462686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◇ AI추정·가정</a:t>
            </a:r>
            <a:endParaRPr lang="en-US" sz="900" dirty="0"/>
          </a:p>
        </p:txBody>
      </p:sp>
      <p:sp>
        <p:nvSpPr>
          <p:cNvPr id="37" name="Text 35"/>
          <p:cNvSpPr/>
          <p:nvPr/>
        </p:nvSpPr>
        <p:spPr>
          <a:xfrm>
            <a:off x="1993392" y="4608576"/>
            <a:ext cx="38404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8FAF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시나리오 분석 및 AI 모델 추정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92240" y="2395728"/>
            <a:ext cx="51297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면책 조항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492240" y="2724912"/>
            <a:ext cx="5129784" cy="1645920"/>
          </a:xfrm>
          <a:prstGeom prst="roundRect">
            <a:avLst>
              <a:gd name="adj" fmla="val 2222"/>
            </a:avLst>
          </a:prstGeom>
          <a:solidFill>
            <a:srgbClr val="1E293B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834640"/>
            <a:ext cx="4764024" cy="14264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자료는 투자 권유가 아니며, 기재된 정보의 정확성을 보증하지 않습니다.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566928" y="5760720"/>
            <a:ext cx="11057839" cy="457200"/>
          </a:xfrm>
          <a:prstGeom prst="rect">
            <a:avLst/>
          </a:prstGeom>
          <a:solidFill>
            <a:srgbClr val="1E40AF"/>
          </a:solidFill>
          <a:ln/>
        </p:spPr>
      </p:sp>
      <p:sp>
        <p:nvSpPr>
          <p:cNvPr id="42" name="Text 40"/>
          <p:cNvSpPr/>
          <p:nvPr/>
        </p:nvSpPr>
        <p:spPr>
          <a:xfrm>
            <a:off x="749808" y="5806440"/>
            <a:ext cx="10692079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BEAFE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본 자료의 모든 수치는 예비 검토용이며, 상세 실사 자료 및 비밀 상담은 담당 전문 중개사를 통해 제공됩니다.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14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  Records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공부 발췌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건축물대장 표제부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주용도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제1종·제2종 근린생활시설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구조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철근콘크리트구조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연면적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1,141.15㎡ (345.2평)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건축면적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206.4㎡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승강기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1대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주차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8대 (자주식 0 / 기계식 0)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1D4ED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25" name="Shape 23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6" name="Text 24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28" name="Shape 26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29" name="Shape 27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0" name="Text 28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32" name="Text 30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15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  Cadastral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지적도</a:t>
            </a:r>
            <a:endParaRPr lang="en-US" sz="22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481328"/>
            <a:ext cx="5120640" cy="41148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053328" y="1481328"/>
            <a:ext cx="5571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연속지적도 (V-World)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6053328" y="1801368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용도지역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170475" y="1801368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준공업지역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053328" y="2295144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53328" y="2295144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용도지구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170475" y="2295144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가열지구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6053328" y="2788920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53328" y="2788920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건폐율 상한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8170475" y="2788920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60%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6053328" y="3282696"/>
            <a:ext cx="5571439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53328" y="3282696"/>
            <a:ext cx="2117147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법정 용적률 상한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170475" y="3282696"/>
            <a:ext cx="3454292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400%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053328" y="4005072"/>
            <a:ext cx="557143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94A3B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© V-World 국토교통부 | 2026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16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384048"/>
            <a:ext cx="45720" cy="566928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" name="Text 1"/>
          <p:cNvSpPr/>
          <p:nvPr/>
        </p:nvSpPr>
        <p:spPr>
          <a:xfrm>
            <a:off x="749808" y="384048"/>
            <a:ext cx="10874959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1D4ED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  District</a:t>
            </a:r>
            <a:endParaRPr lang="en-US" sz="950" dirty="0"/>
          </a:p>
        </p:txBody>
      </p:sp>
      <p:sp>
        <p:nvSpPr>
          <p:cNvPr id="4" name="Text 2"/>
          <p:cNvSpPr/>
          <p:nvPr/>
        </p:nvSpPr>
        <p:spPr>
          <a:xfrm>
            <a:off x="749808" y="566928"/>
            <a:ext cx="10874959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 분석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66928" y="1371600"/>
            <a:ext cx="6858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소상공인 상권 분석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64592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172968" y="164592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당산역 역세권 상권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66928" y="204825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66928" y="204825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상권유형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172968" y="204825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역세권/발달상권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66928" y="245059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245059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주요업종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172968" y="245059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의료/클리닉/F&amp;B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66928" y="2852928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66928" y="2852928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유동인구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3172968" y="2852928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42,500명/일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66928" y="3255264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66928" y="3255264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매출지수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172968" y="3255264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128.5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66928" y="3657600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3657600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점포수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72968" y="3657600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145개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66928" y="4059936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059936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개업률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3172968" y="4059936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4.2%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566928" y="4462272"/>
            <a:ext cx="6858000" cy="0"/>
          </a:xfrm>
          <a:prstGeom prst="line">
            <a:avLst/>
          </a:prstGeom>
          <a:noFill/>
          <a:ln w="381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4462272"/>
            <a:ext cx="26060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폐업률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172968" y="4462272"/>
            <a:ext cx="42519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400" b="1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1.8%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7604608" y="1371600"/>
            <a:ext cx="0" cy="4754880"/>
          </a:xfrm>
          <a:prstGeom prst="line">
            <a:avLst/>
          </a:prstGeom>
          <a:noFill/>
          <a:ln w="8890">
            <a:solidFill>
              <a:srgbClr val="1D4ED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784287" y="1645920"/>
            <a:ext cx="3840480" cy="2103120"/>
          </a:xfrm>
          <a:prstGeom prst="roundRect">
            <a:avLst>
              <a:gd name="adj" fmla="val 2609"/>
            </a:avLst>
          </a:prstGeom>
          <a:solidFill>
            <a:srgbClr val="DBEAFE"/>
          </a:solidFill>
          <a:ln/>
        </p:spPr>
      </p:sp>
      <p:sp>
        <p:nvSpPr>
          <p:cNvPr id="31" name="Shape 29"/>
          <p:cNvSpPr/>
          <p:nvPr/>
        </p:nvSpPr>
        <p:spPr>
          <a:xfrm>
            <a:off x="7784287" y="1700784"/>
            <a:ext cx="36576" cy="199339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2" name="Text 30"/>
          <p:cNvSpPr/>
          <p:nvPr/>
        </p:nvSpPr>
        <p:spPr>
          <a:xfrm>
            <a:off x="7967167" y="175564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입지 및 권리관계 실사 포인트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7967167" y="1975104"/>
            <a:ext cx="3511296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물건 접면 도로 폭 및 진출입 여건은 현장 실사 확인 사항입니다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등기부등본상 권리관계 및 제한물권 설정 여부를 확인하였습니다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지구단위계획 및 토지이용계획상 허용 용도를 검토하였습니다</a:t>
            </a:r>
            <a:endParaRPr lang="en-US" sz="930" dirty="0"/>
          </a:p>
        </p:txBody>
      </p:sp>
      <p:sp>
        <p:nvSpPr>
          <p:cNvPr id="34" name="Shape 32"/>
          <p:cNvSpPr/>
          <p:nvPr/>
        </p:nvSpPr>
        <p:spPr>
          <a:xfrm>
            <a:off x="7784287" y="3977640"/>
            <a:ext cx="3840480" cy="2148840"/>
          </a:xfrm>
          <a:prstGeom prst="roundRect">
            <a:avLst>
              <a:gd name="adj" fmla="val 2553"/>
            </a:avLst>
          </a:prstGeom>
          <a:solidFill>
            <a:srgbClr val="DBEAFE"/>
          </a:solidFill>
          <a:ln/>
        </p:spPr>
      </p:sp>
      <p:sp>
        <p:nvSpPr>
          <p:cNvPr id="35" name="Shape 33"/>
          <p:cNvSpPr/>
          <p:nvPr/>
        </p:nvSpPr>
        <p:spPr>
          <a:xfrm>
            <a:off x="7784287" y="4032504"/>
            <a:ext cx="36576" cy="2039112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36" name="Text 34"/>
          <p:cNvSpPr/>
          <p:nvPr/>
        </p:nvSpPr>
        <p:spPr>
          <a:xfrm>
            <a:off x="7967167" y="4087368"/>
            <a:ext cx="35112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D4ED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임대차 및 운용 관리 상태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7967167" y="4306824"/>
            <a:ext cx="3511296" cy="1746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주요 임차인별 계약 만기 분산 및 렌트롤 실사가 필요합니다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관리비 정산 내역 및 수선유지비 집행 이력을 점검하였습니다</a:t>
            </a:r>
            <a:endParaRPr lang="en-US" sz="930" dirty="0"/>
          </a:p>
          <a:p>
            <a:pPr marL="342900" indent="-342900">
              <a:lnSpc>
                <a:spcPct val="120000"/>
              </a:lnSpc>
              <a:buSzPct val="100000"/>
              <a:buChar char="•"/>
            </a:pPr>
            <a:r>
              <a:rPr lang="en-US" sz="930" dirty="0">
                <a:solidFill>
                  <a:srgbClr val="0F172A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취득세 감면 및 대출 조달 구조는 금융·세무 자문 후 확정됩니다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566928" y="6419088"/>
            <a:ext cx="11057839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크리딜  ·    ·  17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437172" y="6382512"/>
            <a:ext cx="3317352" cy="0"/>
          </a:xfrm>
          <a:prstGeom prst="line">
            <a:avLst/>
          </a:prstGeom>
          <a:noFill/>
          <a:ln w="6350">
            <a:solidFill>
              <a:srgbClr val="1D4ED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2026-09-04T00:33:37Z</dcterms:created>
  <dcterms:modified xsi:type="dcterms:W3CDTF">2026-09-04T00:33:37Z</dcterms:modified>
</cp:coreProperties>
</file>