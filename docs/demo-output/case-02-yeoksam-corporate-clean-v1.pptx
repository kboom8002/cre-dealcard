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71600" y="1097280"/>
            <a:ext cx="9445752" cy="4663440"/>
          </a:xfrm>
          <a:prstGeom prst="roundRect">
            <a:avLst>
              <a:gd name="adj" fmla="val 2353"/>
            </a:avLst>
          </a:prstGeom>
          <a:solidFill>
            <a:srgbClr val="334155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371600" y="1097280"/>
            <a:ext cx="9445752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2"/>
          <p:cNvSpPr/>
          <p:nvPr/>
        </p:nvSpPr>
        <p:spPr>
          <a:xfrm>
            <a:off x="566928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92024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92024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테헤란로 이면 단독 사옥 빌딩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1920240" y="2615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owner_occupied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920240" y="3108960"/>
            <a:ext cx="2414016" cy="310896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/>
        </p:spPr>
      </p:sp>
      <p:sp>
        <p:nvSpPr>
          <p:cNvPr id="10" name="Text 7"/>
          <p:cNvSpPr/>
          <p:nvPr/>
        </p:nvSpPr>
        <p:spPr>
          <a:xfrm>
            <a:off x="1920240" y="3108960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owner_occupied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443984" y="310896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/>
        </p:spPr>
      </p:sp>
      <p:sp>
        <p:nvSpPr>
          <p:cNvPr id="12" name="Text 9"/>
          <p:cNvSpPr/>
          <p:nvPr/>
        </p:nvSpPr>
        <p:spPr>
          <a:xfrm>
            <a:off x="4443984" y="31089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120억원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920240" y="3749040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04785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76272" y="3950208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1FA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120억원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Leasable Space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층별 전용 임대공간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234440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34440"/>
            <a:ext cx="5464912" cy="22905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3232404"/>
            <a:ext cx="546491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76656" y="3232404"/>
            <a:ext cx="524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테헤란로 이면 단독 사옥 외관 (기업 단독 브랜딩 및 간판 설치 가능)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159856" y="1234440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59856" y="1234440"/>
            <a:ext cx="5464912" cy="22905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59856" y="3232404"/>
            <a:ext cx="546491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6269584" y="3232404"/>
            <a:ext cx="524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 안내 데스크 및 VIP 접견 라운지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66928" y="3653028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6928" y="3653028"/>
            <a:ext cx="5464912" cy="229057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66928" y="5650992"/>
            <a:ext cx="546491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676656" y="5650992"/>
            <a:ext cx="524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2~4층 IT 연구개발 및 오픈 워크스페이스 공간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6159856" y="3653028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59856" y="3653028"/>
            <a:ext cx="5464912" cy="229057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159856" y="5650992"/>
            <a:ext cx="546491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1" name="Text 15"/>
          <p:cNvSpPr/>
          <p:nvPr/>
        </p:nvSpPr>
        <p:spPr>
          <a:xfrm>
            <a:off x="6269584" y="5650992"/>
            <a:ext cx="524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5층 대회의실 및 테라스 휴게 라운지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247.90㎡ (74.99평)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7710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170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41700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760.33㎡ (230.00평)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8728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188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규모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1880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 ~ 지상 5층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997467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62059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승강기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62059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현대엘리베이터 1대 (13인승)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66928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주차대수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1520" y="318211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6대 (자주식 필로티)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66928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" y="4636008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" y="4745736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" y="474573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07008" y="4709160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2021년 준공된 신축급 올근생 업무시설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사옥 접근성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 테헤란로 비즈니스 인프라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557143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역삼역(2호선) 도보 5분, 강남역 도보 10분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2295144"/>
            <a:ext cx="557143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테헤란로 대기업 및 IT 밸리 배후 중심지 위치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 · 개별공시지가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제2종일반주거지역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건폐율 상한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60%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용적률 상한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200%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개별공시지가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18,500,000원/㎡ (61,157,300원/평, 2024년)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20" name="Shape 18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권리관계 실사 포인트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폭 및 진출입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등기부등본상 권리관계 및 제한물권 설정 여부를 확인하였습니다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지구단위계획 및 토지이용계획상 허용 용도를 검토하였습니다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24" name="Shape 22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관리 상태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임차인별 계약 만기 분산 및 렌트롤 실사가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정산 내역 및 수선유지비 집행 이력을 점검하였습니다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감면 및 대출 조달 구조는 금융·세무 자문 후 확정됩니다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 건물 제원 및 공간 구성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단독 사옥 건축 개요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247.90㎡ (74.99평)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760.33㎡ (230.00평)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규모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 ~ 지상 5층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승강기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현대엘리베이터 1대 (13인승)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66928" y="3401568"/>
            <a:ext cx="68580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401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주차대수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172968" y="340156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6대 (자주식 필로티)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84287" y="1645920"/>
            <a:ext cx="3840480" cy="292608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7784287" y="470916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DBEAFE"/>
          </a:solidFill>
          <a:ln/>
        </p:spPr>
      </p:sp>
      <p:sp>
        <p:nvSpPr>
          <p:cNvPr id="24" name="Shape 21"/>
          <p:cNvSpPr/>
          <p:nvPr/>
        </p:nvSpPr>
        <p:spPr>
          <a:xfrm>
            <a:off x="7784287" y="4764024"/>
            <a:ext cx="36576" cy="1307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7967167" y="481888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967167" y="5038344"/>
            <a:ext cx="351129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2021년 준공된 신축급 올근생 업무시설</a:t>
            </a:r>
            <a:endParaRPr lang="en-US" sz="930" dirty="0"/>
          </a:p>
        </p:txBody>
      </p:sp>
      <p:sp>
        <p:nvSpPr>
          <p:cNvPr id="27" name="Text 24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 공간 배치 및 활용 계획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층별 직영 활용 방안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로비 및 고객 접견실, 쇼룸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2~4층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및 사업 부서 업무 공간 (층당 40평)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5층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임원실 및 대회의실, 테라스 라운지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스튜디오 및 사내 복지 피트니스 공간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84287" y="1645920"/>
            <a:ext cx="3840480" cy="292608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7784287" y="470916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DBEAFE"/>
          </a:solidFill>
          <a:ln/>
        </p:spPr>
      </p:sp>
      <p:sp>
        <p:nvSpPr>
          <p:cNvPr id="21" name="Shape 18"/>
          <p:cNvSpPr/>
          <p:nvPr/>
        </p:nvSpPr>
        <p:spPr>
          <a:xfrm>
            <a:off x="7784287" y="4764024"/>
            <a:ext cx="36576" cy="1307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19"/>
          <p:cNvSpPr/>
          <p:nvPr/>
        </p:nvSpPr>
        <p:spPr>
          <a:xfrm>
            <a:off x="7967167" y="481888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967167" y="5038344"/>
            <a:ext cx="351129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및 교통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임대차 계약 내역은 원본 계약서 대조가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 구성 및 만기 분산 현황을 점검하였습니다</a:t>
            </a:r>
            <a:endParaRPr lang="en-US" sz="930" dirty="0"/>
          </a:p>
        </p:txBody>
      </p:sp>
      <p:sp>
        <p:nvSpPr>
          <p:cNvPr id="24" name="Text 21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Lease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vsLease: 사옥 매입 대 임차 TCO 비교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1737360"/>
            <a:ext cx="4123944" cy="1920240"/>
          </a:xfrm>
          <a:prstGeom prst="roundRect">
            <a:avLst>
              <a:gd name="adj" fmla="val 2857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0" y="1792224"/>
            <a:ext cx="36576" cy="18105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0" y="184708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사업비 투입 핵심 구조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80960" y="2066544"/>
            <a:ext cx="37947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테헤란로 프라임 오피스 전용 150평 임차 시 연간 임대료 및 관리비 6.2억 원 소요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총취득원가 126.6억 원 투자 시, 감가상각 및 자산가치 상승 감안 시 5년 차 손익분기점 통과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Commute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통근 및 접근성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층별 직영 활용 방안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로비 및 고객 접견실, 쇼룸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2~4층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및 사업 부서 업무 공간 (층당 40평)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5층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임원실 및 대회의실, 테라스 라운지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53328" y="3282696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3282696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170475" y="3282696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스튜디오 및 사내 복지 피트니스 공간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자산가치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7개년 누적 비용 비교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테헤란로 프라임 오피스 전용 150평 임차 시 연간 임대료 및 관리비 6.2억 원 소요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84832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총취득원가 126.6억 원 투자 시, 감가상각 및 자산가치 상승 감안 시 5년 차 손익분기점 통과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권리관계 실사 포인트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폭 및 진출입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등기부등본상 권리관계 및 제한물권 설정 여부를 확인하였습니다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지구단위계획 및 토지이용계획상 허용 용도를 검토하였습니다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관리 상태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임차인별 계약 만기 분산 및 렌트롤 실사가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정산 내역 및 수선유지비 집행 이력을 점검하였습니다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감면 및 대출 조달 구조는 금융·세무 자문 후 확정됩니다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및 자본 조달 구조 분석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5391760" cy="43891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총취득원가 및 자기자본 소요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5528" y="201168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 (A)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70661" y="201168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120.0억 원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" y="2487168"/>
            <a:ext cx="493456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48716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(4.6% 법정)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70661" y="248716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5.52억 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" y="2962656"/>
            <a:ext cx="493456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962656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중개보수 (0.9% 한도)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70661" y="2962656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1.08억 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" y="3438144"/>
            <a:ext cx="493456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438144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총취득원가 (A + 세/비용)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70661" y="3438144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126.6억 원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5528" y="3913632"/>
            <a:ext cx="493456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913632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임대보증금 승계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670661" y="3913632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6.0억 원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95528" y="4389120"/>
            <a:ext cx="493456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438912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담보대출 조달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670661" y="438912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60.0억 원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5528" y="4864608"/>
            <a:ext cx="493456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486460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 (Net Equity)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670661" y="486460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60.6억 원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33008" y="1417320"/>
            <a:ext cx="5391760" cy="43891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646160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LTV 시나리오별 레버리지 효과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1608" y="2057400"/>
          <a:ext cx="4934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대출비율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실투자금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예상수익률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전액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(무차입)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120.6억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3.78%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보수적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(안정형)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72.6억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3.11%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(기본형)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60.6억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2.77%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적극적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(레버리지)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48.6억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2.27%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6461608" y="4069080"/>
            <a:ext cx="4934560" cy="1463040"/>
          </a:xfrm>
          <a:prstGeom prst="roundRect">
            <a:avLst>
              <a:gd name="adj" fmla="val 3750"/>
            </a:avLst>
          </a:prstGeom>
          <a:solidFill>
            <a:srgbClr val="FEF3C7"/>
          </a:solidFill>
          <a:ln/>
        </p:spPr>
      </p:sp>
      <p:sp>
        <p:nvSpPr>
          <p:cNvPr id="32" name="Shape 29"/>
          <p:cNvSpPr/>
          <p:nvPr/>
        </p:nvSpPr>
        <p:spPr>
          <a:xfrm>
            <a:off x="6461608" y="4123944"/>
            <a:ext cx="36576" cy="13533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0"/>
          <p:cNvSpPr/>
          <p:nvPr/>
        </p:nvSpPr>
        <p:spPr>
          <a:xfrm>
            <a:off x="6644488" y="4178808"/>
            <a:ext cx="460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역레버리지 유의 구간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644488" y="4398264"/>
            <a:ext cx="46053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차입 금리가 자산 총수익률을 상회하여 대출 실행 시 자기자본수익률이 하락할 수 있습니다. 에쿼티 비중 확대를 권장합니다.</a:t>
            </a:r>
            <a:endParaRPr lang="en-US" sz="930" dirty="0"/>
          </a:p>
        </p:txBody>
      </p:sp>
      <p:sp>
        <p:nvSpPr>
          <p:cNvPr id="35" name="Text 32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사옥 가치 제안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98755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Corporate Value Proposition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3472586" cy="3474720"/>
          </a:xfrm>
          <a:prstGeom prst="roundRect">
            <a:avLst>
              <a:gd name="adj" fmla="val 2107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481328"/>
            <a:ext cx="3472586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Shape 7"/>
          <p:cNvSpPr/>
          <p:nvPr/>
        </p:nvSpPr>
        <p:spPr>
          <a:xfrm>
            <a:off x="795528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5528" y="219456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 단독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5528" y="2624328"/>
            <a:ext cx="301538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779776"/>
            <a:ext cx="301538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 단독 명칭 표기(간판 설치권) 및 기업 단독 브랜딩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59554" y="1481328"/>
            <a:ext cx="3472586" cy="3474720"/>
          </a:xfrm>
          <a:prstGeom prst="roundRect">
            <a:avLst>
              <a:gd name="adj" fmla="val 2107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59554" y="1481328"/>
            <a:ext cx="3472586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Shape 14"/>
          <p:cNvSpPr/>
          <p:nvPr/>
        </p:nvSpPr>
        <p:spPr>
          <a:xfrm>
            <a:off x="4588154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4588154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88154" y="219456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인테리어 지원금(TI)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88154" y="2624328"/>
            <a:ext cx="301538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88154" y="2779776"/>
            <a:ext cx="301538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인테리어 지원금(TI) / 렌트프리(무상임대)(무상임대) 협의 불필요한 단독 소유권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52181" y="1481328"/>
            <a:ext cx="3472586" cy="3474720"/>
          </a:xfrm>
          <a:prstGeom prst="roundRect">
            <a:avLst>
              <a:gd name="adj" fmla="val 2107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52181" y="1481328"/>
            <a:ext cx="3472586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Shape 21"/>
          <p:cNvSpPr/>
          <p:nvPr/>
        </p:nvSpPr>
        <p:spPr>
          <a:xfrm>
            <a:off x="8380781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34D399"/>
          </a:solidFill>
          <a:ln/>
        </p:spPr>
      </p:sp>
      <p:sp>
        <p:nvSpPr>
          <p:cNvPr id="24" name="Text 22"/>
          <p:cNvSpPr/>
          <p:nvPr/>
        </p:nvSpPr>
        <p:spPr>
          <a:xfrm>
            <a:off x="8380781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80781" y="219456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 핵심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380781" y="2624328"/>
            <a:ext cx="301538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80781" y="2779776"/>
            <a:ext cx="301538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 핵심 업무권역 내 100억대 초반 희소한 단독 사옥 매물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5138928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D1FAE5"/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52486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487168" y="5212080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자산에 대한 상세 분석 및 투자 의사결정은 원본 임대차 계약서 및 공부상 권리관계 실사를 바탕으로 진행됩니다.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및 인허가 리스크 점검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11057839" cy="3657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417320"/>
            <a:ext cx="11057839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106006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조건 분석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10600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필요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10600639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 임차인 2개사 잔금 전 명도 확약서 징구 완료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소유주 직영 층 잔금 시 즉시 열쇠 인수 가능 (공실 리스크 0%)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5193792"/>
            <a:ext cx="11057839" cy="62179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및 확인 필요사항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안정성 확보를 위한 필수 법률·물리·임대차 실사 점검 항목 (총 6건)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19072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15568" y="1828800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갑구/을구 권리관계 및 근저당 채권최고액 전액 말소 조건 원본 대조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2715768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15568" y="2825496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원본 계약서 대조 (보증금, 월임대료, 관리비 실입금 내역 및 제소전화해조서)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3712464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" y="3822192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건축물대장상 위반건축물 등재 여부 및 불법 증축·용도변경 이행강제금 납부 이력 점검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55868" y="1719072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1" name="Text 19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04508" y="1828800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토지이용계획확인원상 도시계획시설 저촉, 건축선 후퇴, 지구단위계획 특별계획구역 확인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55868" y="2715768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5" name="Text 23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04508" y="2825496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기계식 주차기 정기 안전점검 합격증, 승강기 검사필증, 소방 완비증명서 실물 실사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55868" y="3712464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9" name="Text 27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04508" y="3822192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정화조 용량 대비 현 업종 적합성 및 하수도 원인자부담금 추가 부과 대상 여부 확인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6928" y="5760720"/>
            <a:ext cx="11057839" cy="5943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2" name="Text 30"/>
          <p:cNvSpPr/>
          <p:nvPr/>
        </p:nvSpPr>
        <p:spPr>
          <a:xfrm>
            <a:off x="749808" y="5833872"/>
            <a:ext cx="10692079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체크리스트는 계약 전 매수인의 안전한 자산 인수를 위한 필수 확인 사항이며, 실사(Due Diligence) 결과에 따라 매매 조건 및 잔금 일정이 조정될 수 있습니다.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 매입 추진 일정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11057839" cy="32004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106189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1061892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매매계약 체결 실사 및 명도 이행 점검 잔금 및 인테리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매매계약 체결 실사 및 명도 이행 점검 잔금 및 인테리어 착공 (계약 후 2개월 내 입주 완료)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58521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475569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475569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475569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475569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475569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475569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475569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475569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334155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자료의 모든 수치는 예비 검토용이며, 상세 실사 자료 및 비밀 상담은 담당 전문 중개사를 통해 제공됩니다.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공부 발췌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표제부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주용도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업무시설 / 근린생활시설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철근콘크리트구조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760.33㎡ (230.0평)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건축면적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148.7㎡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66928" y="3401568"/>
            <a:ext cx="68580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401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승강기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172968" y="340156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1대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66928" y="3840480"/>
            <a:ext cx="68580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84048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172968" y="384048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6대 (자주식 0 / 기계식 0)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26" name="Shape 24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권리관계 실사 포인트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폭 및 진출입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등기부등본상 권리관계 및 제한물권 설정 여부를 확인하였습니다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지구단위계획 및 토지이용계획상 허용 용도를 검토하였습니다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30" name="Shape 28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관리 상태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임차인별 계약 만기 분산 및 렌트롤 실사가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정산 내역 및 수선유지비 집행 이력을 점검하였습니다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감면 및 대출 조달 구조는 금융·세무 자문 후 확정됩니다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지적도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연속지적도 (V-World)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제2종일반주거지역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건폐율 상한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60%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용적률 상한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200%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53328" y="3282696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3282696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개별공시지가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170475" y="3282696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18,500,000원/㎡ (61,157,300원/평, 2024년)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053328" y="4005072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2026-09-04T01:21:09Z</dcterms:created>
  <dcterms:modified xsi:type="dcterms:W3CDTF">2026-09-04T01:21:09Z</dcterms:modified>
</cp:coreProperties>
</file>