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image" Target="../media/image-2-3.jpeg"/><Relationship Id="rId4" Type="http://schemas.openxmlformats.org/officeDocument/2006/relationships/image" Target="../media/image-2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0" y="0"/>
            <a:ext cx="44192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371600" y="1097280"/>
            <a:ext cx="9445752" cy="4663440"/>
          </a:xfrm>
          <a:prstGeom prst="roundRect">
            <a:avLst>
              <a:gd name="adj" fmla="val 2353"/>
            </a:avLst>
          </a:prstGeom>
          <a:solidFill>
            <a:srgbClr val="334155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371600" y="1097280"/>
            <a:ext cx="9445752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" name="Text 2"/>
          <p:cNvSpPr/>
          <p:nvPr/>
        </p:nvSpPr>
        <p:spPr>
          <a:xfrm>
            <a:off x="566928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920240" y="1554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MEMORANDUM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920240" y="18288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테헤란로 이면 단독 사옥 빌딩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1920240" y="261518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owner_occupied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920240" y="3108960"/>
            <a:ext cx="2414016" cy="310896"/>
          </a:xfrm>
          <a:prstGeom prst="roundRect">
            <a:avLst>
              <a:gd name="adj" fmla="val 50000"/>
            </a:avLst>
          </a:prstGeom>
          <a:solidFill>
            <a:srgbClr val="475569"/>
          </a:solidFill>
          <a:ln/>
        </p:spPr>
      </p:sp>
      <p:sp>
        <p:nvSpPr>
          <p:cNvPr id="10" name="Text 7"/>
          <p:cNvSpPr/>
          <p:nvPr/>
        </p:nvSpPr>
        <p:spPr>
          <a:xfrm>
            <a:off x="1920240" y="3108960"/>
            <a:ext cx="2414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owner_occupied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443984" y="310896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475569"/>
          </a:solidFill>
          <a:ln/>
        </p:spPr>
      </p:sp>
      <p:sp>
        <p:nvSpPr>
          <p:cNvPr id="12" name="Text 9"/>
          <p:cNvSpPr/>
          <p:nvPr/>
        </p:nvSpPr>
        <p:spPr>
          <a:xfrm>
            <a:off x="4443984" y="310896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120억원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1920240" y="3749040"/>
            <a:ext cx="6858000" cy="1225296"/>
          </a:xfrm>
          <a:prstGeom prst="roundRect">
            <a:avLst>
              <a:gd name="adj" fmla="val 2985"/>
            </a:avLst>
          </a:prstGeom>
          <a:solidFill>
            <a:srgbClr val="047857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176272" y="3950208"/>
            <a:ext cx="6345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D1FA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120억원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Gallery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주요 전경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234440"/>
            <a:ext cx="546491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234440"/>
            <a:ext cx="5464912" cy="22905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외관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66928" y="3232404"/>
            <a:ext cx="546491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676656" y="3232404"/>
            <a:ext cx="524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외관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159856" y="1234440"/>
            <a:ext cx="546491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59856" y="1234440"/>
            <a:ext cx="5464912" cy="229057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233008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15" name="Text 11"/>
          <p:cNvSpPr/>
          <p:nvPr/>
        </p:nvSpPr>
        <p:spPr>
          <a:xfrm>
            <a:off x="6233008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1층 로비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6159856" y="3232404"/>
            <a:ext cx="546491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17" name="Text 13"/>
          <p:cNvSpPr/>
          <p:nvPr/>
        </p:nvSpPr>
        <p:spPr>
          <a:xfrm>
            <a:off x="6269584" y="3232404"/>
            <a:ext cx="524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1층 로비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566928" y="3653028"/>
            <a:ext cx="546491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66928" y="3653028"/>
            <a:ext cx="5464912" cy="2290572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640080" y="3726180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21" name="Text 16"/>
          <p:cNvSpPr/>
          <p:nvPr/>
        </p:nvSpPr>
        <p:spPr>
          <a:xfrm>
            <a:off x="640080" y="372618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실내 공간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566928" y="5650992"/>
            <a:ext cx="546491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23" name="Text 18"/>
          <p:cNvSpPr/>
          <p:nvPr/>
        </p:nvSpPr>
        <p:spPr>
          <a:xfrm>
            <a:off x="676656" y="5650992"/>
            <a:ext cx="524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실내 공간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6159856" y="3653028"/>
            <a:ext cx="546491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159856" y="3653028"/>
            <a:ext cx="5464912" cy="2290572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6233008" y="3726180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27" name="Text 21"/>
          <p:cNvSpPr/>
          <p:nvPr/>
        </p:nvSpPr>
        <p:spPr>
          <a:xfrm>
            <a:off x="6233008" y="372618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실내 공간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6159856" y="5650992"/>
            <a:ext cx="546491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29" name="Text 23"/>
          <p:cNvSpPr/>
          <p:nvPr/>
        </p:nvSpPr>
        <p:spPr>
          <a:xfrm>
            <a:off x="6269584" y="5650992"/>
            <a:ext cx="524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실내 공간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핵심요약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31520" y="1719072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247.90㎡ (74.99평)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37710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4170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541700" y="1719072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760.33㎡ (230.00평)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18728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188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규모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51880" y="1719072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 1층 ~ 지상 5층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8997467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62059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승강기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62059" y="1719072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현대엘리베이터 1대 (13인승)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566928" y="283464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296265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주차대수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31520" y="3182112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6대 (자주식 필로티)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66928" y="430682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478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66928" y="4636008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6656" y="4745736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D1FAE5"/>
          </a:solidFill>
          <a:ln w="6350">
            <a:solidFill>
              <a:srgbClr val="34D3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656" y="474573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207008" y="4709160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2021년 준공된 신축급 올근생 업무시설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및 사옥 접근성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강남 테헤란로 비즈니스 인프라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역삼역(2호선) 도보 5분, 강남역 도보 10분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170475" y="1801368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053328" y="2295144"/>
            <a:ext cx="5571439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295144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테헤란로 대기업 및 IT 밸리 배후 중심지 위치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170475" y="2295144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현황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토지이용계획 · 개별공시지가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용도지역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제2종일반주거지역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4825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법정 건폐율 상한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172968" y="204825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60%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" y="2450592"/>
            <a:ext cx="685800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45059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법정 용적률 상한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172968" y="245059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200%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66928" y="2852928"/>
            <a:ext cx="685800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85292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개별공시지가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172968" y="2852928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18,500,000원/㎡ (61,157,300원/평, 2024년)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05966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DBEAFE"/>
          </a:solidFill>
          <a:ln/>
        </p:spPr>
      </p:sp>
      <p:sp>
        <p:nvSpPr>
          <p:cNvPr id="20" name="Shape 18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및 권리관계 실사 포인트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접면 도로 폭 및 진출입 여건은 현장 실사 확인 사항입니다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등기부등본상 권리관계 및 제한물권 설정 여부를 확인하였습니다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지구단위계획 및 토지이용계획상 허용 용도를 검토하였습니다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7784287" y="3977640"/>
            <a:ext cx="3840480" cy="2148840"/>
          </a:xfrm>
          <a:prstGeom prst="roundRect">
            <a:avLst>
              <a:gd name="adj" fmla="val 2553"/>
            </a:avLst>
          </a:prstGeom>
          <a:solidFill>
            <a:srgbClr val="DBEAFE"/>
          </a:solidFill>
          <a:ln/>
        </p:spPr>
      </p:sp>
      <p:sp>
        <p:nvSpPr>
          <p:cNvPr id="24" name="Shape 22"/>
          <p:cNvSpPr/>
          <p:nvPr/>
        </p:nvSpPr>
        <p:spPr>
          <a:xfrm>
            <a:off x="7784287" y="4032504"/>
            <a:ext cx="36576" cy="203911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5" name="Text 23"/>
          <p:cNvSpPr/>
          <p:nvPr/>
        </p:nvSpPr>
        <p:spPr>
          <a:xfrm>
            <a:off x="7967167" y="40873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및 운용 관리 상태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967167" y="4306824"/>
            <a:ext cx="3511296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임차인별 계약 만기 분산 및 렌트롤 실사가 필요합니다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관리비 정산 내역 및 수선유지비 집행 이력을 점검하였습니다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취득세 감면 및 대출 조달 구조는 금융·세무 자문 후 확정됩니다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사옥 건물 제원 및 공간 구성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단독 사옥 건축 개요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247.90㎡ (74.99평)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4825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172968" y="204825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760.33㎡ (230.00평)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" y="2450592"/>
            <a:ext cx="685800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45059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규모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172968" y="245059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 1층 ~ 지상 5층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66928" y="2852928"/>
            <a:ext cx="685800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85292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승강기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172968" y="2852928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현대엘리베이터 1대 (13인승)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66928" y="3255264"/>
            <a:ext cx="685800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3255264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주차대수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172968" y="3255264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6대 (자주식 필로티)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059669"/>
            </a:solidFill>
            <a:prstDash val="solid"/>
          </a:ln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84287" y="1645920"/>
            <a:ext cx="3840480" cy="2926080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7784287" y="4709160"/>
            <a:ext cx="3840480" cy="1417320"/>
          </a:xfrm>
          <a:prstGeom prst="roundRect">
            <a:avLst>
              <a:gd name="adj" fmla="val 3871"/>
            </a:avLst>
          </a:prstGeom>
          <a:solidFill>
            <a:srgbClr val="DBEAFE"/>
          </a:solidFill>
          <a:ln/>
        </p:spPr>
      </p:sp>
      <p:sp>
        <p:nvSpPr>
          <p:cNvPr id="24" name="Shape 21"/>
          <p:cNvSpPr/>
          <p:nvPr/>
        </p:nvSpPr>
        <p:spPr>
          <a:xfrm>
            <a:off x="7784287" y="4764024"/>
            <a:ext cx="36576" cy="130759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5" name="Text 22"/>
          <p:cNvSpPr/>
          <p:nvPr/>
        </p:nvSpPr>
        <p:spPr>
          <a:xfrm>
            <a:off x="7967167" y="481888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 하이라이트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7967167" y="5038344"/>
            <a:ext cx="3511296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접면 도로 및 교통 여건은 현장 실사 확인 사항입니다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임대차 계약 내역은 원본 계약서 대조가 필요합니다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임차인 구성 및 만기 분산 현황을 점검하였습니다</a:t>
            </a:r>
            <a:endParaRPr lang="en-US" sz="930" dirty="0"/>
          </a:p>
        </p:txBody>
      </p:sp>
      <p:sp>
        <p:nvSpPr>
          <p:cNvPr id="27" name="Text 24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사옥 공간 배치 및 활용 계획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층별 직영 활용 방안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1층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로비 및 고객 접견실, 쇼룸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4825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2~4층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172968" y="204825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 및 사업 부서 업무 공간 (층당 40평)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" y="2450592"/>
            <a:ext cx="685800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45059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5층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172968" y="245059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임원실 및 대회의실, 테라스 라운지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66928" y="2852928"/>
            <a:ext cx="685800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85292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 1층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172968" y="2852928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스튜디오 및 사내 복지 피트니스 공간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059669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84287" y="1645920"/>
            <a:ext cx="3840480" cy="2926080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7784287" y="4709160"/>
            <a:ext cx="3840480" cy="1417320"/>
          </a:xfrm>
          <a:prstGeom prst="roundRect">
            <a:avLst>
              <a:gd name="adj" fmla="val 3871"/>
            </a:avLst>
          </a:prstGeom>
          <a:solidFill>
            <a:srgbClr val="DBEAFE"/>
          </a:solidFill>
          <a:ln/>
        </p:spPr>
      </p:sp>
      <p:sp>
        <p:nvSpPr>
          <p:cNvPr id="21" name="Shape 18"/>
          <p:cNvSpPr/>
          <p:nvPr/>
        </p:nvSpPr>
        <p:spPr>
          <a:xfrm>
            <a:off x="7784287" y="4764024"/>
            <a:ext cx="36576" cy="130759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2" name="Text 19"/>
          <p:cNvSpPr/>
          <p:nvPr/>
        </p:nvSpPr>
        <p:spPr>
          <a:xfrm>
            <a:off x="7967167" y="481888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 하이라이트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7967167" y="5038344"/>
            <a:ext cx="3511296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접면 도로 및 교통 여건은 현장 실사 확인 사항입니다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임대차 계약 내역은 원본 계약서 대조가 필요합니다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임차인 구성 및 만기 분산 현황을 점검하였습니다</a:t>
            </a:r>
            <a:endParaRPr lang="en-US" sz="930" dirty="0"/>
          </a:p>
        </p:txBody>
      </p:sp>
      <p:sp>
        <p:nvSpPr>
          <p:cNvPr id="24" name="Text 21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Lease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vsLease: 사옥 매입 대 임차 TCO 비교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Commute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통근 및 접근성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층별 직영 활용 방안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1층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170475" y="1801368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로비 및 고객 접견실, 쇼룸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053328" y="2295144"/>
            <a:ext cx="5571439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295144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2~4층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170475" y="2295144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 및 사업 부서 업무 공간 (층당 40평)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053328" y="2788920"/>
            <a:ext cx="5571439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788920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5층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170475" y="2788920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임원실 및 대회의실, 테라스 라운지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053328" y="3282696"/>
            <a:ext cx="5571439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53328" y="3282696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 1층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170475" y="3282696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스튜디오 및 사내 복지 피트니스 공간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자산가치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7개년 누적 비용 비교 분석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인근 테헤란로 프라임 오피스 전용 150평 임차 시 연간 임대료 및 관리비 6.2억 원 소요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인근 테헤란로 프라임 오피스 전용 150평 임차 시 연간 임대료 및 관리비 6.2억 원 소요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4825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총취득원가 126.6억 원 투자 시, 감가상각 및 자산가치 상승 감안 시 5년 차 손익분기점 통과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172968" y="204825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총취득원가 126.6억 원 투자 시, 감가상각 및 자산가치 상승 감안 시 5년 차 손익분기점 통과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05966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DBEAFE"/>
          </a:solidFill>
          <a:ln/>
        </p:spPr>
      </p:sp>
      <p:sp>
        <p:nvSpPr>
          <p:cNvPr id="14" name="Shape 12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및 권리관계 실사 포인트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접면 도로 폭 및 진출입 여건은 현장 실사 확인 사항입니다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등기부등본상 권리관계 및 제한물권 설정 여부를 확인하였습니다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지구단위계획 및 토지이용계획상 허용 용도를 검토하였습니다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7784287" y="3977640"/>
            <a:ext cx="3840480" cy="2148840"/>
          </a:xfrm>
          <a:prstGeom prst="roundRect">
            <a:avLst>
              <a:gd name="adj" fmla="val 2553"/>
            </a:avLst>
          </a:prstGeom>
          <a:solidFill>
            <a:srgbClr val="DBEAFE"/>
          </a:solidFill>
          <a:ln/>
        </p:spPr>
      </p:sp>
      <p:sp>
        <p:nvSpPr>
          <p:cNvPr id="18" name="Shape 16"/>
          <p:cNvSpPr/>
          <p:nvPr/>
        </p:nvSpPr>
        <p:spPr>
          <a:xfrm>
            <a:off x="7784287" y="4032504"/>
            <a:ext cx="36576" cy="203911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7967167" y="40873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및 운용 관리 상태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967167" y="4306824"/>
            <a:ext cx="3511296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임차인별 계약 만기 분산 및 렌트롤 실사가 필요합니다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관리비 정산 내역 및 수선유지비 집행 이력을 점검하였습니다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취득세 감면 및 대출 조달 구조는 금융·세무 자문 후 확정됩니다</a:t>
            </a:r>
            <a:endParaRPr lang="en-US" sz="930" dirty="0"/>
          </a:p>
        </p:txBody>
      </p:sp>
      <p:sp>
        <p:nvSpPr>
          <p:cNvPr id="21" name="Text 19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Thesis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기업 사옥 가치 제안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98755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Corporate Value Proposition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66928" y="1481328"/>
            <a:ext cx="3472586" cy="3474720"/>
          </a:xfrm>
          <a:prstGeom prst="roundRect">
            <a:avLst>
              <a:gd name="adj" fmla="val 2107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481328"/>
            <a:ext cx="3472586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9" name="Shape 7"/>
          <p:cNvSpPr/>
          <p:nvPr/>
        </p:nvSpPr>
        <p:spPr>
          <a:xfrm>
            <a:off x="795528" y="1755648"/>
            <a:ext cx="475488" cy="292608"/>
          </a:xfrm>
          <a:prstGeom prst="roundRect">
            <a:avLst>
              <a:gd name="adj" fmla="val 12500"/>
            </a:avLst>
          </a:prstGeom>
          <a:solidFill>
            <a:srgbClr val="34D399"/>
          </a:solidFill>
          <a:ln/>
        </p:spPr>
      </p:sp>
      <p:sp>
        <p:nvSpPr>
          <p:cNvPr id="10" name="Text 8"/>
          <p:cNvSpPr/>
          <p:nvPr/>
        </p:nvSpPr>
        <p:spPr>
          <a:xfrm>
            <a:off x="795528" y="1755648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95528" y="2194560"/>
            <a:ext cx="30153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사옥 단독 명칭 표기(간판 설치권) 및 기업 단독 브랜딩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95528" y="2624328"/>
            <a:ext cx="3015386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2779776"/>
            <a:ext cx="301538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사옥 단독 명칭 표기(간판 설치권) 및 기업 단독 브랜딩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59554" y="1481328"/>
            <a:ext cx="3472586" cy="3474720"/>
          </a:xfrm>
          <a:prstGeom prst="roundRect">
            <a:avLst>
              <a:gd name="adj" fmla="val 2107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59554" y="1481328"/>
            <a:ext cx="3472586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6" name="Shape 14"/>
          <p:cNvSpPr/>
          <p:nvPr/>
        </p:nvSpPr>
        <p:spPr>
          <a:xfrm>
            <a:off x="4588154" y="1755648"/>
            <a:ext cx="475488" cy="292608"/>
          </a:xfrm>
          <a:prstGeom prst="roundRect">
            <a:avLst>
              <a:gd name="adj" fmla="val 12500"/>
            </a:avLst>
          </a:prstGeom>
          <a:solidFill>
            <a:srgbClr val="34D399"/>
          </a:solidFill>
          <a:ln/>
        </p:spPr>
      </p:sp>
      <p:sp>
        <p:nvSpPr>
          <p:cNvPr id="17" name="Text 15"/>
          <p:cNvSpPr/>
          <p:nvPr/>
        </p:nvSpPr>
        <p:spPr>
          <a:xfrm>
            <a:off x="4588154" y="1755648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88154" y="2194560"/>
            <a:ext cx="30153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인테리어 지원금(TI) / 렌트프리(무상임대)(무상임대) 협의 불필요한 단독 소유권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88154" y="2624328"/>
            <a:ext cx="3015386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88154" y="2779776"/>
            <a:ext cx="301538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인테리어 지원금(TI) / 렌트프리(무상임대)(무상임대) 협의 불필요한 단독 소유권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152181" y="1481328"/>
            <a:ext cx="3472586" cy="3474720"/>
          </a:xfrm>
          <a:prstGeom prst="roundRect">
            <a:avLst>
              <a:gd name="adj" fmla="val 2107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52181" y="1481328"/>
            <a:ext cx="3472586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3" name="Shape 21"/>
          <p:cNvSpPr/>
          <p:nvPr/>
        </p:nvSpPr>
        <p:spPr>
          <a:xfrm>
            <a:off x="8380781" y="1755648"/>
            <a:ext cx="475488" cy="292608"/>
          </a:xfrm>
          <a:prstGeom prst="roundRect">
            <a:avLst>
              <a:gd name="adj" fmla="val 12500"/>
            </a:avLst>
          </a:prstGeom>
          <a:solidFill>
            <a:srgbClr val="34D399"/>
          </a:solidFill>
          <a:ln/>
        </p:spPr>
      </p:sp>
      <p:sp>
        <p:nvSpPr>
          <p:cNvPr id="24" name="Text 22"/>
          <p:cNvSpPr/>
          <p:nvPr/>
        </p:nvSpPr>
        <p:spPr>
          <a:xfrm>
            <a:off x="8380781" y="1755648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380781" y="2194560"/>
            <a:ext cx="30153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강남 핵심 업무권역 내 100억대 초반 희소한 단독 사옥 매물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8380781" y="2624328"/>
            <a:ext cx="3015386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80781" y="2779776"/>
            <a:ext cx="301538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강남 핵심 업무권역 내 100억대 초반 희소한 단독 사옥 매물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66928" y="5138928"/>
            <a:ext cx="11057839" cy="804672"/>
          </a:xfrm>
          <a:prstGeom prst="roundRect">
            <a:avLst>
              <a:gd name="adj" fmla="val 6818"/>
            </a:avLst>
          </a:prstGeom>
          <a:solidFill>
            <a:srgbClr val="D1FAE5"/>
          </a:solidFill>
          <a:ln w="10160">
            <a:solidFill>
              <a:srgbClr val="34D39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524865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478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종합 가치 제안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487168" y="5212080"/>
            <a:ext cx="895471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자산에 대한 상세 분석 및 투자 의사결정은 원본 임대차 계약서 및 공부상 권리관계 실사를 바탕으로 진행됩니다.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명도 및 인허가 리스크 점검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417320"/>
            <a:ext cx="11057839" cy="36576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417320"/>
            <a:ext cx="11057839" cy="45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1618488"/>
            <a:ext cx="106006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478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명도 조건 분석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95528" y="1947672"/>
            <a:ext cx="106006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 필요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95528" y="2377440"/>
            <a:ext cx="10600639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 임차인 2개사 잔금 전 명도 확약서 징구 완료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Bef>
                <a:spcPts val="600"/>
              </a:spcBef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소유주 직영 층 잔금 시 즉시 열쇠 인수 가능 (공실 리스크 0%)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" y="5193792"/>
            <a:ext cx="11057839" cy="62179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2" name="Text 10"/>
          <p:cNvSpPr/>
          <p:nvPr/>
        </p:nvSpPr>
        <p:spPr>
          <a:xfrm>
            <a:off x="795528" y="5193792"/>
            <a:ext cx="106006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본 리스크 체크는 공부 및 브로커 확인 기반이며, 매수 전 전문 실사팀(변호사/건축사)을 통한 정밀 실사가 필요합니다.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사옥 매입 추진 일정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572768"/>
            <a:ext cx="11057839" cy="32004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7" name="Shape 5"/>
          <p:cNvSpPr/>
          <p:nvPr/>
        </p:nvSpPr>
        <p:spPr>
          <a:xfrm>
            <a:off x="786384" y="1792224"/>
            <a:ext cx="438912" cy="438912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86384" y="2304288"/>
            <a:ext cx="1061892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1단계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86384" y="2761488"/>
            <a:ext cx="10618927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매매계약 체결 실사 및 명도 이행 점검 잔금 및 인테리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매매계약 체결 실사 및 명도 이행 점검 잔금 및 인테리어 착공 (계약 후 2개월 내 입주 완료)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585216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475569"/>
          </a:solidFill>
          <a:ln/>
        </p:spPr>
      </p:sp>
      <p:sp>
        <p:nvSpPr>
          <p:cNvPr id="7" name="Shape 5"/>
          <p:cNvSpPr/>
          <p:nvPr/>
        </p:nvSpPr>
        <p:spPr>
          <a:xfrm>
            <a:off x="676656" y="1572768"/>
            <a:ext cx="438912" cy="438912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8" name="Text 6"/>
          <p:cNvSpPr/>
          <p:nvPr/>
        </p:nvSpPr>
        <p:spPr>
          <a:xfrm>
            <a:off x="676656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25296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25296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중개사에게 초기 관심 표명 및 상담 요청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55338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596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01642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475569"/>
          </a:solidFill>
          <a:ln/>
        </p:spPr>
      </p:sp>
      <p:sp>
        <p:nvSpPr>
          <p:cNvPr id="13" name="Shape 11"/>
          <p:cNvSpPr/>
          <p:nvPr/>
        </p:nvSpPr>
        <p:spPr>
          <a:xfrm>
            <a:off x="4411370" y="1572768"/>
            <a:ext cx="438912" cy="438912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4411370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60010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60010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비밀유지계약 후 상세 임대차·재무 자료 제공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890053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596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036357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475569"/>
          </a:solidFill>
          <a:ln/>
        </p:spPr>
      </p:sp>
      <p:sp>
        <p:nvSpPr>
          <p:cNvPr id="19" name="Shape 17"/>
          <p:cNvSpPr/>
          <p:nvPr/>
        </p:nvSpPr>
        <p:spPr>
          <a:xfrm>
            <a:off x="8146085" y="1572768"/>
            <a:ext cx="438912" cy="438912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0" name="Text 18"/>
          <p:cNvSpPr/>
          <p:nvPr/>
        </p:nvSpPr>
        <p:spPr>
          <a:xfrm>
            <a:off x="8146085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94725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94725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컨디션 및 설비 직접 확인 후 의향서(LOI) 제출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66928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475569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993392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66928" y="320040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475569"/>
          </a:solidFill>
          <a:ln/>
        </p:spPr>
      </p:sp>
      <p:sp>
        <p:nvSpPr>
          <p:cNvPr id="28" name="Text 26"/>
          <p:cNvSpPr/>
          <p:nvPr/>
        </p:nvSpPr>
        <p:spPr>
          <a:xfrm>
            <a:off x="566928" y="32004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993392" y="31821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66928" y="367588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475569"/>
          </a:solidFill>
          <a:ln/>
        </p:spPr>
      </p:sp>
      <p:sp>
        <p:nvSpPr>
          <p:cNvPr id="31" name="Text 29"/>
          <p:cNvSpPr/>
          <p:nvPr/>
        </p:nvSpPr>
        <p:spPr>
          <a:xfrm>
            <a:off x="566928" y="367588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993392" y="36576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66928" y="415137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475569"/>
          </a:solidFill>
          <a:ln/>
        </p:spPr>
      </p:sp>
      <p:sp>
        <p:nvSpPr>
          <p:cNvPr id="34" name="Text 32"/>
          <p:cNvSpPr/>
          <p:nvPr/>
        </p:nvSpPr>
        <p:spPr>
          <a:xfrm>
            <a:off x="566928" y="415137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993392" y="41330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66928" y="462686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475569"/>
          </a:solidFill>
          <a:ln/>
        </p:spPr>
      </p:sp>
      <p:sp>
        <p:nvSpPr>
          <p:cNvPr id="37" name="Text 35"/>
          <p:cNvSpPr/>
          <p:nvPr/>
        </p:nvSpPr>
        <p:spPr>
          <a:xfrm>
            <a:off x="566928" y="462686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993392" y="460857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92240" y="2395728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92240" y="2724912"/>
            <a:ext cx="5129784" cy="1645920"/>
          </a:xfrm>
          <a:prstGeom prst="roundRect">
            <a:avLst>
              <a:gd name="adj" fmla="val 2222"/>
            </a:avLst>
          </a:prstGeom>
          <a:solidFill>
            <a:srgbClr val="334155"/>
          </a:solidFill>
          <a:ln/>
        </p:spPr>
      </p:sp>
      <p:sp>
        <p:nvSpPr>
          <p:cNvPr id="41" name="Text 39"/>
          <p:cNvSpPr/>
          <p:nvPr/>
        </p:nvSpPr>
        <p:spPr>
          <a:xfrm>
            <a:off x="6675120" y="2834640"/>
            <a:ext cx="476402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66928" y="5760720"/>
            <a:ext cx="11057839" cy="45720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43" name="Text 41"/>
          <p:cNvSpPr/>
          <p:nvPr/>
        </p:nvSpPr>
        <p:spPr>
          <a:xfrm>
            <a:off x="749808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FA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자료의 모든 수치는 예비 검토용이며, 상세 실사 자료 및 비밀 상담은 담당 전문 중개사를 통해 제공됩니다.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공부 발췌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건축물대장 표제부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주용도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업무시설 / 근린생활시설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4825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구조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172968" y="204825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철근콘크리트구조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" y="2450592"/>
            <a:ext cx="685800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45059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172968" y="245059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760.33㎡ (230.0평)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66928" y="2852928"/>
            <a:ext cx="685800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85292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건축면적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172968" y="2852928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148.7㎡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66928" y="3255264"/>
            <a:ext cx="685800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3255264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승강기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172968" y="3255264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1대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66928" y="3657600"/>
            <a:ext cx="685800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65760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주차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172968" y="365760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6대 (자주식 0 / 기계식 0)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05966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DBEAFE"/>
          </a:solidFill>
          <a:ln/>
        </p:spPr>
      </p:sp>
      <p:sp>
        <p:nvSpPr>
          <p:cNvPr id="26" name="Shape 24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7" name="Text 25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및 권리관계 실사 포인트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접면 도로 폭 및 진출입 여건은 현장 실사 확인 사항입니다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등기부등본상 권리관계 및 제한물권 설정 여부를 확인하였습니다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지구단위계획 및 토지이용계획상 허용 용도를 검토하였습니다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7784287" y="3977640"/>
            <a:ext cx="3840480" cy="2148840"/>
          </a:xfrm>
          <a:prstGeom prst="roundRect">
            <a:avLst>
              <a:gd name="adj" fmla="val 2553"/>
            </a:avLst>
          </a:prstGeom>
          <a:solidFill>
            <a:srgbClr val="DBEAFE"/>
          </a:solidFill>
          <a:ln/>
        </p:spPr>
      </p:sp>
      <p:sp>
        <p:nvSpPr>
          <p:cNvPr id="30" name="Shape 28"/>
          <p:cNvSpPr/>
          <p:nvPr/>
        </p:nvSpPr>
        <p:spPr>
          <a:xfrm>
            <a:off x="7784287" y="4032504"/>
            <a:ext cx="36576" cy="203911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1" name="Text 29"/>
          <p:cNvSpPr/>
          <p:nvPr/>
        </p:nvSpPr>
        <p:spPr>
          <a:xfrm>
            <a:off x="7967167" y="40873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및 운용 관리 상태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967167" y="4306824"/>
            <a:ext cx="3511296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임차인별 계약 만기 분산 및 렌트롤 실사가 필요합니다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관리비 정산 내역 및 수선유지비 집행 이력을 점검하였습니다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취득세 감면 및 대출 조달 구조는 금융·세무 자문 후 확정됩니다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Cadastral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지적도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연속지적도 (V-World)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용도지역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170475" y="1801368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제2종일반주거지역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053328" y="2295144"/>
            <a:ext cx="5571439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295144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법정 건폐율 상한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170475" y="2295144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60%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053328" y="2788920"/>
            <a:ext cx="5571439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788920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법정 용적률 상한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170475" y="2788920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200%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053328" y="3282696"/>
            <a:ext cx="5571439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53328" y="3282696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개별공시지가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170475" y="3282696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18,500,000원/㎡ (61,157,300원/평, 2024년)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053328" y="4005072"/>
            <a:ext cx="55714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© V-World 국토교통부 | 2026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2026-09-04T00:33:41Z</dcterms:created>
  <dcterms:modified xsi:type="dcterms:W3CDTF">2026-09-04T00:33:41Z</dcterms:modified>
</cp:coreProperties>
</file>