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5" name="Shape 2"/>
          <p:cNvSpPr/>
          <p:nvPr/>
        </p:nvSpPr>
        <p:spPr>
          <a:xfrm>
            <a:off x="566928" y="1645920"/>
            <a:ext cx="11057839" cy="3108960"/>
          </a:xfrm>
          <a:prstGeom prst="rect">
            <a:avLst/>
          </a:prstGeom>
          <a:solidFill>
            <a:srgbClr val="0284C7">
              <a:alpha val="8000"/>
            </a:srgbClr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" y="36576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algn="ctr" indent="0" marL="0"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66928" y="19202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5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219456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서초구 잠원동 역세권 신축 개발부지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66928" y="2980944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development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3474720"/>
            <a:ext cx="1975104" cy="31089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3474720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development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651760" y="347472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/>
        </p:spPr>
      </p:sp>
      <p:sp>
        <p:nvSpPr>
          <p:cNvPr id="13" name="Text 10"/>
          <p:cNvSpPr/>
          <p:nvPr/>
        </p:nvSpPr>
        <p:spPr>
          <a:xfrm>
            <a:off x="2651760" y="34747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242억원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6928" y="4114800"/>
            <a:ext cx="11057839" cy="1225296"/>
          </a:xfrm>
          <a:prstGeom prst="roundRect">
            <a:avLst>
              <a:gd name="adj" fmla="val 2985"/>
            </a:avLst>
          </a:prstGeom>
          <a:solidFill>
            <a:srgbClr val="0369A1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31596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F2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242억원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0284C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Leasable Space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층별 전용 임대공간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0284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234440"/>
            <a:ext cx="6557894" cy="4709160"/>
          </a:xfrm>
          <a:prstGeom prst="roundRect">
            <a:avLst>
              <a:gd name="adj" fmla="val 116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234440"/>
            <a:ext cx="6557894" cy="4709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5650992"/>
            <a:ext cx="6557894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76656" y="5650992"/>
            <a:ext cx="63384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잠원역 초역세권 신축 개발 대상 부지 전경 (160평 정형 필지)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252838" y="1234440"/>
            <a:ext cx="4371929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252838" y="1234440"/>
            <a:ext cx="4371929" cy="229057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252838" y="3232404"/>
            <a:ext cx="4371929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7362566" y="3232404"/>
            <a:ext cx="41524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8m x 6m 코너 각지 도로 접면 상태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7252838" y="3653028"/>
            <a:ext cx="4371929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252838" y="3653028"/>
            <a:ext cx="4371929" cy="229057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252838" y="5650992"/>
            <a:ext cx="4371929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7362566" y="5650992"/>
            <a:ext cx="41524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구옥 현황 (전원 명도 확약 체결 완료)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0284C7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0284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123-1번지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171907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330.58㎡ (100.00평)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7710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170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123-2번지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541700" y="171907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198.35㎡ (60.00평)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18728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188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합산 대지면적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1880" y="171907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528.93㎡ (160.00평)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997467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62059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62059" y="171907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제3종일반주거지역 (법정 건폐율 50%, 용적률 250%)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66928" y="34290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369A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3758184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" y="3867912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" y="386791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07008" y="3831336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123-1번지: 330.58㎡ (100.00평)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4453128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6656" y="4562856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" y="456285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07008" y="4526280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123-2번지: 198.35㎡ (60.00평)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5148072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656" y="5257800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" y="52578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07008" y="5221224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합산 대지면적: 528.93㎡ (160.00평)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0284C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Location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대상지 입지 및 인프라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0284C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서초구 잠원동 초역세권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지하철 3호선 잠원역 도보 4분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53328" y="2295144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295144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강남대로 및 한남대교 남단 직결로 도심 및 강남 접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170475" y="2295144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0284C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Land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0284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 · 개별공시지가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제3종일반주거지역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건폐율 상한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50%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용적률 상한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250%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개별공시지가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28,500,000원/㎡ (94,215,300원/평, 2024년)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284C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E0F2FE"/>
          </a:solidFill>
          <a:ln/>
        </p:spPr>
      </p:sp>
      <p:sp>
        <p:nvSpPr>
          <p:cNvPr id="20" name="Shape 18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1" name="Text 19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권리관계 실사 포인트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폭 및 진출입 여건은 현장 실사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등기부등본상 권리관계 및 제한물권 설정 여부를 확인하였습니다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지구단위계획 및 토지이용계획상 허용 용도를 검토하였습니다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E0F2FE"/>
          </a:solidFill>
          <a:ln/>
        </p:spPr>
      </p:sp>
      <p:sp>
        <p:nvSpPr>
          <p:cNvPr id="24" name="Shape 22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3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및 운용 관리 상태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임차인별 계약 만기 분산 및 렌트롤 실사가 필요합니다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관리비 정산 내역 및 수선유지비 집행 이력을 점검하였습니다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감면 및 대출 조달 구조는 금융·세무 자문 후 확정됩니다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0284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Building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다필지 대지 현황 종합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0284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2개 필지 일괄 매각 개요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123-1번지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330.58㎡ (100.00평)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123-2번지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198.35㎡ (60.00평)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합산 대지면적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528.93㎡ (160.00평)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제3종일반주거지역 (법정 건폐율 50%, 용적률 250%)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284C7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84287" y="1645920"/>
            <a:ext cx="3840480" cy="292608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7784287" y="4709160"/>
            <a:ext cx="3840480" cy="1417320"/>
          </a:xfrm>
          <a:prstGeom prst="roundRect">
            <a:avLst>
              <a:gd name="adj" fmla="val 3871"/>
            </a:avLst>
          </a:prstGeom>
          <a:solidFill>
            <a:srgbClr val="E0F2FE"/>
          </a:solidFill>
          <a:ln/>
        </p:spPr>
      </p:sp>
      <p:sp>
        <p:nvSpPr>
          <p:cNvPr id="21" name="Shape 18"/>
          <p:cNvSpPr/>
          <p:nvPr/>
        </p:nvSpPr>
        <p:spPr>
          <a:xfrm>
            <a:off x="7784287" y="4764024"/>
            <a:ext cx="36576" cy="130759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2" name="Text 19"/>
          <p:cNvSpPr/>
          <p:nvPr/>
        </p:nvSpPr>
        <p:spPr>
          <a:xfrm>
            <a:off x="7967167" y="481888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7967167" y="5038344"/>
            <a:ext cx="351129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및 교통 여건은 현장 실사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임대차 계약 내역은 원본 계약서 대조가 필요합니다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임차인 구성 및 만기 분산 현황을 점검하였습니다</a:t>
            </a:r>
            <a:endParaRPr lang="en-US" sz="930" dirty="0"/>
          </a:p>
        </p:txBody>
      </p:sp>
      <p:sp>
        <p:nvSpPr>
          <p:cNvPr id="24" name="Shape 21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0284C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·  Land Detail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부지 물리적 여건 및 인허가 조건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0284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 인허가 시뮬레이션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 접면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8m × 6m 북서측 코너 각지 도로 접면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일조권 사선제한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북측 인접도로 8m 확보로 사선 완화 유리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굴착 여건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지반조사 결과 암반층 양호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284C7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84287" y="1645920"/>
            <a:ext cx="3840480" cy="292608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7784287" y="4709160"/>
            <a:ext cx="3840480" cy="1417320"/>
          </a:xfrm>
          <a:prstGeom prst="roundRect">
            <a:avLst>
              <a:gd name="adj" fmla="val 3871"/>
            </a:avLst>
          </a:prstGeom>
          <a:solidFill>
            <a:srgbClr val="E0F2FE"/>
          </a:solidFill>
          <a:ln/>
        </p:spPr>
      </p:sp>
      <p:sp>
        <p:nvSpPr>
          <p:cNvPr id="18" name="Shape 15"/>
          <p:cNvSpPr/>
          <p:nvPr/>
        </p:nvSpPr>
        <p:spPr>
          <a:xfrm>
            <a:off x="7784287" y="4764024"/>
            <a:ext cx="36576" cy="130759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9" name="Text 16"/>
          <p:cNvSpPr/>
          <p:nvPr/>
        </p:nvSpPr>
        <p:spPr>
          <a:xfrm>
            <a:off x="7967167" y="481888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967167" y="5038344"/>
            <a:ext cx="351129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및 교통 여건은 현장 실사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임대차 계약 내역은 원본 계약서 대조가 필요합니다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임차인 구성 및 만기 분산 현황을 점검하였습니다</a:t>
            </a:r>
            <a:endParaRPr lang="en-US" sz="930" dirty="0"/>
          </a:p>
        </p:txBody>
      </p:sp>
      <p:sp>
        <p:nvSpPr>
          <p:cNvPr id="21" name="Shape 18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0284C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·  Scale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건축 계획 및 개발 규모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0284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2588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건축 규모 가이드라인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737360"/>
            <a:ext cx="11057839" cy="0"/>
          </a:xfrm>
          <a:prstGeom prst="line">
            <a:avLst/>
          </a:prstGeom>
          <a:noFill/>
          <a:ln w="19050">
            <a:solidFill>
              <a:srgbClr val="0284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31343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160.0평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" y="2642616"/>
            <a:ext cx="3247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528.93㎡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4307738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7233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건축면적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472330" y="231343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80.0평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472330" y="2642616"/>
            <a:ext cx="3247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건폐율 50.0%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8048549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13141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지상 연면적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213141" y="231343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400.0평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213141" y="2642616"/>
            <a:ext cx="3247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용적률 250.0%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566928" y="3319272"/>
            <a:ext cx="3576218" cy="1051560"/>
          </a:xfrm>
          <a:prstGeom prst="roundRect">
            <a:avLst>
              <a:gd name="adj" fmla="val 5217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4472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연면적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1520" y="3666744"/>
            <a:ext cx="324703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480.0평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31520" y="3995928"/>
            <a:ext cx="3247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1개층 포함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4307738" y="3319272"/>
            <a:ext cx="3576218" cy="1051560"/>
          </a:xfrm>
          <a:prstGeom prst="roundRect">
            <a:avLst>
              <a:gd name="adj" fmla="val 5217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72330" y="34472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건축규모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472330" y="3666744"/>
            <a:ext cx="324703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1층 ~ 지상 6층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472330" y="3995928"/>
            <a:ext cx="3247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최고 높이 24m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8048549" y="3319272"/>
            <a:ext cx="3576218" cy="1051560"/>
          </a:xfrm>
          <a:prstGeom prst="roundRect">
            <a:avLst>
              <a:gd name="adj" fmla="val 5217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13141" y="34472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주차계획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213141" y="3666744"/>
            <a:ext cx="324703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12대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213141" y="3995928"/>
            <a:ext cx="3247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자주식 6대 + 기계식 6대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0284C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·  Eviction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및 기존 건축물 철거 계획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0284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및 멸실 추진 방안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단독주택 2동 소유주 직영 거주 중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단독주택 2동 소유주 직영 거주 중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매매계약 체결 시 전원 명도 확약서 징구 완료 (매수자 명도 부담 0원)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매매계약 체결 시 전원 명도 확약서 징구 완료 (매수자 명도 부담 0원)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284C7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84287" y="1645920"/>
            <a:ext cx="3840480" cy="292608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7784287" y="4709160"/>
            <a:ext cx="3840480" cy="1417320"/>
          </a:xfrm>
          <a:prstGeom prst="roundRect">
            <a:avLst>
              <a:gd name="adj" fmla="val 3871"/>
            </a:avLst>
          </a:prstGeom>
          <a:solidFill>
            <a:srgbClr val="E0F2FE"/>
          </a:solidFill>
          <a:ln/>
        </p:spPr>
      </p:sp>
      <p:sp>
        <p:nvSpPr>
          <p:cNvPr id="15" name="Shape 12"/>
          <p:cNvSpPr/>
          <p:nvPr/>
        </p:nvSpPr>
        <p:spPr>
          <a:xfrm>
            <a:off x="7784287" y="4764024"/>
            <a:ext cx="36576" cy="130759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6" name="Text 13"/>
          <p:cNvSpPr/>
          <p:nvPr/>
        </p:nvSpPr>
        <p:spPr>
          <a:xfrm>
            <a:off x="7967167" y="481888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967167" y="5038344"/>
            <a:ext cx="351129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및 교통 여건은 현장 실사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임대차 계약 내역은 원본 계약서 대조가 필요합니다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임차인 구성 및 만기 분산 현황을 점검하였습니다</a:t>
            </a:r>
            <a:endParaRPr lang="en-US" sz="930" dirty="0"/>
          </a:p>
        </p:txBody>
      </p:sp>
      <p:sp>
        <p:nvSpPr>
          <p:cNvPr id="18" name="Shape 15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0284C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·  Cost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 투입 사업비 정밀 모델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0284C7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6675120" cy="914400"/>
        </p:xfrm>
        <a:graphic>
          <a:graphicData uri="http://schemas.openxmlformats.org/drawingml/2006/table">
            <a:tbl>
              <a:tblPr/>
              <a:tblGrid>
                <a:gridCol w="2225040"/>
                <a:gridCol w="2225040"/>
                <a:gridCol w="222504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세부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비목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금액(억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1단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토지비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매매대금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취득세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255.6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2단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공사비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철거·토목·건축공사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56.4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3단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부대비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설계·감리·금융비용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20.0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합계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총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사업비용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332.0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0284C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·  Stacking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건물 층별 권장 용도 (Stacking)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0284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17320"/>
            <a:ext cx="5391760" cy="4389120"/>
          </a:xfrm>
          <a:prstGeom prst="roundRect">
            <a:avLst>
              <a:gd name="adj" fmla="val 208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369A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층별 용도 및 면적 배분 계획</a:t>
            </a:r>
            <a:endParaRPr lang="en-US" sz="13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528" y="2011680"/>
          <a:ext cx="49345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463040"/>
                <a:gridCol w="1097280"/>
                <a:gridCol w="13716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층수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권장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용도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전용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면적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타깃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스태킹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플랜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233008" y="1417320"/>
            <a:ext cx="5391760" cy="4389120"/>
          </a:xfrm>
          <a:prstGeom prst="roundRect">
            <a:avLst>
              <a:gd name="adj" fmla="val 208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6160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369A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신축 개요 및 규제 기한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461608" y="2011680"/>
            <a:ext cx="187513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대지면적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336740" y="2011680"/>
            <a:ext cx="305942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61608" y="2450592"/>
            <a:ext cx="493456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61608" y="2450592"/>
            <a:ext cx="187513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신축 연면적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336740" y="2450592"/>
            <a:ext cx="305942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61608" y="2889504"/>
            <a:ext cx="493456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61608" y="2889504"/>
            <a:ext cx="187513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적용 건폐율 / 용적률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336740" y="2889504"/>
            <a:ext cx="305942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-% / -%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461608" y="3328416"/>
            <a:ext cx="493456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61608" y="3328416"/>
            <a:ext cx="187513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총공사비 (1,200만/평)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336740" y="3328416"/>
            <a:ext cx="305942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461608" y="3767328"/>
            <a:ext cx="493456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61608" y="3767328"/>
            <a:ext cx="187513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총사업비 (토지+공사+예비비)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336740" y="3767328"/>
            <a:ext cx="305942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0284C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·  Thesis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프로젝트 투자 하이라이트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0284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005840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Development Highlights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481328"/>
            <a:ext cx="5368900" cy="3474720"/>
          </a:xfrm>
          <a:prstGeom prst="roundRect">
            <a:avLst>
              <a:gd name="adj" fmla="val 2105"/>
            </a:avLst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481328"/>
            <a:ext cx="53689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9" name="Shape 7"/>
          <p:cNvSpPr/>
          <p:nvPr/>
        </p:nvSpPr>
        <p:spPr>
          <a:xfrm>
            <a:off x="795528" y="1755648"/>
            <a:ext cx="475488" cy="292608"/>
          </a:xfrm>
          <a:prstGeom prst="roundRect">
            <a:avLst>
              <a:gd name="adj" fmla="val 12500"/>
            </a:avLst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" y="17556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95528" y="2194560"/>
            <a:ext cx="491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PF 심의 및 자금조달에 최적화된 투명한 3단 사업비 모델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95528" y="2624328"/>
            <a:ext cx="49117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779776"/>
            <a:ext cx="49117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PF 심의 및 자금조달에 최적화된 투명한 3단 사업비 모델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55868" y="1481328"/>
            <a:ext cx="5368900" cy="3474720"/>
          </a:xfrm>
          <a:prstGeom prst="roundRect">
            <a:avLst>
              <a:gd name="adj" fmla="val 2105"/>
            </a:avLst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55868" y="1481328"/>
            <a:ext cx="53689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6" name="Shape 14"/>
          <p:cNvSpPr/>
          <p:nvPr/>
        </p:nvSpPr>
        <p:spPr>
          <a:xfrm>
            <a:off x="6484468" y="1755648"/>
            <a:ext cx="475488" cy="292608"/>
          </a:xfrm>
          <a:prstGeom prst="roundRect">
            <a:avLst>
              <a:gd name="adj" fmla="val 12500"/>
            </a:avLst>
          </a:prstGeom>
          <a:solidFill>
            <a:srgbClr val="38BDF8"/>
          </a:solidFill>
          <a:ln/>
        </p:spPr>
      </p:sp>
      <p:sp>
        <p:nvSpPr>
          <p:cNvPr id="17" name="Text 15"/>
          <p:cNvSpPr/>
          <p:nvPr/>
        </p:nvSpPr>
        <p:spPr>
          <a:xfrm>
            <a:off x="6484468" y="17556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84468" y="2194560"/>
            <a:ext cx="491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완공 후 통사옥 매각 또는 고급 메디컬 클리닉 빌딩 분양 시 높은 개발이익 기대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84468" y="2624328"/>
            <a:ext cx="49117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84468" y="2779776"/>
            <a:ext cx="49117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완공 후 통사옥 매각 또는 고급 메디컬 클리닉 빌딩 분양 시 높은 개발이익 기대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" y="5138928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E0F2FE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52486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369A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487168" y="5212080"/>
            <a:ext cx="8954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자산에 대한 상세 분석 및 투자 의사결정은 원본 임대차 계약서 및 공부상 권리관계 실사를 바탕으로 진행됩니다.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0284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·  Risk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및 규제 기한 리스크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0284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17320"/>
            <a:ext cx="11057839" cy="365760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17320"/>
            <a:ext cx="11057839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106006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369A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리스크 점검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1947672"/>
            <a:ext cx="106006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필요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95528" y="2377440"/>
            <a:ext cx="10600639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명도: 구옥 2동 소유주 직영 중으로 잔금 전 명도 완료 확약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서울시 한시 조례 용적률 완화 인센티브 잔여일: 630일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5193792"/>
            <a:ext cx="11057839" cy="621792"/>
          </a:xfrm>
          <a:prstGeom prst="roundRect">
            <a:avLst>
              <a:gd name="adj" fmla="val 1470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5193792"/>
            <a:ext cx="106006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리스크 체크는 공부 및 브로커 확인 기반이며, 매수 전 전문 실사팀(변호사/건축사)을 통한 정밀 실사가 필요합니다.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0284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 ·  Process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사업 추진 일정표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0284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11057839" cy="3200400"/>
          </a:xfrm>
          <a:prstGeom prst="roundRect">
            <a:avLst>
              <a:gd name="adj" fmla="val 28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792224"/>
            <a:ext cx="438912" cy="43891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1061892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10618927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 체결 건축 심의 접수 (2개월) 건축허가 완료 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 체결 건축 심의 접수 (2개월) 건축허가 완료 (4개월) 철거 및 착공 (6개월) 준공 (18개월)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0284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 ·  Closing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0284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84C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4" name="Text 12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84C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/>
        </p:spPr>
      </p:sp>
      <p:sp>
        <p:nvSpPr>
          <p:cNvPr id="19" name="Shape 17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20" name="Text 18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645920"/>
          </a:xfrm>
          <a:prstGeom prst="roundRect">
            <a:avLst>
              <a:gd name="adj" fmla="val 2222"/>
            </a:avLst>
          </a:prstGeom>
          <a:solidFill>
            <a:srgbClr val="1E293B"/>
          </a:solidFill>
          <a:ln/>
        </p:spPr>
      </p:sp>
      <p:sp>
        <p:nvSpPr>
          <p:cNvPr id="41" name="Text 39"/>
          <p:cNvSpPr/>
          <p:nvPr/>
        </p:nvSpPr>
        <p:spPr>
          <a:xfrm>
            <a:off x="6675120" y="2834640"/>
            <a:ext cx="47640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43" name="Text 41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F2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자료의 모든 수치는 예비 검토용이며, 상세 실사 자료 및 비밀 상담은 담당 전문 중개사를 통해 제공됩니다.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0284C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 ·  Cadastral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지적도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0284C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연속지적도 (V-World)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제3종일반주거지역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53328" y="2295144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295144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건폐율 상한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170475" y="2295144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50%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53328" y="278892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788920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용적률 상한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170475" y="2788920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250%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053328" y="3282696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3282696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개별공시지가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170475" y="3282696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28,500,000원/㎡ (94,215,300원/평, 2024년)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053328" y="4005072"/>
            <a:ext cx="55714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© V-World 국토교통부 | 2026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0284C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2026-09-04T00:45:19Z</dcterms:created>
  <dcterms:modified xsi:type="dcterms:W3CDTF">2026-09-04T00:45:19Z</dcterms:modified>
</cp:coreProperties>
</file>