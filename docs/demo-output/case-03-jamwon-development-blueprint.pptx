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Shape 2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0284C7">
              <a:alpha val="8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서초구 잠원동 역세권 신축 개발부지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298094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474720"/>
            <a:ext cx="1975104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474720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51760" y="34747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2651760" y="34747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242억원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114800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0369A1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3159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F2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242억원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Gallery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주요 전경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4440"/>
            <a:ext cx="6557894" cy="4709160"/>
          </a:xfrm>
          <a:prstGeom prst="roundRect">
            <a:avLst>
              <a:gd name="adj" fmla="val 116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6557894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5650992"/>
            <a:ext cx="6557894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76656" y="5650992"/>
            <a:ext cx="6338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252838" y="1234440"/>
            <a:ext cx="4371929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52838" y="1234440"/>
            <a:ext cx="4371929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259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73259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252838" y="3232404"/>
            <a:ext cx="4371929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7362566" y="3232404"/>
            <a:ext cx="41524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252838" y="3653028"/>
            <a:ext cx="4371929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52838" y="3653028"/>
            <a:ext cx="4371929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3259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73259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252838" y="5650992"/>
            <a:ext cx="4371929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7362566" y="5650992"/>
            <a:ext cx="41524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123-1번지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330.58㎡ (100.00평)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123-2번지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198.35㎡ (60.00평)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합산 대지면적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528.93㎡ (160.00평)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 (법정 건폐율 50%, 용적률 250%)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123-1번지: 330.58㎡ (100.00평)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123-2번지: 198.35㎡ (60.00평)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합산 대지면적: 528.93㎡ (160.00평)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대상지 입지 및 인프라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서초구 잠원동 초역세권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3호선 잠원역 도보 4분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강남대로 및 한남대교 남단 직결로 도심 및 강남 접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Land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28,500,000원/㎡ (94,215,300원/평, 2024년)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284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0F2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E0F2FE"/>
          </a:solidFill>
          <a:ln/>
        </p:spPr>
      </p:sp>
      <p:sp>
        <p:nvSpPr>
          <p:cNvPr id="24" name="Shape 22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3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다필지 대지 현황 종합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필지 일괄 매각 개요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123-1번지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330.58㎡ (100.00평)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123-2번지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198.35㎡ (60.00평)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합산 대지면적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528.93㎡ (160.00평)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 (법정 건폐율 50%, 용적률 250%)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284C7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E0F2FE"/>
          </a:solidFill>
          <a:ln/>
        </p:spPr>
      </p:sp>
      <p:sp>
        <p:nvSpPr>
          <p:cNvPr id="21" name="Shape 18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2" name="Text 19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 구성 및 만기 분산 현황을 점검하였습니다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Land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28,500,000원/㎡ (94,215,300원/평, 2024년)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284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0F2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E0F2FE"/>
          </a:solidFill>
          <a:ln/>
        </p:spPr>
      </p:sp>
      <p:sp>
        <p:nvSpPr>
          <p:cNvPr id="24" name="Shape 22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3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Scale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신축규모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이용 규제 및 인허가 조건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Eviction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명도계획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이용 규제 및 인허가 조건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 접면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8m × 6m 코너 각지 도로 접면 우수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건축한계선 및 일조권 사선제한 시뮬레이션 완료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건축한계선 및 일조권 사선제한 시뮬레이션 완료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284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0F2F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E0F2FE"/>
          </a:solidFill>
          <a:ln/>
        </p:spPr>
      </p:sp>
      <p:sp>
        <p:nvSpPr>
          <p:cNvPr id="18" name="Shape 16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Cost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투입비용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Stacking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스태킹계획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208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층별 용도 및 면적 배분 계획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2011680"/>
          <a:ext cx="4934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9728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면적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타깃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스태킹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208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신축 개요 및 규제 기한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61608" y="2011680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대지면적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36740" y="2011680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61608" y="2450592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1608" y="2450592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신축 연면적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36740" y="2450592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61608" y="2889504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1608" y="2889504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건폐율 / 용적률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36740" y="2889504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-% / -%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61608" y="3328416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1608" y="3328416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총공사비 (1,200만/평)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336740" y="3328416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61608" y="3767328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61608" y="3767328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총사업비 (토지+공사+예비비)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36740" y="3767328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프로젝트 투자 하이라이트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0584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Development Highlights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5368900" cy="3474720"/>
          </a:xfrm>
          <a:prstGeom prst="roundRect">
            <a:avLst>
              <a:gd name="adj" fmla="val 2105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53689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491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PF 심의 및 자금조달에 최적화된 투명한 3단 사업비 모델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624328"/>
            <a:ext cx="49117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49117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PF 심의 및 자금조달에 최적화된 투명한 3단 사업비 모델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5868" y="1481328"/>
            <a:ext cx="5368900" cy="3474720"/>
          </a:xfrm>
          <a:prstGeom prst="roundRect">
            <a:avLst>
              <a:gd name="adj" fmla="val 2105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5868" y="1481328"/>
            <a:ext cx="53689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6" name="Shape 14"/>
          <p:cNvSpPr/>
          <p:nvPr/>
        </p:nvSpPr>
        <p:spPr>
          <a:xfrm>
            <a:off x="648446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8446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84468" y="2194560"/>
            <a:ext cx="491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완공 후 통사옥 매각 또는 고급 메디컬 클리닉 빌딩 분양 시 높은 개발이익 기대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84468" y="2624328"/>
            <a:ext cx="49117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4468" y="2779776"/>
            <a:ext cx="49117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완공 후 통사옥 매각 또는 고급 메디컬 클리닉 빌딩 분양 시 높은 개발이익 기대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0F2FE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및 규제 기한 리스크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리스크 점검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명도: 구옥 2동 소유주 직영 중으로 잔금 전 명도 완료 확약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한시 조례 용적률 완화 인센티브 잔여일: 630일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1470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사업 추진 일정표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체결 건축 심의 접수 (2개월) 건축허가 완료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체결 건축 심의 접수 (2개월) 건축허가 완료 (4개월) 철거 및 착공 (6개월) 준공 (18개월)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2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·  Cadastral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250%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28,500,000원/㎡ (94,215,300원/평, 2024년)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53328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2026-09-04T00:33:43Z</dcterms:created>
  <dcterms:modified xsi:type="dcterms:W3CDTF">2026-09-04T00:33:43Z</dcterms:modified>
</cp:coreProperties>
</file>