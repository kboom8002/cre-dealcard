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4" name="Shape 1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5" name="Shape 2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신사 가로수길 부티크 호스피탈리티 빌딩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operating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682496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operating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359152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3" name="Text 10"/>
          <p:cNvSpPr/>
          <p:nvPr/>
        </p:nvSpPr>
        <p:spPr>
          <a:xfrm>
            <a:off x="2359152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180억원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180억원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Leasable Space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 전용 임대공간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546491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3232404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76656" y="3232404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신사동 가로수길 부티크 호스피탈리티 &amp; 코리빙 빌딩 전경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159856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9856" y="1234440"/>
            <a:ext cx="5464912" cy="22905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59856" y="3232404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6269584" y="3232404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컨시어지 및 프리미엄 카페·라운지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66928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653028"/>
            <a:ext cx="5464912" cy="229057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66928" y="5650992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676656" y="5650992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스위트 코너 룸 및 독립형 테라스 객실 내부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159856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9856" y="3653028"/>
            <a:ext cx="5464912" cy="229057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159856" y="5650992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6269584" y="5650992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루프탑 라운지 바 및 야외 조경 휴게 공간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719072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13834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78426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78426" y="1719072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강남구 신사동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060741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5333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자산유형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5333" y="1719072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6928" y="34290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75818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86791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38679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07008" y="383133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해당 권역 내 우수한 접근성 및 중장기 자산 가치 보존 잠재력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45312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456285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45628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07008" y="452628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현금흐름: 현 임대차 계약 구조를 통한 월 임대소득 창출 자산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148072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5257800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52578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07008" y="5221224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점검: 상세 임대차 계약 및 공부상 권리관계 정밀 실사 권장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신사 가로수길 핵심 입지 및 접근성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신사역 및 가로수길 메인 스트리트 입지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557143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3호선·신분당선 환승역 신사역 도보 4분 초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557143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가로수길 및 압구정 로데오 연계 하이엔드 상권 중심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2788920"/>
            <a:ext cx="557143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인천공항 리무진 버스정류장 도보 2분 (외국인 투숙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60%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400%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도로접면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동측 12m 대로 접면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18,500,000원/㎡ (61,157,300원/평, 2024년)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23" name="Shape 21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4" name="Text 22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지표 및 핵심 퍼포먼스 (KPI)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2588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운영 지표 (Key Performance Indicators)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91640"/>
            <a:ext cx="2536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객실 가동률 (OCC)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03474" y="1691640"/>
            <a:ext cx="4138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91.2% (연평균)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112264"/>
            <a:ext cx="667512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112264"/>
            <a:ext cx="2536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객실당 평균 단가 (ADR)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03474" y="2112264"/>
            <a:ext cx="4138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148,000원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32888"/>
            <a:ext cx="667512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32888"/>
            <a:ext cx="2536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이용객당 수익 (RevPAR)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03474" y="2532888"/>
            <a:ext cx="4138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134,976원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953512"/>
            <a:ext cx="667512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53512"/>
            <a:ext cx="2536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F&amp;B 및 부가매출 비율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03474" y="2953512"/>
            <a:ext cx="4138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매출의 24.5%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4754880"/>
            <a:ext cx="6675120" cy="1234440"/>
          </a:xfrm>
          <a:prstGeom prst="roundRect">
            <a:avLst>
              <a:gd name="adj" fmla="val 4444"/>
            </a:avLst>
          </a:prstGeom>
          <a:solidFill>
            <a:srgbClr val="BEE3F8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4809744"/>
            <a:ext cx="36576" cy="11247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4864608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안정성 진단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9808" y="5084064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투자 포인트 및 자산 분석 내용은 IM 본문을 참조하시기 바랍니다.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742492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07808" y="1536192"/>
            <a:ext cx="4016959" cy="1325880"/>
          </a:xfrm>
          <a:prstGeom prst="roundRect">
            <a:avLst>
              <a:gd name="adj" fmla="val 4138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1664208"/>
            <a:ext cx="3687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객실 가동률 (OCC)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72400" y="1883664"/>
            <a:ext cx="36877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91.2% (연평균)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607808" y="3044952"/>
            <a:ext cx="4016959" cy="1325880"/>
          </a:xfrm>
          <a:prstGeom prst="roundRect">
            <a:avLst>
              <a:gd name="adj" fmla="val 4138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3172968"/>
            <a:ext cx="3687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객실당 평균 단가 (ADR)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72400" y="3392424"/>
            <a:ext cx="36877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148,000원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607808" y="4553712"/>
            <a:ext cx="4016959" cy="1325880"/>
          </a:xfrm>
          <a:prstGeom prst="roundRect">
            <a:avLst>
              <a:gd name="adj" fmla="val 4138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4681728"/>
            <a:ext cx="3687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이용객당 수익 (RevPAR)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772400" y="4901184"/>
            <a:ext cx="36877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134,976원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및 실질 영업이익 (GOP) 구조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구조 및 비용 통제 모델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205740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11226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16712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386584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총 매출 16.5억 원 중 객실 매출 75.5%, 1층 카페/라운지 24.5% 운영비(OPEX) 및 위탁운영 수수료 32% 엄격 통제로 높은 실질 영업이익률 달성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계절성 및 변동성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구조 및 비용 통제 모델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205740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11226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16712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386584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총 매출 16.5억 원 중 객실 매출 75.5%, 1층 카페/라운지 24.5% 운영비(OPEX) 및 위탁운영 수수료 32% 엄격 통제로 높은 실질 영업이익률 달성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운영사 현황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운영 지표 (Key Performance Indicators)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가동률 (OCC)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88.5% (91.2%)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객실 단가 (ADR)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138,000원 (148,000원)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총매출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14.2억 원 (16.5억 원)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실질 영업이익 (GOP)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8.8억 원 (11.25억 원)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F3EBDA"/>
          </a:solidFill>
          <a:ln/>
        </p:spPr>
      </p:sp>
      <p:sp>
        <p:nvSpPr>
          <p:cNvPr id="20" name="Shape 18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요약 포인트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객실 가동률 (OCC): 91.2% (연평균)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객실당 평균 단가 (ADR): 148,000원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이용객당 수익 (RevPAR): 134,976원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및 자본 조달 구조 분석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0661" y="201168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180.0억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0661" y="248716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8.28억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62656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70661" y="2962656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1.62억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38144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70661" y="3438144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189.9억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913632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70661" y="3913632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9.0억 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8912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70661" y="438912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90.0억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86460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70661" y="486460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90.9억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180.9억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3.78%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108.9억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3.11%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90.9억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2.77%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72.9억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2.27%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EBC8"/>
          </a:solidFill>
          <a:ln/>
        </p:spPr>
      </p:sp>
      <p:sp>
        <p:nvSpPr>
          <p:cNvPr id="32" name="Shape 29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33" name="Text 30"/>
          <p:cNvSpPr/>
          <p:nvPr/>
        </p:nvSpPr>
        <p:spPr>
          <a:xfrm>
            <a:off x="6644488" y="4178808"/>
            <a:ext cx="460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42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644488" y="4398264"/>
            <a:ext cx="4605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30" dirty="0"/>
          </a:p>
        </p:txBody>
      </p:sp>
      <p:sp>
        <p:nvSpPr>
          <p:cNvPr id="35" name="Text 3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운영형 자산 투자 하이라이트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Hospitality Value Proposition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81328"/>
            <a:ext cx="3472586" cy="54864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D9B668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상업지역 지가 상승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" y="2624328"/>
            <a:ext cx="3015386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신사역세권 일반상업지역 부지로 토지 자체의 자본이득 극대화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59554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59554" y="1481328"/>
            <a:ext cx="3472586" cy="54864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4588154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D9B668"/>
          </a:solidFill>
          <a:ln/>
        </p:spPr>
      </p:sp>
      <p:sp>
        <p:nvSpPr>
          <p:cNvPr id="17" name="Text 15"/>
          <p:cNvSpPr/>
          <p:nvPr/>
        </p:nvSpPr>
        <p:spPr>
          <a:xfrm>
            <a:off x="4588154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88154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고수익 현금흐름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88154" y="2624328"/>
            <a:ext cx="3015386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88154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임대수익률을 상회하는 연 6.25%의 실질 영업이익 (GOP) 창출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52181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52181" y="1481328"/>
            <a:ext cx="3472586" cy="54864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8380781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D9B668"/>
          </a:solidFill>
          <a:ln/>
        </p:spPr>
      </p:sp>
      <p:sp>
        <p:nvSpPr>
          <p:cNvPr id="24" name="Text 22"/>
          <p:cNvSpPr/>
          <p:nvPr/>
        </p:nvSpPr>
        <p:spPr>
          <a:xfrm>
            <a:off x="8380781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80781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공간 유연성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380781" y="2624328"/>
            <a:ext cx="3015386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80781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메디컬 클리닉 또는 하이엔드 사옥으로의 즉각적 용도전환 가능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3EBDA"/>
          </a:solidFill>
          <a:ln w="10160">
            <a:solidFill>
              <a:srgbClr val="D9B6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자산에 대한 상세 분석 및 투자 의사결정은 원본 임대차 계약서 및 공부상 권리관계 실사를 바탕으로 진행됩니다.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및 확인 필요사항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6건)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828800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갑구/을구 권리관계 및 근저당 채권최고액 전액 말소 조건 원본 대조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" y="2825496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원본 계약서 대조 (보증금, 월임대료, 관리비 실입금 내역 및 제소전화해조서)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822192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건축물대장상 위반건축물 등재 여부 및 불법 증축·용도변경 이행강제금 납부 이력 점검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04508" y="1828800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토지이용계획확인원상 도시계획시설 저촉, 건축선 후퇴, 지구단위계획 특별계획구역 확인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04508" y="2825496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기계식 주차기 정기 안전점검 합격증, 승강기 검사필증, 소방 완비증명서 실물 실사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04508" y="3822192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정화조 용량 대비 현 업종 적합성 및 하수도 원인자부담금 추가 부과 대상 여부 확인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매수 의향 접수 및 실사 일정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데이터(PMS 실적) 열람 현장 실사 및 자산 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데이터(PMS 실적) 열람 현장 실사 및 자산 검수 조건 협의 및 본계약 (4주 소요)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 발췌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표제부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주용도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숙박시설 및 제2종근린생활시설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철근콘크리트구조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1,250.6㎡ (378.3평)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건축면적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220.5㎡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1대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66928" y="38404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84048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172968" y="38404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10대 (자주식 0 / 기계식 0)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26" name="Shape 24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7" name="Text 25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30" name="Shape 28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1" name="Text 29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지적도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60%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400%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도로접면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동측 12m 대로 접면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053328" y="4005072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2026-09-04T01:21:15Z</dcterms:created>
  <dcterms:modified xsi:type="dcterms:W3CDTF">2026-09-04T01:21:15Z</dcterms:modified>
</cp:coreProperties>
</file>