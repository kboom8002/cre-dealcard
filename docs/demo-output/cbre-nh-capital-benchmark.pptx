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NH농협캐피탈빌딩 투자설명서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오피스빌딩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오피스빌딩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773936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773936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2500억원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2500억원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I · Leasable Space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NH농협캐피탈빌딩 황혼 전경 및 상부 외관 파사드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정면 전경 (인접 주변 건물 모노크롬 대비 강조)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지상 1층 공개공지 및 진입 광장 전경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2개층 오픈 더블 하이트(Double-Height) 아트리움 로비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 II · Leasable Space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전용 임대공간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6557894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6557894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66928" y="5650992"/>
            <a:ext cx="6557894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76656" y="5650992"/>
            <a:ext cx="63384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국제금융로 코너 전면 글라스 커튼월 외관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252838" y="1234440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252838" y="1234440"/>
            <a:ext cx="4371929" cy="229057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252838" y="3232404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7362566" y="3232404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7층 전형적인 기준층 엘리베이터 홀 및 코어 마감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52838" y="3653028"/>
            <a:ext cx="4371929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252838" y="3653028"/>
            <a:ext cx="4371929" cy="229057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52838" y="5650992"/>
            <a:ext cx="4371929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7" name="Text 12"/>
          <p:cNvSpPr/>
          <p:nvPr/>
        </p:nvSpPr>
        <p:spPr>
          <a:xfrm>
            <a:off x="7362566" y="5650992"/>
            <a:ext cx="41524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야간 조명 연출 및 1층 리테일(롤링핀, GS25) 가시성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 / 소재지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/ 대지면적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/ 건축면적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928" y="283464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296265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" y="318211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/ 승강기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66928" y="430682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63600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" y="474573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474573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07008" y="470916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605.0평, 연면적 6,261.9평 규모의 여의도 희소 중대형 오피스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533095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44068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44068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40410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6층 ~ 지상 11층, 승강기 4대 완비 및 102대 100% 자주식 주차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광역 대중교통망 분석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금융허브 YBD 내 핵심지역 및 쿼드러플 환승 잠재력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샛강역(9호선·신림선) 도보 3분 초역세권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신림선 개통으로 관악·서남권 16분대 직결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여의도역(5·9호선) 도보 7분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올림픽대로, 원효대교, 마포대교를 통한 도심(CBD) 15분, 강남(GBD) 20분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호재 3대 축 완비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신안산선(2025 예정), GTX-B(2030 예정), 서부선 경전철(2030 예정) 직결 호재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8" name="Text 16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상세 제원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및 토지이용계획 3단 그룹 제원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대상지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건물명 / 소재지 (NH농협캐피탈빌딩 / 영등포구 여의도동 45-3)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 / 대지면적 (일반상업지역 / 2,000.00㎡ (605.00평))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/ 건축면적 (20,700.61㎡ (6,261.93평) / 1,163.73㎡ (352.03평))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/ 용적률 (58.19% / 566.31%)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/ 승강기 (총 102대 (자주식 95 옥내, 7 옥외) / 승강기 4대)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BEE3F8"/>
          </a:solidFill>
          <a:ln/>
        </p:spPr>
      </p:sp>
      <p:sp>
        <p:nvSpPr>
          <p:cNvPr id="24" name="Shape 21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5" name="Text 22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 605.0평, 연면적 6,261.9평 규모의 여의도 희소 중대형 오피스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 6층 ~ 지상 11층, 승강기 4대 완비 및 102대 100% 자주식 주차</a:t>
            </a:r>
            <a:endParaRPr lang="en-US" sz="930" dirty="0"/>
          </a:p>
        </p:txBody>
      </p:sp>
      <p:sp>
        <p:nvSpPr>
          <p:cNvPr id="27" name="Text 2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 Roll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및 스태킹 플랜</a:t>
            </a:r>
            <a:endParaRPr lang="en-US" sz="2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184768"/>
                <a:gridCol w="1974614"/>
                <a:gridCol w="1974614"/>
                <a:gridCol w="1974614"/>
                <a:gridCol w="1974614"/>
                <a:gridCol w="1974614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주용도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전용면적(평)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임대면적(평)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입주사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71809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만기연도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120.94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241.53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156.85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313.27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276.87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552.94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276.87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552.94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276.87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552.94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277.20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553.67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277.20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553.67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NH농협캐피탈(주)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278.22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555.65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어니스트인베스트먼트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르그랑코리아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업무시설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278.23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555.65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한국휴렛팩커드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지앤비시스템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근생/업무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221.52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426.98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세광그린푸드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오피스디포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근린생활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155.77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315.94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롤링핀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베이커리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GS25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편의점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B1F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근린생활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318.56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553.24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아비쥬의원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수티문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0161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</a:t>
                      </a:r>
                      <a:endParaRPr lang="en-US" sz="9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층별 임대차 실측 렌트롤 및 만기 현황 (WALE 2.1년, 공실률 0%)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11F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(120.94)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10F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(156.85)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9F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(276.87)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8F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(276.87)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7F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(276.87)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6F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(277.20)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66928" y="427939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27939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172968" y="427939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(277.20)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66928" y="47183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71830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3172968" y="471830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(278.22)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66928" y="515721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515721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3172968" y="515721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(278.23)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566928" y="559612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59612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3172968" y="559612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근생/업무 (221.52)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F3EBDA"/>
          </a:solidFill>
          <a:ln/>
        </p:spPr>
      </p:sp>
      <p:sp>
        <p:nvSpPr>
          <p:cNvPr id="38" name="Shape 36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9" name="Text 37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요약 포인트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5F~11F 및 B2F: 앵커 테넌트 NH농협캐피탈(주) 8개층 단독 임차 (2026.04 만기)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저층부 및 B1F: 우량 리테일(롤링핀, 아비쥬의원, GS25, 세광그린푸드) 장기 영업 중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 및 임대수익 구조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B98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2.52%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총액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120억 원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임대료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5억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2.1년 (우량 금융사 및 대기업 임…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66928" y="4626864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BEE3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4681728"/>
            <a:ext cx="36576" cy="117043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4736592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49808" y="4956048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(Cap Rate): 2.52% (매각희망가 2,500억 원 기준) 보증금 총액: 120억 원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주변 오피스 시세 비교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YBD 프라임 오피스 실거래가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 평당 약 3,800만 ~ 4,300만 원 형성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본건 대상(연면적 평당 약 3,992만 원)은 여의도 핵심 입지 및 단독 사옥 희소성 대비 적정 시장 가치 확보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Thesis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133856" y="1005840"/>
            <a:ext cx="1049091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CBRE 벤치마크 5대 핵심 투자 기둥 (5 Strategic Pillars)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5368900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0" name="Text 8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9552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Superb Accessibility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" y="2624328"/>
            <a:ext cx="49117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9호선·신림선 샛강역 도보 3분, 5·9호선 여의도역 도보 7분의 쿼드러플 대중교통망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55868" y="1481328"/>
            <a:ext cx="5368900" cy="3474720"/>
          </a:xfrm>
          <a:prstGeom prst="roundRect">
            <a:avLst>
              <a:gd name="adj" fmla="val 2105"/>
            </a:avLst>
          </a:prstGeom>
          <a:solidFill>
            <a:srgbClr val="F7FAFC"/>
          </a:solidFill>
          <a:ln w="1016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5868" y="1481328"/>
            <a:ext cx="5368900" cy="54864"/>
          </a:xfrm>
          <a:prstGeom prst="rect">
            <a:avLst/>
          </a:prstGeom>
          <a:solidFill>
            <a:srgbClr val="B98A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446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D9B668"/>
          </a:solidFill>
          <a:ln/>
        </p:spPr>
      </p:sp>
      <p:sp>
        <p:nvSpPr>
          <p:cNvPr id="17" name="Text 15"/>
          <p:cNvSpPr/>
          <p:nvPr/>
        </p:nvSpPr>
        <p:spPr>
          <a:xfrm>
            <a:off x="648446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84468" y="2194560"/>
            <a:ext cx="49117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WALE 2.1년 가치 상승 기회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84468" y="2624328"/>
            <a:ext cx="4911700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4468" y="2779776"/>
            <a:ext cx="49117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잔여 임대기간 2.1년 도래 시 YBD 오피스 임대료 인상 반영 또는 매수인 사옥 자가사용 가능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F3EBDA"/>
          </a:solidFill>
          <a:ln w="10160">
            <a:solidFill>
              <a:srgbClr val="D9B66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및 확인 필요사항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안정성 확보를 위한 필수 법률·물리·임대차 실사 점검 항목 (총 6건)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갑구/을구 권리관계 및 근저당 채권최고액 전액 말소 조건 원본 대조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556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원본 계약서 대조 (보증금, 월임대료, 관리비 실입금 내역 및 제소전화해조서)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건축물대장상 위반건축물 등재 여부 및 불법 증축·용도변경 이행강제금 납부 이력 점검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5868" y="1719072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1" name="Text 19"/>
          <p:cNvSpPr/>
          <p:nvPr/>
        </p:nvSpPr>
        <p:spPr>
          <a:xfrm>
            <a:off x="6393028" y="18836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04508" y="1828800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토지이용계획확인원상 도시계획시설 저촉, 건축선 후퇴, 지구단위계획 특별계획구역 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55868" y="2715768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5" name="Text 23"/>
          <p:cNvSpPr/>
          <p:nvPr/>
        </p:nvSpPr>
        <p:spPr>
          <a:xfrm>
            <a:off x="6393028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04508" y="2825496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기계식 주차기 정기 안전점검 합격증, 승강기 검사필증, 소방 완비증명서 실물 실사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55868" y="3712464"/>
            <a:ext cx="536890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29" name="Text 27"/>
          <p:cNvSpPr/>
          <p:nvPr/>
        </p:nvSpPr>
        <p:spPr>
          <a:xfrm>
            <a:off x="6393028" y="38770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04508" y="3822192"/>
            <a:ext cx="46831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정화조 용량 대비 현 업종 적합성 및 하수도 원인자부담금 추가 부과 대상 여부 확인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" y="5760720"/>
            <a:ext cx="11057839" cy="594360"/>
          </a:xfrm>
          <a:prstGeom prst="rect">
            <a:avLst/>
          </a:prstGeom>
          <a:solidFill>
            <a:srgbClr val="D9B668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5833872"/>
            <a:ext cx="10692079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체크리스트는 계약 전 매수인의 안전한 자산 인수를 위한 필수 확인 사항이며, 실사(Due Diligence) 결과에 따라 매매 조건 및 잔금 일정이 조정될 수 있습니다.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면책 및 진행 절차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572768"/>
            <a:ext cx="5346040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잠재 매수인의 예비 투자 검토 목적으로 작성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잠재 매수인의 예비 투자 검토 목적으로 작성된 비밀 유지 문서(Confidential &amp; Proprietary)입니다.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0"/>
          </a:solidFill>
          <a:ln w="6350">
            <a:solidFill>
              <a:srgbClr val="71809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8728" y="1572768"/>
            <a:ext cx="5346040" cy="3200400"/>
          </a:xfrm>
          <a:prstGeom prst="roundRect">
            <a:avLst>
              <a:gd name="adj" fmla="val 1714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8184" y="1792224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64981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8184" y="2304288"/>
            <a:ext cx="4907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8184" y="2761488"/>
            <a:ext cx="49071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거래 절차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매수의향서(LOI) 접수 데이터룸(VDR) 실사 입찰 및 우선협상대상자 선정 매매계약 체결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72968" y="164592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업무시설 및 제2종근린생활시설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08483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084832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72968" y="2084832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252374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23744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172968" y="2523744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20,700.61㎡ (6261.9평)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962656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172968" y="2962656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1,163.73㎡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66928" y="340156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401568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172968" y="3401568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4대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66928" y="384048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840480"/>
            <a:ext cx="2606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172968" y="3840480"/>
            <a:ext cx="4251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102대 (자주식 0 / 기계식 0)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98A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BEE3F8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BEE3F8"/>
          </a:solidFill>
          <a:ln/>
        </p:spPr>
      </p:sp>
      <p:sp>
        <p:nvSpPr>
          <p:cNvPr id="30" name="Shape 28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31" name="Text 29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B6CB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800%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053328" y="3511296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2026-09-05T00:53:50Z</dcterms:created>
  <dcterms:modified xsi:type="dcterms:W3CDTF">2026-09-05T00:53:50Z</dcterms:modified>
</cp:coreProperties>
</file>