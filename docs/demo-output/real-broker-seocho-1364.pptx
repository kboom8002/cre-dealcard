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0" y="5029200"/>
            <a:ext cx="4419295" cy="1097280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서초동 1364-28 FM 빌딩 매각 안내서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income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6928" y="3584448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358444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income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920240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2" name="Text 9"/>
          <p:cNvSpPr/>
          <p:nvPr/>
        </p:nvSpPr>
        <p:spPr>
          <a:xfrm>
            <a:off x="1920240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230억원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1E40A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BE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230억원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대상지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소재지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541700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매각희망가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대상지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51880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토지 평당가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대상지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62059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순수익률 (Cap Rate)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6692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대상지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318211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 용도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37710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4170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541700" y="318211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18728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188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51880" y="318211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997467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62059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162059" y="318211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 / 용적률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66928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66928" y="4636008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6656" y="4745736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" y="474573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07008" y="4709160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분석: 핵심권역 소재 자산의 입지 특성 및 대지 지분 가치 확인 필요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6928" y="5330952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440680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" y="54406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207008" y="5404104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구조: 매매 시장 적정가 수준 대비 임대수익 현황 분석 필요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접근성 분석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서울특별시 서초구 서초동 1364-28 권역 중심 입지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557143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대중교통 및 도로 접근성 우수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53328" y="2295144"/>
            <a:ext cx="557143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GBD 업무·상업 배후수요 직결 우량 입지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053328" y="3017520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Location Macro Transit Engine (1600x1200 px, 266.7 DPI)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3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Land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· 개별공시지가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제3종일반주거지역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건폐율 상한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50%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용적률 상한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250%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1D4E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20" name="Shape 18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건물 제원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및 3단 그룹 Key Facts 제원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대상지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소재지 (서울특별시 서초구 서초동 1364-28)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대상지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매각희망가 (230억 원)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대상지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토지 평당가 (약 1.28억 원/평)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대상지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순수익률 (Cap Rate) (현재 1.15% 만실 정상화 2.30% (+1.15%p))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340156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대상지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172968" y="340156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 용도 (기업 사옥 직영 또는 리테일/오피스 밸류애드 복합임대)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384048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84048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172968" y="384048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 (596.00㎡ (180.3평))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66928" y="42793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27939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172968" y="427939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 (제3종일반주거지역)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66928" y="471830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71830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172968" y="471830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 / 용적률 (49.7% / 276.5% (기존 용적률 법정 250% 초과 활용))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66928" y="515721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515721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172968" y="515721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도로접면 (양재역 먹자골목 코너 사다리꼴 우량 부지)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66928" y="55961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55961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172968" y="559612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 (2,104.88㎡ (636.7평, 옥탑 10.9평 별도))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1D4ED8"/>
            </a:solidFill>
            <a:prstDash val="solid"/>
          </a:ln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7784287" y="470916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DBEAFE"/>
          </a:solidFill>
          <a:ln/>
        </p:spPr>
      </p:sp>
      <p:sp>
        <p:nvSpPr>
          <p:cNvPr id="38" name="Shape 35"/>
          <p:cNvSpPr/>
          <p:nvPr/>
        </p:nvSpPr>
        <p:spPr>
          <a:xfrm>
            <a:off x="7784287" y="4764024"/>
            <a:ext cx="36576" cy="13075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9" name="Text 36"/>
          <p:cNvSpPr/>
          <p:nvPr/>
        </p:nvSpPr>
        <p:spPr>
          <a:xfrm>
            <a:off x="7967167" y="4818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7967167" y="5038344"/>
            <a:ext cx="35112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임대차 계약 내역은 원본 계약서 대조가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 구성 및 만기 분산 현황을 점검하였습니다</a:t>
            </a:r>
            <a:endParaRPr lang="en-US" sz="930" dirty="0"/>
          </a:p>
        </p:txBody>
      </p:sp>
      <p:sp>
        <p:nvSpPr>
          <p:cNvPr id="41" name="Text 3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5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 (Rent Roll)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1442327"/>
                <a:gridCol w="2403878"/>
                <a:gridCol w="2403878"/>
                <a:gridCol w="2403878"/>
                <a:gridCol w="2403878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입주사명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보증금(원)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월차임(원)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계약만기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사무실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1,050,000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2026.08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공실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(예정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밸류애드)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공실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(즉시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유치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가능)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사무실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7,500,000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2025.04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공실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(예정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밸류애드)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식당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130,000,000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8,300,000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2026.08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파티룸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5,100,000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2026.08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구획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290,000,000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21,950,000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Stability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임대안정성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실측 렌트롤 상세 분석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6F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사무실 ()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5F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 (예정 / 밸류애드) ()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4F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 (즉시 유치 가능) ()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3F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사무실 (100,000,000)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340156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2F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172968" y="340156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 (예정 / 밸류애드) ()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384048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84048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1F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172968" y="384048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식당 (130,000,000)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66928" y="42793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27939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B1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172968" y="427939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파티룸 (60,000,000)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66928" y="471830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71830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합계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172968" y="471830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7개 구획 (290,000,000)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1D4E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31" name="Shape 29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2" name="Text 3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35" name="Shape 33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6" name="Text 34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7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Profit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수익성 및 현금흐름 분석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순수익률 (Cap Rate) 분석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11057839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연 순수익률 (Cap Rate)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1.15%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0773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233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임대수익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72330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2.63억 원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66928" y="3410712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3465576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520440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" y="3739896"/>
            <a:ext cx="107286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연 순수익률 (Cap Rate): 1.15% 연간 임대수익: 2.63억 원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8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Comps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주변 매물 및 실거래 시세 비교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2211568"/>
                <a:gridCol w="2211568"/>
                <a:gridCol w="2211568"/>
                <a:gridCol w="2211568"/>
                <a:gridCol w="2211568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소재지/명칭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대지면적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연면적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평당가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거래시점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서초동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1362-11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(실거래)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112.5평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480평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1.33억/평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2024-02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서초동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1358-3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(실거래)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140.2평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610평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1.32억/평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2023-10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양재동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12-8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(실거래)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165평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720평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1.30억/평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2024-05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서초동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1360-14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(인근매물)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130평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550평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1.40억/평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2024-04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3931920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원가법 제외: 노후도 감가 및 도심 역세권 수익형 상업용 부동산 특성상 사례비교법 및 수익환원법 2방식 적용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Capital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및 자본 조달 구조 분석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5391760" cy="438912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5391760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총취득원가 및 자기자본 소요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01168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 (A)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70661" y="201168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230.0억 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" y="2487168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48716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(4.6% 법정)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70661" y="248716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10.58억 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" y="2962656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962656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중개보수 (0.9% 한도)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70661" y="2962656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2.07억 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" y="3438144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438144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총취득원가 (A + 세/비용)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70661" y="3438144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242.7억 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" y="3913632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913632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임대보증금 승계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670661" y="3913632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11.5억 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5528" y="4389120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38912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담보대출 조달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70661" y="438912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115.0억 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5528" y="4864608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486460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 (Net Equity)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670661" y="486460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116.2억 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33008" y="1417320"/>
            <a:ext cx="5391760" cy="438912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33008" y="1417320"/>
            <a:ext cx="5391760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0" name="Text 28"/>
          <p:cNvSpPr/>
          <p:nvPr/>
        </p:nvSpPr>
        <p:spPr>
          <a:xfrm>
            <a:off x="646160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LTV 시나리오별 레버리지 효과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1608" y="2057400"/>
          <a:ext cx="4934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대출비율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실투자금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예상수익률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(무차입)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231.2억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3.78%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보수적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(안정형)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139.2억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3.11%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(기본형)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116.2억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2.77%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적극적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(레버리지)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93.2억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2.27%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6461608" y="4069080"/>
            <a:ext cx="4934560" cy="1463040"/>
          </a:xfrm>
          <a:prstGeom prst="roundRect">
            <a:avLst>
              <a:gd name="adj" fmla="val 3750"/>
            </a:avLst>
          </a:prstGeom>
          <a:solidFill>
            <a:srgbClr val="FEF3C7"/>
          </a:solidFill>
          <a:ln/>
        </p:spPr>
      </p:sp>
      <p:sp>
        <p:nvSpPr>
          <p:cNvPr id="33" name="Shape 30"/>
          <p:cNvSpPr/>
          <p:nvPr/>
        </p:nvSpPr>
        <p:spPr>
          <a:xfrm>
            <a:off x="6461608" y="4123944"/>
            <a:ext cx="36576" cy="135331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4" name="Text 31"/>
          <p:cNvSpPr/>
          <p:nvPr/>
        </p:nvSpPr>
        <p:spPr>
          <a:xfrm>
            <a:off x="6644488" y="4178808"/>
            <a:ext cx="460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역레버리지 유의 구간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644488" y="4398264"/>
            <a:ext cx="46053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차입 금리가 자산 총수익률을 상회하여 대출 실행 시 자기자본수익률이 하락할 수 있습니다. 에쿼티 비중 확대를 권장합니다.</a:t>
            </a:r>
            <a:endParaRPr lang="en-US" sz="930" dirty="0"/>
          </a:p>
        </p:txBody>
      </p:sp>
      <p:sp>
        <p:nvSpPr>
          <p:cNvPr id="36" name="Text 3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10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DCF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DCF 분석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11057839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8638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Thesis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가치 제안 (Value Proposition)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950976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가치 제안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81328"/>
            <a:ext cx="54864" cy="16230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1645920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6459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9844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강남권 핵심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52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강남권 핵심 입지 및 뛰어난 자산 가치 보존성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5586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55868" y="1481328"/>
            <a:ext cx="54864" cy="16230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" name="Shape 12"/>
          <p:cNvSpPr/>
          <p:nvPr/>
        </p:nvSpPr>
        <p:spPr>
          <a:xfrm>
            <a:off x="6438748" y="1645920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438748" y="16459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98738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안정적 우량 임차인 구성 및 현금흐름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332988"/>
            <a:ext cx="54864" cy="16230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9" name="Shape 17"/>
          <p:cNvSpPr/>
          <p:nvPr/>
        </p:nvSpPr>
        <p:spPr>
          <a:xfrm>
            <a:off x="749808" y="3497580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34975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29844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시세 대비 우수한 가격 경쟁력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5586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55868" y="3332988"/>
            <a:ext cx="54864" cy="16230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4" name="Shape 22"/>
          <p:cNvSpPr/>
          <p:nvPr/>
        </p:nvSpPr>
        <p:spPr>
          <a:xfrm>
            <a:off x="6438748" y="3497580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6438748" y="34975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98738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리모델링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8446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리모델링 및 임대 정상화를 통한 추가 밸류애드 기회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EFF6FF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5248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487168" y="5212080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자산에 대한 상세 분석 및 투자 의사결정은 원본 임대차 계약서 및 공부상 권리관계 실사를 바탕으로 진행됩니다.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Checklist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및 확인 필요사항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6건)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19072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" y="1828800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갑구/을구 권리관계 및 근저당 채권최고액 전액 말소 조건 원본 대조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2715768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15568" y="2825496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원본 계약서 대조 (보증금, 월임대료, 관리비 실입금 내역 및 제소전화해조서)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3712464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15568" y="3822192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건축물대장상 위반건축물 등재 여부 및 불법 증축·용도변경 이행강제금 납부 이력 점검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55868" y="1719072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0" name="Text 18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04508" y="1828800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토지이용계획확인원상 도시계획시설 저촉, 건축선 후퇴, 지구단위계획 특별계획구역 확인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55868" y="2715768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4" name="Text 22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04508" y="2825496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기계식 주차기 정기 안전점검 합격증, 승강기 검사필증, 소방 완비증명서 실물 실사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55868" y="3712464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8" name="Text 26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04508" y="3822192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정화조 용량 대비 현 업종 적합성 및 하수도 원인자부담금 추가 부과 대상 여부 확인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" y="5760720"/>
            <a:ext cx="11057839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5833872"/>
            <a:ext cx="10692079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진행 절차 및 타임라인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11057839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11057839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매수의향서(LOI) 접수 임대차 계약서 및 공부 정밀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매수의향서(LOI) 접수 임대차 계약서 및 공부 정밀 실사 본계약 체결 잔금 및 소유권 이전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Closing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9" name="Text 17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15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 Records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공부 발췌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표제부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주용도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제2종근린생활시설 및 업무시설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철근콘크리트구조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2,104.88㎡ (636.7평)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건축면적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296.14㎡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340156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사용승인일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172968" y="340156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1991-01-20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384048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84048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172968" y="384048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1대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66928" y="42793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27939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172968" y="427939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16대 (자주식 0 / 기계식 0)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1D4E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28" name="Shape 26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9" name="Text 27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32" name="Shape 30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3" name="Text 31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16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 Cadastral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지적도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연속지적도 (V-World)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제3종일반주거지역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건폐율 상한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50%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용적률 상한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250%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053328" y="3511296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17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2026-09-05T07:19:52Z</dcterms:created>
  <dcterms:modified xsi:type="dcterms:W3CDTF">2026-09-05T07:19:52Z</dcterms:modified>
</cp:coreProperties>
</file>