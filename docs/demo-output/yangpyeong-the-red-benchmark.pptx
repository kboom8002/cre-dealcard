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2A2118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3D2E1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33271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E8DE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A2030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61D2B"/>
          </a:solidFill>
          <a:ln/>
        </p:spPr>
      </p:sp>
      <p:sp>
        <p:nvSpPr>
          <p:cNvPr id="8" name="Shape 6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E2718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E8D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E8D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MEMORANDUM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더레드빌딩 매각 안내서 (양평동4가 117)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66928" y="3090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업무시설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358444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1E222D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35844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업무시설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773936" y="358444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1E222D"/>
          </a:solidFill>
          <a:ln/>
        </p:spPr>
      </p:sp>
      <p:sp>
        <p:nvSpPr>
          <p:cNvPr id="16" name="Text 14"/>
          <p:cNvSpPr/>
          <p:nvPr/>
        </p:nvSpPr>
        <p:spPr>
          <a:xfrm>
            <a:off x="1773936" y="35844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250억원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" y="4224528"/>
            <a:ext cx="6858000" cy="1225296"/>
          </a:xfrm>
          <a:prstGeom prst="roundRect">
            <a:avLst>
              <a:gd name="adj" fmla="val 2985"/>
            </a:avLst>
          </a:prstGeom>
          <a:solidFill>
            <a:srgbClr val="383428"/>
          </a:solidFill>
          <a:ln w="12700">
            <a:solidFill>
              <a:srgbClr val="665D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425696"/>
            <a:ext cx="6345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8DEC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250억원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6350">
            <a:solidFill>
              <a:srgbClr val="3D435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64008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2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0893247" y="640080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E8D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B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38912"/>
            <a:ext cx="384048" cy="219456"/>
          </a:xfrm>
          <a:prstGeom prst="rect">
            <a:avLst/>
          </a:prstGeom>
          <a:solidFill>
            <a:srgbClr val="232733"/>
          </a:solidFill>
          <a:ln w="6350">
            <a:solidFill>
              <a:srgbClr val="E8DE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D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60704" y="457200"/>
            <a:ext cx="105640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8D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Exterior &amp; Context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0704" y="640080"/>
            <a:ext cx="1056406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외관 및 입지 전경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1060704" y="1024128"/>
            <a:ext cx="1828800" cy="0"/>
          </a:xfrm>
          <a:prstGeom prst="line">
            <a:avLst/>
          </a:prstGeom>
          <a:noFill/>
          <a:ln w="6350">
            <a:solidFill>
              <a:srgbClr val="E8DE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6350">
            <a:solidFill>
              <a:srgbClr val="3D435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64008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893247" y="640080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E8D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B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38912"/>
            <a:ext cx="384048" cy="219456"/>
          </a:xfrm>
          <a:prstGeom prst="rect">
            <a:avLst/>
          </a:prstGeom>
          <a:solidFill>
            <a:srgbClr val="232733"/>
          </a:solidFill>
          <a:ln w="6350">
            <a:solidFill>
              <a:srgbClr val="E8DE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D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60704" y="457200"/>
            <a:ext cx="105640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8D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0704" y="640080"/>
            <a:ext cx="1056406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핵심요약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1060704" y="1024128"/>
            <a:ext cx="1828800" cy="0"/>
          </a:xfrm>
          <a:prstGeom prst="line">
            <a:avLst/>
          </a:prstGeom>
          <a:noFill/>
          <a:ln w="6350">
            <a:solidFill>
              <a:srgbClr val="E8DE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232733"/>
          </a:solidFill>
          <a:ln w="6350">
            <a:solidFill>
              <a:srgbClr val="3D435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대상지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1719072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건물명 / 소재지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7710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232733"/>
          </a:solidFill>
          <a:ln w="6350">
            <a:solidFill>
              <a:srgbClr val="3D43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4170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541700" y="1719072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용도지역 / 대지면적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18728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232733"/>
          </a:solidFill>
          <a:ln w="6350">
            <a:solidFill>
              <a:srgbClr val="3D435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188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351880" y="1719072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 / 건축면적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997467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232733"/>
          </a:solidFill>
          <a:ln w="6350">
            <a:solidFill>
              <a:srgbClr val="3D43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62059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162059" y="1719072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건폐율 / 용적률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66928" y="283464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232733"/>
          </a:solidFill>
          <a:ln w="6350">
            <a:solidFill>
              <a:srgbClr val="3D435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296265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31520" y="3182112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주차 / 승강기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66928" y="430682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4B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66928" y="4636008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6656" y="4745736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1A1813"/>
          </a:solidFill>
          <a:ln w="6350">
            <a:solidFill>
              <a:srgbClr val="F5F0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" y="474573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B5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207008" y="4709160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 156.9평, 연면적 753.5평 규모의 영등포 신축급 사옥 빌딩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66928" y="5330952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6656" y="5440680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1A1813"/>
          </a:solidFill>
          <a:ln w="6350">
            <a:solidFill>
              <a:srgbClr val="F5F0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6656" y="544068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B5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207008" y="5404104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건축면적 91.6평, 승강기 1대 완비 및 총 23대(기계식 22대/자주식 1대) 주차 확보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6350">
            <a:solidFill>
              <a:srgbClr val="3D435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64008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0893247" y="640080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E8D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B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38912"/>
            <a:ext cx="384048" cy="219456"/>
          </a:xfrm>
          <a:prstGeom prst="rect">
            <a:avLst/>
          </a:prstGeom>
          <a:solidFill>
            <a:srgbClr val="232733"/>
          </a:solidFill>
          <a:ln w="6350">
            <a:solidFill>
              <a:srgbClr val="E8DE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D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60704" y="457200"/>
            <a:ext cx="105640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8D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0704" y="640080"/>
            <a:ext cx="1056406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및 광역 인프라 분석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1060704" y="1024128"/>
            <a:ext cx="1828800" cy="0"/>
          </a:xfrm>
          <a:prstGeom prst="line">
            <a:avLst/>
          </a:prstGeom>
          <a:noFill/>
          <a:ln w="6350">
            <a:solidFill>
              <a:srgbClr val="E8DE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6350">
            <a:solidFill>
              <a:srgbClr val="3D435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64008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893247" y="640080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E8D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B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38912"/>
            <a:ext cx="384048" cy="219456"/>
          </a:xfrm>
          <a:prstGeom prst="rect">
            <a:avLst/>
          </a:prstGeom>
          <a:solidFill>
            <a:srgbClr val="232733"/>
          </a:solidFill>
          <a:ln w="6350">
            <a:solidFill>
              <a:srgbClr val="E8DE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D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60704" y="457200"/>
            <a:ext cx="105640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8D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0704" y="640080"/>
            <a:ext cx="1056406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현황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1060704" y="1024128"/>
            <a:ext cx="1828800" cy="0"/>
          </a:xfrm>
          <a:prstGeom prst="line">
            <a:avLst/>
          </a:prstGeom>
          <a:noFill/>
          <a:ln w="6350">
            <a:solidFill>
              <a:srgbClr val="E8DE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토지이용계획 · 개별공시지가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용도지역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준공업지역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2084832"/>
            <a:ext cx="6858000" cy="0"/>
          </a:xfrm>
          <a:prstGeom prst="line">
            <a:avLst/>
          </a:prstGeom>
          <a:noFill/>
          <a:ln w="3810">
            <a:solidFill>
              <a:srgbClr val="3D43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08483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법정 건폐율 상한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172968" y="208483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60%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66928" y="2523744"/>
            <a:ext cx="6858000" cy="0"/>
          </a:xfrm>
          <a:prstGeom prst="line">
            <a:avLst/>
          </a:prstGeom>
          <a:noFill/>
          <a:ln w="3810">
            <a:solidFill>
              <a:srgbClr val="3D435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52374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법정 용적률 상한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172968" y="2523744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400%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E8DE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0C4A6E"/>
          </a:solidFill>
          <a:ln/>
        </p:spPr>
      </p:sp>
      <p:sp>
        <p:nvSpPr>
          <p:cNvPr id="18" name="Shape 16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9" name="Text 17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및 권리관계 실사 포인트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접면 도로 폭 및 진출입 여건은 현장 실사 확인 사항입니다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등기부등본상 권리관계 및 제한물권 설정 여부를 확인하였습니다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지구단위계획 및 토지이용계획상 허용 용도를 검토하였습니다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7784287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0C4A6E"/>
          </a:solidFill>
          <a:ln/>
        </p:spPr>
      </p:sp>
      <p:sp>
        <p:nvSpPr>
          <p:cNvPr id="22" name="Shape 20"/>
          <p:cNvSpPr/>
          <p:nvPr/>
        </p:nvSpPr>
        <p:spPr>
          <a:xfrm>
            <a:off x="7784287" y="4032504"/>
            <a:ext cx="36576" cy="203911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3" name="Text 21"/>
          <p:cNvSpPr/>
          <p:nvPr/>
        </p:nvSpPr>
        <p:spPr>
          <a:xfrm>
            <a:off x="7967167" y="40873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및 운용 관리 상태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967167" y="4306824"/>
            <a:ext cx="351129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임차인별 계약 만기 분산 및 렌트롤 실사가 필요합니다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관리비 정산 내역 및 수선유지비 집행 이력을 점검하였습니다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취득세 감면 및 대출 조달 구조는 금융·세무 자문 후 확정됩니다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6350">
            <a:solidFill>
              <a:srgbClr val="3D435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64008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893247" y="640080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E8D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B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38912"/>
            <a:ext cx="384048" cy="219456"/>
          </a:xfrm>
          <a:prstGeom prst="rect">
            <a:avLst/>
          </a:prstGeom>
          <a:solidFill>
            <a:srgbClr val="232733"/>
          </a:solidFill>
          <a:ln w="6350">
            <a:solidFill>
              <a:srgbClr val="E8DE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D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60704" y="457200"/>
            <a:ext cx="105640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8D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0704" y="640080"/>
            <a:ext cx="1056406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및 건물 상세 제원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1060704" y="1024128"/>
            <a:ext cx="1828800" cy="0"/>
          </a:xfrm>
          <a:prstGeom prst="line">
            <a:avLst/>
          </a:prstGeom>
          <a:noFill/>
          <a:ln w="6350">
            <a:solidFill>
              <a:srgbClr val="E8DE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건축물대장 및 3단 그룹 Key Facts 제원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대상지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건물명 / 소재지 (더레드빌딩 / 영등포구 양평동4가 117)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2084832"/>
            <a:ext cx="6858000" cy="0"/>
          </a:xfrm>
          <a:prstGeom prst="line">
            <a:avLst/>
          </a:prstGeom>
          <a:noFill/>
          <a:ln w="3810">
            <a:solidFill>
              <a:srgbClr val="3D43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08483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172968" y="208483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용도지역 / 대지면적 (준공업지역 / 518.70㎡ (156.90평))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66928" y="2523744"/>
            <a:ext cx="6858000" cy="0"/>
          </a:xfrm>
          <a:prstGeom prst="line">
            <a:avLst/>
          </a:prstGeom>
          <a:noFill/>
          <a:ln w="3810">
            <a:solidFill>
              <a:srgbClr val="3D435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52374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172968" y="2523744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 / 건축면적 (2,490.88㎡ (753.49평) / 302.94㎡ (91.64평))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2962656"/>
            <a:ext cx="6858000" cy="0"/>
          </a:xfrm>
          <a:prstGeom prst="line">
            <a:avLst/>
          </a:prstGeom>
          <a:noFill/>
          <a:ln w="3810">
            <a:solidFill>
              <a:srgbClr val="3D43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96265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172968" y="2962656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건폐율 / 용적률 (58.40% / 398.80%)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66928" y="3401568"/>
            <a:ext cx="6858000" cy="0"/>
          </a:xfrm>
          <a:prstGeom prst="line">
            <a:avLst/>
          </a:prstGeom>
          <a:noFill/>
          <a:ln w="3810">
            <a:solidFill>
              <a:srgbClr val="3D435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340156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172968" y="3401568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주차 / 승강기 (총 23대 (기계식 22대, 옥외 자주식 1대) / 승강기 1대)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E8DEC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84287" y="1645920"/>
            <a:ext cx="3840480" cy="1810512"/>
          </a:xfrm>
          <a:prstGeom prst="roundRect">
            <a:avLst>
              <a:gd name="adj" fmla="val 3030"/>
            </a:avLst>
          </a:prstGeom>
          <a:solidFill>
            <a:srgbClr val="1A1813"/>
          </a:solidFill>
          <a:ln/>
        </p:spPr>
      </p:sp>
      <p:sp>
        <p:nvSpPr>
          <p:cNvPr id="24" name="Shape 22"/>
          <p:cNvSpPr/>
          <p:nvPr/>
        </p:nvSpPr>
        <p:spPr>
          <a:xfrm>
            <a:off x="7784287" y="1700784"/>
            <a:ext cx="36576" cy="1700784"/>
          </a:xfrm>
          <a:prstGeom prst="rect">
            <a:avLst/>
          </a:prstGeom>
          <a:solidFill>
            <a:srgbClr val="C4B598"/>
          </a:solidFill>
          <a:ln/>
        </p:spPr>
      </p:sp>
      <p:sp>
        <p:nvSpPr>
          <p:cNvPr id="25" name="Text 23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4B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요약 포인트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967167" y="1975104"/>
            <a:ext cx="351129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 156.9평, 연면적 753.5평 규모의 영등포 신축급 사옥 빌딩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건축면적 91.6평, 승강기 1대 완비 및 총 23대(기계식 22대/자주식 1대) 주차 확보</a:t>
            </a:r>
            <a:endParaRPr lang="en-US" sz="930" dirty="0"/>
          </a:p>
        </p:txBody>
      </p:sp>
      <p:sp>
        <p:nvSpPr>
          <p:cNvPr id="27" name="Shape 25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6350">
            <a:solidFill>
              <a:srgbClr val="3D435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64008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0893247" y="640080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E8D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B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38912"/>
            <a:ext cx="384048" cy="219456"/>
          </a:xfrm>
          <a:prstGeom prst="rect">
            <a:avLst/>
          </a:prstGeom>
          <a:solidFill>
            <a:srgbClr val="232733"/>
          </a:solidFill>
          <a:ln w="6350">
            <a:solidFill>
              <a:srgbClr val="E8DE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D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60704" y="457200"/>
            <a:ext cx="105640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8D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 Roll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0704" y="640080"/>
            <a:ext cx="1056406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현황 및 스태킹 플랜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1060704" y="1024128"/>
            <a:ext cx="1828800" cy="0"/>
          </a:xfrm>
          <a:prstGeom prst="line">
            <a:avLst/>
          </a:prstGeom>
          <a:noFill/>
          <a:ln w="6350">
            <a:solidFill>
              <a:srgbClr val="E8DE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645920"/>
            <a:ext cx="42019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- 10F~1F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68907" y="1645920"/>
            <a:ext cx="6855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11개 호실 우량 임차 중 (사무실, 메디컬, 렌탈 스튜디오, 헤어살롱, 피트니스)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2048256"/>
            <a:ext cx="11057839" cy="0"/>
          </a:xfrm>
          <a:prstGeom prst="line">
            <a:avLst/>
          </a:prstGeom>
          <a:noFill/>
          <a:ln w="3810">
            <a:solidFill>
              <a:srgbClr val="3D435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48256"/>
            <a:ext cx="42019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B1F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68907" y="2048256"/>
            <a:ext cx="6855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127.7평 공실 상태로 향후 리테일/F&amp;B/스튜디오 재임대 시 연간 순영업소득 추가 증대 가능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2450592"/>
            <a:ext cx="11057839" cy="0"/>
          </a:xfrm>
          <a:prstGeom prst="line">
            <a:avLst/>
          </a:prstGeom>
          <a:noFill/>
          <a:ln w="3810">
            <a:solidFill>
              <a:srgbClr val="3D435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450592"/>
            <a:ext cx="42019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보증금 총액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68907" y="2450592"/>
            <a:ext cx="6855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4억 9,500만 원 (SSoT 단일 원장 일치)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66928" y="2852928"/>
            <a:ext cx="11057839" cy="0"/>
          </a:xfrm>
          <a:prstGeom prst="line">
            <a:avLst/>
          </a:prstGeom>
          <a:noFill/>
          <a:ln w="3810">
            <a:solidFill>
              <a:srgbClr val="3D435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852928"/>
            <a:ext cx="42019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월 임대료 합계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68907" y="2852928"/>
            <a:ext cx="6855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4,657만 원 / 월 관리비: 576만 원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6350">
            <a:solidFill>
              <a:srgbClr val="3D435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64008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0893247" y="640080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E8D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B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38912"/>
            <a:ext cx="384048" cy="219456"/>
          </a:xfrm>
          <a:prstGeom prst="rect">
            <a:avLst/>
          </a:prstGeom>
          <a:solidFill>
            <a:srgbClr val="232733"/>
          </a:solidFill>
          <a:ln w="6350">
            <a:solidFill>
              <a:srgbClr val="E8DE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D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60704" y="457200"/>
            <a:ext cx="105640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8D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Stability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0704" y="640080"/>
            <a:ext cx="1056406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임대안정성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1060704" y="1024128"/>
            <a:ext cx="1828800" cy="0"/>
          </a:xfrm>
          <a:prstGeom prst="line">
            <a:avLst/>
          </a:prstGeom>
          <a:noFill/>
          <a:ln w="6350">
            <a:solidFill>
              <a:srgbClr val="E8DE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층별 임대차 렌트롤 및 단일 SSoT 현황 (WALE 1.4년, 공실률 8.3%)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10F~1F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11개 호실 우량 임차 중 (사무실, 메디컬, 렌탈 스튜디오, 헤어살롱, 피트니스)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2084832"/>
            <a:ext cx="6858000" cy="0"/>
          </a:xfrm>
          <a:prstGeom prst="line">
            <a:avLst/>
          </a:prstGeom>
          <a:noFill/>
          <a:ln w="3810">
            <a:solidFill>
              <a:srgbClr val="3D43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08483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B1F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172968" y="208483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127.7평 공실 상태로 향후 리테일/F&amp;B/스튜디오 재임대 시 연간 순영업소득 추가 증대 가능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66928" y="2523744"/>
            <a:ext cx="6858000" cy="0"/>
          </a:xfrm>
          <a:prstGeom prst="line">
            <a:avLst/>
          </a:prstGeom>
          <a:noFill/>
          <a:ln w="3810">
            <a:solidFill>
              <a:srgbClr val="3D435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52374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보증금 총액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172968" y="2523744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4억 9,500만 원 (SSoT 단일 원장 일치)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2962656"/>
            <a:ext cx="6858000" cy="0"/>
          </a:xfrm>
          <a:prstGeom prst="line">
            <a:avLst/>
          </a:prstGeom>
          <a:noFill/>
          <a:ln w="3810">
            <a:solidFill>
              <a:srgbClr val="3D43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96265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 임대료 합계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172968" y="2962656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4,657만 원 / 월 관리비: 576만 원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E8DEC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0C4A6E"/>
          </a:solidFill>
          <a:ln/>
        </p:spPr>
      </p:sp>
      <p:sp>
        <p:nvSpPr>
          <p:cNvPr id="21" name="Shape 19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2" name="Text 20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및 권리관계 실사 포인트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접면 도로 폭 및 진출입 여건은 현장 실사 확인 사항입니다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등기부등본상 권리관계 및 제한물권 설정 여부를 확인하였습니다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지구단위계획 및 토지이용계획상 허용 용도를 검토하였습니다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7784287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0C4A6E"/>
          </a:solidFill>
          <a:ln/>
        </p:spPr>
      </p:sp>
      <p:sp>
        <p:nvSpPr>
          <p:cNvPr id="25" name="Shape 23"/>
          <p:cNvSpPr/>
          <p:nvPr/>
        </p:nvSpPr>
        <p:spPr>
          <a:xfrm>
            <a:off x="7784287" y="4032504"/>
            <a:ext cx="36576" cy="203911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6" name="Text 24"/>
          <p:cNvSpPr/>
          <p:nvPr/>
        </p:nvSpPr>
        <p:spPr>
          <a:xfrm>
            <a:off x="7967167" y="40873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및 운용 관리 상태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967167" y="4306824"/>
            <a:ext cx="351129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임차인별 계약 만기 분산 및 렌트롤 실사가 필요합니다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관리비 정산 내역 및 수선유지비 집행 이력을 점검하였습니다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취득세 감면 및 대출 조달 구조는 금융·세무 자문 후 확정됩니다</a:t>
            </a:r>
            <a:endParaRPr lang="en-US" sz="930" dirty="0"/>
          </a:p>
        </p:txBody>
      </p:sp>
      <p:sp>
        <p:nvSpPr>
          <p:cNvPr id="28" name="Shape 26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6350">
            <a:solidFill>
              <a:srgbClr val="3D435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4008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0893247" y="640080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E8D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B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38912"/>
            <a:ext cx="384048" cy="219456"/>
          </a:xfrm>
          <a:prstGeom prst="rect">
            <a:avLst/>
          </a:prstGeom>
          <a:solidFill>
            <a:srgbClr val="232733"/>
          </a:solidFill>
          <a:ln w="6350">
            <a:solidFill>
              <a:srgbClr val="E8DE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D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60704" y="457200"/>
            <a:ext cx="105640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8D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0704" y="640080"/>
            <a:ext cx="1056406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수익성 및 현금흐름 분석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1060704" y="1024128"/>
            <a:ext cx="1828800" cy="0"/>
          </a:xfrm>
          <a:prstGeom prst="line">
            <a:avLst/>
          </a:prstGeom>
          <a:noFill/>
          <a:ln w="6350">
            <a:solidFill>
              <a:srgbClr val="E8DE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32588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연간 순영업소득 (NOI) 및 취득원가 구조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1737360"/>
            <a:ext cx="11057839" cy="0"/>
          </a:xfrm>
          <a:prstGeom prst="line">
            <a:avLst/>
          </a:prstGeom>
          <a:noFill/>
          <a:ln w="19050">
            <a:solidFill>
              <a:srgbClr val="E8DEC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196596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232733"/>
          </a:solidFill>
          <a:ln w="6350">
            <a:solidFill>
              <a:srgbClr val="3D435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순수익률 (Cap Rate)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31520" y="2313432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2.24%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307738" y="196596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232733"/>
          </a:solidFill>
          <a:ln w="6350">
            <a:solidFill>
              <a:srgbClr val="3D435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72330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연간 순영업소득 (NOI)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472330" y="2313432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5억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8048549" y="196596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232733"/>
          </a:solidFill>
          <a:ln w="6350">
            <a:solidFill>
              <a:srgbClr val="3D435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13141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취득원가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213141" y="2313432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263.75억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566928" y="3319272"/>
            <a:ext cx="3576218" cy="1051560"/>
          </a:xfrm>
          <a:prstGeom prst="roundRect">
            <a:avLst>
              <a:gd name="adj" fmla="val 5217"/>
            </a:avLst>
          </a:prstGeom>
          <a:solidFill>
            <a:srgbClr val="232733"/>
          </a:solidFill>
          <a:ln w="6350">
            <a:solidFill>
              <a:srgbClr val="3D435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4472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무차입 실투자금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31520" y="3666744"/>
            <a:ext cx="324703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258.80억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66928" y="4626864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0C4A6E"/>
          </a:solidFill>
          <a:ln/>
        </p:spPr>
      </p:sp>
      <p:sp>
        <p:nvSpPr>
          <p:cNvPr id="22" name="Shape 20"/>
          <p:cNvSpPr/>
          <p:nvPr/>
        </p:nvSpPr>
        <p:spPr>
          <a:xfrm>
            <a:off x="566928" y="4681728"/>
            <a:ext cx="36576" cy="117043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3" name="Text 21"/>
          <p:cNvSpPr/>
          <p:nvPr/>
        </p:nvSpPr>
        <p:spPr>
          <a:xfrm>
            <a:off x="749808" y="4736592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가치 제안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49808" y="4956048"/>
            <a:ext cx="10728655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순수익률 (Cap Rate): 2.24% (매매가 250억 원 기준) 연간 순영업소득 (NOI): 5억 5,884만 원 (연 임대료 5.59억 + 관리비 실비 상계)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6350">
            <a:solidFill>
              <a:srgbClr val="3D435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64008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893247" y="640080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E8D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B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38912"/>
            <a:ext cx="384048" cy="219456"/>
          </a:xfrm>
          <a:prstGeom prst="rect">
            <a:avLst/>
          </a:prstGeom>
          <a:solidFill>
            <a:srgbClr val="232733"/>
          </a:solidFill>
          <a:ln w="6350">
            <a:solidFill>
              <a:srgbClr val="E8DE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D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60704" y="457200"/>
            <a:ext cx="105640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8D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0704" y="640080"/>
            <a:ext cx="1056406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가격 근거 및 2대 밸류에이션 교차 검증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1060704" y="1024128"/>
            <a:ext cx="1828800" cy="0"/>
          </a:xfrm>
          <a:prstGeom prst="line">
            <a:avLst/>
          </a:prstGeom>
          <a:noFill/>
          <a:ln w="6350">
            <a:solidFill>
              <a:srgbClr val="E8DE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645920"/>
            <a:ext cx="42019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사례비교법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68907" y="1645920"/>
            <a:ext cx="6855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인근 3개 실거래(대지 평당 1.58억~1.68억 원) 대비 본건 대지 평당 1.59억 원으로 적정 밴드 내 부합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2048256"/>
            <a:ext cx="11057839" cy="0"/>
          </a:xfrm>
          <a:prstGeom prst="line">
            <a:avLst/>
          </a:prstGeom>
          <a:noFill/>
          <a:ln w="3810">
            <a:solidFill>
              <a:srgbClr val="3D435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48256"/>
            <a:ext cx="42019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수익환원법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68907" y="2048256"/>
            <a:ext cx="6855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NOI 5.59억 원 / 권역 요구 Cap Rate 2.1%~2.5% 환원 가치: 223.5억 ~ 266.1억 원 형성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2450592"/>
            <a:ext cx="11057839" cy="0"/>
          </a:xfrm>
          <a:prstGeom prst="line">
            <a:avLst/>
          </a:prstGeom>
          <a:noFill/>
          <a:ln w="3810">
            <a:solidFill>
              <a:srgbClr val="3D435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450592"/>
            <a:ext cx="42019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원가법 제외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68907" y="2450592"/>
            <a:ext cx="6855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도심 상업용 수익형 자산 특성 및 감가상각 왜곡 방지를 위해 중개인 지침에 따라 원가법은 배제하고 2방식 적용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6350">
            <a:solidFill>
              <a:srgbClr val="3D435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64008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0893247" y="640080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E8D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B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38912"/>
            <a:ext cx="384048" cy="219456"/>
          </a:xfrm>
          <a:prstGeom prst="rect">
            <a:avLst/>
          </a:prstGeom>
          <a:solidFill>
            <a:srgbClr val="232733"/>
          </a:solidFill>
          <a:ln w="6350">
            <a:solidFill>
              <a:srgbClr val="E8DE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D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60704" y="457200"/>
            <a:ext cx="105640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8D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0704" y="640080"/>
            <a:ext cx="1056406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및 자본 조달 구조 분석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1060704" y="1024128"/>
            <a:ext cx="1828800" cy="0"/>
          </a:xfrm>
          <a:prstGeom prst="line">
            <a:avLst/>
          </a:prstGeom>
          <a:noFill/>
          <a:ln w="6350">
            <a:solidFill>
              <a:srgbClr val="E8DE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417320"/>
            <a:ext cx="5391760" cy="4389120"/>
          </a:xfrm>
          <a:prstGeom prst="rect">
            <a:avLst/>
          </a:prstGeom>
          <a:solidFill>
            <a:srgbClr val="232733"/>
          </a:solidFill>
          <a:ln w="6350">
            <a:solidFill>
              <a:srgbClr val="3D435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618488"/>
            <a:ext cx="493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4B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총취득원가 및 자기자본 소요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5528" y="2011680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 (A)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670661" y="2011680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250.0억 원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95528" y="2487168"/>
            <a:ext cx="4934560" cy="0"/>
          </a:xfrm>
          <a:prstGeom prst="line">
            <a:avLst/>
          </a:prstGeom>
          <a:noFill/>
          <a:ln w="3810">
            <a:solidFill>
              <a:srgbClr val="3D43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2487168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취득세 (4.6% 법정)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670661" y="2487168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11.50억 원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95528" y="2962656"/>
            <a:ext cx="4934560" cy="0"/>
          </a:xfrm>
          <a:prstGeom prst="line">
            <a:avLst/>
          </a:prstGeom>
          <a:noFill/>
          <a:ln w="3810">
            <a:solidFill>
              <a:srgbClr val="3D43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" y="2962656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중개보수 (0.9% 한도)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670661" y="2962656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2.25억 원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95528" y="3438144"/>
            <a:ext cx="4934560" cy="0"/>
          </a:xfrm>
          <a:prstGeom prst="line">
            <a:avLst/>
          </a:prstGeom>
          <a:noFill/>
          <a:ln w="3810">
            <a:solidFill>
              <a:srgbClr val="3D435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528" y="3438144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총취득원가 (A + 세/비용)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670661" y="3438144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263.8억 원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95528" y="3913632"/>
            <a:ext cx="4934560" cy="0"/>
          </a:xfrm>
          <a:prstGeom prst="line">
            <a:avLst/>
          </a:prstGeom>
          <a:noFill/>
          <a:ln w="3810">
            <a:solidFill>
              <a:srgbClr val="3D435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" y="3913632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(-) 임대보증금 승계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670661" y="3913632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5.0억 원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95528" y="4389120"/>
            <a:ext cx="4934560" cy="0"/>
          </a:xfrm>
          <a:prstGeom prst="line">
            <a:avLst/>
          </a:prstGeom>
          <a:noFill/>
          <a:ln w="3810">
            <a:solidFill>
              <a:srgbClr val="3D435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5528" y="4389120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(-) 담보대출 조달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670661" y="4389120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125.0억 원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95528" y="4864608"/>
            <a:ext cx="4934560" cy="0"/>
          </a:xfrm>
          <a:prstGeom prst="line">
            <a:avLst/>
          </a:prstGeom>
          <a:noFill/>
          <a:ln w="3810">
            <a:solidFill>
              <a:srgbClr val="3D435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5528" y="4864608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실투자금 (Net Equity)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2670661" y="4864608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133.8억 원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33008" y="1417320"/>
            <a:ext cx="5391760" cy="4389120"/>
          </a:xfrm>
          <a:prstGeom prst="rect">
            <a:avLst/>
          </a:prstGeom>
          <a:solidFill>
            <a:srgbClr val="232733"/>
          </a:solidFill>
          <a:ln w="6350">
            <a:solidFill>
              <a:srgbClr val="3D435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61608" y="1618488"/>
            <a:ext cx="493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4B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LTV 시나리오별 레버리지 효과</a:t>
            </a:r>
            <a:endParaRPr lang="en-US" sz="13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61608" y="2057400"/>
          <a:ext cx="49345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05840"/>
                <a:gridCol w="1280160"/>
                <a:gridCol w="12801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3D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D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D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D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7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대출비율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3D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D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D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D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7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실투자금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3D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D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D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D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7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예상수익률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3D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D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D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D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7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BD5E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전액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BD5E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자기자본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BD5E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(무차입)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3D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D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D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D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3D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D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D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D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258.8억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3D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D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D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D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3.67%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3D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D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D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D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BD5E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보수적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BD5E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BD5E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(안정형)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3D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D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D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D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7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3D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D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D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D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7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158.8억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3D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D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D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D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7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2.96%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3D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D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D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D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7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BD5E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표준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BD5E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BD5E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(기본형)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3D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D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D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D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3D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D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D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D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133.8억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3D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D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D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D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2.62%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3D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D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D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D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BD5E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적극적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BD5E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BD5E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(레버리지)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3D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D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D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D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7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3D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D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D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D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7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108.8억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3D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D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D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D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7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2.11%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3D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D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D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D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733"/>
                    </a:solidFill>
                  </a:tcPr>
                </a:tc>
              </a:tr>
            </a:tbl>
          </a:graphicData>
        </a:graphic>
      </p:graphicFrame>
      <p:sp>
        <p:nvSpPr>
          <p:cNvPr id="32" name="Shape 29"/>
          <p:cNvSpPr/>
          <p:nvPr/>
        </p:nvSpPr>
        <p:spPr>
          <a:xfrm>
            <a:off x="6461608" y="4069080"/>
            <a:ext cx="4934560" cy="1463040"/>
          </a:xfrm>
          <a:prstGeom prst="roundRect">
            <a:avLst>
              <a:gd name="adj" fmla="val 3750"/>
            </a:avLst>
          </a:prstGeom>
          <a:solidFill>
            <a:srgbClr val="78350F"/>
          </a:solidFill>
          <a:ln/>
        </p:spPr>
      </p:sp>
      <p:sp>
        <p:nvSpPr>
          <p:cNvPr id="33" name="Shape 30"/>
          <p:cNvSpPr/>
          <p:nvPr/>
        </p:nvSpPr>
        <p:spPr>
          <a:xfrm>
            <a:off x="6461608" y="4123944"/>
            <a:ext cx="36576" cy="135331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4" name="Text 31"/>
          <p:cNvSpPr/>
          <p:nvPr/>
        </p:nvSpPr>
        <p:spPr>
          <a:xfrm>
            <a:off x="6644488" y="4178808"/>
            <a:ext cx="460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역레버리지 유의 구간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6644488" y="4398264"/>
            <a:ext cx="460537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차입 금리가 자산 총수익률을 상회하여 대출 실행 시 자기자본수익률이 하락할 수 있습니다. 에쿼티 비중 확대를 권장합니다.</a:t>
            </a:r>
            <a:endParaRPr lang="en-US" sz="930" dirty="0"/>
          </a:p>
        </p:txBody>
      </p:sp>
      <p:sp>
        <p:nvSpPr>
          <p:cNvPr id="36" name="Shape 33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6350">
            <a:solidFill>
              <a:srgbClr val="3D4356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66928" y="64008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10893247" y="640080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E8D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B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38912"/>
            <a:ext cx="384048" cy="219456"/>
          </a:xfrm>
          <a:prstGeom prst="rect">
            <a:avLst/>
          </a:prstGeom>
          <a:solidFill>
            <a:srgbClr val="232733"/>
          </a:solidFill>
          <a:ln w="6350">
            <a:solidFill>
              <a:srgbClr val="E8DE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D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60704" y="457200"/>
            <a:ext cx="105640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8D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Thesis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0704" y="640080"/>
            <a:ext cx="1056406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하이라이트 및 가치 제안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1060704" y="1024128"/>
            <a:ext cx="1828800" cy="0"/>
          </a:xfrm>
          <a:prstGeom prst="line">
            <a:avLst/>
          </a:prstGeom>
          <a:noFill/>
          <a:ln w="6350">
            <a:solidFill>
              <a:srgbClr val="E8DE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26664" y="960120"/>
            <a:ext cx="859810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4대 핵심 투자 포인트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66928" y="1481328"/>
            <a:ext cx="5368900" cy="3474720"/>
          </a:xfrm>
          <a:prstGeom prst="roundRect">
            <a:avLst>
              <a:gd name="adj" fmla="val 2105"/>
            </a:avLst>
          </a:prstGeom>
          <a:solidFill>
            <a:srgbClr val="232733"/>
          </a:solidFill>
          <a:ln w="10160">
            <a:solidFill>
              <a:srgbClr val="3D435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1481328"/>
            <a:ext cx="5368900" cy="54864"/>
          </a:xfrm>
          <a:prstGeom prst="rect">
            <a:avLst/>
          </a:prstGeom>
          <a:solidFill>
            <a:srgbClr val="E8DEC8"/>
          </a:solidFill>
          <a:ln/>
        </p:spPr>
      </p:sp>
      <p:sp>
        <p:nvSpPr>
          <p:cNvPr id="10" name="Shape 8"/>
          <p:cNvSpPr/>
          <p:nvPr/>
        </p:nvSpPr>
        <p:spPr>
          <a:xfrm>
            <a:off x="795528" y="1755648"/>
            <a:ext cx="475488" cy="292608"/>
          </a:xfrm>
          <a:prstGeom prst="roundRect">
            <a:avLst>
              <a:gd name="adj" fmla="val 12500"/>
            </a:avLst>
          </a:prstGeom>
          <a:solidFill>
            <a:srgbClr val="F5F0E6"/>
          </a:solidFill>
          <a:ln/>
        </p:spPr>
      </p:sp>
      <p:sp>
        <p:nvSpPr>
          <p:cNvPr id="11" name="Text 9"/>
          <p:cNvSpPr/>
          <p:nvPr/>
        </p:nvSpPr>
        <p:spPr>
          <a:xfrm>
            <a:off x="795528" y="1755648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B5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95528" y="2194560"/>
            <a:ext cx="49117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초역세권 대로변 희소 입지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95528" y="2624328"/>
            <a:ext cx="4911700" cy="0"/>
          </a:xfrm>
          <a:prstGeom prst="line">
            <a:avLst/>
          </a:prstGeom>
          <a:noFill/>
          <a:ln w="6350">
            <a:solidFill>
              <a:srgbClr val="3D435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2779776"/>
            <a:ext cx="49117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9호선 선유도역 도보 1분, 양평로 25m 접면 코너 각지로 우수한 기업 브랜딩 및 가시성 확보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55868" y="1481328"/>
            <a:ext cx="5368900" cy="3474720"/>
          </a:xfrm>
          <a:prstGeom prst="roundRect">
            <a:avLst>
              <a:gd name="adj" fmla="val 2105"/>
            </a:avLst>
          </a:prstGeom>
          <a:solidFill>
            <a:srgbClr val="232733"/>
          </a:solidFill>
          <a:ln w="10160">
            <a:solidFill>
              <a:srgbClr val="3D435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55868" y="1481328"/>
            <a:ext cx="5368900" cy="54864"/>
          </a:xfrm>
          <a:prstGeom prst="rect">
            <a:avLst/>
          </a:prstGeom>
          <a:solidFill>
            <a:srgbClr val="E8DEC8"/>
          </a:solidFill>
          <a:ln/>
        </p:spPr>
      </p:sp>
      <p:sp>
        <p:nvSpPr>
          <p:cNvPr id="17" name="Shape 15"/>
          <p:cNvSpPr/>
          <p:nvPr/>
        </p:nvSpPr>
        <p:spPr>
          <a:xfrm>
            <a:off x="6484468" y="1755648"/>
            <a:ext cx="475488" cy="292608"/>
          </a:xfrm>
          <a:prstGeom prst="roundRect">
            <a:avLst>
              <a:gd name="adj" fmla="val 12500"/>
            </a:avLst>
          </a:prstGeom>
          <a:solidFill>
            <a:srgbClr val="F5F0E6"/>
          </a:solidFill>
          <a:ln/>
        </p:spPr>
      </p:sp>
      <p:sp>
        <p:nvSpPr>
          <p:cNvPr id="18" name="Text 16"/>
          <p:cNvSpPr/>
          <p:nvPr/>
        </p:nvSpPr>
        <p:spPr>
          <a:xfrm>
            <a:off x="6484468" y="1755648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B5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84468" y="2194560"/>
            <a:ext cx="49117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안정적 운영수익률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84468" y="2624328"/>
            <a:ext cx="4911700" cy="0"/>
          </a:xfrm>
          <a:prstGeom prst="line">
            <a:avLst/>
          </a:prstGeom>
          <a:noFill/>
          <a:ln w="6350">
            <a:solidFill>
              <a:srgbClr val="3D435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84468" y="2779776"/>
            <a:ext cx="49117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무차입 기준 연 순수익률 2.24% 확보 및 관리비 실비 정산으로 운영비 누수 최소화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6928" y="5138928"/>
            <a:ext cx="11057839" cy="804672"/>
          </a:xfrm>
          <a:prstGeom prst="roundRect">
            <a:avLst>
              <a:gd name="adj" fmla="val 6818"/>
            </a:avLst>
          </a:prstGeom>
          <a:solidFill>
            <a:srgbClr val="1A1813"/>
          </a:solidFill>
          <a:ln w="10160">
            <a:solidFill>
              <a:srgbClr val="F5F0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524865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4B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가치 제안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487168" y="5212080"/>
            <a:ext cx="895471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자산에 대한 상세 분석 및 투자 의사결정은 원본 임대차 계약서 및 공부상 권리관계 실사를 바탕으로 진행됩니다.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6350">
            <a:solidFill>
              <a:srgbClr val="3D435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64008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893247" y="640080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E8D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B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38912"/>
            <a:ext cx="384048" cy="219456"/>
          </a:xfrm>
          <a:prstGeom prst="rect">
            <a:avLst/>
          </a:prstGeom>
          <a:solidFill>
            <a:srgbClr val="232733"/>
          </a:solidFill>
          <a:ln w="6350">
            <a:solidFill>
              <a:srgbClr val="E8DE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D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60704" y="457200"/>
            <a:ext cx="105640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8D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0704" y="640080"/>
            <a:ext cx="1056406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및 확인 필요사항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1060704" y="1024128"/>
            <a:ext cx="1828800" cy="0"/>
          </a:xfrm>
          <a:prstGeom prst="line">
            <a:avLst/>
          </a:prstGeom>
          <a:noFill/>
          <a:ln w="6350">
            <a:solidFill>
              <a:srgbClr val="E8DE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37160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거래 안정성 확보를 위한 필수 법률·물리·임대차 실사 점검 항목 (총 6건)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1719072"/>
            <a:ext cx="5368900" cy="868680"/>
          </a:xfrm>
          <a:prstGeom prst="rect">
            <a:avLst/>
          </a:prstGeom>
          <a:solidFill>
            <a:srgbClr val="232733"/>
          </a:solidFill>
          <a:ln w="6350">
            <a:solidFill>
              <a:srgbClr val="F5F0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4088" y="1883664"/>
            <a:ext cx="320040" cy="320040"/>
          </a:xfrm>
          <a:prstGeom prst="rect">
            <a:avLst/>
          </a:prstGeom>
          <a:solidFill>
            <a:srgbClr val="C4B598"/>
          </a:solidFill>
          <a:ln/>
        </p:spPr>
      </p:sp>
      <p:sp>
        <p:nvSpPr>
          <p:cNvPr id="10" name="Text 8"/>
          <p:cNvSpPr/>
          <p:nvPr/>
        </p:nvSpPr>
        <p:spPr>
          <a:xfrm>
            <a:off x="704088" y="18836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15568" y="1828800"/>
            <a:ext cx="46831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 갑구/을구 권리관계 및 근저당 채권최고액 전액 말소 조건 원본 대조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" y="2715768"/>
            <a:ext cx="5368900" cy="868680"/>
          </a:xfrm>
          <a:prstGeom prst="rect">
            <a:avLst/>
          </a:prstGeom>
          <a:solidFill>
            <a:srgbClr val="232733"/>
          </a:solidFill>
          <a:ln w="6350">
            <a:solidFill>
              <a:srgbClr val="F5F0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4088" y="2880360"/>
            <a:ext cx="320040" cy="320040"/>
          </a:xfrm>
          <a:prstGeom prst="rect">
            <a:avLst/>
          </a:prstGeom>
          <a:solidFill>
            <a:srgbClr val="C4B598"/>
          </a:solidFill>
          <a:ln/>
        </p:spPr>
      </p:sp>
      <p:sp>
        <p:nvSpPr>
          <p:cNvPr id="14" name="Text 12"/>
          <p:cNvSpPr/>
          <p:nvPr/>
        </p:nvSpPr>
        <p:spPr>
          <a:xfrm>
            <a:off x="704088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15568" y="2825496"/>
            <a:ext cx="46831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원본 계약서 대조 (보증금, 월임대료, 관리비 실입금 내역 및 제소전화해조서)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3712464"/>
            <a:ext cx="5368900" cy="868680"/>
          </a:xfrm>
          <a:prstGeom prst="rect">
            <a:avLst/>
          </a:prstGeom>
          <a:solidFill>
            <a:srgbClr val="232733"/>
          </a:solidFill>
          <a:ln w="6350">
            <a:solidFill>
              <a:srgbClr val="F5F0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4088" y="3877056"/>
            <a:ext cx="320040" cy="320040"/>
          </a:xfrm>
          <a:prstGeom prst="rect">
            <a:avLst/>
          </a:prstGeom>
          <a:solidFill>
            <a:srgbClr val="C4B598"/>
          </a:solidFill>
          <a:ln/>
        </p:spPr>
      </p:sp>
      <p:sp>
        <p:nvSpPr>
          <p:cNvPr id="18" name="Text 16"/>
          <p:cNvSpPr/>
          <p:nvPr/>
        </p:nvSpPr>
        <p:spPr>
          <a:xfrm>
            <a:off x="704088" y="38770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15568" y="3822192"/>
            <a:ext cx="46831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건축물대장상 위반건축물 등재 여부 및 불법 증축·용도변경 이행강제금 납부 이력 점검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55868" y="1719072"/>
            <a:ext cx="5368900" cy="868680"/>
          </a:xfrm>
          <a:prstGeom prst="rect">
            <a:avLst/>
          </a:prstGeom>
          <a:solidFill>
            <a:srgbClr val="232733"/>
          </a:solidFill>
          <a:ln w="6350">
            <a:solidFill>
              <a:srgbClr val="F5F0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93028" y="1883664"/>
            <a:ext cx="320040" cy="320040"/>
          </a:xfrm>
          <a:prstGeom prst="rect">
            <a:avLst/>
          </a:prstGeom>
          <a:solidFill>
            <a:srgbClr val="C4B598"/>
          </a:solidFill>
          <a:ln/>
        </p:spPr>
      </p:sp>
      <p:sp>
        <p:nvSpPr>
          <p:cNvPr id="22" name="Text 20"/>
          <p:cNvSpPr/>
          <p:nvPr/>
        </p:nvSpPr>
        <p:spPr>
          <a:xfrm>
            <a:off x="6393028" y="18836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04508" y="1828800"/>
            <a:ext cx="46831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토지이용계획확인원상 도시계획시설 저촉, 건축선 후퇴, 지구단위계획 특별계획구역 확인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55868" y="2715768"/>
            <a:ext cx="5368900" cy="868680"/>
          </a:xfrm>
          <a:prstGeom prst="rect">
            <a:avLst/>
          </a:prstGeom>
          <a:solidFill>
            <a:srgbClr val="232733"/>
          </a:solidFill>
          <a:ln w="6350">
            <a:solidFill>
              <a:srgbClr val="F5F0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93028" y="2880360"/>
            <a:ext cx="320040" cy="320040"/>
          </a:xfrm>
          <a:prstGeom prst="rect">
            <a:avLst/>
          </a:prstGeom>
          <a:solidFill>
            <a:srgbClr val="C4B598"/>
          </a:solidFill>
          <a:ln/>
        </p:spPr>
      </p:sp>
      <p:sp>
        <p:nvSpPr>
          <p:cNvPr id="26" name="Text 24"/>
          <p:cNvSpPr/>
          <p:nvPr/>
        </p:nvSpPr>
        <p:spPr>
          <a:xfrm>
            <a:off x="6393028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04508" y="2825496"/>
            <a:ext cx="46831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기계식 주차기 정기 안전점검 합격증, 승강기 검사필증, 소방 완비증명서 실물 실사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55868" y="3712464"/>
            <a:ext cx="5368900" cy="868680"/>
          </a:xfrm>
          <a:prstGeom prst="rect">
            <a:avLst/>
          </a:prstGeom>
          <a:solidFill>
            <a:srgbClr val="232733"/>
          </a:solidFill>
          <a:ln w="6350">
            <a:solidFill>
              <a:srgbClr val="F5F0E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93028" y="3877056"/>
            <a:ext cx="320040" cy="320040"/>
          </a:xfrm>
          <a:prstGeom prst="rect">
            <a:avLst/>
          </a:prstGeom>
          <a:solidFill>
            <a:srgbClr val="C4B598"/>
          </a:solidFill>
          <a:ln/>
        </p:spPr>
      </p:sp>
      <p:sp>
        <p:nvSpPr>
          <p:cNvPr id="30" name="Text 28"/>
          <p:cNvSpPr/>
          <p:nvPr/>
        </p:nvSpPr>
        <p:spPr>
          <a:xfrm>
            <a:off x="6393028" y="38770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804508" y="3822192"/>
            <a:ext cx="46831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정화조 용량 대비 현 업종 적합성 및 하수도 원인자부담금 추가 부과 대상 여부 확인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66928" y="5760720"/>
            <a:ext cx="11057839" cy="594360"/>
          </a:xfrm>
          <a:prstGeom prst="rect">
            <a:avLst/>
          </a:prstGeom>
          <a:solidFill>
            <a:srgbClr val="F5F0E6"/>
          </a:solidFill>
          <a:ln/>
        </p:spPr>
      </p:sp>
      <p:sp>
        <p:nvSpPr>
          <p:cNvPr id="33" name="Text 31"/>
          <p:cNvSpPr/>
          <p:nvPr/>
        </p:nvSpPr>
        <p:spPr>
          <a:xfrm>
            <a:off x="749808" y="5833872"/>
            <a:ext cx="10692079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4B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본 체크리스트는 계약 전 매수인의 안전한 자산 인수를 위한 필수 확인 사항이며, 실사(Due Diligence) 결과에 따라 매매 조건 및 잔금 일정이 조정될 수 있습니다.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6350">
            <a:solidFill>
              <a:srgbClr val="3D435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4008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0893247" y="640080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E8D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B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38912"/>
            <a:ext cx="384048" cy="219456"/>
          </a:xfrm>
          <a:prstGeom prst="rect">
            <a:avLst/>
          </a:prstGeom>
          <a:solidFill>
            <a:srgbClr val="232733"/>
          </a:solidFill>
          <a:ln w="6350">
            <a:solidFill>
              <a:srgbClr val="E8DE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D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60704" y="457200"/>
            <a:ext cx="105640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8D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0704" y="640080"/>
            <a:ext cx="1056406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매각 자문 절차 및 다음 단계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1060704" y="1024128"/>
            <a:ext cx="1828800" cy="0"/>
          </a:xfrm>
          <a:prstGeom prst="line">
            <a:avLst/>
          </a:prstGeom>
          <a:noFill/>
          <a:ln w="6350">
            <a:solidFill>
              <a:srgbClr val="E8DE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572768"/>
            <a:ext cx="5346040" cy="3200400"/>
          </a:xfrm>
          <a:prstGeom prst="rect">
            <a:avLst/>
          </a:prstGeom>
          <a:solidFill>
            <a:srgbClr val="232733"/>
          </a:solidFill>
          <a:ln w="6350">
            <a:solidFill>
              <a:srgbClr val="3D435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" y="1792224"/>
            <a:ext cx="438912" cy="438912"/>
          </a:xfrm>
          <a:prstGeom prst="ellipse">
            <a:avLst/>
          </a:prstGeom>
          <a:solidFill>
            <a:srgbClr val="E8DEC8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86384" y="2304288"/>
            <a:ext cx="4907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1단계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86384" y="2761488"/>
            <a:ext cx="49071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문서는 잠재 매수인의 예비 검토 목적으로 작성된 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문서는 잠재 매수인의 예비 검토 목적으로 작성된 비밀 유지 문서(Confidential)입니다.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04408" y="3035808"/>
            <a:ext cx="182880" cy="274320"/>
          </a:xfrm>
          <a:prstGeom prst="rightArrow">
            <a:avLst/>
          </a:prstGeom>
          <a:solidFill>
            <a:srgbClr val="3D4356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78728" y="1572768"/>
            <a:ext cx="5346040" cy="3200400"/>
          </a:xfrm>
          <a:prstGeom prst="rect">
            <a:avLst/>
          </a:prstGeom>
          <a:solidFill>
            <a:srgbClr val="232733"/>
          </a:solidFill>
          <a:ln w="6350">
            <a:solidFill>
              <a:srgbClr val="3D435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98184" y="1792224"/>
            <a:ext cx="438912" cy="438912"/>
          </a:xfrm>
          <a:prstGeom prst="ellipse">
            <a:avLst/>
          </a:prstGeom>
          <a:solidFill>
            <a:srgbClr val="E8DEC8"/>
          </a:solidFill>
          <a:ln/>
        </p:spPr>
      </p:sp>
      <p:sp>
        <p:nvSpPr>
          <p:cNvPr id="15" name="Text 13"/>
          <p:cNvSpPr/>
          <p:nvPr/>
        </p:nvSpPr>
        <p:spPr>
          <a:xfrm>
            <a:off x="6498184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98184" y="2304288"/>
            <a:ext cx="4907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2단계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98184" y="2761488"/>
            <a:ext cx="49071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거래 절차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매수의향서(LOI) 접수 데이터룸(VDR) 상세 실사 매매계약 체결 잔금 및 소유권 이전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6350">
            <a:solidFill>
              <a:srgbClr val="3D435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64008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0893247" y="640080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E8D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384048" cy="237744"/>
          </a:xfrm>
          <a:prstGeom prst="rect">
            <a:avLst/>
          </a:prstGeom>
          <a:solidFill>
            <a:srgbClr val="232733"/>
          </a:solidFill>
          <a:ln w="6350">
            <a:solidFill>
              <a:srgbClr val="E8DE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2062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D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60704" y="438912"/>
            <a:ext cx="105640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8D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0704" y="621792"/>
            <a:ext cx="1056406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60704" y="1024128"/>
            <a:ext cx="2011680" cy="0"/>
          </a:xfrm>
          <a:prstGeom prst="line">
            <a:avLst/>
          </a:prstGeom>
          <a:noFill/>
          <a:ln w="6350">
            <a:solidFill>
              <a:srgbClr val="E8DE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E222D"/>
          </a:solidFill>
          <a:ln/>
        </p:spPr>
      </p:sp>
      <p:sp>
        <p:nvSpPr>
          <p:cNvPr id="8" name="Shape 6"/>
          <p:cNvSpPr/>
          <p:nvPr/>
        </p:nvSpPr>
        <p:spPr>
          <a:xfrm>
            <a:off x="676656" y="1572768"/>
            <a:ext cx="438912" cy="438912"/>
          </a:xfrm>
          <a:prstGeom prst="ellipse">
            <a:avLst/>
          </a:prstGeom>
          <a:solidFill>
            <a:srgbClr val="E8DEC8"/>
          </a:solidFill>
          <a:ln/>
        </p:spPr>
      </p:sp>
      <p:sp>
        <p:nvSpPr>
          <p:cNvPr id="9" name="Text 7"/>
          <p:cNvSpPr/>
          <p:nvPr/>
        </p:nvSpPr>
        <p:spPr>
          <a:xfrm>
            <a:off x="676656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25296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25296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중개사에게 초기 관심 표명 및 상담 요청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55338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DEC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301642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E222D"/>
          </a:solidFill>
          <a:ln/>
        </p:spPr>
      </p:sp>
      <p:sp>
        <p:nvSpPr>
          <p:cNvPr id="14" name="Shape 12"/>
          <p:cNvSpPr/>
          <p:nvPr/>
        </p:nvSpPr>
        <p:spPr>
          <a:xfrm>
            <a:off x="4411370" y="1572768"/>
            <a:ext cx="438912" cy="438912"/>
          </a:xfrm>
          <a:prstGeom prst="ellipse">
            <a:avLst/>
          </a:prstGeom>
          <a:solidFill>
            <a:srgbClr val="E8DEC8"/>
          </a:solidFill>
          <a:ln/>
        </p:spPr>
      </p:sp>
      <p:sp>
        <p:nvSpPr>
          <p:cNvPr id="15" name="Text 13"/>
          <p:cNvSpPr/>
          <p:nvPr/>
        </p:nvSpPr>
        <p:spPr>
          <a:xfrm>
            <a:off x="4411370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60010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60010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비밀유지계약 후 상세 임대차·재무 자료 제공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890053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DEC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036357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E222D"/>
          </a:solidFill>
          <a:ln/>
        </p:spPr>
      </p:sp>
      <p:sp>
        <p:nvSpPr>
          <p:cNvPr id="20" name="Shape 18"/>
          <p:cNvSpPr/>
          <p:nvPr/>
        </p:nvSpPr>
        <p:spPr>
          <a:xfrm>
            <a:off x="8146085" y="1572768"/>
            <a:ext cx="438912" cy="438912"/>
          </a:xfrm>
          <a:prstGeom prst="ellipse">
            <a:avLst/>
          </a:prstGeom>
          <a:solidFill>
            <a:srgbClr val="E8DEC8"/>
          </a:solidFill>
          <a:ln/>
        </p:spPr>
      </p:sp>
      <p:sp>
        <p:nvSpPr>
          <p:cNvPr id="21" name="Text 19"/>
          <p:cNvSpPr/>
          <p:nvPr/>
        </p:nvSpPr>
        <p:spPr>
          <a:xfrm>
            <a:off x="8146085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694725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94725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컨디션 및 설비 직접 확인 후 의향서(LOI) 제출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66928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6928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E222D"/>
          </a:solidFill>
          <a:ln/>
        </p:spPr>
      </p:sp>
      <p:sp>
        <p:nvSpPr>
          <p:cNvPr id="26" name="Text 24"/>
          <p:cNvSpPr/>
          <p:nvPr/>
        </p:nvSpPr>
        <p:spPr>
          <a:xfrm>
            <a:off x="566928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993392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66928" y="320040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E222D"/>
          </a:solidFill>
          <a:ln/>
        </p:spPr>
      </p:sp>
      <p:sp>
        <p:nvSpPr>
          <p:cNvPr id="29" name="Text 27"/>
          <p:cNvSpPr/>
          <p:nvPr/>
        </p:nvSpPr>
        <p:spPr>
          <a:xfrm>
            <a:off x="566928" y="32004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993392" y="31821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66928" y="367588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E222D"/>
          </a:solidFill>
          <a:ln/>
        </p:spPr>
      </p:sp>
      <p:sp>
        <p:nvSpPr>
          <p:cNvPr id="32" name="Text 30"/>
          <p:cNvSpPr/>
          <p:nvPr/>
        </p:nvSpPr>
        <p:spPr>
          <a:xfrm>
            <a:off x="566928" y="36758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993392" y="36576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66928" y="415137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E222D"/>
          </a:solidFill>
          <a:ln/>
        </p:spPr>
      </p:sp>
      <p:sp>
        <p:nvSpPr>
          <p:cNvPr id="35" name="Text 33"/>
          <p:cNvSpPr/>
          <p:nvPr/>
        </p:nvSpPr>
        <p:spPr>
          <a:xfrm>
            <a:off x="566928" y="41513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993392" y="41330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66928" y="462686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E222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62686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993392" y="460857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492240" y="2395728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92240" y="2724912"/>
            <a:ext cx="5129784" cy="1645920"/>
          </a:xfrm>
          <a:prstGeom prst="roundRect">
            <a:avLst>
              <a:gd name="adj" fmla="val 2222"/>
            </a:avLst>
          </a:prstGeom>
          <a:solidFill>
            <a:srgbClr val="F1F5F9"/>
          </a:solidFill>
          <a:ln/>
        </p:spPr>
      </p:sp>
      <p:sp>
        <p:nvSpPr>
          <p:cNvPr id="42" name="Text 40"/>
          <p:cNvSpPr/>
          <p:nvPr/>
        </p:nvSpPr>
        <p:spPr>
          <a:xfrm>
            <a:off x="6675120" y="2834640"/>
            <a:ext cx="476402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66928" y="5760720"/>
            <a:ext cx="11057839" cy="457200"/>
          </a:xfrm>
          <a:prstGeom prst="rect">
            <a:avLst/>
          </a:prstGeom>
          <a:solidFill>
            <a:srgbClr val="383428"/>
          </a:solidFill>
          <a:ln/>
        </p:spPr>
      </p:sp>
      <p:sp>
        <p:nvSpPr>
          <p:cNvPr id="44" name="Text 42"/>
          <p:cNvSpPr/>
          <p:nvPr/>
        </p:nvSpPr>
        <p:spPr>
          <a:xfrm>
            <a:off x="749808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DEC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자료의 모든 수치는 예비 검토용이며, 상세 실사 자료 및 비밀 상담은 담당 전문 중개사를 통해 제공됩니다.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6350">
            <a:solidFill>
              <a:srgbClr val="3D435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6928" y="64008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2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10893247" y="640080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E8D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B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38912"/>
            <a:ext cx="384048" cy="219456"/>
          </a:xfrm>
          <a:prstGeom prst="rect">
            <a:avLst/>
          </a:prstGeom>
          <a:solidFill>
            <a:srgbClr val="232733"/>
          </a:solidFill>
          <a:ln w="6350">
            <a:solidFill>
              <a:srgbClr val="E8DE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D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60704" y="457200"/>
            <a:ext cx="105640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8D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0704" y="640080"/>
            <a:ext cx="1056406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공부 발췌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1060704" y="1024128"/>
            <a:ext cx="1828800" cy="0"/>
          </a:xfrm>
          <a:prstGeom prst="line">
            <a:avLst/>
          </a:prstGeom>
          <a:noFill/>
          <a:ln w="6350">
            <a:solidFill>
              <a:srgbClr val="E8DE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건축물대장 표제부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주용도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업무시설 및 근린생활시설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2084832"/>
            <a:ext cx="6858000" cy="0"/>
          </a:xfrm>
          <a:prstGeom prst="line">
            <a:avLst/>
          </a:prstGeom>
          <a:noFill/>
          <a:ln w="3810">
            <a:solidFill>
              <a:srgbClr val="3D43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08483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172968" y="208483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철근콘크리트구조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66928" y="2523744"/>
            <a:ext cx="6858000" cy="0"/>
          </a:xfrm>
          <a:prstGeom prst="line">
            <a:avLst/>
          </a:prstGeom>
          <a:noFill/>
          <a:ln w="3810">
            <a:solidFill>
              <a:srgbClr val="3D435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52374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172968" y="2523744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2,490.88㎡ (753.5평)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2962656"/>
            <a:ext cx="6858000" cy="0"/>
          </a:xfrm>
          <a:prstGeom prst="line">
            <a:avLst/>
          </a:prstGeom>
          <a:noFill/>
          <a:ln w="3810">
            <a:solidFill>
              <a:srgbClr val="3D43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96265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건축면적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172968" y="2962656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302.94㎡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66928" y="3401568"/>
            <a:ext cx="6858000" cy="0"/>
          </a:xfrm>
          <a:prstGeom prst="line">
            <a:avLst/>
          </a:prstGeom>
          <a:noFill/>
          <a:ln w="3810">
            <a:solidFill>
              <a:srgbClr val="3D435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340156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승강기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172968" y="3401568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1대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66928" y="3840480"/>
            <a:ext cx="6858000" cy="0"/>
          </a:xfrm>
          <a:prstGeom prst="line">
            <a:avLst/>
          </a:prstGeom>
          <a:noFill/>
          <a:ln w="3810">
            <a:solidFill>
              <a:srgbClr val="3D435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384048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주차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3172968" y="384048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23대 (자주식 0 / 기계식 0)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E8DEC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0C4A6E"/>
          </a:solidFill>
          <a:ln/>
        </p:spPr>
      </p:sp>
      <p:sp>
        <p:nvSpPr>
          <p:cNvPr id="27" name="Shape 25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8" name="Text 26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및 권리관계 실사 포인트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접면 도로 폭 및 진출입 여건은 현장 실사 확인 사항입니다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등기부등본상 권리관계 및 제한물권 설정 여부를 확인하였습니다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지구단위계획 및 토지이용계획상 허용 용도를 검토하였습니다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7784287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0C4A6E"/>
          </a:solidFill>
          <a:ln/>
        </p:spPr>
      </p:sp>
      <p:sp>
        <p:nvSpPr>
          <p:cNvPr id="31" name="Shape 29"/>
          <p:cNvSpPr/>
          <p:nvPr/>
        </p:nvSpPr>
        <p:spPr>
          <a:xfrm>
            <a:off x="7784287" y="4032504"/>
            <a:ext cx="36576" cy="203911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2" name="Text 30"/>
          <p:cNvSpPr/>
          <p:nvPr/>
        </p:nvSpPr>
        <p:spPr>
          <a:xfrm>
            <a:off x="7967167" y="40873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및 운용 관리 상태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967167" y="4306824"/>
            <a:ext cx="351129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임차인별 계약 만기 분산 및 렌트롤 실사가 필요합니다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관리비 정산 내역 및 수선유지비 집행 이력을 점검하였습니다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취득세 감면 및 대출 조달 구조는 금융·세무 자문 후 확정됩니다</a:t>
            </a:r>
            <a:endParaRPr lang="en-US" sz="930" dirty="0"/>
          </a:p>
        </p:txBody>
      </p:sp>
      <p:sp>
        <p:nvSpPr>
          <p:cNvPr id="34" name="Shape 32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6350">
            <a:solidFill>
              <a:srgbClr val="3D435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4008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0893247" y="640080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E8D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B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38912"/>
            <a:ext cx="384048" cy="219456"/>
          </a:xfrm>
          <a:prstGeom prst="rect">
            <a:avLst/>
          </a:prstGeom>
          <a:solidFill>
            <a:srgbClr val="232733"/>
          </a:solidFill>
          <a:ln w="6350">
            <a:solidFill>
              <a:srgbClr val="E8DE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D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60704" y="457200"/>
            <a:ext cx="105640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8D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Cadastral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0704" y="640080"/>
            <a:ext cx="1056406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지적도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1060704" y="1024128"/>
            <a:ext cx="1828800" cy="0"/>
          </a:xfrm>
          <a:prstGeom prst="line">
            <a:avLst/>
          </a:prstGeom>
          <a:noFill/>
          <a:ln w="6350">
            <a:solidFill>
              <a:srgbClr val="E8DEC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연속지적도 (V-World)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053328" y="1801368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용도지역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170475" y="1801368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준공업지역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053328" y="2295144"/>
            <a:ext cx="5571439" cy="0"/>
          </a:xfrm>
          <a:prstGeom prst="line">
            <a:avLst/>
          </a:prstGeom>
          <a:noFill/>
          <a:ln w="3810">
            <a:solidFill>
              <a:srgbClr val="3D435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53328" y="2295144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법정 건폐율 상한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170475" y="2295144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60%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053328" y="2788920"/>
            <a:ext cx="5571439" cy="0"/>
          </a:xfrm>
          <a:prstGeom prst="line">
            <a:avLst/>
          </a:prstGeom>
          <a:noFill/>
          <a:ln w="3810">
            <a:solidFill>
              <a:srgbClr val="3D435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53328" y="2788920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법정 용적률 상한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170475" y="2788920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400%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053328" y="3511296"/>
            <a:ext cx="55714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© V-World 국토교통부 | 2026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6350">
            <a:solidFill>
              <a:srgbClr val="3D435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66928" y="64008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0893247" y="640080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E8D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2026-09-05T04:03:35Z</dcterms:created>
  <dcterms:modified xsi:type="dcterms:W3CDTF">2026-09-05T04:03:35Z</dcterms:modified>
</cp:coreProperties>
</file>