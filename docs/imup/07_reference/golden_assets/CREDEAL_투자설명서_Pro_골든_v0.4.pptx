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34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1F</c:v>
                  </c:pt>
                  <c:pt idx="1">
                    <c:v>2F</c:v>
                  </c:pt>
                  <c:pt idx="2">
                    <c:v>4F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210</c:v>
                </c:pt>
                <c:pt idx="2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시세</c:v>
                </c:pt>
              </c:strCache>
            </c:strRef>
          </c:tx>
          <c:spPr>
            <a:solidFill>
              <a:srgbClr val="B98A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34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1F</c:v>
                  </c:pt>
                  <c:pt idx="1">
                    <c:v>2F</c:v>
                  </c:pt>
                  <c:pt idx="2">
                    <c:v>4F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340</c:v>
                </c:pt>
                <c:pt idx="1">
                  <c:v>250</c:v>
                </c:pt>
                <c:pt idx="2">
                  <c:v>128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2B34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A879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INVESTMENT MEMORANDUM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1248" y="1517904"/>
            <a:ext cx="7680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연남동 000-12 외 1필지 상가주택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27980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마포구 연남동 000-12, 000-13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41248" y="3291840"/>
            <a:ext cx="3840480" cy="0"/>
          </a:xfrm>
          <a:prstGeom prst="line">
            <a:avLst/>
          </a:prstGeom>
          <a:noFill/>
          <a:ln w="15875">
            <a:solidFill>
              <a:srgbClr val="B9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5844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21408" y="358444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제2종근린생활시설 + 단독주택 (혼합)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4041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유형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21408" y="404164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4988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관점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21408" y="449884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517904"/>
            <a:ext cx="3200400" cy="3346704"/>
          </a:xfrm>
          <a:prstGeom prst="roundRect">
            <a:avLst>
              <a:gd name="adj" fmla="val 857"/>
            </a:avLst>
          </a:prstGeom>
          <a:solidFill>
            <a:srgbClr val="1B2531"/>
          </a:solidFill>
          <a:ln w="9525">
            <a:solidFill>
              <a:srgbClr val="273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1936" y="1737360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31936" y="2029968"/>
            <a:ext cx="2761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억원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631936" y="2743200"/>
            <a:ext cx="121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평단가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46991" y="2743200"/>
            <a:ext cx="1546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4,906만/평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31936" y="3127248"/>
            <a:ext cx="2761488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3127248"/>
            <a:ext cx="121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 평단가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46991" y="3127248"/>
            <a:ext cx="1546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2,042만/평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31936" y="3511296"/>
            <a:ext cx="2761488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3511296"/>
            <a:ext cx="121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46991" y="3511296"/>
            <a:ext cx="1546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1.86%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31936" y="3895344"/>
            <a:ext cx="2761488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3895344"/>
            <a:ext cx="121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자료등급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46991" y="3895344"/>
            <a:ext cx="15464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76.6 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31936" y="435254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기준 · 기준별 수익률은 15p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" y="58704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제이에스부동산중개(주)  ·  차상혁   |   2026년 8월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 상권 상가주택 · 임대료 정상화 여지가 큰 물건입니다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2558720" cy="1426464"/>
          </a:xfrm>
          <a:prstGeom prst="roundRect">
            <a:avLst>
              <a:gd name="adj" fmla="val 1923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00784"/>
            <a:ext cx="219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/ 연면적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88366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85.6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49808" y="2359152"/>
            <a:ext cx="219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 205.7평 · 2003년 준공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99968" y="1572768"/>
            <a:ext cx="2558720" cy="1426464"/>
          </a:xfrm>
          <a:prstGeom prst="roundRect">
            <a:avLst>
              <a:gd name="adj" fmla="val 1923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2848" y="1700784"/>
            <a:ext cx="219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월 임대료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2848" y="188366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만원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582848" y="2359152"/>
            <a:ext cx="219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3.30억 · 5실 중 1실 공실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33008" y="1572768"/>
            <a:ext cx="2558720" cy="1426464"/>
          </a:xfrm>
          <a:prstGeom prst="roundRect">
            <a:avLst>
              <a:gd name="adj" fmla="val 1923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1700784"/>
            <a:ext cx="219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임대수익률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15888" y="188366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%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6415888" y="2359152"/>
            <a:ext cx="219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기준 · 정상화 시 2.23%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066047" y="1572768"/>
            <a:ext cx="2558720" cy="1426464"/>
          </a:xfrm>
          <a:prstGeom prst="roundRect">
            <a:avLst>
              <a:gd name="adj" fmla="val 1923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8927" y="1700784"/>
            <a:ext cx="219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자료등급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48927" y="188366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76.6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9248927" y="2359152"/>
            <a:ext cx="219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임대차계약서 원본 확인 시 A 도달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327355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물건의 성격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566160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아키타입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3514" y="3566160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R-INC-02 임대료 정상화형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895344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895344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3514" y="3895344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3실 평균 시세 대비 19% 저렴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 중개인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224528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224528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도래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23514" y="4224528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 2.7년 · 2F 5.1년 잔여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★ 전문가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553712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553712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3514" y="4553712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 창고 1실 (전체의 17.4%)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4882896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882896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23514" y="4882896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구분등기 · 형제 2인 공동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88352" y="3273552"/>
            <a:ext cx="4236415" cy="1042416"/>
          </a:xfrm>
          <a:prstGeom prst="roundRect">
            <a:avLst>
              <a:gd name="adj" fmla="val 2632"/>
            </a:avLst>
          </a:prstGeom>
          <a:solidFill>
            <a:srgbClr val="FBF6EC"/>
          </a:solidFill>
          <a:ln w="12700">
            <a:solidFill>
              <a:srgbClr val="FBF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3392424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기회인가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71232" y="3611880"/>
            <a:ext cx="3870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 3실 전부가 시세보다 낮습니다. 다만 갱신 시에는 법정 상한이 걸립니다 (13p).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7388352" y="4443984"/>
            <a:ext cx="4236415" cy="1042416"/>
          </a:xfrm>
          <a:prstGeom prst="roundRect">
            <a:avLst>
              <a:gd name="adj" fmla="val 2632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71232" y="4562856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확인해야 하는가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71232" y="4782312"/>
            <a:ext cx="3870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3·4층은 주택임대차보호법 적용입니다. 갱신 산정이 달라 명도 시점이 바뀝니다 (10p).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566928" y="563270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수익률은 실투자금(매매가 − 보증금) 기준입니다. 산정 기준별 값은 15p에 전부 제시합니다.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통제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문서가 무엇을 근거로 만들어졌는지 먼저 밝힙니다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분류 — 3축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용도 (건축물대장)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3514" y="186537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제2종근린생활시설 + 단독주택 (혼합)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3113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유형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3514" y="223113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상가주택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 중개인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9689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관점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3514" y="259689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임대수익형 (income)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 중개인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6265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아키타입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3514" y="296265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R-INC-02 임대료 정상화형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제안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32841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2841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버전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3514" y="332841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v0.4.0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84048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169664"/>
            <a:ext cx="1188720" cy="246888"/>
          </a:xfrm>
          <a:prstGeom prst="roundRect">
            <a:avLst>
              <a:gd name="adj" fmla="val 185185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1696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A7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901952" y="4169664"/>
            <a:ext cx="1188720" cy="246888"/>
          </a:xfrm>
          <a:prstGeom prst="roundRect">
            <a:avLst>
              <a:gd name="adj" fmla="val 185185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41696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3236976" y="4169664"/>
            <a:ext cx="1188720" cy="246888"/>
          </a:xfrm>
          <a:prstGeom prst="roundRect">
            <a:avLst>
              <a:gd name="adj" fmla="val 185185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41696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4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572000" y="4169664"/>
            <a:ext cx="1188720" cy="246888"/>
          </a:xfrm>
          <a:prstGeom prst="roundRect">
            <a:avLst>
              <a:gd name="adj" fmla="val 185185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696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5907024" y="4169664"/>
            <a:ext cx="1188720" cy="246888"/>
          </a:xfrm>
          <a:prstGeom prst="roundRect">
            <a:avLst>
              <a:gd name="adj" fmla="val 18518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07024" y="41696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566928" y="455371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수치에 출처가 붙습니다. 계산값은 입력 중 가장 약한 출처를 따릅니다.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7388352" y="1572768"/>
            <a:ext cx="4236415" cy="3291840"/>
          </a:xfrm>
          <a:prstGeom prst="roundRect">
            <a:avLst>
              <a:gd name="adj" fmla="val 833"/>
            </a:avLst>
          </a:prstGeom>
          <a:solidFill>
            <a:srgbClr val="1B2531"/>
          </a:solidFill>
          <a:ln w="9525">
            <a:solidFill>
              <a:srgbClr val="2733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6096" y="1792224"/>
            <a:ext cx="3760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읽으실 때 주의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26096" y="2176272"/>
            <a:ext cx="3760927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용적률은 두 기준을 병기합니다 (6p)</a:t>
            </a: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수익률은 산정 기준을 반드시 표기합니다 (15p)</a:t>
            </a: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3·4층은 주택임대차보호법 적용이며 상가와 판정이 다릅니다 (10p)</a:t>
            </a: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인상 계획에는 법정 상한을 함께 표기합니다 (13p)</a:t>
            </a: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endParaRPr lang="en-US" sz="98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가정 수치는 ◇ 로 표시되며 전제 조건을 함께 적습니다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66928" y="517550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문서는 투자 권유가 아니며, 기재된 수치는 매수인의 독립적 실사로 검증되어야 합니다.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공법적 · 감정평가적 · 접근성 세 관점으로 봅니다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5577840" cy="3017520"/>
          </a:xfrm>
          <a:prstGeom prst="roundRect">
            <a:avLst>
              <a:gd name="adj" fmla="val 606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907792"/>
            <a:ext cx="5358384" cy="128016"/>
          </a:xfrm>
          <a:prstGeom prst="rect">
            <a:avLst/>
          </a:prstGeom>
          <a:solidFill>
            <a:srgbClr val="DCE3E9"/>
          </a:solidFill>
          <a:ln w="3175">
            <a:solidFill>
              <a:srgbClr val="DC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719072"/>
            <a:ext cx="128016" cy="2359152"/>
          </a:xfrm>
          <a:prstGeom prst="rect">
            <a:avLst/>
          </a:prstGeom>
          <a:solidFill>
            <a:srgbClr val="DCE3E9"/>
          </a:solidFill>
          <a:ln w="3175">
            <a:solidFill>
              <a:srgbClr val="DC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1783080"/>
            <a:ext cx="2377440" cy="23774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D2D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697480" y="2313432"/>
            <a:ext cx="1316736" cy="1316736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C9D2D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09544" y="2825496"/>
            <a:ext cx="292608" cy="292608"/>
          </a:xfrm>
          <a:prstGeom prst="ellipse">
            <a:avLst/>
          </a:prstGeom>
          <a:solidFill>
            <a:srgbClr val="B98A2E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2839212"/>
            <a:ext cx="1298448" cy="265176"/>
          </a:xfrm>
          <a:prstGeom prst="roundRect">
            <a:avLst>
              <a:gd name="adj" fmla="val 172414"/>
            </a:avLst>
          </a:prstGeom>
          <a:solidFill>
            <a:srgbClr val="FBF6EC"/>
          </a:solidFill>
          <a:ln w="9525">
            <a:solidFill>
              <a:srgbClr val="F2E7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2839212"/>
            <a:ext cx="12984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물건 · 각지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1655064" y="1837944"/>
            <a:ext cx="786384" cy="237744"/>
          </a:xfrm>
          <a:prstGeom prst="roundRect">
            <a:avLst>
              <a:gd name="adj" fmla="val 192308"/>
            </a:avLst>
          </a:prstGeom>
          <a:solidFill>
            <a:srgbClr val="2E3A4A"/>
          </a:solidFill>
          <a:ln w="3175">
            <a:solidFill>
              <a:srgbClr val="2E3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55064" y="183794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역삼역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13232" y="4279392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· · ·  반경 300m / 600m      ─  개념도이며 정확한 위치를 나타내지 않습니다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6364224" y="1572768"/>
            <a:ext cx="52605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관점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4224" y="1865376"/>
            <a:ext cx="2314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공법적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78863" y="1865376"/>
            <a:ext cx="294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 · 상한 200%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64224" y="2212848"/>
            <a:ext cx="5260543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2212848"/>
            <a:ext cx="2314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감정평가적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78863" y="2212848"/>
            <a:ext cx="294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894만원/㎡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64224" y="2560320"/>
            <a:ext cx="5260543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2560320"/>
            <a:ext cx="2314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접근성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78863" y="2560320"/>
            <a:ext cx="294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홍대입구역 도보 9분 · 경의중앙선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 중개인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64224" y="2907792"/>
            <a:ext cx="5260543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2907792"/>
            <a:ext cx="2314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78863" y="2907792"/>
            <a:ext cx="294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남측 8m · 동측 4m (2면)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64224" y="3255264"/>
            <a:ext cx="5260543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3255264"/>
            <a:ext cx="23146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78863" y="3255264"/>
            <a:ext cx="294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연남 경의선숲길 상권 배후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 중개인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64224" y="3712464"/>
            <a:ext cx="5260543" cy="1737360"/>
          </a:xfrm>
          <a:prstGeom prst="roundRect">
            <a:avLst>
              <a:gd name="adj" fmla="val 1579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3831336"/>
            <a:ext cx="48947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특성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47104" y="4050792"/>
            <a:ext cx="48947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경의선숲길을 따라 형성된 보행 상권입니다. 1층 카페·2층 학원 구성은 이 상권의 전형이며, 임차 수요가 비교적 안정적입니다.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66928" y="479145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도면은 개념도이며 정확한 위치·축척을 나타내지 않습니다.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66928" y="568756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도보 시간은 중개인 실측이며 개인차가 있습니다.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· 필지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2필지이며 한 필지에 도시계획도로 저촉이 있습니다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필지별 내역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492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대장 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유효 면적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연남동 000-12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198.4㎡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198.4㎡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연남동 000-13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84.6㎡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78.4㎡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283.0㎡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A33A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276.8㎡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314553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합계는 필지 값에서 계산했습니다 (85.61평 / 유효 83.73평).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566928" y="362102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· 규모 제한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3913632"/>
            <a:ext cx="2856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23514" y="3913632"/>
            <a:ext cx="3635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제2종일반주거지역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" y="4261104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261104"/>
            <a:ext cx="2856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 상한 / 현황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23514" y="4261104"/>
            <a:ext cx="3635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 /  54.0%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4608576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4608576"/>
            <a:ext cx="2856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 상한 (지상 기준)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423514" y="4608576"/>
            <a:ext cx="3635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200%  /  198.4%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4956048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956048"/>
            <a:ext cx="2856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423514" y="4956048"/>
            <a:ext cx="36356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8,940,000원/㎡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88352" y="1810512"/>
            <a:ext cx="4236415" cy="1828800"/>
          </a:xfrm>
          <a:prstGeom prst="roundRect">
            <a:avLst>
              <a:gd name="adj" fmla="val 1500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71232" y="1929384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제척 6.2㎡의 의미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571232" y="2148840"/>
            <a:ext cx="3870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000-13 필지에 도시계획도로가 저촉됩니다. 현 건물은 대장 면적 기준으로 적법하나, 신축 시에는 유효 대지면적이 적용됩니다.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7388352" y="3785616"/>
            <a:ext cx="4236415" cy="1554480"/>
          </a:xfrm>
          <a:prstGeom prst="roundRect">
            <a:avLst>
              <a:gd name="adj" fmla="val 1765"/>
            </a:avLst>
          </a:prstGeom>
          <a:solidFill>
            <a:srgbClr val="F6E9E9"/>
          </a:solidFill>
          <a:ln w="12700">
            <a:solidFill>
              <a:srgbClr val="F6E9E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1232" y="3904488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여유가 없습니다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71232" y="4123944"/>
            <a:ext cx="3870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 대지 기준 지상 용적률은 202.9%로 상한 200%를 초과합니다. 증축·신축 계획은 성립하지 않습니다.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566928" y="550468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제척 면적은 토지이용계획도 판독값이며 관할 구청 확인이 필요합니다. ◇ 확인 전 수치입니다.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용적률은 두 기준을 병기합니다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제원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3514" y="1810512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680.0㎡  (205.70평)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139696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39696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연면적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3514" y="2139696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561.6㎡  (169.88평)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468880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 / 건폐율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3514" y="2468880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152.8㎡  /  54.0%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798064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98064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3514" y="2798064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/ 지상 4층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27248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27248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사용승인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3514" y="3127248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2003-05 (건물연령 23년)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456432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56432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/ 승강기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3514" y="3456432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 / 없음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785616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85616"/>
            <a:ext cx="28565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3514" y="3785616"/>
            <a:ext cx="36356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3대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88352" y="1517904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 — 기준 2종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88352" y="1810512"/>
            <a:ext cx="1864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연면적 기준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252375" y="1810512"/>
            <a:ext cx="2372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198.4%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88352" y="2176272"/>
            <a:ext cx="4236415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2176272"/>
            <a:ext cx="1864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연면적 기준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52375" y="2176272"/>
            <a:ext cx="2372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240.3%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88352" y="2542032"/>
            <a:ext cx="4236415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2542032"/>
            <a:ext cx="1864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 대지 기준 (지상)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252375" y="2542032"/>
            <a:ext cx="23723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202.9%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가정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88352" y="3072384"/>
            <a:ext cx="4236415" cy="1316736"/>
          </a:xfrm>
          <a:prstGeom prst="roundRect">
            <a:avLst>
              <a:gd name="adj" fmla="val 2083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3191256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두 개인가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71232" y="3410712"/>
            <a:ext cx="38706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실무는 지상 연면적 기준을 씁니다. 건축법상 용적률은 전체 기준입니다. 어느 쪽인지 밝히지 않으면 오해가 생깁니다.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7388352" y="4535424"/>
            <a:ext cx="4236415" cy="914400"/>
          </a:xfrm>
          <a:prstGeom prst="roundRect">
            <a:avLst>
              <a:gd name="adj" fmla="val 3000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71232" y="4654296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대비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571232" y="4873752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기준 198.4% — 상한 200%까지 여유 1.6%p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566928" y="566928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지하층은 용적률 산정에서 제외되며, 전체 연면적 기준값은 참고용입니다.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STACK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구성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층 중 4개 층이 임대 중이며 지하 1층이 공실입니다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591056"/>
            <a:ext cx="6492240" cy="672998"/>
          </a:xfrm>
          <a:prstGeom prst="roundRect">
            <a:avLst>
              <a:gd name="adj" fmla="val 2717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39116"/>
            <a:ext cx="50292" cy="376879"/>
          </a:xfrm>
          <a:prstGeom prst="rect">
            <a:avLst/>
          </a:prstGeom>
          <a:solidFill>
            <a:srgbClr val="B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91056"/>
            <a:ext cx="5029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53312" y="1591056"/>
            <a:ext cx="14173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주택·월세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61488" y="1591056"/>
            <a:ext cx="9601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40.1평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767328" y="1591056"/>
            <a:ext cx="314553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110만원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66928" y="2314346"/>
            <a:ext cx="6492240" cy="672998"/>
          </a:xfrm>
          <a:prstGeom prst="roundRect">
            <a:avLst>
              <a:gd name="adj" fmla="val 2717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462406"/>
            <a:ext cx="50292" cy="376879"/>
          </a:xfrm>
          <a:prstGeom prst="rect">
            <a:avLst/>
          </a:prstGeom>
          <a:solidFill>
            <a:srgbClr val="B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314346"/>
            <a:ext cx="5029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53312" y="2314346"/>
            <a:ext cx="14173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주택·전세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61488" y="2314346"/>
            <a:ext cx="9601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40.1평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67328" y="2314346"/>
            <a:ext cx="314553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전세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66928" y="3037637"/>
            <a:ext cx="6492240" cy="672998"/>
          </a:xfrm>
          <a:prstGeom prst="roundRect">
            <a:avLst>
              <a:gd name="adj" fmla="val 2717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185696"/>
            <a:ext cx="50292" cy="376879"/>
          </a:xfrm>
          <a:prstGeom prst="rect">
            <a:avLst/>
          </a:prstGeom>
          <a:solidFill>
            <a:srgbClr val="B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037637"/>
            <a:ext cx="5029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3037637"/>
            <a:ext cx="14173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근생·학원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61488" y="3037637"/>
            <a:ext cx="9601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44.8평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767328" y="3037637"/>
            <a:ext cx="314553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210만원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66928" y="3760927"/>
            <a:ext cx="6492240" cy="672998"/>
          </a:xfrm>
          <a:prstGeom prst="roundRect">
            <a:avLst>
              <a:gd name="adj" fmla="val 2717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908987"/>
            <a:ext cx="50292" cy="376879"/>
          </a:xfrm>
          <a:prstGeom prst="rect">
            <a:avLst/>
          </a:prstGeom>
          <a:solidFill>
            <a:srgbClr val="B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760927"/>
            <a:ext cx="5029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53312" y="3760927"/>
            <a:ext cx="14173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근생·카페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61488" y="3760927"/>
            <a:ext cx="9601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44.8평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767328" y="3760927"/>
            <a:ext cx="314553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280만원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66928" y="4484218"/>
            <a:ext cx="6492240" cy="672998"/>
          </a:xfrm>
          <a:prstGeom prst="roundRect">
            <a:avLst>
              <a:gd name="adj" fmla="val 2717"/>
            </a:avLst>
          </a:prstGeom>
          <a:solidFill>
            <a:srgbClr val="F6E9E9"/>
          </a:solidFill>
          <a:ln w="12700">
            <a:solidFill>
              <a:srgbClr val="A33A3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58368" y="4632277"/>
            <a:ext cx="50292" cy="376879"/>
          </a:xfrm>
          <a:prstGeom prst="rect">
            <a:avLst/>
          </a:prstGeom>
          <a:solidFill>
            <a:srgbClr val="A33A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484218"/>
            <a:ext cx="5029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53312" y="4484218"/>
            <a:ext cx="14173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창고·공실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61488" y="4484218"/>
            <a:ext cx="96012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35.8평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3767328" y="4484218"/>
            <a:ext cx="3145536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566928" y="52852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층별 면적 합계 680.0㎡ = 건축물대장 연면적 680.0㎡ (일치 확인).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388352" y="1591056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 혼합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1883664"/>
            <a:ext cx="1864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52375" y="1883664"/>
            <a:ext cx="23723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 · 2F · B1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88352" y="2231136"/>
            <a:ext cx="4236415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2231136"/>
            <a:ext cx="1864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단독주택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52375" y="2231136"/>
            <a:ext cx="23723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 · 4F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✓공부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88352" y="2578608"/>
            <a:ext cx="4236415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88352" y="2578608"/>
            <a:ext cx="1864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면적 비중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252375" y="2578608"/>
            <a:ext cx="23723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 62.1% / 주택 37.9%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388352" y="3035808"/>
            <a:ext cx="4236415" cy="1316736"/>
          </a:xfrm>
          <a:prstGeom prst="roundRect">
            <a:avLst>
              <a:gd name="adj" fmla="val 2083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1232" y="3154680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용도가 섞여 있습니다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571232" y="3374136"/>
            <a:ext cx="38706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근생과 주택이 한 건물에 있으면 호실별로 적용 법령이 갈립니다. 다음 장부터 나눠 보여드립니다.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7388352" y="4498848"/>
            <a:ext cx="4236415" cy="1115568"/>
          </a:xfrm>
          <a:prstGeom prst="roundRect">
            <a:avLst>
              <a:gd name="adj" fmla="val 2459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71232" y="4617720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B1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571232" y="4837176"/>
            <a:ext cx="3870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35.8평. 신규 계약이므로 인상률 상한이 적용되지 않습니다.</a:t>
            </a:r>
            <a:endParaRPr lang="en-US" sz="930" dirty="0"/>
          </a:p>
        </p:txBody>
      </p:sp>
      <p:sp>
        <p:nvSpPr>
          <p:cNvPr id="53" name="Text 51"/>
          <p:cNvSpPr/>
          <p:nvPr/>
        </p:nvSpPr>
        <p:spPr>
          <a:xfrm>
            <a:off x="566928" y="57607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임대료는 부가세 별도이며 관리비는 실비 정산입니다.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호실 구성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 2실 · 근생 2실 · 공실 1실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호실별 내역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492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737360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근생·카페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커피명가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근생·학원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연남어학원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주택·전세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(전세)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주택·월세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창고·공실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389534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보증금·월세 합계는 호실 값에서 계산했습니다. 3F는 전세이며 월세가 없습니다.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7388352" y="1810512"/>
            <a:ext cx="2049628" cy="969264"/>
          </a:xfrm>
          <a:prstGeom prst="roundRect">
            <a:avLst>
              <a:gd name="adj" fmla="val 283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938528"/>
            <a:ext cx="1683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호실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71232" y="2121408"/>
            <a:ext cx="1683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실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71232" y="2596896"/>
            <a:ext cx="16838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 3 · 주택 2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9575140" y="1810512"/>
            <a:ext cx="2049628" cy="969264"/>
          </a:xfrm>
          <a:prstGeom prst="roundRect">
            <a:avLst>
              <a:gd name="adj" fmla="val 283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58020" y="1938528"/>
            <a:ext cx="1683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758020" y="2121408"/>
            <a:ext cx="1683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실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758020" y="2596896"/>
            <a:ext cx="16838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기준 17.4%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7388352" y="2916936"/>
            <a:ext cx="2049628" cy="969264"/>
          </a:xfrm>
          <a:prstGeom prst="roundRect">
            <a:avLst>
              <a:gd name="adj" fmla="val 283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71232" y="3044952"/>
            <a:ext cx="1683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전세 비중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71232" y="3227832"/>
            <a:ext cx="1683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실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571232" y="3703320"/>
            <a:ext cx="16838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 2.0억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9575140" y="2916936"/>
            <a:ext cx="2049628" cy="969264"/>
          </a:xfrm>
          <a:prstGeom prst="roundRect">
            <a:avLst>
              <a:gd name="adj" fmla="val 283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58020" y="3044952"/>
            <a:ext cx="1683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실당 평균 월세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758020" y="3227832"/>
            <a:ext cx="1683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pPr indent="0" marL="0">
              <a:buNone/>
            </a:pPr>
            <a:r>
              <a:rPr lang="en-US" sz="11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758020" y="3703320"/>
            <a:ext cx="16838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중 4실 기준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7388352" y="3931920"/>
            <a:ext cx="4236415" cy="1097280"/>
          </a:xfrm>
          <a:prstGeom prst="roundRect">
            <a:avLst>
              <a:gd name="adj" fmla="val 2500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71232" y="4050792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위반건축물 — 확인 중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571232" y="4270248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옥탑 증축 여부를 관할 구청에 조회 중입니다. 등재 시 매수인 대출이 제한될 수 있습니다.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437083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결손 항목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4663440"/>
            <a:ext cx="2856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 갱신요구권 행사 이력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423514" y="4663440"/>
            <a:ext cx="3635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928" y="4974336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" y="4974336"/>
            <a:ext cx="2856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계량기 설치 여부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423514" y="4974336"/>
            <a:ext cx="3635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66928" y="5285232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" y="5285232"/>
            <a:ext cx="28565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위반건축물 등재 여부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423514" y="5285232"/>
            <a:ext cx="36356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중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66928" y="574243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결손 항목은 감추지 않고 표기합니다. 확인 후 재발행 시 반영됩니다.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TITLE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소유 · 권리 구성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 구분등기이며 형제 2인이 나눠 보유합니다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호실별 소유 · 담보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492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463040"/>
                <a:gridCol w="128016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소유자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대지권 지분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채권최고액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공동담보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김OO (형)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34.2%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김OO (형)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34.2%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김XX (동생)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15.8%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김XX (동생)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15.8%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8.4억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 2개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3602736"/>
            <a:ext cx="6492240" cy="1152144"/>
          </a:xfrm>
          <a:prstGeom prst="roundRect">
            <a:avLst>
              <a:gd name="adj" fmla="val 2381"/>
            </a:avLst>
          </a:prstGeom>
          <a:solidFill>
            <a:srgbClr val="F6E9E9"/>
          </a:solidFill>
          <a:ln w="12700">
            <a:solidFill>
              <a:srgbClr val="F6E9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7216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공동담보는 그룹당 1회만 합산합니다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3941064"/>
            <a:ext cx="6126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호실별 채권최고액을 단순 합산하면 16.8억이 나오지만, 같은 그룹에 설정된 공동담보이므로 실제는 8.4억입니다. 중복 계상하면 실제의 두 배가 됩니다.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7388352" y="1517904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시 유의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88352" y="1810512"/>
            <a:ext cx="4236415" cy="1133856"/>
          </a:xfrm>
          <a:prstGeom prst="roundRect">
            <a:avLst>
              <a:gd name="adj" fmla="val 2419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1232" y="1929384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동의 필요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71232" y="2148840"/>
            <a:ext cx="38706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호실 일괄 매각에는 형제 2인 전원의 동의가 필요합니다.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388352" y="3090672"/>
            <a:ext cx="4236415" cy="1133856"/>
          </a:xfrm>
          <a:prstGeom prst="roundRect">
            <a:avLst>
              <a:gd name="adj" fmla="val 2419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1232" y="3209544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 매각 가능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71232" y="3429000"/>
            <a:ext cx="387065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단위(1F·2F 또는 3F·4F)로는 분리 매각이 가능한 구조입니다.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7388352" y="4370832"/>
            <a:ext cx="4236415" cy="1097280"/>
          </a:xfrm>
          <a:prstGeom prst="roundRect">
            <a:avLst>
              <a:gd name="adj" fmla="val 2500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4489704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관리단 없음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71232" y="470916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4호실 규모로 관리단이 구성되어 있지 않아 의사결정이 단순합니다.</a:t>
            </a:r>
            <a:endParaRPr lang="en-US" sz="930" dirty="0"/>
          </a:p>
        </p:txBody>
      </p:sp>
      <p:sp>
        <p:nvSpPr>
          <p:cNvPr id="22" name="Text 19"/>
          <p:cNvSpPr/>
          <p:nvPr/>
        </p:nvSpPr>
        <p:spPr>
          <a:xfrm>
            <a:off x="566928" y="50840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대지권 지분 합계 100.0%를 확인했습니다. 등기부 발급일 2026-07-28.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LEASE LAW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법적 지위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근생은 상가임대차보호법, 주택은 주택임대차보호법이 적용됩니다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920240"/>
                <a:gridCol w="1737360"/>
                <a:gridCol w="2834640"/>
                <a:gridCol w="20939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법령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환산보증금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 적용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갱신요구권 잔여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권리금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상임법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전면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2.7년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상임법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전면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5.1년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주임법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전면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필요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주임법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전면 적용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소진 (1회 행사)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566160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법의 차이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24220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갱신요구권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88991" y="3858768"/>
            <a:ext cx="30826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10년 범위 / 주택 1회·2년 (최장 4년)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169664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169664"/>
            <a:ext cx="24220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대항 요건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88991" y="4169664"/>
            <a:ext cx="30826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사업자등록 / 주택 주민등록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480560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480560"/>
            <a:ext cx="24220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환산보증금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88991" y="4480560"/>
            <a:ext cx="30826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상가만 존재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4791456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791456"/>
            <a:ext cx="242206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권리금 보호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988991" y="4791456"/>
            <a:ext cx="308262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상가만 적용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27648" y="3566160"/>
            <a:ext cx="5495544" cy="1170432"/>
          </a:xfrm>
          <a:prstGeom prst="roundRect">
            <a:avLst>
              <a:gd name="adj" fmla="val 2344"/>
            </a:avLst>
          </a:prstGeom>
          <a:solidFill>
            <a:srgbClr val="F6E9E9"/>
          </a:solidFill>
          <a:ln w="12700">
            <a:solidFill>
              <a:srgbClr val="F6E9E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685032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3F는 추정하지 않았습니다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0528" y="3904488"/>
            <a:ext cx="5129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주택은 묵시적 갱신으로 계약이 이어져도 갱신요구권이 소진되지 않습니다. 경과 기간으로 역산하면 매수인에게 유리한 쪽으로 틀립니다.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6327648" y="4864608"/>
            <a:ext cx="5495544" cy="786384"/>
          </a:xfrm>
          <a:prstGeom prst="roundRect">
            <a:avLst>
              <a:gd name="adj" fmla="val 3488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0528" y="498348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4F는 확인되었습니다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10528" y="5202936"/>
            <a:ext cx="5129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11월 갱신요구권 1회 행사 — 소진되었습니다.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66928" y="57607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적용 법령은 실제 사용 용도를 기준으로 하며, 임대차계약서 원본 확인이 필요합니다.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상세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호실별 계약 조건과 만료 시점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1554480"/>
                <a:gridCol w="1097280"/>
                <a:gridCol w="1554480"/>
                <a:gridCol w="1554480"/>
                <a:gridCol w="218541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계약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평당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커피명가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2019-04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7.3년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62천/평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연남어학원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2021-09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4.9년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47천/평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(전세)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2023-06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0천/평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2022-11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27천/평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639312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수입 구조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3931920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합계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88991" y="3931920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600만원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 중개인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279392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279392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임대료 (GPI)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88991" y="4279392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0.72억원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626864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626864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운영경비 (22% 가정)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88991" y="4626864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0.16억원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가정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4974336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974336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NOI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988991" y="4974336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0.56억원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27648" y="3639312"/>
            <a:ext cx="5495544" cy="1316736"/>
          </a:xfrm>
          <a:prstGeom prst="roundRect">
            <a:avLst>
              <a:gd name="adj" fmla="val 2083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3758184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운영경비는 가정입니다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0528" y="3977640"/>
            <a:ext cx="51297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매도인으로부터 실제 관리비·수선비·보험료 내역을 수령하지 못했습니다. 소형 상가주택 통상치 22%를 적용했으며 ◇ 로 표기했습니다.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6327648" y="5102352"/>
            <a:ext cx="5495544" cy="1097280"/>
          </a:xfrm>
          <a:prstGeom prst="roundRect">
            <a:avLst>
              <a:gd name="adj" fmla="val 2500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0528" y="5221224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 전세의 처리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10528" y="5440680"/>
            <a:ext cx="5129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전세 2.0억은 월세 환산 없이 보증금으로만 계상했습니다. 실투자금 계산에 반영됩니다.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66928" y="57607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월세 합계는 호실 값에서 계산했습니다. 부가세 별도이며 관리비는 실비 정산입니다.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갭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중 3실 전부가 시세보다 낮습니다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6675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1280160"/>
                <a:gridCol w="128016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임차인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월세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권역 시세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커피명가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연남어학원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66928" y="3127248"/>
          <a:ext cx="6675120" cy="21396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572768"/>
            <a:ext cx="4126687" cy="1737360"/>
          </a:xfrm>
          <a:prstGeom prst="roundRect">
            <a:avLst>
              <a:gd name="adj" fmla="val 1579"/>
            </a:avLst>
          </a:prstGeom>
          <a:solidFill>
            <a:srgbClr val="FBF6EC"/>
          </a:solidFill>
          <a:ln w="12700">
            <a:solidFill>
              <a:srgbClr val="FBF6E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80960" y="1691640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갭이 큰 이유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680960" y="1911096"/>
            <a:ext cx="376092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1F는 2019년, 2F는 2021년 계약입니다. 이후 연남 상권 임대료가 올랐으나 갱신 시 5% 상한에 묶여 반영되지 못했습니다.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7498080" y="3456432"/>
            <a:ext cx="4126687" cy="2011680"/>
          </a:xfrm>
          <a:prstGeom prst="roundRect">
            <a:avLst>
              <a:gd name="adj" fmla="val 1364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0" y="3575304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즉시 실현되지 않습니다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680960" y="3794760"/>
            <a:ext cx="376092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수준으로 올리려면 갱신 거절 후 신규 계약이 필요합니다. 1F는 갱신요구권이 2.7년, 2F는 5.1년 남아 있어 그 전까지는 상한 이내로만 가능합니다.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566928" y="548640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권역 시세는 인근 유사 물건 3건의 평당 임대료 중앙값 기준이며 ● 중개인 입력입니다.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인상 경로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옆에 법정 상한을 함께 적습니다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66751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1920240"/>
                <a:gridCol w="1280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 시 상한 (5%)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시세 수준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 시 불가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221만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 시 불가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116만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 시 불가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계약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56616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실현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— 즉시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503981" y="3858768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 공실 해소 (신규 계약 · 상한 없음)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+90만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206240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206240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— 갱신 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03981" y="4206240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3실 5% 상한 인상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+30만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553712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553712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— 갱신권 소진 후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03981" y="4553712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계약으로 시세 반영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2.7~5.1년 후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0" y="1572768"/>
            <a:ext cx="4126687" cy="1883664"/>
          </a:xfrm>
          <a:prstGeom prst="roundRect">
            <a:avLst>
              <a:gd name="adj" fmla="val 1456"/>
            </a:avLst>
          </a:prstGeom>
          <a:solidFill>
            <a:srgbClr val="F6E9E9"/>
          </a:solidFill>
          <a:ln w="12700">
            <a:solidFill>
              <a:srgbClr val="F6E9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1691640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시세를 계획으로 쓰지 않았습니다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80960" y="1911096"/>
            <a:ext cx="3760927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1F를 340만원으로 올리는 계획은 갱신 시 법적으로 불가능합니다. 상한은 294만원입니다. 실현 불가능한 수익을 제시하면 실사에서 드러납니다.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7498080" y="3602736"/>
            <a:ext cx="4126687" cy="1865376"/>
          </a:xfrm>
          <a:prstGeom prst="roundRect">
            <a:avLst>
              <a:gd name="adj" fmla="val 1471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3721608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2단계까지가 현실적입니다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80960" y="3941064"/>
            <a:ext cx="3760927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해소와 상한 인상만으로 월 720만원이 됩니다. 실투자금 기준 수익률 1.86% → 2.23%.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550468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3단계는 갱신요구권 소진 이후에만 가능하며 시점이 확정되지 않았습니다. ◇ 가정입니다.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VALUE-ADD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정상화 여지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물건의 핵심 주장입니다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3490874" cy="1572768"/>
          </a:xfrm>
          <a:prstGeom prst="roundRect">
            <a:avLst>
              <a:gd name="adj" fmla="val 1744"/>
            </a:avLst>
          </a:prstGeom>
          <a:solidFill>
            <a:srgbClr val="1B2531"/>
          </a:solidFill>
          <a:ln w="9525">
            <a:solidFill>
              <a:srgbClr val="273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47088"/>
            <a:ext cx="3051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30519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기준 임대수익률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0410" y="1700784"/>
            <a:ext cx="3490874" cy="1572768"/>
          </a:xfrm>
          <a:prstGeom prst="roundRect">
            <a:avLst>
              <a:gd name="adj" fmla="val 1744"/>
            </a:avLst>
          </a:prstGeom>
          <a:solidFill>
            <a:srgbClr val="2A2213"/>
          </a:solidFill>
          <a:ln w="9525">
            <a:solidFill>
              <a:srgbClr val="8E6A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9866" y="1847088"/>
            <a:ext cx="3051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1·2단계 실현 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9866" y="2139696"/>
            <a:ext cx="30519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69866" y="2761488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해소 + 상한 인상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33893" y="1700784"/>
            <a:ext cx="3490874" cy="1572768"/>
          </a:xfrm>
          <a:prstGeom prst="roundRect">
            <a:avLst>
              <a:gd name="adj" fmla="val 1744"/>
            </a:avLst>
          </a:prstGeom>
          <a:solidFill>
            <a:srgbClr val="1B2531"/>
          </a:solidFill>
          <a:ln w="9525">
            <a:solidFill>
              <a:srgbClr val="2733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3349" y="1847088"/>
            <a:ext cx="3051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임대료 증가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53349" y="2139696"/>
            <a:ext cx="30519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+20.0%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353349" y="2761488"/>
            <a:ext cx="30519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600만 → 720만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60273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 조건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895344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 공실 해소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3514" y="3895344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용도 · 월 90만원 가정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가정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61104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시 5% 인상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3514" y="4261104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상한 이내 · 임차인 동의 불요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★ 전문가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626864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626864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수준 실현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3514" y="4626864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갱신권 소진 후 2.7~5.1년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가정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88352" y="3602736"/>
            <a:ext cx="4236415" cy="1865376"/>
          </a:xfrm>
          <a:prstGeom prst="roundRect">
            <a:avLst>
              <a:gd name="adj" fmla="val 1471"/>
            </a:avLst>
          </a:prstGeom>
          <a:solidFill>
            <a:srgbClr val="1B2531"/>
          </a:solidFill>
          <a:ln w="9525">
            <a:solidFill>
              <a:srgbClr val="2733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3785616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하방 시나리오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26096" y="4133088"/>
            <a:ext cx="3760927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 공실이 12개월 이상 지속되고 갱신 인상이 이루어지지 않으면 현재 수익률이 유지됩니다.</a:t>
            </a:r>
            <a:endParaRPr lang="en-US" sz="980" dirty="0"/>
          </a:p>
          <a:p>
            <a:pPr indent="0" marL="0">
              <a:lnSpc>
                <a:spcPct val="126000"/>
              </a:lnSpc>
              <a:buNone/>
            </a:pPr>
            <a:endParaRPr lang="en-US" sz="98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임차인 이탈 시 공실 기간 3~6개월을 가정해야 합니다.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66928" y="56144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시나리오 수치는 전부 가정이며 ◇ 로 표기했습니다. 확정된 수익이 아닙니다.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YIELD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— 산정 기준별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밝히지 않은 수익률은 표기하지 않습니다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66751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 기준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 코드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임대수익률 (실투자금 기준)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gross_price_deposit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임대수익률 (매매가 기준)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1.71%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gross_price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 Rate (표준)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noi_price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 Rate (총취득원가 기준)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noi_total_cost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52958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3822192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기준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3503981" y="3822192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임대료 0.72억 ÷ (매매가 42억 − 보증금 3.30억)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566928" y="4169664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169664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기준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3503981" y="4169664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임대료 0.72억 ÷ 42억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566928" y="4517136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517136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Cap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3503981" y="4517136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0.56억 ÷ 42억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66928" y="4864608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4864608"/>
            <a:ext cx="29370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총취득원가 기준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3503981" y="4864608"/>
            <a:ext cx="37380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0.56억 ÷ 44.54억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7498080" y="1572768"/>
            <a:ext cx="4126687" cy="1920240"/>
          </a:xfrm>
          <a:prstGeom prst="roundRect">
            <a:avLst>
              <a:gd name="adj" fmla="val 1429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1691640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기준에 따라 0.60%p 차이납니다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680960" y="1911096"/>
            <a:ext cx="376092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값만 제시하는 IM이 많습니다. 매수인이 어느 기준인지 모르면 다른 물건과 비교할 수 없습니다.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7498080" y="3639312"/>
            <a:ext cx="4126687" cy="1828800"/>
          </a:xfrm>
          <a:prstGeom prst="roundRect">
            <a:avLst>
              <a:gd name="adj" fmla="val 1500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3758184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것을 보아야 하나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680960" y="3977640"/>
            <a:ext cx="3760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투자 판단에는 총취득원가 기준이 가장 보수적이고 정확합니다. 실무 관행은 실투자금 기준입니다. 둘 다 보십시오.</a:t>
            </a:r>
            <a:endParaRPr lang="en-US" sz="930" dirty="0"/>
          </a:p>
        </p:txBody>
      </p:sp>
      <p:sp>
        <p:nvSpPr>
          <p:cNvPr id="26" name="Text 23"/>
          <p:cNvSpPr/>
          <p:nvPr/>
        </p:nvSpPr>
        <p:spPr>
          <a:xfrm>
            <a:off x="566928" y="55412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NOI는 운영경비 22% 가정을 적용한 값이며 ◇ 가정입니다. 실제 경비 내역 수령 시 재산출됩니다.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보증금과 대출을 반영한 실제 투입 자금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87404"/>
            <a:ext cx="2127504" cy="2421172"/>
          </a:xfrm>
          <a:prstGeom prst="rect">
            <a:avLst/>
          </a:prstGeom>
          <a:solidFill>
            <a:srgbClr val="B98A2E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4663440"/>
            <a:ext cx="231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38912" y="1931372"/>
            <a:ext cx="238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42.0억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840736" y="2187404"/>
            <a:ext cx="2127504" cy="190235"/>
          </a:xfrm>
          <a:prstGeom prst="rect">
            <a:avLst/>
          </a:prstGeom>
          <a:solidFill>
            <a:srgbClr val="A33A3D"/>
          </a:solidFill>
          <a:ln w="12700">
            <a:solidFill>
              <a:srgbClr val="A33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9296" y="4663440"/>
            <a:ext cx="231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보증금 승계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2712720" y="1931372"/>
            <a:ext cx="238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33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−3.3억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114544" y="2231216"/>
            <a:ext cx="2127504" cy="146423"/>
          </a:xfrm>
          <a:prstGeom prst="rect">
            <a:avLst/>
          </a:prstGeom>
          <a:solidFill>
            <a:srgbClr val="3A7350"/>
          </a:solidFill>
          <a:ln w="12700">
            <a:solidFill>
              <a:srgbClr val="3A7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3104" y="4663440"/>
            <a:ext cx="2310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취득 부대비용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986528" y="1975184"/>
            <a:ext cx="238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3A7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+2.54억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66928" y="513892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보증금 승계 후 실투자금 38.7억, 부대비용 포함 총 투입 41.24억.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498080" y="1517904"/>
            <a:ext cx="41266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레버리지 시나리오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810512"/>
          <a:ext cx="4126687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51560"/>
                <a:gridCol w="1143000"/>
                <a:gridCol w="1152144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</a:t>
                      </a:r>
                      <a:endParaRPr lang="en-US" sz="82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</a:t>
                      </a:r>
                      <a:endParaRPr lang="en-US" sz="82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이자</a:t>
                      </a:r>
                      <a:endParaRPr lang="en-US" sz="82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 수익률</a:t>
                      </a:r>
                      <a:endParaRPr lang="en-US" sz="82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40%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16.8억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0.81억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-1.00%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55%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23.1억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1.11억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-3.02%</a:t>
                      </a:r>
                      <a:endParaRPr lang="en-US" sz="8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2926080"/>
            <a:ext cx="4126687" cy="1225296"/>
          </a:xfrm>
          <a:prstGeom prst="roundRect">
            <a:avLst>
              <a:gd name="adj" fmla="val 2239"/>
            </a:avLst>
          </a:prstGeom>
          <a:solidFill>
            <a:srgbClr val="F6E9E9"/>
          </a:solidFill>
          <a:ln w="12700">
            <a:solidFill>
              <a:srgbClr val="F6E9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0" y="3044952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레버리지가 수익률을 낮춥니다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680960" y="3264408"/>
            <a:ext cx="376092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대출금리 4.8%가 표준 Cap 1.34%보다 높아 역레버리지입니다.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7498080" y="4297680"/>
            <a:ext cx="4126687" cy="1170432"/>
          </a:xfrm>
          <a:prstGeom prst="roundRect">
            <a:avLst>
              <a:gd name="adj" fmla="val 2344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0" y="4416552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담보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680960" y="4636008"/>
            <a:ext cx="376092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공동담보 8.4억 — 매매 시 말소 조건입니다.</a:t>
            </a:r>
            <a:endParaRPr lang="en-US" sz="930" dirty="0"/>
          </a:p>
        </p:txBody>
      </p:sp>
      <p:sp>
        <p:nvSpPr>
          <p:cNvPr id="25" name="Text 22"/>
          <p:cNvSpPr/>
          <p:nvPr/>
        </p:nvSpPr>
        <p:spPr>
          <a:xfrm>
            <a:off x="566928" y="561441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금리 4.8%는 2026년 8월 기준 가정이며 ◇ 입니다. 실제 조건은 금융기관 심사에 따릅니다.</a:t>
            </a:r>
            <a:endParaRPr lang="en-US" sz="780" dirty="0"/>
          </a:p>
        </p:txBody>
      </p:sp>
      <p:sp>
        <p:nvSpPr>
          <p:cNvPr id="26" name="Text 23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취득 부대비용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외에 실제로 더 드는 금액입니다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856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취득세 (4.6%)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3514" y="1810512"/>
            <a:ext cx="36356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193,200,000원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★ 전문가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94560"/>
            <a:ext cx="2856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중개보수 (0.9%)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3514" y="2194560"/>
            <a:ext cx="36356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37,800,000원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★ 전문가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578608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78608"/>
            <a:ext cx="2856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등기·법무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3514" y="2578608"/>
            <a:ext cx="36356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15,000,000원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가정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62656"/>
            <a:ext cx="2856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감정·실사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3514" y="2962656"/>
            <a:ext cx="36356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8,000,000원</a:t>
            </a:r>
            <a:pPr algn="r" indent="0" marL="0">
              <a:buNone/>
            </a:pPr>
            <a:r>
              <a:rPr lang="en-US" sz="76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◇ 가정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438144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부대비용 합계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23514" y="3438144"/>
            <a:ext cx="36356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254,000,000원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49224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856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총취득원가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3514" y="3840480"/>
            <a:ext cx="36356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44.54억원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88352" y="1810512"/>
            <a:ext cx="4236415" cy="1755648"/>
          </a:xfrm>
          <a:prstGeom prst="roundRect">
            <a:avLst>
              <a:gd name="adj" fmla="val 1563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1929384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 중 5건에서 빠져 있었습니다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71232" y="2148840"/>
            <a:ext cx="387065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IM을 분석한 결과 취득 부대비용을 기재한 문서가 없었습니다. 매매가 대비 6.0%가 추가로 필요합니다.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388352" y="3712464"/>
            <a:ext cx="4236415" cy="1755648"/>
          </a:xfrm>
          <a:prstGeom prst="roundRect">
            <a:avLst>
              <a:gd name="adj" fmla="val 1563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3831336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기준을 나눕니다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71232" y="4050792"/>
            <a:ext cx="387065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총취득원가 기준 Cap Rate 1.26%가 실제 투자 판단에 가장 가깝습니다.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557784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취득세율은 주택·근생 혼합 물건 기준 추정이며 실제 세율은 세무 검토가 필요합니다.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COMPARABLES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비교사례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유사 규모 3건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463040"/>
                <a:gridCol w="1737360"/>
                <a:gridCol w="41056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거래가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평단가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연남동 인근 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46.5억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5,032만/평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상가주택 · 2019 준공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연남동 인근 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37.2억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4,763만/평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근생 · 2008 준공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성산동 인근 C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88.6평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40.8억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4,605만/평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상가주택 · 2001 준공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물건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85.6평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42.0억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4,906만/평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상가주택 · 2003 준공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3730752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위치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" y="4023360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비교사례 평균 평단가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88991" y="4023360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4,800만원/평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370832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370832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물건 평단가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988991" y="4370832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4,906만원/평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718304"/>
            <a:ext cx="5504688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718304"/>
            <a:ext cx="2422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988991" y="4718304"/>
            <a:ext cx="30826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+2.2%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27648" y="3730752"/>
            <a:ext cx="5495544" cy="1188720"/>
          </a:xfrm>
          <a:prstGeom prst="roundRect">
            <a:avLst>
              <a:gd name="adj" fmla="val 2308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10528" y="3849624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범위 내입니다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0528" y="4069080"/>
            <a:ext cx="5129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비교사례 평균 대비 2.2% 차이로 통상적인 편차 범위입니다. 건물연령 23년을 감안하면 토지 가치 중심의 구조입니다.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327648" y="5047488"/>
            <a:ext cx="5495544" cy="804672"/>
          </a:xfrm>
          <a:prstGeom prst="roundRect">
            <a:avLst>
              <a:gd name="adj" fmla="val 3409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0528" y="5166360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한계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510528" y="5385816"/>
            <a:ext cx="5129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3건은 통계적으로 충분하지 않습니다. 참고 지표로만 사용하십시오.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594360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비교사례는 국토교통부 실거래가 공개시스템 조회분이며 ✓ 공부 확인입니다.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SCENARIO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총수익률 시나리오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임대수익과 지가 변동을 함께 봅니다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920240"/>
                <a:gridCol w="1920240"/>
                <a:gridCol w="3831336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임대수익률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 지가변동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총수익률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-1.0%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 지속 · 지가 하락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 수준 유지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2.23%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6.23%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정상화 실현 · 지가 상승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529584"/>
            <a:ext cx="11057839" cy="1097280"/>
          </a:xfrm>
          <a:prstGeom prst="roundRect">
            <a:avLst>
              <a:gd name="adj" fmla="val 2500"/>
            </a:avLst>
          </a:prstGeom>
          <a:solidFill>
            <a:srgbClr val="F6E9E9"/>
          </a:solidFill>
          <a:ln w="12700">
            <a:solidFill>
              <a:srgbClr val="F6E9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648456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3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표의 모든 수치는 가정입니다  ◇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3867912"/>
            <a:ext cx="106920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지가 변동률은 예측이 아니라 시나리오 입력값입니다. 과거 권역 지가 상승률을 참고했으나 미래를 보장하지 않습니다. 총수익률은 반드시 하방 시나리오와 함께 읽으십시오.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566928" y="4791456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지가 변동 가정 근거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5084064"/>
            <a:ext cx="5504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마포구 연남동 개별공시지가 최근 5년 연평균 변동률을 참고했습니다. 실제 시장 가격 변동과는 다릅니다.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6327648" y="4791456"/>
            <a:ext cx="5495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DCF · IRR 미표시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27648" y="5084064"/>
            <a:ext cx="5495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6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자료등급 B에서는 DCF·민감도 분석을 제공하지 않습니다. 운영경비 실적과 임대차계약서 원본이 확인되면 A등급에서 제공됩니다.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566928" y="579729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시나리오는 투자 권유가 아니며, 어떠한 수익도 보장하지 않습니다.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밝힙니다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593445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리스크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영향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갱신요구권 잔여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33A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33A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 2.7년 · 2F 5.1년 — 그 전까지 5% 상한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 임대차 판정 미확정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33A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 갱신 행사 이력 미확인 — 명도 시점 불확정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위반건축물 가능성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33A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옥탑 증축 조회 중 — 등재 시 대출 제한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운영경비 실적 부재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A33A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22% 가정 적용 — 실적 초과 시 NOI 하락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 노후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23년 경과 — 설비 교체 주기 도래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공동 소유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2인 전원 동의 필요 — 일정 지연 가능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169664"/>
            <a:ext cx="5504688" cy="1188720"/>
          </a:xfrm>
          <a:prstGeom prst="roundRect">
            <a:avLst>
              <a:gd name="adj" fmla="val 2308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4288536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것은 갱신요구권입니다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507992"/>
            <a:ext cx="5138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임대료 정상화가 이 물건의 핵심 논리인데, 그 실현 시점이 갱신요구권 잔여 기간에 묶여 있습니다.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6327648" y="4169664"/>
            <a:ext cx="5495544" cy="1188720"/>
          </a:xfrm>
          <a:prstGeom prst="roundRect">
            <a:avLst>
              <a:gd name="adj" fmla="val 2308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428853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해소 가능한 것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10528" y="4507992"/>
            <a:ext cx="5129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갱신 이력과 위반건축물 여부는 확인만 하면 해소됩니다. 확인 후 재발행 시 반영합니다.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566928" y="55412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목록은 완전하지 않습니다. 매수인의 독립적 실사가 필요합니다.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GRADE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자료등급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문서가 무엇에 근거하는지 점수로 밝힙니다 — 76.6점 B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6675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188720"/>
                <a:gridCol w="118872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슬롯군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충족도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A879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건물 기본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토지·필지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용도지역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도로·접면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금융·비용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권리·등기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9.50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비교사례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호실 구성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7.65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76.57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1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572768"/>
            <a:ext cx="4126687" cy="1700784"/>
          </a:xfrm>
          <a:prstGeom prst="roundRect">
            <a:avLst>
              <a:gd name="adj" fmla="val 1613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691640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A등급까지 8.4점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1911096"/>
            <a:ext cx="3760927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임대차계약서 원본을 확인하면 임대차 출처가 0.72 → 0.85로 오르고, 운영경비 실적을 받으면 금융 항목이 채워집니다.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498080" y="3419856"/>
            <a:ext cx="4126687" cy="1463040"/>
          </a:xfrm>
          <a:prstGeom prst="roundRect">
            <a:avLst>
              <a:gd name="adj" fmla="val 1875"/>
            </a:avLst>
          </a:prstGeom>
          <a:solidFill>
            <a:srgbClr val="F7EFDC"/>
          </a:solidFill>
          <a:ln w="12700">
            <a:solidFill>
              <a:srgbClr val="F7EF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3538728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670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B등급에서 억제되는 것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680960" y="3758184"/>
            <a:ext cx="37609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DCF · IRR · 민감도 분석은 A등급에서만 제공됩니다.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498080" y="5029200"/>
            <a:ext cx="4126687" cy="822960"/>
          </a:xfrm>
          <a:prstGeom prst="roundRect">
            <a:avLst>
              <a:gd name="adj" fmla="val 3333"/>
            </a:avLst>
          </a:prstGeom>
          <a:solidFill>
            <a:srgbClr val="E7F0EA"/>
          </a:solidFill>
          <a:ln w="12700">
            <a:solidFill>
              <a:srgbClr val="E7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5148072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3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 없음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80960" y="5367528"/>
            <a:ext cx="3760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32개 정합성 검사를 전부 통과했습니다.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566928" y="566928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충족도는 슬롯 입력 비율, 출처는 provenance 가중 평균입니다. 산식은 표기 기준 페이지를 참고하십시오.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478682" cy="2304288"/>
          </a:xfrm>
          <a:prstGeom prst="roundRect">
            <a:avLst>
              <a:gd name="adj" fmla="val 119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737360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1993392"/>
            <a:ext cx="3039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확인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487168"/>
            <a:ext cx="303977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8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임대차계약서 원본 · 운영경비 실적 · 위반건축물 조회 결과를 수령합니다.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86384" y="3529584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6506" y="1572768"/>
            <a:ext cx="3478682" cy="2304288"/>
          </a:xfrm>
          <a:prstGeom prst="roundRect">
            <a:avLst>
              <a:gd name="adj" fmla="val 119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962" y="1737360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5962" y="1993392"/>
            <a:ext cx="3039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5962" y="2487168"/>
            <a:ext cx="303977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8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상태 · 임차인 면담 · 주변 상권을 확인합니다.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4575962" y="3529584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5962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46085" y="1572768"/>
            <a:ext cx="3478682" cy="2304288"/>
          </a:xfrm>
          <a:prstGeom prst="roundRect">
            <a:avLst>
              <a:gd name="adj" fmla="val 1190"/>
            </a:avLst>
          </a:prstGeom>
          <a:solidFill>
            <a:srgbClr val="F5F7F9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5541" y="1737360"/>
            <a:ext cx="303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65541" y="1993392"/>
            <a:ext cx="3039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협의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65541" y="2487168"/>
            <a:ext cx="303977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98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· 명도 조건 · 임대차 승계 범위를 협의합니다.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5541" y="3529584"/>
            <a:ext cx="1097280" cy="256032"/>
          </a:xfrm>
          <a:prstGeom prst="roundRect">
            <a:avLst>
              <a:gd name="adj" fmla="val 178571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5541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4133088"/>
            <a:ext cx="11057839" cy="1225296"/>
          </a:xfrm>
          <a:prstGeom prst="roundRect">
            <a:avLst>
              <a:gd name="adj" fmla="val 2239"/>
            </a:avLst>
          </a:prstGeom>
          <a:solidFill>
            <a:srgbClr val="FBF6EC"/>
          </a:solidFill>
          <a:ln w="12700">
            <a:solidFill>
              <a:srgbClr val="FBF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251960"/>
            <a:ext cx="10692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받아야 할 세 가지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4471416"/>
            <a:ext cx="106920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임대차계약서 원본 4건 — 최초 계약일과 갱신 이력을 확인해야 명도 시점이 정해집니다.  ② 운영경비 실적 12개월 — NOI 가정을 실적으로 대체합니다.  ③ 위반건축물 조회 결과 — 대출 가능 여부가 걸립니다.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66928" y="557784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일정은 매도인·임차인 협조 상황에 따라 달라질 수 있습니다.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문서에서 쓴 정의를 밝힙니다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면적 · 규모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 (지상 기준)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03981" y="1810512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지상 연면적 ÷ 대장 대지면적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21408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 (전체 기준)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03981" y="2121408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 ÷ 대장 대지면적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432304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32304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 대지면적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3981" y="2432304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대장 대지면적 − 제척 면적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43200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환산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03981" y="2743200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1평 = 3.305785㎡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21868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511296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03981" y="3511296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− 승계 보증금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822192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822192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03981" y="3822192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임대료 × (1 − 운영경비율)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133088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133088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총취득원가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03981" y="4133088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+ 취득 부대비용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443984"/>
            <a:ext cx="6675120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443984"/>
            <a:ext cx="29370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환산보증금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03981" y="4443984"/>
            <a:ext cx="3738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+ 월세 × 100  (상가만)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1517904"/>
            <a:ext cx="41266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등급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1810512"/>
            <a:ext cx="18157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13822" y="1810512"/>
            <a:ext cx="23109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98080" y="2121408"/>
            <a:ext cx="4126687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2121408"/>
            <a:ext cx="18157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313822" y="2121408"/>
            <a:ext cx="23109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98080" y="2432304"/>
            <a:ext cx="4126687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2432304"/>
            <a:ext cx="18157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13822" y="2432304"/>
            <a:ext cx="23109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0.65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98080" y="2743200"/>
            <a:ext cx="4126687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2743200"/>
            <a:ext cx="18157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13822" y="2743200"/>
            <a:ext cx="23109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98080" y="3054096"/>
            <a:ext cx="4126687" cy="0"/>
          </a:xfrm>
          <a:prstGeom prst="line">
            <a:avLst/>
          </a:prstGeom>
          <a:noFill/>
          <a:ln w="9525">
            <a:solidFill>
              <a:srgbClr val="EEF1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054096"/>
            <a:ext cx="18157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13822" y="3054096"/>
            <a:ext cx="23109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98080" y="3566160"/>
            <a:ext cx="4126687" cy="1901952"/>
          </a:xfrm>
          <a:prstGeom prst="roundRect">
            <a:avLst>
              <a:gd name="adj" fmla="val 1442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3685032"/>
            <a:ext cx="3760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463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파생값의 출처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80960" y="3904488"/>
            <a:ext cx="3760927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계산값은 입력 중 가장 약한 출처를 따릅니다. 예를 들어 NOI는 운영경비가 ◇ 가정이므로 NOI 전체가 가정 수준으로 취급됩니다.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566928" y="550468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온톨로지 v0.4.0 기준입니다. 발행 시점의 정의가 고정되어 재현 가능합니다.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20100000">
            <a:off x="1463040" y="2651760"/>
            <a:ext cx="9326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E28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 · GRANT REQUIRED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면책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6537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중개법인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3514" y="186537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제이에스부동산중개(주)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23113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3113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3514" y="223113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차상혁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9689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3514" y="259689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IM-2026-0804-YN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6265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3514" y="296265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328416"/>
            <a:ext cx="6492240" cy="0"/>
          </a:xfrm>
          <a:prstGeom prst="line">
            <a:avLst/>
          </a:prstGeom>
          <a:noFill/>
          <a:ln w="9525">
            <a:solidFill>
              <a:srgbClr val="273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28416"/>
            <a:ext cx="28565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3514" y="3328416"/>
            <a:ext cx="36356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v0.4.0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88352" y="1572768"/>
            <a:ext cx="4236415" cy="3895344"/>
          </a:xfrm>
          <a:prstGeom prst="roundRect">
            <a:avLst>
              <a:gd name="adj" fmla="val 704"/>
            </a:avLst>
          </a:prstGeom>
          <a:solidFill>
            <a:srgbClr val="1B2531"/>
          </a:solidFill>
          <a:ln w="9525">
            <a:solidFill>
              <a:srgbClr val="2733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1792224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26096" y="2176272"/>
            <a:ext cx="3760927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문서는 정보 제공을 목적으로 하며 투자 권유가 아닙니다.</a:t>
            </a: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기재된 수치 중 ◇ 표시 항목은 가정이며 실제와 다를 수 있습니다.</a:t>
            </a: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임대차의 법적 지위는 계약서 원본과 공부로 확인되어야 하며, 본 문서의 판정은 참고용입니다.</a:t>
            </a: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매수 결정 전 반드시 독립적인 법률·세무·회계 검토를 받으십시오.</a:t>
            </a: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endParaRPr lang="en-US" sz="98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D8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문서의 무단 복제·배포를 금합니다.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66928" y="4059936"/>
            <a:ext cx="6492240" cy="50292"/>
          </a:xfrm>
          <a:prstGeom prst="rect">
            <a:avLst/>
          </a:prstGeom>
          <a:solidFill>
            <a:srgbClr val="B9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4281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460857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 Studio · 온톨로지 v0.4 · 32개 정합성 검사 통과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99605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7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제이에스부동산중개(주)   |   IM-2026-0804-YN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2026-08-04T02:26:39Z</dcterms:created>
  <dcterms:modified xsi:type="dcterms:W3CDTF">2026-08-04T02:26:39Z</dcterms:modified>
</cp:coreProperties>
</file>