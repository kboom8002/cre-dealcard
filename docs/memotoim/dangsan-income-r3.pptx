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0D223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1A3A4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886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A3347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B4A5E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당산권역 근생빌딩 매각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02920" y="31638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영등포구 영신로 259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931920"/>
            <a:ext cx="6858000" cy="1051560"/>
          </a:xfrm>
          <a:prstGeom prst="roundRect">
            <a:avLst>
              <a:gd name="adj" fmla="val 3478"/>
            </a:avLst>
          </a:prstGeom>
          <a:solidFill>
            <a:srgbClr val="8B6508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4041648"/>
            <a:ext cx="63459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매각 희망가 115억 원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502920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2026.09.25  |  E2E 테스트 브로커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2026-09-25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IM-073DE8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요약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당산권역 소재 근생빌딩, 희망가 115억 원 투자 검토 자료입니다.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11057839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96596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67512" y="231343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115억 원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243730" y="196596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08322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08322" y="231343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436평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984541" y="196596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49133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수익률(Cap Rate)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149133" y="231343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1.56%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02920" y="309067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" y="32186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 현황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67512" y="343814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메모상 공실 표기는 없음. 연면적과 층별 사용면적 합계가 일치하지 않아 실제 공실 현황 확인 필요.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43730" y="309067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08322" y="32186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실투자금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408322" y="343814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118.4억 원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984541" y="309067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9133" y="32186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149133" y="343814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153평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02920" y="43068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65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02920" y="4636008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" y="4709160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" y="4709160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43000" y="4672584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가치: 당산역 도보 5분 역세권, 당산권역 업무·상업 중심지 배후 수요 확보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" y="5114544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" y="5187696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" y="5187696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43000" y="5151120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 안정성: 연 순수익률(Cap Rate) 1.56% 기반 안정적 임대수익 자산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" y="5593080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2648" y="5666232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" y="5666232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43000" y="5629656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규모: 대지 153평·연면적 436평 규모 단독 빌딩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2026-09-25</a:t>
            </a:r>
            <a:endParaRPr lang="en-US" sz="3600" dirty="0"/>
          </a:p>
        </p:txBody>
      </p:sp>
      <p:sp>
        <p:nvSpPr>
          <p:cNvPr id="40" name="Text 38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IM-073DE8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물건 개요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 개요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건축물 개요 및 물리 스펙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용도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23160" y="164592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제2종근린생활시설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97510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7510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23160" y="197510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1,441.15㎡ (약 436평)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30428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30428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23160" y="230428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506.8㎡ (약 153평)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63347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63347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층수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23160" y="263347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 1층 / 지상 5층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29626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96265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23160" y="2962656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준공업지역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329184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29184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준공년도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23160" y="329184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2002년 (24년 경과)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362102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62102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주구조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423160" y="362102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철근콘크리트구조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4059936"/>
            <a:ext cx="6858000" cy="548640"/>
          </a:xfrm>
          <a:prstGeom prst="rect">
            <a:avLst/>
          </a:prstGeom>
          <a:solidFill>
            <a:srgbClr val="F6F1E4"/>
          </a:solidFill>
          <a:ln w="15240">
            <a:solidFill>
              <a:srgbClr val="B886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059936"/>
            <a:ext cx="272674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12541" y="4059936"/>
            <a:ext cx="376549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115억 원 (VAT 별도)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540600" y="1371600"/>
            <a:ext cx="0" cy="4754880"/>
          </a:xfrm>
          <a:prstGeom prst="line">
            <a:avLst/>
          </a:prstGeom>
          <a:noFill/>
          <a:ln w="8890">
            <a:solidFill>
              <a:srgbClr val="B886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20279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E8F4F8"/>
          </a:solidFill>
          <a:ln/>
        </p:spPr>
      </p:sp>
      <p:sp>
        <p:nvSpPr>
          <p:cNvPr id="32" name="Shape 30"/>
          <p:cNvSpPr/>
          <p:nvPr/>
        </p:nvSpPr>
        <p:spPr>
          <a:xfrm>
            <a:off x="7720279" y="1700784"/>
            <a:ext cx="36576" cy="1993392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33" name="Text 31"/>
          <p:cNvSpPr/>
          <p:nvPr/>
        </p:nvSpPr>
        <p:spPr>
          <a:xfrm>
            <a:off x="7866583" y="173736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및 자산 개요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866583" y="1938528"/>
            <a:ext cx="3584448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 검토 대상 상업용 자산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권리관계 및 임대차 계약 구조 분석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인접 인프라 및 입지 환경 분석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7720279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E8F4F8"/>
          </a:solidFill>
          <a:ln/>
        </p:spPr>
      </p:sp>
      <p:sp>
        <p:nvSpPr>
          <p:cNvPr id="36" name="Shape 34"/>
          <p:cNvSpPr/>
          <p:nvPr/>
        </p:nvSpPr>
        <p:spPr>
          <a:xfrm>
            <a:off x="7720279" y="4032504"/>
            <a:ext cx="36576" cy="2039112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37" name="Text 35"/>
          <p:cNvSpPr/>
          <p:nvPr/>
        </p:nvSpPr>
        <p:spPr>
          <a:xfrm>
            <a:off x="7866583" y="406908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 수익 및 운영 현황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866583" y="4270248"/>
            <a:ext cx="3584448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 검토 대상 자산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임대차 계약 조건 및 운영비 구조 분석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매입 후 운용 계획에 따른 수익성 분석</a:t>
            </a: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2026-09-25</a:t>
            </a:r>
            <a:endParaRPr lang="en-US" sz="3600" dirty="0"/>
          </a:p>
        </p:txBody>
      </p:sp>
      <p:sp>
        <p:nvSpPr>
          <p:cNvPr id="40" name="Text 38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IM-073DE8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입지 정보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1481328"/>
            <a:ext cx="156000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549323" y="1481328"/>
            <a:ext cx="40114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영등포구 영신로 259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989320" y="188366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89320" y="1883664"/>
            <a:ext cx="156000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549323" y="1883664"/>
            <a:ext cx="40114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당산역 9호선 도보 5분 (약 406m)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989320" y="228600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89320" y="2286000"/>
            <a:ext cx="156000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주요시설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549323" y="2286000"/>
            <a:ext cx="40114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당산삼성래미안4차아파트 425동 도보 1분 (약 28m)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989320" y="268833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89320" y="2688336"/>
            <a:ext cx="156000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주요시설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549323" y="2688336"/>
            <a:ext cx="40114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당산센트럴아이파크아파트 후문 도보 1분 (약 77m)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989320" y="3200400"/>
            <a:ext cx="5571439" cy="877824"/>
          </a:xfrm>
          <a:prstGeom prst="roundRect">
            <a:avLst>
              <a:gd name="adj" fmla="val 6250"/>
            </a:avLst>
          </a:prstGeom>
          <a:solidFill>
            <a:srgbClr val="E8F4F8"/>
          </a:solidFill>
          <a:ln/>
        </p:spPr>
      </p:sp>
      <p:sp>
        <p:nvSpPr>
          <p:cNvPr id="19" name="Shape 16"/>
          <p:cNvSpPr/>
          <p:nvPr/>
        </p:nvSpPr>
        <p:spPr>
          <a:xfrm>
            <a:off x="5989320" y="3255264"/>
            <a:ext cx="36576" cy="768096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20" name="Text 17"/>
          <p:cNvSpPr/>
          <p:nvPr/>
        </p:nvSpPr>
        <p:spPr>
          <a:xfrm>
            <a:off x="6135624" y="3291840"/>
            <a:ext cx="5315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종합 분석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135624" y="3493008"/>
            <a:ext cx="53154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당산역 9호선 도보 역세권으로 양호한 대중교통 접근성</a:t>
            </a:r>
            <a:endParaRPr lang="en-US" sz="980" dirty="0"/>
          </a:p>
        </p:txBody>
      </p:sp>
      <p:sp>
        <p:nvSpPr>
          <p:cNvPr id="22" name="Text 19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2026-09-25</a:t>
            </a:r>
            <a:endParaRPr lang="en-US" sz="3600" dirty="0"/>
          </a:p>
        </p:txBody>
      </p:sp>
      <p:sp>
        <p:nvSpPr>
          <p:cNvPr id="23" name="Text 20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IM-073DE8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&amp; Cadastral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정보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토지이용계획 · 규제 분석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89320" y="1801368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법정 건폐율 상한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549323" y="1801368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60%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989320" y="214884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2148840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법정 용적률 상한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549323" y="2148840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400%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989320" y="249631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9320" y="2496312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549323" y="2496312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506.8㎡ (153.3평)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989320" y="284378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2843784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549323" y="2843784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준공업지역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989320" y="319125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89320" y="3191256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법정 건폐율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549323" y="3191256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60% 이하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989320" y="3538728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89320" y="3538728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법정 용적률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7549323" y="3538728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400% 이하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989320" y="388620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89320" y="3886200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도로접면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7549323" y="3886200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중로각지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989320" y="4343400"/>
            <a:ext cx="5571439" cy="1234440"/>
          </a:xfrm>
          <a:prstGeom prst="roundRect">
            <a:avLst>
              <a:gd name="adj" fmla="val 4444"/>
            </a:avLst>
          </a:prstGeom>
          <a:solidFill>
            <a:srgbClr val="E8F4F8"/>
          </a:solidFill>
          <a:ln/>
        </p:spPr>
      </p:sp>
      <p:sp>
        <p:nvSpPr>
          <p:cNvPr id="29" name="Shape 26"/>
          <p:cNvSpPr/>
          <p:nvPr/>
        </p:nvSpPr>
        <p:spPr>
          <a:xfrm>
            <a:off x="5989320" y="4398264"/>
            <a:ext cx="36576" cy="1124712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30" name="Text 27"/>
          <p:cNvSpPr/>
          <p:nvPr/>
        </p:nvSpPr>
        <p:spPr>
          <a:xfrm>
            <a:off x="6135624" y="4434840"/>
            <a:ext cx="5315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규제 및 공법 분석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6135624" y="4636008"/>
            <a:ext cx="5315407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준공업지역 기준 법정 건폐율 60% 이하, 법정 용적률 400% 이하 적용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특성에 부합하는 최적 토지이용 및 건축 규제 기준 충족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중로각지 접면으로 보행자 접근성 및 차량 진출입 동선 우수</a:t>
            </a:r>
            <a:endParaRPr lang="en-US" sz="980" dirty="0"/>
          </a:p>
        </p:txBody>
      </p:sp>
      <p:sp>
        <p:nvSpPr>
          <p:cNvPr id="32" name="Text 29"/>
          <p:cNvSpPr/>
          <p:nvPr/>
        </p:nvSpPr>
        <p:spPr>
          <a:xfrm>
            <a:off x="5989320" y="5715000"/>
            <a:ext cx="55714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© V-World 국토교통부 | 2026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2026-09-25</a:t>
            </a:r>
            <a:endParaRPr lang="en-US" sz="3600" dirty="0"/>
          </a:p>
        </p:txBody>
      </p:sp>
      <p:sp>
        <p:nvSpPr>
          <p:cNvPr id="34" name="Text 31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IM-073DE8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렌트롤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렌트롤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645920"/>
            <a:ext cx="137160" cy="137160"/>
          </a:xfrm>
          <a:prstGeom prst="rect">
            <a:avLst/>
          </a:prstGeom>
          <a:solidFill>
            <a:srgbClr val="FBEFE8"/>
          </a:solidFill>
          <a:ln w="12700">
            <a:solidFill>
              <a:srgbClr val="B05A2E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85800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5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" y="5532120"/>
            <a:ext cx="2560320" cy="0"/>
          </a:xfrm>
          <a:prstGeom prst="line">
            <a:avLst/>
          </a:prstGeom>
          <a:noFill/>
          <a:ln w="19050">
            <a:solidFill>
              <a:srgbClr val="CBD5E0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685800" y="53492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GL (지상/지하 경계)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2920" y="553212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68680" y="5559552"/>
            <a:ext cx="2194560" cy="448056"/>
          </a:xfrm>
          <a:prstGeom prst="rect">
            <a:avLst/>
          </a:prstGeom>
          <a:solidFill>
            <a:srgbClr val="FBEFE8"/>
          </a:solidFill>
          <a:ln w="15240">
            <a:solidFill>
              <a:srgbClr val="B05A2E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941832" y="5559552"/>
            <a:ext cx="131673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05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185416" y="5559552"/>
            <a:ext cx="76809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317평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2920" y="502920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1F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472184" y="5056632"/>
            <a:ext cx="987552" cy="44805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17904" y="5056632"/>
            <a:ext cx="896112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약국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452628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1F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472184" y="4553712"/>
            <a:ext cx="987552" cy="44805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17904" y="4553712"/>
            <a:ext cx="896112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로뎀나무내과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402336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2F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99109" y="4050792"/>
            <a:ext cx="1733702" cy="448056"/>
          </a:xfrm>
          <a:prstGeom prst="rect">
            <a:avLst/>
          </a:prstGeom>
          <a:solidFill>
            <a:srgbClr val="FBEFE8"/>
          </a:solidFill>
          <a:ln w="15240">
            <a:solidFill>
              <a:srgbClr val="B05A2E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1172261" y="4050792"/>
            <a:ext cx="1040221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05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139330" y="4050792"/>
            <a:ext cx="60679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252평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02920" y="352044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3F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99109" y="3547872"/>
            <a:ext cx="1733702" cy="44805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72261" y="3547872"/>
            <a:ext cx="1040221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헬스장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139330" y="3547872"/>
            <a:ext cx="60679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252평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02920" y="301752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4F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384402" y="3044952"/>
            <a:ext cx="1163117" cy="44805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30122" y="3044952"/>
            <a:ext cx="1071677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와인매장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2920" y="251460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4F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472184" y="2542032"/>
            <a:ext cx="987552" cy="448056"/>
          </a:xfrm>
          <a:prstGeom prst="rect">
            <a:avLst/>
          </a:prstGeom>
          <a:solidFill>
            <a:srgbClr val="FBEFE8"/>
          </a:solidFill>
          <a:ln w="15240">
            <a:solidFill>
              <a:srgbClr val="B05A2E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517904" y="2542032"/>
            <a:ext cx="896112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5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2920" y="201168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5F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329538" y="2039112"/>
            <a:ext cx="1272845" cy="44805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375258" y="2039112"/>
            <a:ext cx="1181405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로뎀나무내과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02920" y="60807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렌트롤 현황 기준 층별 공간 배치도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749040" y="1645920"/>
          <a:ext cx="6805879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457200"/>
                <a:gridCol w="868680"/>
                <a:gridCol w="1188720"/>
                <a:gridCol w="749808"/>
                <a:gridCol w="749808"/>
                <a:gridCol w="658368"/>
                <a:gridCol w="658368"/>
                <a:gridCol w="1161288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층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호실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용도/업종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임차인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전용면적(㎡)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보증금(만원)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월세(만원)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계약종료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비고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B1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카페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카페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317.4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약국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약국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78.3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6,000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183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내과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로뎀나무내과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105.5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14,000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883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내과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로뎀나무내과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252.2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헬스장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헬스장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252.2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455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와인매장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와인매장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168.9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자가사용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자가사용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83.0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내과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로뎀나무내과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183.8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165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8개 호실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1441.3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29,000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1,946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" name="Text 36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2026-09-25</a:t>
            </a:r>
            <a:endParaRPr lang="en-US" sz="3600" dirty="0"/>
          </a:p>
        </p:txBody>
      </p:sp>
      <p:sp>
        <p:nvSpPr>
          <p:cNvPr id="40" name="Text 37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IM-073DE8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수익률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11057839" cy="1188720"/>
          </a:xfrm>
          <a:prstGeom prst="roundRect">
            <a:avLst>
              <a:gd name="adj" fmla="val 6154"/>
            </a:avLst>
          </a:prstGeom>
          <a:solidFill>
            <a:srgbClr val="F7FAFC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087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표면 임대수익률  =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43400" y="1508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임대료 합계 (관리비 제외)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26280" y="1920240"/>
            <a:ext cx="4206240" cy="0"/>
          </a:xfrm>
          <a:prstGeom prst="line">
            <a:avLst/>
          </a:prstGeom>
          <a:noFill/>
          <a:ln w="25400">
            <a:solidFill>
              <a:srgbClr val="B886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  −  승계 보증금 합계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726119" y="150876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2.3억원</a:t>
            </a:r>
            <a:pPr algn="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÷ (115.0억원 − 2.9억원)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834640"/>
            <a:ext cx="539176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017520"/>
            <a:ext cx="1280160" cy="329184"/>
          </a:xfrm>
          <a:prstGeom prst="roundRect">
            <a:avLst>
              <a:gd name="adj" fmla="val 11111"/>
            </a:avLst>
          </a:prstGeom>
          <a:solidFill>
            <a:srgbClr val="F3F6F7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017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As-Is (현재)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352044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임대료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91560" y="352044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2.3억원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392277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승계 보증금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91560" y="392277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2.9억원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432511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91560" y="432511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115.0억원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" y="4837176"/>
            <a:ext cx="5026000" cy="594360"/>
          </a:xfrm>
          <a:prstGeom prst="roundRect">
            <a:avLst>
              <a:gd name="adj" fmla="val 9231"/>
            </a:avLst>
          </a:prstGeom>
          <a:solidFill>
            <a:srgbClr val="132A3A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837176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Cap Rate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17240" y="4837176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2.08%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169000" y="2834640"/>
            <a:ext cx="539176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1880" y="3017520"/>
            <a:ext cx="1645920" cy="329184"/>
          </a:xfrm>
          <a:prstGeom prst="roundRect">
            <a:avLst>
              <a:gd name="adj" fmla="val 11111"/>
            </a:avLst>
          </a:prstGeom>
          <a:solidFill>
            <a:srgbClr val="F6F1E4"/>
          </a:solidFill>
          <a:ln/>
        </p:spPr>
      </p:sp>
      <p:sp>
        <p:nvSpPr>
          <p:cNvPr id="26" name="Text 24"/>
          <p:cNvSpPr/>
          <p:nvPr/>
        </p:nvSpPr>
        <p:spPr>
          <a:xfrm>
            <a:off x="6351880" y="3017520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Stabilized (안정화)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89240" y="301752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분석가정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43320" y="352044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임대료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457639" y="352044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2.5억원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43320" y="392277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승계 보증금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457639" y="392277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2.9억원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43320" y="432511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457639" y="432511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115.0억원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351880" y="4837176"/>
            <a:ext cx="5026000" cy="594360"/>
          </a:xfrm>
          <a:prstGeom prst="roundRect">
            <a:avLst>
              <a:gd name="adj" fmla="val 9231"/>
            </a:avLst>
          </a:prstGeom>
          <a:solidFill>
            <a:srgbClr val="B8860B"/>
          </a:solidFill>
          <a:ln/>
        </p:spPr>
      </p:sp>
      <p:sp>
        <p:nvSpPr>
          <p:cNvPr id="35" name="Text 33"/>
          <p:cNvSpPr/>
          <p:nvPr/>
        </p:nvSpPr>
        <p:spPr>
          <a:xfrm>
            <a:off x="6534760" y="4837176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Cap Rate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183319" y="4837176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2.19%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502920" y="5943600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가정: 공실층을 인근 동일 용도 시세 수준으로 임대 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IM-073DE8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문의/유의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및 유의사항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61288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61288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091330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37634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3" name="Shape 11"/>
          <p:cNvSpPr/>
          <p:nvPr/>
        </p:nvSpPr>
        <p:spPr>
          <a:xfrm>
            <a:off x="4347362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4" name="Text 12"/>
          <p:cNvSpPr/>
          <p:nvPr/>
        </p:nvSpPr>
        <p:spPr>
          <a:xfrm>
            <a:off x="4347362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6002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6002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26045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972349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9" name="Shape 17"/>
          <p:cNvSpPr/>
          <p:nvPr/>
        </p:nvSpPr>
        <p:spPr>
          <a:xfrm>
            <a:off x="8082077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0" name="Text 18"/>
          <p:cNvSpPr/>
          <p:nvPr/>
        </p:nvSpPr>
        <p:spPr>
          <a:xfrm>
            <a:off x="8082077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30717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30717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29384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" y="312724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31272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29384" y="3108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" y="352958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352958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29384" y="35112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2920" y="393192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39319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29384" y="39136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2920" y="433425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43342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29384" y="43159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32A3A"/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0" y="2798064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📞  E2E 테스트 브로커  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675120" y="3072384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☎ [연락처]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675120" y="3310128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🏢 [중개법인명]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92240" y="389534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92240" y="4206240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A3347"/>
          </a:solidFill>
          <a:ln/>
        </p:spPr>
      </p:sp>
      <p:sp>
        <p:nvSpPr>
          <p:cNvPr id="46" name="Text 44"/>
          <p:cNvSpPr/>
          <p:nvPr/>
        </p:nvSpPr>
        <p:spPr>
          <a:xfrm>
            <a:off x="6675120" y="4315968"/>
            <a:ext cx="4764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02920" y="5760720"/>
            <a:ext cx="11057839" cy="457200"/>
          </a:xfrm>
          <a:prstGeom prst="rect">
            <a:avLst/>
          </a:prstGeom>
          <a:solidFill>
            <a:srgbClr val="8B6508"/>
          </a:solidFill>
          <a:ln/>
        </p:spPr>
      </p:sp>
      <p:sp>
        <p:nvSpPr>
          <p:cNvPr id="48" name="Text 46"/>
          <p:cNvSpPr/>
          <p:nvPr/>
        </p:nvSpPr>
        <p:spPr>
          <a:xfrm>
            <a:off x="685800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IM-073DE8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2026-09-25</a:t>
            </a:r>
            <a:endParaRPr lang="en-US" sz="3600" dirty="0"/>
          </a:p>
        </p:txBody>
      </p:sp>
      <p:sp>
        <p:nvSpPr>
          <p:cNvPr id="50" name="Text 48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IM-073DE8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2026-09-25T12:32:35Z</dcterms:created>
  <dcterms:modified xsi:type="dcterms:W3CDTF">2026-09-25T12:32:35Z</dcterms:modified>
</cp:coreProperties>
</file>