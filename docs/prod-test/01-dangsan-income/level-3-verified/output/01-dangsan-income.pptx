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1D4E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영등포구 당산동5가 근생빌딩 매각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636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사거리 코너 로드뷰 가시성과 풍부한 유동인구를 바탕으로 약국·병원·스타벅스 앵커 테넌트를 유치하는 프리미엄 근생 자산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일평균 유동인구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45,000명/일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2752344"/>
            <a:ext cx="2298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보행 통행량 최상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배후 세대수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8,500세대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41700" y="2752344"/>
            <a:ext cx="2298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반경 500m 주거 배후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앵커 테넌트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/ 병원 / 스타벅스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51880" y="2752344"/>
            <a:ext cx="2298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1F~3F 핵심 배치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로드뷰 전면 폭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25m 확보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162059" y="2752344"/>
            <a:ext cx="2298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사거리 코너 가시성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56692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연 수익률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31520" y="37764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5.2%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31520" y="4215384"/>
            <a:ext cx="2298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 리밸런싱 완료 시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337710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170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추천 주용도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541700" y="37764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/ 근린생활시설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3541700" y="4215384"/>
            <a:ext cx="2298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 MD 구성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566928" y="4901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0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23036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6656" y="534009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6656" y="534009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207008" y="5303520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업종 MD 최적화: B1 F&amp;B ➔ 1F 약국/카페 ➔ 2~3F 메디컬 ➔ 4~5F 에듀 ➔ 6F 피트니스 유기적 배치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37" name="Text 3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2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유동인구 및 배후 상권 특성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전면 도로 조건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사거리 코너 4차선 대로변 접함 (전면 폭 25m 확보)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53328" y="2295144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9514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횡단보도 접근성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170475" y="229514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정면 횡단보도 및 버스정류장 연접으로 보행 유입 우수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53328" y="278892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78892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로드뷰 노출도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70475" y="278892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원거리 시인성 탁월 및 간판/쇼윈도 노출 극대화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053328" y="3282696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53328" y="3282696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앵커 테넌트 적합도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170475" y="3282696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약국, 병원, 스타벅스 등 브랜드 직영점 입지 최적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053328" y="3913632"/>
            <a:ext cx="5571439" cy="877824"/>
          </a:xfrm>
          <a:prstGeom prst="roundRect">
            <a:avLst>
              <a:gd name="adj" fmla="val 6250"/>
            </a:avLst>
          </a:prstGeom>
          <a:solidFill>
            <a:srgbClr val="DCFCE7"/>
          </a:solidFill>
          <a:ln/>
        </p:spPr>
      </p:sp>
      <p:sp>
        <p:nvSpPr>
          <p:cNvPr id="19" name="Shape 16"/>
          <p:cNvSpPr/>
          <p:nvPr/>
        </p:nvSpPr>
        <p:spPr>
          <a:xfrm>
            <a:off x="6053328" y="3968496"/>
            <a:ext cx="36576" cy="768096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20" name="Text 17"/>
          <p:cNvSpPr/>
          <p:nvPr/>
        </p:nvSpPr>
        <p:spPr>
          <a:xfrm>
            <a:off x="6236208" y="4023360"/>
            <a:ext cx="52422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앵커 테넌트 최적 입지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236208" y="4242816"/>
            <a:ext cx="52422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사거리 코너 로드뷰 및 횡단보도 전면 위치로 약국, 병의원, 스타벅스 등 앵커 테넌트 입점 경쟁력 최상</a:t>
            </a:r>
            <a:endParaRPr lang="en-US" sz="930" dirty="0"/>
          </a:p>
        </p:txBody>
      </p:sp>
      <p:sp>
        <p:nvSpPr>
          <p:cNvPr id="22" name="Text 19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23" name="Text 20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3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Land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1,441.15㎡ / 435.9평(약 1441㎡)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1D4E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4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 당산역 더블역세권 도보권, 연면적 435.9평(약 1441㎡) 규모의 메디컬·리테일 중심 [건물명 비공개]. 서울특별시 해당 권역가 11-47에 위치한 본 자산은 당산역 9호선 약 409m(도보 약 5분), 2호선 약 495m 거리의 접근성을 갖춘 수익형 상업자산입니다. 총 연면적 1,441.15㎡ (435.9평) 규모로, B1~5F 운영 현황상 카페·약국·이비인후과·피트니스·주류리테일·피부과 등 생활밀착형 주요 임차인해 있어 특정 업종에 편중되지 않은 임대 포트폴리오를 형성합니다. 현재 월 임대료는 1,946만원, 보증금은 2억 9,000만원이며, 자가사용 공간 및 일부 임대차 만기 도래 구간은 향후 임차인 재구성 및 임대조건 재설정을 통한 추가 수익 창출의 선택지를 제공합니다. | 항목 | 내용 |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유형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근린생활시설([건물명 비공개])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1,441.15㎡ / 435.9평(약 1441㎡)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접근성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당산역 9호선 약 409m·도보 약 5분 / 2호선 약 495m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 구성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의원·약국·피트니스·카페·주류리테일 등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1,946만원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임대보증금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9,000만원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매각 희망가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115억원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1D4E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28" name="Shape 26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9" name="Text 27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31" name="Shape 29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32" name="Shape 30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음식점/카페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96평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소매점(약국)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24평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183만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2026-08-31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1F,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의원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108평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883만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2026-08-31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운동시설(헬스)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76평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455만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2026-04-17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사무실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25평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소매점(주류)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51평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2025-04-30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의원(피부과)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56평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2026-08-31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248656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임차인명 및 상세 정보는 개인정보 보호를 위해 비공개 처리되었습니다.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Stability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안정성 지표 (AI 산출)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확인 필요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1946만 원/월 (추정)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2.3억 원/년 (추정)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정보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후 공개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1D4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/>
        </p:spPr>
      </p:sp>
      <p:sp>
        <p:nvSpPr>
          <p:cNvPr id="19" name="Shape 17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0" name="Text 1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임대 운영 중 상태입니다. ### 임대 구성 요약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7784287" y="3493008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3547872"/>
            <a:ext cx="36576" cy="15361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360273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3822192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임차인명 및 상세 정보는 개인정보 보호를 위해 비공개 처리되었습니다.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7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매달 통장에 꽂히는 돈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약 -210만 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임대료(1,946만) - 월 이자(2,156만) ([주의] 대출금 미입력 → LTV 50%·금리 4.5% AI 가정, 실제 조건과 다를 수 있음)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내 돈 대비 연 수익률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-0.46%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대비 연 순수익(약 -0.25억 원)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순영업소득(남는 돈 NOI)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1.6억 원~약 2.0억 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운영비 차감 후 실질 순수익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 (Cap Rate)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1.4%–1.7%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가정 운영비 기준 구간 추정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5년 보유 시 투자수익률(IRR)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-8.8%–3.0%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추정, 참고용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수익률(Gross Yield)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2.0%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임대수입/매매가 (운영비 미차감)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DBEAFE"/>
          </a:solidFill>
          <a:ln/>
        </p:spPr>
      </p:sp>
      <p:sp>
        <p:nvSpPr>
          <p:cNvPr id="31" name="Shape 29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수치는 AI 추정값으로 참고용이며, 투자 결정의 근거로 사용할 수 없습니다. ### [참고] 핵심 현금흐름 3줄 요약 (내 돈 &amp; 월 순수익) | 핵심 지표 | 금액 / 수익률 | 산출 기준 |</a:t>
            </a:r>
            <a:endParaRPr lang="en-US" sz="930" dirty="0"/>
          </a:p>
        </p:txBody>
      </p:sp>
      <p:sp>
        <p:nvSpPr>
          <p:cNvPr id="34" name="Text 32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8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추정값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순영업소득(남는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돈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1.6억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원~약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2.0억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차감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실질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순수익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(Cap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1.4%–1.7%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가정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구간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투자수익률(IRR)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-8.8%–3.0%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추정,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참고용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수익률(Gross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Yield)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임대수입/매매가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(운영비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미차감)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2.9억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중개인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총취득원가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121.3억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취득세(4.6%)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중개보수(0.9%)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실투자금(총취득원가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118.4억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취득원가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자본비용(WACC)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LTV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금리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현금흐름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현재가치(NPV)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-53.1억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돈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수익률(자기자본수익률)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1.6%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무차입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희망가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115억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중개인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9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Capital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5391760" cy="438912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5391760" cy="36576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0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33008" y="1417320"/>
            <a:ext cx="5391760" cy="36576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0" name="Text 28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0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3.69%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2.99%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2.64%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2.14%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32" name="Shape 29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F3C7"/>
          </a:solidFill>
          <a:ln/>
        </p:spPr>
      </p:sp>
      <p:sp>
        <p:nvSpPr>
          <p:cNvPr id="33" name="Shape 30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4" name="Text 31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6" name="Text 33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37" name="Text 3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10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325880"/>
            <a:ext cx="5368900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9552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월 현금흐름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5528" y="2468880"/>
            <a:ext cx="49117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임대차 현황 및 공실률 기반 순영업소득(NOI) 구조가 확인됩니다.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55868" y="1325880"/>
            <a:ext cx="5368900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Shape 12"/>
          <p:cNvSpPr/>
          <p:nvPr/>
        </p:nvSpPr>
        <p:spPr>
          <a:xfrm>
            <a:off x="648446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648446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8446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84468" y="2468880"/>
            <a:ext cx="49117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8446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 인근 실거래 비교 사례 10건 기준 평균 평당가 약 5,832만원/평(58,317,079원)으로, 본 자산과 비교 검토할 수 있습니다. ### 예상 매수자 유형 (AI 분석)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수익형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MD,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현금흐름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노하우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프랜차이즈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본사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직매장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브랜드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66928" y="5522976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FF6FF"/>
          </a:solidFill>
          <a:ln w="10160">
            <a:solidFill>
              <a:srgbClr val="3B82F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9808" y="563270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487168" y="5596128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해당 권역 소재 [건물명 비공개] — 임대 수익 구조와 자산 가치 상승 시나리오를 분석합니다. ### 3대 핵심 투자 포인트 (Investment Highlights) • 원금 안전판 확보: 해당 권역 소재 [건물명 비공개]으로, 핵심 입지 및 교통 인프라 기반의 자산 가치가 형성되어 있습니다.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24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11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15258" cy="36576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15258" cy="36576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0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법적·공법 규제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위반건축물 및 규제 점검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확인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용도지역 행위제한 점검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도로접면 및 건축선 후퇴 필요 여부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36576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0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임대차·명도 리스크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상임법 10년 및 대항력 점검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갱신요구권 행사 현황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대항력 및 우선변제권 유무 확인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합의 가능성 및 리모델링/재건축 타임라인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09509" y="1417320"/>
            <a:ext cx="3515258" cy="36576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09509" y="1417320"/>
            <a:ext cx="3515258" cy="36576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0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물리적·시설 현황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노후도 및 구조 안전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승강기, 기계식 주차장 정기검사 합격 여부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누수, 외벽 균열 및 주요 구조체 노후도 점검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전기/수도 인입 용량 및 정화조 용량 충족 여부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621792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5193792"/>
            <a:ext cx="11057839" cy="36576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12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Checklist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3건)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8FAFC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1556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제공된 등기 데이터는 외부 연동 제한에 따른 확인 필요 상태이므로, 매수 전 최신 등기부등본을 통.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8FAFC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1556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 · 상세 확인 필요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8FAFC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6" name="Text 14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0450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권리·인허가 및 시설 적법성 리스크: 등기 데이터는 외부 연동이 되지 않은 확인필요 상태이고 건축물.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13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490140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2490140" cy="36576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2828" y="1572768"/>
            <a:ext cx="2490140" cy="36576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Shape 12"/>
          <p:cNvSpPr/>
          <p:nvPr/>
        </p:nvSpPr>
        <p:spPr>
          <a:xfrm>
            <a:off x="3642284" y="1792224"/>
            <a:ext cx="438912" cy="43891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36422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8728" y="1572768"/>
            <a:ext cx="2490140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8728" y="1572768"/>
            <a:ext cx="2490140" cy="36576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Shape 19"/>
          <p:cNvSpPr/>
          <p:nvPr/>
        </p:nvSpPr>
        <p:spPr>
          <a:xfrm>
            <a:off x="6498184" y="1792224"/>
            <a:ext cx="438912" cy="43891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22" name="Text 20"/>
          <p:cNvSpPr/>
          <p:nvPr/>
        </p:nvSpPr>
        <p:spPr>
          <a:xfrm>
            <a:off x="64981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4627" y="1572768"/>
            <a:ext cx="2490140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34627" y="1572768"/>
            <a:ext cx="2490140" cy="36576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8" name="Shape 26"/>
          <p:cNvSpPr/>
          <p:nvPr/>
        </p:nvSpPr>
        <p:spPr>
          <a:xfrm>
            <a:off x="9354083" y="1792224"/>
            <a:ext cx="438912" cy="43891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29" name="Text 27"/>
          <p:cNvSpPr/>
          <p:nvPr/>
        </p:nvSpPr>
        <p:spPr>
          <a:xfrm>
            <a:off x="9354083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33" name="Text 3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14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Closing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6" name="Shape 4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12" name="Shape 10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18" name="Shape 16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9" name="Text 17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6" name="Text 34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E293B"/>
          </a:solidFill>
          <a:ln/>
        </p:spPr>
      </p:sp>
      <p:sp>
        <p:nvSpPr>
          <p:cNvPr id="40" name="Text 38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42" name="Text 40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BEA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IM-272472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636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44" name="Text 42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15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Title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권리관계 요약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소유 (실사 확인 필요)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제한물권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근저당권 외 특이사항 없음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권리분쟁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압류·가압류·가처분 내역 없음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신탁등기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없음 (일반 등기)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1D4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제한물권 및 근저당 말소 확약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잔금 시 기존 설정된 근저당권 및 담보 설정 전액 말소 조건 승계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이전 등기 및 근저당 말소 동시 이행을 통한 매수인 권리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임대보증금 승계 확약서 징구 및 대항력 유무 원본 대조 필수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7784287" y="3950208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4005072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405993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분쟁 및 처분금지 가처분 검토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4279392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 갑구상 소유권 분쟁, 압류, 가압류, 가처분 등 제한 사항 전무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 본인 확인 및 인감증명서, 위임장 진위 여부 사전 실사 완료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신탁 등기 또는 공동 담보 설정 여부 점검 완료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16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 District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소상공인 상권 분석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상권명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상권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매출지수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점포수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500개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1D4E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 활성도 및 유동인구 특성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상권은 근린생활·F&amp;B 중심의 안정적 배후 수요 형성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일평균 유동인구 풍부 기반의 지속적 점포 매출 창출력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개업률(2.8%) 및 폐업률(2.1%) 기준 상권 생존 안정성 검증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50208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05072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5993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 구성 및 집객력 강화 전략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279392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직장인 및 배후 주거단지 소비 특성을 고려한 앵커 테넌트 유치 적합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주말/주중 시간대별 매출 분산 구조로 안정적 임대료 수취 환경 조성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대형 집객 시설과의 시너지 효과를 통한 상권 확장 잠재력 보유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2026-09-08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IM-272472  ·  17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1D4ED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2026-09-08T04:36:47Z</dcterms:created>
  <dcterms:modified xsi:type="dcterms:W3CDTF">2026-09-08T04:36:47Z</dcterms:modified>
</cp:coreProperties>
</file>