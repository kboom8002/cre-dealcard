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6B8E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영등포구 당산동5가 근생빌딩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IM-272472  ·  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 근생빌딩 투자 검토 자료입니다.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31343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115.0억 원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7710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170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41700" y="231343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118.4억 원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8728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1880" y="2093976"/>
            <a:ext cx="2298116" cy="313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수익률(Cap Rate, 기준: 총임대료 ÷ 매매가격)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1880" y="2425954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1.56%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997467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2059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⚠️ 역레버리지 구간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62059" y="231343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수익률 1.56% &lt; 금리 4.5%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6928" y="35021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3831336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941064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394106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07008" y="3904488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가치: 해당 권역 소재 자산으로 중장기 자산 가치 및 안정적 수요 검토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526280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" y="4636008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" y="46360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07008" y="4599432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구조: 적정가 수준의 가격대 및 현 임대차 기반의 현금흐름 분석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522122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" y="533095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" y="533095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207008" y="5294376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점검: 계약서 및 공부 확인을 통한 권리관계·물리적 상태 정밀 진단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IM-272472  ·  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현황과 공실은 실제로 어떤가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1005258"/>
                <a:gridCol w="1675430"/>
                <a:gridCol w="1675430"/>
                <a:gridCol w="1675430"/>
                <a:gridCol w="1675430"/>
                <a:gridCol w="1675430"/>
                <a:gridCol w="167543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층수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업종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전용면적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관리비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만기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B1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음식점/카페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96평(약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317.4㎡)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미정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1F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소매점(약국)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24평(약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79.3㎡)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6,000만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183만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2026-08-31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1F,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2F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의원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108평(약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357㎡)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14,000만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883만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120만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2026-08-31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3F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운동시설(헬스)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76평(약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251.2㎡)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5,000만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455만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2026-04-17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4F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사무실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25평(약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82.6㎡)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미정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4F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소매점(주류)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51평(약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168.6㎡)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3,000만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260만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2025-04-30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5F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의원(피부과)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56평(약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185.1㎡)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1,000만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165만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35만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2026-08-31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IM-272472  ·  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리스크는 무엇이고 대응책은 있는가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3515258" cy="36576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3515258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417320"/>
            <a:ext cx="3515258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물리적 상태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준공연도 확인 필요, 구조 확인 필요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305805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누수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균열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설비 노후 여부 현장 점검 필요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38218" y="1417320"/>
            <a:ext cx="3515258" cy="36576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38218" y="1417320"/>
            <a:ext cx="3515258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38218" y="1417320"/>
            <a:ext cx="3515258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66818" y="1618488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 및 설비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66818" y="194767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 정보 확인 필요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66818" y="2377440"/>
            <a:ext cx="305805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정기검사 이력, 냉난방 설비 상태 확인 필요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09509" y="1417320"/>
            <a:ext cx="3515258" cy="36576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09509" y="1417320"/>
            <a:ext cx="3515258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9509" y="1417320"/>
            <a:ext cx="3515258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0" name="Text 18"/>
          <p:cNvSpPr/>
          <p:nvPr/>
        </p:nvSpPr>
        <p:spPr>
          <a:xfrm>
            <a:off x="8338109" y="1618488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임차인 이탈 위험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38109" y="194767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계약 현황 LOI 접수 후 열람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338109" y="2377440"/>
            <a:ext cx="305805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잔여 계약기간(WALE), 임차인 신용도 확인 필요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5193792"/>
            <a:ext cx="11057839" cy="62179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5193792"/>
            <a:ext cx="11057839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IM-272472  ·  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Checklist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및 확인 필요사항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7건)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19072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" y="1810512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준공연도 · 확인 필요 · &gt; 자산 하이라이트: • 당산역 더블역세권 생활권의 435.9평(약 1441.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" y="2715768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15568" y="2807208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[임차인G] · 260만 원 · 만기 경과, 묵시적 갱신 여부 확인 필요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3712464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15568" y="3803904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물리적 상태 · 준공연도 확인 필요, 구조 확인 필요 · 누수·균열·설비 노후 여부 현장 점검 필요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4709160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" y="4873752"/>
            <a:ext cx="320040" cy="32004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4873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15568" y="4800600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 및 설비 · 승강기 정보 확인 필요 · 정기검사 이력, 냉난방 설비 상태 확인 필요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55868" y="1719072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24" name="Text 22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04508" y="1810512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임차인 이탈 위험 · 임대차 계약 현황 LOI 접수 후 열람 · 잔여 계약기간(WALE), 임차인 신용.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55868" y="2715768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28" name="Text 26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04508" y="2807208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및 분쟁 · 등기사항증명서 LOI 접수 후 열람 · 임대차 분쟁·소송 이력 확인 필요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55868" y="3712464"/>
            <a:ext cx="53689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32" name="Text 30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04508" y="3803904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권리관계 및 금융 · 소유 구조·담보권 LOI 접수 후 열람 · 가압류·가처분·근저당 설정 현황 확인 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66928" y="5760720"/>
            <a:ext cx="11057839" cy="59436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5" name="Text 33"/>
          <p:cNvSpPr/>
          <p:nvPr/>
        </p:nvSpPr>
        <p:spPr>
          <a:xfrm>
            <a:off x="749808" y="5833872"/>
            <a:ext cx="10692079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IM-272472  ·  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후 다음 단계는 무엇인가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 및 상담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중개사를 통한 매입 의향 확인 및 기초 브리핑 자료 수령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48508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28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28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Shape 12"/>
          <p:cNvSpPr/>
          <p:nvPr/>
        </p:nvSpPr>
        <p:spPr>
          <a:xfrm>
            <a:off x="3642284" y="1792224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5" name="Text 13"/>
          <p:cNvSpPr/>
          <p:nvPr/>
        </p:nvSpPr>
        <p:spPr>
          <a:xfrm>
            <a:off x="36422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422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422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비밀유지협약(NDA)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계약서 원본, 정밀 도면, 관리비 정산서 등 상세 자료 열람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04408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87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87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8184" y="1792224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22" name="Text 20"/>
          <p:cNvSpPr/>
          <p:nvPr/>
        </p:nvSpPr>
        <p:spPr>
          <a:xfrm>
            <a:off x="64981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981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81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실사(DD)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구조, 승강기·주차 설비, 누수 및 실사용 공간 직접 점검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860307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34627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34627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8" name="Shape 26"/>
          <p:cNvSpPr/>
          <p:nvPr/>
        </p:nvSpPr>
        <p:spPr>
          <a:xfrm>
            <a:off x="9354083" y="1792224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29" name="Text 27"/>
          <p:cNvSpPr/>
          <p:nvPr/>
        </p:nvSpPr>
        <p:spPr>
          <a:xfrm>
            <a:off x="9354083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354083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4단계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354083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매수의향서(LOI) 및 계약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대금, 잔금 일정, 명도 특약 조율 후 최종 매매계약 체결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IM-272472  ·  6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Closing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3" name="Text 11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9" name="Text 17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IM-272472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44" name="Text 4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IM-272472  ·  7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Title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권리관계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권리관계 요약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소유권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단독 소유 (실사 확인 필요)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제한물권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근저당권 외 특이사항 없음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권리분쟁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압류·가압류·가처분 내역 없음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신탁등기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없음 (일반 등기)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9" name="Shape 17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0" name="Text 18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제한물권 및 근저당 말소 확약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잔금 시 기존 설정된 근저당권 및 담보 설정 전액 말소 조건 승계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소유권 이전 등기 및 근저당 말소 동시 이행을 통한 매수인 권리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임차인 임대보증금 승계 확약서 징구 및 대항력 유무 원본 대조 필수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7784287" y="3950208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23" name="Shape 21"/>
          <p:cNvSpPr/>
          <p:nvPr/>
        </p:nvSpPr>
        <p:spPr>
          <a:xfrm>
            <a:off x="7784287" y="4005072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4" name="Text 22"/>
          <p:cNvSpPr/>
          <p:nvPr/>
        </p:nvSpPr>
        <p:spPr>
          <a:xfrm>
            <a:off x="7967167" y="405993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소유권 분쟁 및 처분금지 가처분 검토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967167" y="4279392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 갑구상 소유권 분쟁, 압류, 가압류, 가처분 등 제한 사항 전무 확인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 본인 확인 및 인감증명서, 위임장 진위 여부 사전 실사 완료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신탁 등기 또는 공동 담보 설정 여부 점검 완료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IM-272472  ·  8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District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 분석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소상공인 상권 분석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상권명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상권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매출지수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점포수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500개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 활성도 및 유동인구 특성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상권은 근린생활·F&amp;B 중심의 안정적 배후 수요 형성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일평균 유동인구 풍부 기반의 지속적 점포 매출 창출력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개업률(2.8%) 및 폐업률(2.1%) 기준 상권 생존 안정성 검증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7784287" y="3950208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20" name="Shape 18"/>
          <p:cNvSpPr/>
          <p:nvPr/>
        </p:nvSpPr>
        <p:spPr>
          <a:xfrm>
            <a:off x="7784287" y="4005072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7967167" y="405993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 구성 및 집객력 강화 전략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67167" y="4279392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직장인 및 배후 주거단지 소비 특성을 고려한 앵커 테넌트 유치 적합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주말/주중 시간대별 매출 분산 구조로 안정적 임대료 수취 환경 조성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대형 집객 시설과의 시너지 효과를 통한 상권 확장 잠재력 보유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2026-09-07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IM-272472  ·  9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2026-09-07T12:28:30Z</dcterms:created>
  <dcterms:modified xsi:type="dcterms:W3CDTF">2026-09-07T12:28:30Z</dcterms:modified>
</cp:coreProperties>
</file>