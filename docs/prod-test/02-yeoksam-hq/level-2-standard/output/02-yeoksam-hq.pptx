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jpeg"/><Relationship Id="rId3" Type="http://schemas.openxmlformats.org/officeDocument/2006/relationships/image" Target="../media/image-2-3.jpe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0" y="0"/>
            <a:ext cx="44192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0" y="5029200"/>
            <a:ext cx="4419295" cy="1097280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강남구 역삼동 사무용빌딩 매각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사무용빌딩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사무용빌딩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2" name="Text 9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120억대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120억대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2636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2026-09-07</a:t>
            </a:r>
            <a:endParaRPr lang="en-US" sz="3600" dirty="0"/>
          </a:p>
        </p:txBody>
      </p:sp>
      <p:sp>
        <p:nvSpPr>
          <p:cNvPr id="17" name="Text 14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IM-E8BC71  ·  1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Gallery I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주요 전경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234440"/>
            <a:ext cx="546491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234440"/>
            <a:ext cx="5464912" cy="22905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66928" y="3232404"/>
            <a:ext cx="546491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676656" y="3232404"/>
            <a:ext cx="5245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6159856" y="1234440"/>
            <a:ext cx="546491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59856" y="1234440"/>
            <a:ext cx="5464912" cy="2290572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233008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14" name="Text 10"/>
          <p:cNvSpPr/>
          <p:nvPr/>
        </p:nvSpPr>
        <p:spPr>
          <a:xfrm>
            <a:off x="6233008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 출입구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6159856" y="3232404"/>
            <a:ext cx="546491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6" name="Text 12"/>
          <p:cNvSpPr/>
          <p:nvPr/>
        </p:nvSpPr>
        <p:spPr>
          <a:xfrm>
            <a:off x="6269584" y="3232404"/>
            <a:ext cx="5245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 출입구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566928" y="3653028"/>
            <a:ext cx="546491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6928" y="3653028"/>
            <a:ext cx="5464912" cy="2290572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640080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0" name="Text 15"/>
          <p:cNvSpPr/>
          <p:nvPr/>
        </p:nvSpPr>
        <p:spPr>
          <a:xfrm>
            <a:off x="640080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1층 로비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566928" y="5650992"/>
            <a:ext cx="546491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2" name="Text 17"/>
          <p:cNvSpPr/>
          <p:nvPr/>
        </p:nvSpPr>
        <p:spPr>
          <a:xfrm>
            <a:off x="676656" y="5650992"/>
            <a:ext cx="5245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1층 로비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6159856" y="3653028"/>
            <a:ext cx="546491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159856" y="3653028"/>
            <a:ext cx="5464912" cy="2290572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6233008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6" name="Text 20"/>
          <p:cNvSpPr/>
          <p:nvPr/>
        </p:nvSpPr>
        <p:spPr>
          <a:xfrm>
            <a:off x="6233008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실내 공간</a:t>
            </a:r>
            <a:endParaRPr lang="en-US" sz="900" dirty="0"/>
          </a:p>
        </p:txBody>
      </p:sp>
      <p:sp>
        <p:nvSpPr>
          <p:cNvPr id="27" name="Shape 21"/>
          <p:cNvSpPr/>
          <p:nvPr/>
        </p:nvSpPr>
        <p:spPr>
          <a:xfrm>
            <a:off x="6159856" y="5650992"/>
            <a:ext cx="546491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8" name="Text 22"/>
          <p:cNvSpPr/>
          <p:nvPr/>
        </p:nvSpPr>
        <p:spPr>
          <a:xfrm>
            <a:off x="6269584" y="5650992"/>
            <a:ext cx="5245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실내 공간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2026-09-07</a:t>
            </a:r>
            <a:endParaRPr lang="en-US" sz="3600" dirty="0"/>
          </a:p>
        </p:txBody>
      </p:sp>
      <p:sp>
        <p:nvSpPr>
          <p:cNvPr id="30" name="Text 24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IM-E8BC71  ·  2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 사무용빌딩 투자 검토 자료입니다.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120.0억 원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60,563,909원/평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1.7억 원/년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72.1년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E8F5CC"/>
          </a:solidFill>
          <a:ln w="6350">
            <a:solidFill>
              <a:srgbClr val="A3D9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해당 권역 소재 자산으로 중장기 자산 가치 및 안정적 수요 검토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E8F5CC"/>
          </a:solidFill>
          <a:ln w="6350">
            <a:solidFill>
              <a:srgbClr val="A3D9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적정가 수준의 가격대 및 현 임대차 기반의 현금흐름 분석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E8F5CC"/>
          </a:solidFill>
          <a:ln w="6350">
            <a:solidFill>
              <a:srgbClr val="A3D9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2026-09-07</a:t>
            </a:r>
            <a:endParaRPr lang="en-US" sz="3600" dirty="0"/>
          </a:p>
        </p:txBody>
      </p:sp>
      <p:sp>
        <p:nvSpPr>
          <p:cNvPr id="33" name="Text 3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IM-E8BC71  ·  3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 2호선 역삼역 도보 2분(약 129m), 강남 핵심 업무지구(GBD) 중심의 역세권 도보 3분 이내 사옥 입지입니다. 테헤란로 업무권역과 강남역 생활·업무권역을 동시에 누릴 수 있어, 임직원 출퇴근 편의와 대외 미팅 접근성을 높이며 월 3,800만원 수준의 현 임차료를 절감할 수 있는 자가사용 대안으로 경쟁력이 있습니다. 인근에는 강남역(약 781m), 언주역(9호선·약 649m), 신논현역(9호선·약 963m)이 위치해 2·9호선 및 신분당선 접근이 가능한 광역 교통망을 확보합니다. 일반상업지역 내 중로각지·평지 조건과 풍부한 식음·편의 인프라는 사옥의 업무 효율 및 향후 임대·매각 시 수요층 확대에 기여하는 자산가치 방어 요인입니다.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053328" y="180136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80136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2호선 역삼역 도보 2분 (약 129m) 초역세권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053328" y="2295144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53328" y="2295144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광역 환승망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170475" y="2295144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2·9호선 및 신분당선 인접 (강남역 780m)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053328" y="2788920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53328" y="2788920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권역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170475" y="2788920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 핵심 업무지구(GBD) 테헤란로 중심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053328" y="3282696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53328" y="3282696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도로 조건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170475" y="3282696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 중로각지·평지 입지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053328" y="3776472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053328" y="3776472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생활·비즈니스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170475" y="3776472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풍부한 식음 및 비즈니스 지원 인프라 밀집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2026-09-07</a:t>
            </a:r>
            <a:endParaRPr lang="en-US" sz="3600" dirty="0"/>
          </a:p>
        </p:txBody>
      </p:sp>
      <p:sp>
        <p:nvSpPr>
          <p:cNvPr id="22" name="Text 1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IM-E8BC71  ·  4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Land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 건폐율 상한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60%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 용적률 상한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800%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9626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172968" y="296265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1,966.6㎡ (594.9평)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66928" y="340156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형상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172968" y="3401568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사다리형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3840480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84048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지형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3172968" y="384048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평지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66928" y="42793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27939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도로접면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3172968" y="427939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중로각지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566928" y="4718304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71830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이용상황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3172968" y="471830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업무용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66928" y="515721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515721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지목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3172968" y="515721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66928" y="559612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928" y="55961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3172968" y="5596128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33,470,000원/㎡ (110,645,126원/평, 2026년)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37" name="Shape 35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8" name="Text 3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40" name="Shape 38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41" name="Shape 39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42" name="Text 40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44" name="Text 42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2026-09-07</a:t>
            </a:r>
            <a:endParaRPr lang="en-US" sz="3600" dirty="0"/>
          </a:p>
        </p:txBody>
      </p:sp>
      <p:sp>
        <p:nvSpPr>
          <p:cNvPr id="45" name="Text 43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IM-E8BC71  ·  5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빌딩, 어떤 자산인가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개요 핵심 한줄 정의: 역삼역 2호선 도보 2분, 연면적 655㎡ (198.1평) 규모의 2001년 준공 역삼동 사옥형 업무시설입니다. 서울특별시 해당 권역에 위치하며, 건축물대장상 철근콘크리트 구조·지하 6층~지상 20층·업무시설로 등재되어 있습니다. 전층 사옥 주요 임차인은 잔금일 퇴거를 확약한 상태로, 매수인은 핵심 업무권역 내 독립 사옥을 확보해 외부 임차 비용을 절감할 수 있습니다. 제공자료상 현재 월 임차료 3,800만원을 부담 중인 실수요자라면, 자가사용 전환을 통해 고정 임차비를 자산 보유가치로 전환하는 전략이 가능합니다. | 항목 | 내용 |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유형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[건물명 비공개] / 업무시설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655㎡ (198.1평)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준공일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2001년 6월 22일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9626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172968" y="296265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철근콘크리트구조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66928" y="340156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규모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172968" y="3401568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B6~20F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3840480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84048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3172968" y="384048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역삼역(2호선) 약 129m, 도보 약 2분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66928" y="42793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27939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점유 현황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3172968" y="427939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1F~6F 사옥 임차인 잔금일 퇴거 확약 / B1 임대차 만료일 2026.12.31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84287" y="1645920"/>
            <a:ext cx="3840480" cy="2926080"/>
          </a:xfrm>
          <a:prstGeom prst="rect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7784287" y="4709160"/>
            <a:ext cx="3840480" cy="1417320"/>
          </a:xfrm>
          <a:prstGeom prst="roundRect">
            <a:avLst>
              <a:gd name="adj" fmla="val 3871"/>
            </a:avLst>
          </a:prstGeom>
          <a:solidFill>
            <a:srgbClr val="DBEAFE"/>
          </a:solidFill>
          <a:ln/>
        </p:spPr>
      </p:sp>
      <p:sp>
        <p:nvSpPr>
          <p:cNvPr id="29" name="Shape 26"/>
          <p:cNvSpPr/>
          <p:nvPr/>
        </p:nvSpPr>
        <p:spPr>
          <a:xfrm>
            <a:off x="7784287" y="4764024"/>
            <a:ext cx="36576" cy="13075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0" name="Text 27"/>
          <p:cNvSpPr/>
          <p:nvPr/>
        </p:nvSpPr>
        <p:spPr>
          <a:xfrm>
            <a:off x="7967167" y="481888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7967167" y="5038344"/>
            <a:ext cx="3511296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및 교통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임대차 계약 내역은 원본 계약서 대조가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 구성 및 만기 분산 현황을 점검하였습니다</a:t>
            </a:r>
            <a:endParaRPr lang="en-US" sz="930" dirty="0"/>
          </a:p>
        </p:txBody>
      </p:sp>
      <p:sp>
        <p:nvSpPr>
          <p:cNvPr id="32" name="Text 29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2026-09-07</a:t>
            </a:r>
            <a:endParaRPr lang="en-US" sz="3600" dirty="0"/>
          </a:p>
        </p:txBody>
      </p:sp>
      <p:sp>
        <p:nvSpPr>
          <p:cNvPr id="33" name="Text 30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IM-E8BC71  ·  6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Plan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 사옥 적합성 및 층별 공간 배분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본사 전용 공간 제원 및 층별 활용 계획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층수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지상 1층 ~ 6층 전층 (총 6개층 독립 사용)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가용 연면적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198.1평 (655㎡)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수용 인원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80명 본사 임직원 쾌적한 상주 공간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9626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1인당 유효 면적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172968" y="296265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1.9평 (강남 IT·전문직 표준 오피스 밀도 충족)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66928" y="340156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 1층 활용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172968" y="3401568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독립 스튜디오 임대 유지 (보증금 3,000만 / 월 400만 수익 창출)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3840480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84048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 및 이동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3172968" y="384048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자주식 옥외 주차 4대 및 전층 운행 승강기 1대 완비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66928" y="42793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27939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잔금 및 명도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3172968" y="427939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잔금일 기준 매도인 전층 즉시 퇴거 (명도 리스크 전무)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84287" y="1645920"/>
            <a:ext cx="3840480" cy="1810512"/>
          </a:xfrm>
          <a:prstGeom prst="roundRect">
            <a:avLst>
              <a:gd name="adj" fmla="val 3030"/>
            </a:avLst>
          </a:prstGeom>
          <a:solidFill>
            <a:srgbClr val="E8F5CC"/>
          </a:solidFill>
          <a:ln/>
        </p:spPr>
      </p:sp>
      <p:sp>
        <p:nvSpPr>
          <p:cNvPr id="28" name="Shape 26"/>
          <p:cNvSpPr/>
          <p:nvPr/>
        </p:nvSpPr>
        <p:spPr>
          <a:xfrm>
            <a:off x="7784287" y="1700784"/>
            <a:ext cx="36576" cy="1700784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29" name="Text 27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사옥 브랜딩 및 보안 극대화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967167" y="1975104"/>
            <a:ext cx="351129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건물 전체 사용으로 외부인 출입 통제 및 기업 보안 체계 완비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외벽 대형 파사드 사옥 단독 명칭 표기(간판 설치권) 확보</a:t>
            </a:r>
            <a:endParaRPr lang="en-US" sz="930" dirty="0"/>
          </a:p>
        </p:txBody>
      </p:sp>
      <p:sp>
        <p:nvSpPr>
          <p:cNvPr id="31" name="Shape 29"/>
          <p:cNvSpPr/>
          <p:nvPr/>
        </p:nvSpPr>
        <p:spPr>
          <a:xfrm>
            <a:off x="7784287" y="3657600"/>
            <a:ext cx="3840480" cy="1810512"/>
          </a:xfrm>
          <a:prstGeom prst="roundRect">
            <a:avLst>
              <a:gd name="adj" fmla="val 3030"/>
            </a:avLst>
          </a:prstGeom>
          <a:solidFill>
            <a:srgbClr val="DBEAFE"/>
          </a:solidFill>
          <a:ln/>
        </p:spPr>
      </p:sp>
      <p:sp>
        <p:nvSpPr>
          <p:cNvPr id="32" name="Shape 30"/>
          <p:cNvSpPr/>
          <p:nvPr/>
        </p:nvSpPr>
        <p:spPr>
          <a:xfrm>
            <a:off x="7784287" y="3712464"/>
            <a:ext cx="36576" cy="1700784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3" name="Text 31"/>
          <p:cNvSpPr/>
          <p:nvPr/>
        </p:nvSpPr>
        <p:spPr>
          <a:xfrm>
            <a:off x="7967167" y="376732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 기능 분리형 스마트 오피스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967167" y="3986784"/>
            <a:ext cx="351129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 안내/고객 라운지, 2~5F 부서별 집중 업무 공간, 6F 임원실/대회의실 최적 배치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 1층 독립 출입구 보유로 본사 보안 간섭 없이 안정적 부가 임대수익 확보</a:t>
            </a:r>
            <a:endParaRPr lang="en-US" sz="930" dirty="0"/>
          </a:p>
        </p:txBody>
      </p:sp>
      <p:sp>
        <p:nvSpPr>
          <p:cNvPr id="35" name="Text 33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2026-09-07</a:t>
            </a:r>
            <a:endParaRPr lang="en-US" sz="3600" dirty="0"/>
          </a:p>
        </p:txBody>
      </p:sp>
      <p:sp>
        <p:nvSpPr>
          <p:cNvPr id="36" name="Text 34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IM-E8BC71  ·  7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Vs Lease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1668780"/>
                <a:gridCol w="1668780"/>
                <a:gridCol w="1668780"/>
                <a:gridCol w="16687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유지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사옥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자가소유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절감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효과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소요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시장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이자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자산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건물/토지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가치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이득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형성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혜택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손비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감가상각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이자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법인세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E8F5CC"/>
          </a:solidFill>
          <a:ln/>
        </p:spPr>
      </p:sp>
      <p:sp>
        <p:nvSpPr>
          <p:cNvPr id="7" name="Shape 4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0" y="1847088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PF 및 자금조달 최적화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680960" y="2066544"/>
            <a:ext cx="37947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토지비·공사비·금융비 3단 정밀 분리를 통한 금융 심의 최적화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토지비 비중 77% 수준의 안정적 담보 및 사업성 구조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공사비 및 부대비 분할 기표 및 예비비 완충 여력 반영</a:t>
            </a:r>
            <a:endParaRPr lang="en-US" sz="930" dirty="0"/>
          </a:p>
        </p:txBody>
      </p:sp>
      <p:sp>
        <p:nvSpPr>
          <p:cNvPr id="10" name="Text 7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2026-09-07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IM-E8BC71  ·  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Commute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테헤란로 비즈니스 접근성 및 통근 환경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 역삼역 초역세권 비즈니스 입지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053328" y="180136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도보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80136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2호선 역삼역 도보 5분 (약 350m) 초역세권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053328" y="2295144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53328" y="2295144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환승역 접근성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170475" y="2295144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강남역(2호선·신분당선) 1정거장 / 선릉역(수인분당선) 1정거장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053328" y="2788920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53328" y="2788920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광역 도로 교통망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170475" y="2788920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테헤란로, 강남대로, 언주로, 경부고속도로(서초IC) 인접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053328" y="3282696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53328" y="3282696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임직원 출퇴근 편의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170475" y="3282696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서울 전역 및 판교·분당 등 주요 IT 거점 30분대 연결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053328" y="3776472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053328" y="3776472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주변 비즈니스 인프라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170475" y="3776472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금융기관, 스타트업 집적지, 특허/법률/세무 전문 서비스 밀집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053328" y="4407408"/>
            <a:ext cx="5571439" cy="109728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/>
        </p:spPr>
      </p:sp>
      <p:sp>
        <p:nvSpPr>
          <p:cNvPr id="22" name="Shape 19"/>
          <p:cNvSpPr/>
          <p:nvPr/>
        </p:nvSpPr>
        <p:spPr>
          <a:xfrm>
            <a:off x="6053328" y="4462272"/>
            <a:ext cx="36576" cy="98755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3" name="Text 20"/>
          <p:cNvSpPr/>
          <p:nvPr/>
        </p:nvSpPr>
        <p:spPr>
          <a:xfrm>
            <a:off x="6236208" y="4517136"/>
            <a:ext cx="52422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인재 유치 및 통근 만족도 극대화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236208" y="4736592"/>
            <a:ext cx="524225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2호선 역삼역 초역세권으로 우수 IT/전문직 인재 채용 시 강력한 경쟁력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광역 버스 및 신분당선 환승 연계로 수도권 전역 통근 피로도 최소화</a:t>
            </a:r>
            <a:endParaRPr lang="en-US" sz="930" dirty="0"/>
          </a:p>
        </p:txBody>
      </p:sp>
      <p:sp>
        <p:nvSpPr>
          <p:cNvPr id="25" name="Text 22"/>
          <p:cNvSpPr/>
          <p:nvPr/>
        </p:nvSpPr>
        <p:spPr>
          <a:xfrm>
            <a:off x="6053328" y="5669280"/>
            <a:ext cx="55714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 지도 / V-World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2026-09-07</a:t>
            </a:r>
            <a:endParaRPr lang="en-US" sz="3600" dirty="0"/>
          </a:p>
        </p:txBody>
      </p:sp>
      <p:sp>
        <p:nvSpPr>
          <p:cNvPr id="27" name="Text 24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IM-E8BC71  ·  9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Value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테헤란로 희소 통사옥의 자산가치 및 브랜딩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가치 제안 및 거시적 투자 배경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 통사옥 희소성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100~200평형대 단독 사옥 매물 극히 희소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단독 명칭 표기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전면 사옥 단독 명칭 표기(간판 설치권) 및 기업 단독 브랜딩 확보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지가 하방 경직성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 업무지구(GBD) 토지 가치 연평균 6~8% 지속 상승세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9626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환금성 및 엑시트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172968" y="296265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 100~150억대 꼬마빌딩/사옥 수요 풍부로 환금성 최상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66928" y="340156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 및 즉시 입주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172968" y="3401568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잔금 시 지상 전층 공실 인도 조건으로 인테리어 즉시 착공 가능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84287" y="1645920"/>
            <a:ext cx="3840480" cy="1810512"/>
          </a:xfrm>
          <a:prstGeom prst="roundRect">
            <a:avLst>
              <a:gd name="adj" fmla="val 3030"/>
            </a:avLst>
          </a:prstGeom>
          <a:solidFill>
            <a:srgbClr val="E8F5CC"/>
          </a:solidFill>
          <a:ln/>
        </p:spPr>
      </p:sp>
      <p:sp>
        <p:nvSpPr>
          <p:cNvPr id="22" name="Shape 20"/>
          <p:cNvSpPr/>
          <p:nvPr/>
        </p:nvSpPr>
        <p:spPr>
          <a:xfrm>
            <a:off x="7784287" y="1700784"/>
            <a:ext cx="36576" cy="1700784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23" name="Text 21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 단독 브랜딩 및 대외 신인도 제고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967167" y="1975104"/>
            <a:ext cx="351129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테헤란로 핵심 비즈니스 권역 내 단독 사옥 보유로 기업 위상 및 투자자 신뢰도 급상승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채용 설명회, 고객사 미팅, IR 행사 등 자체 공간 활용을 통한 브랜드 가치 증대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7784287" y="3657600"/>
            <a:ext cx="3840480" cy="1810512"/>
          </a:xfrm>
          <a:prstGeom prst="roundRect">
            <a:avLst>
              <a:gd name="adj" fmla="val 3030"/>
            </a:avLst>
          </a:prstGeom>
          <a:solidFill>
            <a:srgbClr val="DBEAFE"/>
          </a:solidFill>
          <a:ln/>
        </p:spPr>
      </p:sp>
      <p:sp>
        <p:nvSpPr>
          <p:cNvPr id="26" name="Shape 24"/>
          <p:cNvSpPr/>
          <p:nvPr/>
        </p:nvSpPr>
        <p:spPr>
          <a:xfrm>
            <a:off x="7784287" y="3712464"/>
            <a:ext cx="36576" cy="1700784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7" name="Text 25"/>
          <p:cNvSpPr/>
          <p:nvPr/>
        </p:nvSpPr>
        <p:spPr>
          <a:xfrm>
            <a:off x="7967167" y="376732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지가 상승에 따른 인플레이션 헤지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967167" y="3986784"/>
            <a:ext cx="351129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현금 가치 하락 방어 및 법인 차원의 최우량 실물 안전자산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장기 보유 후 리모델링 또는 재매각 시 막대한 자본 이득(Capital Gain) 실현</a:t>
            </a:r>
            <a:endParaRPr lang="en-US" sz="930" dirty="0"/>
          </a:p>
        </p:txBody>
      </p:sp>
      <p:sp>
        <p:nvSpPr>
          <p:cNvPr id="29" name="Text 27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2026-09-07</a:t>
            </a:r>
            <a:endParaRPr lang="en-US" sz="3600" dirty="0"/>
          </a:p>
        </p:txBody>
      </p:sp>
      <p:sp>
        <p:nvSpPr>
          <p:cNvPr id="30" name="Text 2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IM-E8BC71  ·  10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Capital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5391760" cy="438912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5391760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5.52억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1.08억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126.6억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33008" y="1417320"/>
            <a:ext cx="5391760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0" name="Text 28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120.6억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72.6억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48.6억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32" name="Shape 29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F3C7"/>
          </a:solidFill>
          <a:ln/>
        </p:spPr>
      </p:sp>
      <p:sp>
        <p:nvSpPr>
          <p:cNvPr id="33" name="Shape 30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4" name="Text 31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6" name="Text 33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2026-09-07</a:t>
            </a:r>
            <a:endParaRPr lang="en-US" sz="3600" dirty="0"/>
          </a:p>
        </p:txBody>
      </p:sp>
      <p:sp>
        <p:nvSpPr>
          <p:cNvPr id="37" name="Text 34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IM-E8BC71  ·  11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78638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빌딩을 사야 하는가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95097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매수자 유형 (AI 분석)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11057839" cy="2560320"/>
          </a:xfrm>
          <a:prstGeom prst="roundRect">
            <a:avLst>
              <a:gd name="adj" fmla="val 285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81328"/>
            <a:ext cx="11057839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Shape 6"/>
          <p:cNvSpPr/>
          <p:nvPr/>
        </p:nvSpPr>
        <p:spPr>
          <a:xfrm>
            <a:off x="795528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" y="2194560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임차비 절감 효과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95528" y="2624328"/>
            <a:ext cx="10600639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2779776"/>
            <a:ext cx="1060063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소유 전환 시 연간 임대 비용 절감 및 자산 가치 형성이 가능합니다.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178808"/>
          <a:ext cx="11057839" cy="914400"/>
        </p:xfrm>
        <a:graphic>
          <a:graphicData uri="http://schemas.openxmlformats.org/drawingml/2006/table">
            <a:tbl>
              <a:tblPr/>
              <a:tblGrid>
                <a:gridCol w="5528920"/>
                <a:gridCol w="5528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수치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자산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㎡당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단가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(연면적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18,320,611원/㎡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권역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㎡당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단가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(연면적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19,750,745원/㎡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포지션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-7.2%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디스카운트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66928" y="5678424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49808" y="578815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2487168" y="5751576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종합 가치 제안: 해당 권역 소재 [건물명 비공개]으로, 입지 및 자산 특성에 대한 상세 분석은 본문을 참조하시기 바랍니다. ### 3대 핵심 투자 포인트 (사옥 매입) • 사옥 브랜드 가치: 해당 권역 소재 자산으로, 대지 지분 가치 및 입지 경쟁력에 대한 분석은 자산 개요 섹션을 참조하시기 바랍니다.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2026-09-07</a:t>
            </a:r>
            <a:endParaRPr lang="en-US" sz="3600" dirty="0"/>
          </a:p>
        </p:txBody>
      </p:sp>
      <p:sp>
        <p:nvSpPr>
          <p:cNvPr id="18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IM-E8BC71  ·  12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리스크 진단 및 대응 방안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15258" cy="36576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15258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15258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해소 완료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 지상 전층 사용 중으로 매매 잔금 시 전원 퇴거 확약서 징구 완료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8218" y="1417320"/>
            <a:ext cx="3515258" cy="36576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38218" y="1417320"/>
            <a:ext cx="3515258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3" name="Shape 11"/>
          <p:cNvSpPr/>
          <p:nvPr/>
        </p:nvSpPr>
        <p:spPr>
          <a:xfrm>
            <a:off x="4338218" y="1417320"/>
            <a:ext cx="3515258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6681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 리스크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6681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완전 무결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6681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 갑구 권리분쟁 전무, 을구 근저당 1건은 잔금 시 동시 변제·말소 조건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09509" y="1417320"/>
            <a:ext cx="3515258" cy="36576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09509" y="1417320"/>
            <a:ext cx="3515258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9" name="Shape 17"/>
          <p:cNvSpPr/>
          <p:nvPr/>
        </p:nvSpPr>
        <p:spPr>
          <a:xfrm>
            <a:off x="8109509" y="1417320"/>
            <a:ext cx="3515258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0" name="Text 18"/>
          <p:cNvSpPr/>
          <p:nvPr/>
        </p:nvSpPr>
        <p:spPr>
          <a:xfrm>
            <a:off x="8338109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 리스크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338109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검토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338109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과밀억제권역 법인 사옥 취득세 중과 요건 및 적격 분할/지점 설치 사전 세무 자문 완료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621792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5193792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5" name="Text 23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단계에서 법률·세무·물리적 실사를 통해 잔여 잠재 리스크를 철저히 차단합니다.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2026-09-07</a:t>
            </a:r>
            <a:endParaRPr lang="en-US" sz="3600" dirty="0"/>
          </a:p>
        </p:txBody>
      </p:sp>
      <p:sp>
        <p:nvSpPr>
          <p:cNvPr id="27" name="Text 2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IM-E8BC71  ·  13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 Checklist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8FAFC"/>
          </a:solidFill>
          <a:ln w="6350">
            <a:solidFill>
              <a:srgbClr val="A3D9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8FAFC"/>
          </a:solidFill>
          <a:ln w="6350">
            <a:solidFill>
              <a:srgbClr val="A3D9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8FAFC"/>
          </a:solidFill>
          <a:ln w="6350">
            <a:solidFill>
              <a:srgbClr val="A3D9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8FAFC"/>
          </a:solidFill>
          <a:ln w="6350">
            <a:solidFill>
              <a:srgbClr val="A3D9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20" name="Text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8FAFC"/>
          </a:solidFill>
          <a:ln w="6350">
            <a:solidFill>
              <a:srgbClr val="A3D9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24" name="Text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8FAFC"/>
          </a:solidFill>
          <a:ln w="6350">
            <a:solidFill>
              <a:srgbClr val="A3D9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28" name="Text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A3D900"/>
          </a:solidFill>
          <a:ln/>
        </p:spPr>
      </p:sp>
      <p:sp>
        <p:nvSpPr>
          <p:cNvPr id="31" name="Text 29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2026-09-07</a:t>
            </a:r>
            <a:endParaRPr lang="en-US" sz="3600" dirty="0"/>
          </a:p>
        </p:txBody>
      </p:sp>
      <p:sp>
        <p:nvSpPr>
          <p:cNvPr id="33" name="Text 3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IM-E8BC71  ·  14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2490140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2490140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 및 상담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중개사를 통한 매입 의향 확인 및 기초 브리핑 자료 수령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48508" y="3035808"/>
            <a:ext cx="182880" cy="274320"/>
          </a:xfrm>
          <a:prstGeom prst="rightArrow">
            <a:avLst/>
          </a:prstGeom>
          <a:solidFill>
            <a:srgbClr val="CBD5E1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2828" y="1572768"/>
            <a:ext cx="2490140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22828" y="1572768"/>
            <a:ext cx="2490140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4" name="Shape 12"/>
          <p:cNvSpPr/>
          <p:nvPr/>
        </p:nvSpPr>
        <p:spPr>
          <a:xfrm>
            <a:off x="3642284" y="1792224"/>
            <a:ext cx="438912" cy="438912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15" name="Text 13"/>
          <p:cNvSpPr/>
          <p:nvPr/>
        </p:nvSpPr>
        <p:spPr>
          <a:xfrm>
            <a:off x="36422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6422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6422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비밀유지협약(NDA)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계약서 원본, 정밀 도면, 관리비 정산서 등 상세 자료 열람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04408" y="3035808"/>
            <a:ext cx="182880" cy="274320"/>
          </a:xfrm>
          <a:prstGeom prst="rightArrow">
            <a:avLst/>
          </a:prstGeom>
          <a:solidFill>
            <a:srgbClr val="CBD5E1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8728" y="1572768"/>
            <a:ext cx="2490140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8728" y="1572768"/>
            <a:ext cx="2490140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1" name="Shape 19"/>
          <p:cNvSpPr/>
          <p:nvPr/>
        </p:nvSpPr>
        <p:spPr>
          <a:xfrm>
            <a:off x="6498184" y="1792224"/>
            <a:ext cx="438912" cy="438912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22" name="Text 20"/>
          <p:cNvSpPr/>
          <p:nvPr/>
        </p:nvSpPr>
        <p:spPr>
          <a:xfrm>
            <a:off x="64981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981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981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실사(DD)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구조, 승강기·주차 설비, 누수 및 실사용 공간 직접 점검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860307" y="3035808"/>
            <a:ext cx="182880" cy="274320"/>
          </a:xfrm>
          <a:prstGeom prst="rightArrow">
            <a:avLst/>
          </a:prstGeom>
          <a:solidFill>
            <a:srgbClr val="CBD5E1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34627" y="1572768"/>
            <a:ext cx="2490140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34627" y="1572768"/>
            <a:ext cx="2490140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8" name="Shape 26"/>
          <p:cNvSpPr/>
          <p:nvPr/>
        </p:nvSpPr>
        <p:spPr>
          <a:xfrm>
            <a:off x="9354083" y="1792224"/>
            <a:ext cx="438912" cy="438912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29" name="Text 27"/>
          <p:cNvSpPr/>
          <p:nvPr/>
        </p:nvSpPr>
        <p:spPr>
          <a:xfrm>
            <a:off x="9354083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354083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4단계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354083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매수의향서(LOI) 및 계약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대금, 잔금 일정, 명도 특약 조율 후 최종 매매계약 체결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2026-09-07</a:t>
            </a:r>
            <a:endParaRPr lang="en-US" sz="3600" dirty="0"/>
          </a:p>
        </p:txBody>
      </p:sp>
      <p:sp>
        <p:nvSpPr>
          <p:cNvPr id="33" name="Text 3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IM-E8BC71  ·  15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 Closing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334155"/>
          </a:solidFill>
          <a:ln/>
        </p:spPr>
      </p:sp>
      <p:sp>
        <p:nvSpPr>
          <p:cNvPr id="6" name="Shape 4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8E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334155"/>
          </a:solidFill>
          <a:ln/>
        </p:spPr>
      </p:sp>
      <p:sp>
        <p:nvSpPr>
          <p:cNvPr id="12" name="Shape 10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13" name="Text 11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8E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334155"/>
          </a:solidFill>
          <a:ln/>
        </p:spPr>
      </p:sp>
      <p:sp>
        <p:nvSpPr>
          <p:cNvPr id="18" name="Shape 16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19" name="Text 17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334155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334155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334155"/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334155"/>
          </a:solidFill>
          <a:ln/>
        </p:spPr>
      </p:sp>
      <p:sp>
        <p:nvSpPr>
          <p:cNvPr id="33" name="Text 31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334155"/>
          </a:solidFill>
          <a:ln/>
        </p:spPr>
      </p:sp>
      <p:sp>
        <p:nvSpPr>
          <p:cNvPr id="36" name="Text 34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E293B"/>
          </a:solidFill>
          <a:ln/>
        </p:spPr>
      </p:sp>
      <p:sp>
        <p:nvSpPr>
          <p:cNvPr id="40" name="Text 38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42" name="Text 40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IM-E8BC71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2636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2026-09-07</a:t>
            </a:r>
            <a:endParaRPr lang="en-US" sz="3600" dirty="0"/>
          </a:p>
        </p:txBody>
      </p:sp>
      <p:sp>
        <p:nvSpPr>
          <p:cNvPr id="44" name="Text 42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IM-E8BC71  ·  16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 Records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건물명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사옥용 빌딩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주용도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업무시설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철근콘크리트구조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9626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172968" y="296265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655㎡ (198.1평)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9" name="Shape 17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0" name="Text 18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23" name="Shape 21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4" name="Text 22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6" name="Text 24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2026-09-07</a:t>
            </a:r>
            <a:endParaRPr lang="en-US" sz="3600" dirty="0"/>
          </a:p>
        </p:txBody>
      </p:sp>
      <p:sp>
        <p:nvSpPr>
          <p:cNvPr id="27" name="Text 2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IM-E8BC71  ·  17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 Title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요약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DBEAFE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2" name="Shape 10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3" name="Text 11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제한물권 및 근저당 말소 확약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잔금 시 기존 설정된 근저당권 및 담보 설정 전액 말소 조건 승계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소유권 이전 등기 및 근저당 말소 동시 이행을 통한 매수인 권리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임대보증금 승계 확약서 징구 및 대항력 유무 원본 대조 필수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7784287" y="3950208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6" name="Shape 14"/>
          <p:cNvSpPr/>
          <p:nvPr/>
        </p:nvSpPr>
        <p:spPr>
          <a:xfrm>
            <a:off x="7784287" y="4005072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7" name="Text 15"/>
          <p:cNvSpPr/>
          <p:nvPr/>
        </p:nvSpPr>
        <p:spPr>
          <a:xfrm>
            <a:off x="7967167" y="4059936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소유권 분쟁 및 처분금지 가처분 검토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967167" y="4279392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 갑구상 소유권 분쟁, 압류, 가압류, 가처분 등 제한 사항 전무 확인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 본인 확인 및 인감증명서, 위임장 진위 여부 사전 실사 완료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신탁 등기 또는 공동 담보 설정 여부 점검 완료</a:t>
            </a:r>
            <a:endParaRPr lang="en-US" sz="930" dirty="0"/>
          </a:p>
        </p:txBody>
      </p:sp>
      <p:sp>
        <p:nvSpPr>
          <p:cNvPr id="19" name="Text 17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2026-09-07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IM-E8BC71  ·  18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 District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 분석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소상공인 상권 분석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상권명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해당 상권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매출지수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점포수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500개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6" name="Shape 14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7" name="Text 15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 활성도 및 유동인구 특성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해당 상권은 근린생활·F&amp;B 중심의 안정적 배후 수요 형성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일평균 유동인구 풍부 기반의 지속적 점포 매출 창출력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개업률(2.8%) 및 폐업률(2.1%) 기준 상권 생존 안정성 검증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7784287" y="3950208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4005072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4059936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 구성 및 집객력 강화 전략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4279392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직장인 및 배후 주거단지 소비 특성을 고려한 앵커 테넌트 유치 적합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주말/주중 시간대별 매출 분산 구조로 안정적 임대료 수취 환경 조성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대형 집객 시설과의 시너지 효과를 통한 상권 확장 잠재력 보유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 rot="-1800000">
            <a:off x="1371600" y="228600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ECF0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CREDEAL · 0000 · 2026-09-07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IM-E8BC71  ·  19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2026-09-07T04:56:37Z</dcterms:created>
  <dcterms:modified xsi:type="dcterms:W3CDTF">2026-09-07T04:56:37Z</dcterms:modified>
</cp:coreProperties>
</file>