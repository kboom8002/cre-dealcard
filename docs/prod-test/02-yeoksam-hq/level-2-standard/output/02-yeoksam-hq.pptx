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</p:sldIdLst>
  <p:notesMasterIdLst>
    <p:notesMasterId r:id="rId11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notesMaster" Target="notesMasters/notesMaster1.xml"/><Relationship Id="rId12" Type="http://schemas.openxmlformats.org/officeDocument/2006/relationships/presProps" Target="presProps.xml"/><Relationship Id="rId13" Type="http://schemas.openxmlformats.org/officeDocument/2006/relationships/viewProps" Target="viewProps.xml"/><Relationship Id="rId14" Type="http://schemas.openxmlformats.org/officeDocument/2006/relationships/theme" Target="theme/theme1.xml"/><Relationship Id="rId15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-1.jpe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-1.jpeg"/><Relationship Id="rId2" Type="http://schemas.openxmlformats.org/officeDocument/2006/relationships/image" Target="../media/image-2-2.jpeg"/><Relationship Id="rId3" Type="http://schemas.openxmlformats.org/officeDocument/2006/relationships/image" Target="../media/image-2-3.jpeg"/><Relationship Id="rId4" Type="http://schemas.openxmlformats.org/officeDocument/2006/relationships/image" Target="../media/image-2-4.jpeg"/><Relationship Id="rId5" Type="http://schemas.openxmlformats.org/officeDocument/2006/relationships/slideLayout" Target="../slideLayouts/slideLayout1.xml"/><Relationship Id="rId6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F172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    </p:cNvPr>
          <p:cNvPicPr>
            <a:picLocks noChangeAspect="1"/>
          </p:cNvPicPr>
          <p:nvPr/>
        </p:nvPicPr>
        <p:blipFill>
          <a:blip r:embed="rId1"/>
          <a:srcRect l="0" r="0" t="0" b="0"/>
          <a:stretch/>
        </p:blipFill>
        <p:spPr>
          <a:xfrm>
            <a:off x="7772400" y="0"/>
            <a:ext cx="4419295" cy="6858000"/>
          </a:xfrm>
          <a:prstGeom prst="rect">
            <a:avLst/>
          </a:prstGeom>
        </p:spPr>
      </p:pic>
      <p:sp>
        <p:nvSpPr>
          <p:cNvPr id="3" name="Shape 0"/>
          <p:cNvSpPr/>
          <p:nvPr/>
        </p:nvSpPr>
        <p:spPr>
          <a:xfrm>
            <a:off x="7772400" y="5029200"/>
            <a:ext cx="4419295" cy="1097280"/>
          </a:xfrm>
          <a:prstGeom prst="rect">
            <a:avLst/>
          </a:prstGeom>
          <a:solidFill>
            <a:srgbClr val="0F172A">
              <a:alpha val="60000"/>
            </a:srgbClr>
          </a:solidFill>
          <a:ln/>
        </p:spPr>
      </p:sp>
      <p:sp>
        <p:nvSpPr>
          <p:cNvPr id="4" name="Text 1"/>
          <p:cNvSpPr/>
          <p:nvPr/>
        </p:nvSpPr>
        <p:spPr>
          <a:xfrm>
            <a:off x="566928" y="475488"/>
            <a:ext cx="2743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CRE</a:t>
            </a:r>
            <a:pPr indent="0" marL="0">
              <a:buNone/>
            </a:pPr>
            <a:r>
              <a:rPr lang="en-US" sz="1500" b="1" dirty="0">
                <a:solidFill>
                  <a:srgbClr val="6B8E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DEAL</a:t>
            </a:r>
            <a:endParaRPr lang="en-US" sz="1500" dirty="0"/>
          </a:p>
        </p:txBody>
      </p:sp>
      <p:sp>
        <p:nvSpPr>
          <p:cNvPr id="5" name="Text 2"/>
          <p:cNvSpPr/>
          <p:nvPr/>
        </p:nvSpPr>
        <p:spPr>
          <a:xfrm>
            <a:off x="8229600" y="5303520"/>
            <a:ext cx="34747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FFFFFF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상업용 부동산 투자 플랫폼</a:t>
            </a:r>
            <a:endParaRPr lang="en-US" sz="1000" dirty="0"/>
          </a:p>
        </p:txBody>
      </p:sp>
      <p:sp>
        <p:nvSpPr>
          <p:cNvPr id="6" name="Text 3"/>
          <p:cNvSpPr/>
          <p:nvPr/>
        </p:nvSpPr>
        <p:spPr>
          <a:xfrm>
            <a:off x="566928" y="2029968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b="1" spc="250" kern="0" dirty="0">
                <a:solidFill>
                  <a:srgbClr val="6B8E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INVESTMENT MEMORANDUM</a:t>
            </a:r>
            <a:endParaRPr lang="en-US" sz="1000" dirty="0"/>
          </a:p>
        </p:txBody>
      </p:sp>
      <p:sp>
        <p:nvSpPr>
          <p:cNvPr id="7" name="Text 4"/>
          <p:cNvSpPr/>
          <p:nvPr/>
        </p:nvSpPr>
        <p:spPr>
          <a:xfrm>
            <a:off x="566928" y="2304288"/>
            <a:ext cx="73152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4000" b="1" dirty="0">
                <a:solidFill>
                  <a:srgbClr val="FFFFFF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강남구 역삼동 사무용빌딩 매각</a:t>
            </a:r>
            <a:endParaRPr lang="en-US" sz="4000" dirty="0"/>
          </a:p>
        </p:txBody>
      </p:sp>
      <p:sp>
        <p:nvSpPr>
          <p:cNvPr id="8" name="Text 5"/>
          <p:cNvSpPr/>
          <p:nvPr/>
        </p:nvSpPr>
        <p:spPr>
          <a:xfrm>
            <a:off x="566928" y="6035040"/>
            <a:ext cx="11057839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endParaRPr lang="en-US" sz="900" dirty="0"/>
          </a:p>
        </p:txBody>
      </p:sp>
      <p:sp>
        <p:nvSpPr>
          <p:cNvPr id="9" name="Text 6"/>
          <p:cNvSpPr/>
          <p:nvPr/>
        </p:nvSpPr>
        <p:spPr>
          <a:xfrm rot="-1800000">
            <a:off x="1371600" y="2286000"/>
            <a:ext cx="9144000" cy="2286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600" b="1" dirty="0">
                <a:solidFill>
                  <a:srgbClr val="1A2636">
                    <a:alpha val="15000"/>
                  </a:srgbClr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CREDEAL · 0000 · 2026-09-07</a:t>
            </a:r>
            <a:endParaRPr lang="en-US" sz="3600" dirty="0"/>
          </a:p>
        </p:txBody>
      </p:sp>
      <p:sp>
        <p:nvSpPr>
          <p:cNvPr id="10" name="Text 7"/>
          <p:cNvSpPr/>
          <p:nvPr/>
        </p:nvSpPr>
        <p:spPr>
          <a:xfrm>
            <a:off x="566928" y="6419088"/>
            <a:ext cx="11057839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64748B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크리딜  ·  IM-E8BC71  ·  1</a:t>
            </a:r>
            <a:endParaRPr lang="en-US" sz="900" dirty="0"/>
          </a:p>
        </p:txBody>
      </p:sp>
      <p:sp>
        <p:nvSpPr>
          <p:cNvPr id="11" name="Shape 8"/>
          <p:cNvSpPr/>
          <p:nvPr/>
        </p:nvSpPr>
        <p:spPr>
          <a:xfrm>
            <a:off x="4437172" y="6382512"/>
            <a:ext cx="3317352" cy="0"/>
          </a:xfrm>
          <a:prstGeom prst="line">
            <a:avLst/>
          </a:prstGeom>
          <a:noFill/>
          <a:ln w="6350">
            <a:solidFill>
              <a:srgbClr val="6B8E00"/>
            </a:solidFill>
            <a:prstDash val="solid"/>
          </a:ln>
        </p:spPr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66928" y="384048"/>
            <a:ext cx="45720" cy="566928"/>
          </a:xfrm>
          <a:prstGeom prst="rect">
            <a:avLst/>
          </a:prstGeom>
          <a:solidFill>
            <a:srgbClr val="6B8E00"/>
          </a:solidFill>
          <a:ln/>
        </p:spPr>
      </p:sp>
      <p:sp>
        <p:nvSpPr>
          <p:cNvPr id="3" name="Text 1"/>
          <p:cNvSpPr/>
          <p:nvPr/>
        </p:nvSpPr>
        <p:spPr>
          <a:xfrm>
            <a:off x="749808" y="384048"/>
            <a:ext cx="10874959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b="1" spc="200" kern="0" dirty="0">
                <a:solidFill>
                  <a:srgbClr val="6B8E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02  Gallery I</a:t>
            </a:r>
            <a:endParaRPr lang="en-US" sz="950" dirty="0"/>
          </a:p>
        </p:txBody>
      </p:sp>
      <p:sp>
        <p:nvSpPr>
          <p:cNvPr id="4" name="Text 2"/>
          <p:cNvSpPr/>
          <p:nvPr/>
        </p:nvSpPr>
        <p:spPr>
          <a:xfrm>
            <a:off x="749808" y="566928"/>
            <a:ext cx="10874959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0F172A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건물 주요 전경</a:t>
            </a:r>
            <a:endParaRPr lang="en-US" sz="2200" dirty="0"/>
          </a:p>
        </p:txBody>
      </p:sp>
      <p:sp>
        <p:nvSpPr>
          <p:cNvPr id="5" name="Shape 3"/>
          <p:cNvSpPr/>
          <p:nvPr/>
        </p:nvSpPr>
        <p:spPr>
          <a:xfrm>
            <a:off x="566928" y="1234440"/>
            <a:ext cx="5464912" cy="2290572"/>
          </a:xfrm>
          <a:prstGeom prst="roundRect">
            <a:avLst>
              <a:gd name="adj" fmla="val 2395"/>
            </a:avLst>
          </a:prstGeom>
          <a:solidFill>
            <a:srgbClr val="F0F0F0"/>
          </a:solidFill>
          <a:ln w="6350">
            <a:solidFill>
              <a:srgbClr val="E0E0E0"/>
            </a:solidFill>
            <a:prstDash val="solid"/>
          </a:ln>
        </p:spPr>
      </p:sp>
      <p:pic>
        <p:nvPicPr>
          <p:cNvPr id="6" name="Image 0" descr="preencoded.png">    </p:cNvPr>
          <p:cNvPicPr>
            <a:picLocks noChangeAspect="1"/>
          </p:cNvPicPr>
          <p:nvPr/>
        </p:nvPicPr>
        <p:blipFill>
          <a:blip r:embed="rId1"/>
          <a:srcRect l="0" r="0" t="0" b="0"/>
          <a:stretch/>
        </p:blipFill>
        <p:spPr>
          <a:xfrm>
            <a:off x="566928" y="1234440"/>
            <a:ext cx="5464912" cy="2290572"/>
          </a:xfrm>
          <a:prstGeom prst="rect">
            <a:avLst/>
          </a:prstGeom>
        </p:spPr>
      </p:pic>
      <p:sp>
        <p:nvSpPr>
          <p:cNvPr id="7" name="Shape 4"/>
          <p:cNvSpPr/>
          <p:nvPr/>
        </p:nvSpPr>
        <p:spPr>
          <a:xfrm>
            <a:off x="640080" y="1307592"/>
            <a:ext cx="868680" cy="237744"/>
          </a:xfrm>
          <a:prstGeom prst="rect">
            <a:avLst/>
          </a:prstGeom>
          <a:solidFill>
            <a:srgbClr val="10161F">
              <a:alpha val="80000"/>
            </a:srgbClr>
          </a:solidFill>
          <a:ln/>
        </p:spPr>
      </p:sp>
      <p:sp>
        <p:nvSpPr>
          <p:cNvPr id="8" name="Text 5"/>
          <p:cNvSpPr/>
          <p:nvPr/>
        </p:nvSpPr>
        <p:spPr>
          <a:xfrm>
            <a:off x="640080" y="1307592"/>
            <a:ext cx="86868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건물 외관</a:t>
            </a:r>
            <a:endParaRPr lang="en-US" sz="900" dirty="0"/>
          </a:p>
        </p:txBody>
      </p:sp>
      <p:sp>
        <p:nvSpPr>
          <p:cNvPr id="9" name="Shape 6"/>
          <p:cNvSpPr/>
          <p:nvPr/>
        </p:nvSpPr>
        <p:spPr>
          <a:xfrm>
            <a:off x="566928" y="3232404"/>
            <a:ext cx="5464912" cy="292608"/>
          </a:xfrm>
          <a:prstGeom prst="rect">
            <a:avLst/>
          </a:prstGeom>
          <a:solidFill>
            <a:srgbClr val="000000">
              <a:alpha val="60000"/>
            </a:srgbClr>
          </a:solidFill>
          <a:ln/>
        </p:spPr>
      </p:sp>
      <p:sp>
        <p:nvSpPr>
          <p:cNvPr id="10" name="Text 7"/>
          <p:cNvSpPr/>
          <p:nvPr/>
        </p:nvSpPr>
        <p:spPr>
          <a:xfrm>
            <a:off x="676656" y="3232404"/>
            <a:ext cx="5245456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FFFFFF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건물 외관</a:t>
            </a:r>
            <a:endParaRPr lang="en-US" sz="900" dirty="0"/>
          </a:p>
        </p:txBody>
      </p:sp>
      <p:sp>
        <p:nvSpPr>
          <p:cNvPr id="11" name="Shape 8"/>
          <p:cNvSpPr/>
          <p:nvPr/>
        </p:nvSpPr>
        <p:spPr>
          <a:xfrm>
            <a:off x="6159856" y="1234440"/>
            <a:ext cx="5464912" cy="2290572"/>
          </a:xfrm>
          <a:prstGeom prst="roundRect">
            <a:avLst>
              <a:gd name="adj" fmla="val 2395"/>
            </a:avLst>
          </a:prstGeom>
          <a:solidFill>
            <a:srgbClr val="F0F0F0"/>
          </a:solidFill>
          <a:ln w="6350">
            <a:solidFill>
              <a:srgbClr val="E0E0E0"/>
            </a:solidFill>
            <a:prstDash val="solid"/>
          </a:ln>
        </p:spPr>
      </p:sp>
      <p:pic>
        <p:nvPicPr>
          <p:cNvPr id="12" name="Image 1" descr="preencoded.png">    </p:cNvPr>
          <p:cNvPicPr>
            <a:picLocks noChangeAspect="1"/>
          </p:cNvPicPr>
          <p:nvPr/>
        </p:nvPicPr>
        <p:blipFill>
          <a:blip r:embed="rId2"/>
          <a:srcRect l="0" r="0" t="0" b="0"/>
          <a:stretch/>
        </p:blipFill>
        <p:spPr>
          <a:xfrm>
            <a:off x="6159856" y="1234440"/>
            <a:ext cx="5464912" cy="2290572"/>
          </a:xfrm>
          <a:prstGeom prst="rect">
            <a:avLst/>
          </a:prstGeom>
        </p:spPr>
      </p:pic>
      <p:sp>
        <p:nvSpPr>
          <p:cNvPr id="13" name="Shape 9"/>
          <p:cNvSpPr/>
          <p:nvPr/>
        </p:nvSpPr>
        <p:spPr>
          <a:xfrm>
            <a:off x="6233008" y="1307592"/>
            <a:ext cx="868680" cy="237744"/>
          </a:xfrm>
          <a:prstGeom prst="rect">
            <a:avLst/>
          </a:prstGeom>
          <a:solidFill>
            <a:srgbClr val="10161F">
              <a:alpha val="80000"/>
            </a:srgbClr>
          </a:solidFill>
          <a:ln/>
        </p:spPr>
      </p:sp>
      <p:sp>
        <p:nvSpPr>
          <p:cNvPr id="14" name="Text 10"/>
          <p:cNvSpPr/>
          <p:nvPr/>
        </p:nvSpPr>
        <p:spPr>
          <a:xfrm>
            <a:off x="6233008" y="1307592"/>
            <a:ext cx="86868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주 출입구</a:t>
            </a:r>
            <a:endParaRPr lang="en-US" sz="900" dirty="0"/>
          </a:p>
        </p:txBody>
      </p:sp>
      <p:sp>
        <p:nvSpPr>
          <p:cNvPr id="15" name="Shape 11"/>
          <p:cNvSpPr/>
          <p:nvPr/>
        </p:nvSpPr>
        <p:spPr>
          <a:xfrm>
            <a:off x="6159856" y="3232404"/>
            <a:ext cx="5464912" cy="292608"/>
          </a:xfrm>
          <a:prstGeom prst="rect">
            <a:avLst/>
          </a:prstGeom>
          <a:solidFill>
            <a:srgbClr val="000000">
              <a:alpha val="60000"/>
            </a:srgbClr>
          </a:solidFill>
          <a:ln/>
        </p:spPr>
      </p:sp>
      <p:sp>
        <p:nvSpPr>
          <p:cNvPr id="16" name="Text 12"/>
          <p:cNvSpPr/>
          <p:nvPr/>
        </p:nvSpPr>
        <p:spPr>
          <a:xfrm>
            <a:off x="6269584" y="3232404"/>
            <a:ext cx="5245456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FFFFFF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주 출입구</a:t>
            </a:r>
            <a:endParaRPr lang="en-US" sz="900" dirty="0"/>
          </a:p>
        </p:txBody>
      </p:sp>
      <p:sp>
        <p:nvSpPr>
          <p:cNvPr id="17" name="Shape 13"/>
          <p:cNvSpPr/>
          <p:nvPr/>
        </p:nvSpPr>
        <p:spPr>
          <a:xfrm>
            <a:off x="566928" y="3653028"/>
            <a:ext cx="5464912" cy="2290572"/>
          </a:xfrm>
          <a:prstGeom prst="roundRect">
            <a:avLst>
              <a:gd name="adj" fmla="val 2395"/>
            </a:avLst>
          </a:prstGeom>
          <a:solidFill>
            <a:srgbClr val="F0F0F0"/>
          </a:solidFill>
          <a:ln w="6350">
            <a:solidFill>
              <a:srgbClr val="E0E0E0"/>
            </a:solidFill>
            <a:prstDash val="solid"/>
          </a:ln>
        </p:spPr>
      </p:sp>
      <p:pic>
        <p:nvPicPr>
          <p:cNvPr id="18" name="Image 2" descr="preencoded.png">    </p:cNvPr>
          <p:cNvPicPr>
            <a:picLocks noChangeAspect="1"/>
          </p:cNvPicPr>
          <p:nvPr/>
        </p:nvPicPr>
        <p:blipFill>
          <a:blip r:embed="rId3"/>
          <a:srcRect l="0" r="0" t="0" b="0"/>
          <a:stretch/>
        </p:blipFill>
        <p:spPr>
          <a:xfrm>
            <a:off x="566928" y="3653028"/>
            <a:ext cx="5464912" cy="2290572"/>
          </a:xfrm>
          <a:prstGeom prst="rect">
            <a:avLst/>
          </a:prstGeom>
        </p:spPr>
      </p:pic>
      <p:sp>
        <p:nvSpPr>
          <p:cNvPr id="19" name="Shape 14"/>
          <p:cNvSpPr/>
          <p:nvPr/>
        </p:nvSpPr>
        <p:spPr>
          <a:xfrm>
            <a:off x="640080" y="3726180"/>
            <a:ext cx="868680" cy="237744"/>
          </a:xfrm>
          <a:prstGeom prst="rect">
            <a:avLst/>
          </a:prstGeom>
          <a:solidFill>
            <a:srgbClr val="10161F">
              <a:alpha val="80000"/>
            </a:srgbClr>
          </a:solidFill>
          <a:ln/>
        </p:spPr>
      </p:sp>
      <p:sp>
        <p:nvSpPr>
          <p:cNvPr id="20" name="Text 15"/>
          <p:cNvSpPr/>
          <p:nvPr/>
        </p:nvSpPr>
        <p:spPr>
          <a:xfrm>
            <a:off x="640080" y="3726180"/>
            <a:ext cx="86868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1층 로비</a:t>
            </a:r>
            <a:endParaRPr lang="en-US" sz="900" dirty="0"/>
          </a:p>
        </p:txBody>
      </p:sp>
      <p:sp>
        <p:nvSpPr>
          <p:cNvPr id="21" name="Shape 16"/>
          <p:cNvSpPr/>
          <p:nvPr/>
        </p:nvSpPr>
        <p:spPr>
          <a:xfrm>
            <a:off x="566928" y="5650992"/>
            <a:ext cx="5464912" cy="292608"/>
          </a:xfrm>
          <a:prstGeom prst="rect">
            <a:avLst/>
          </a:prstGeom>
          <a:solidFill>
            <a:srgbClr val="000000">
              <a:alpha val="60000"/>
            </a:srgbClr>
          </a:solidFill>
          <a:ln/>
        </p:spPr>
      </p:sp>
      <p:sp>
        <p:nvSpPr>
          <p:cNvPr id="22" name="Text 17"/>
          <p:cNvSpPr/>
          <p:nvPr/>
        </p:nvSpPr>
        <p:spPr>
          <a:xfrm>
            <a:off x="676656" y="5650992"/>
            <a:ext cx="5245456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FFFFFF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1층 로비</a:t>
            </a:r>
            <a:endParaRPr lang="en-US" sz="900" dirty="0"/>
          </a:p>
        </p:txBody>
      </p:sp>
      <p:sp>
        <p:nvSpPr>
          <p:cNvPr id="23" name="Shape 18"/>
          <p:cNvSpPr/>
          <p:nvPr/>
        </p:nvSpPr>
        <p:spPr>
          <a:xfrm>
            <a:off x="6159856" y="3653028"/>
            <a:ext cx="5464912" cy="2290572"/>
          </a:xfrm>
          <a:prstGeom prst="roundRect">
            <a:avLst>
              <a:gd name="adj" fmla="val 2395"/>
            </a:avLst>
          </a:prstGeom>
          <a:solidFill>
            <a:srgbClr val="F0F0F0"/>
          </a:solidFill>
          <a:ln w="6350">
            <a:solidFill>
              <a:srgbClr val="E0E0E0"/>
            </a:solidFill>
            <a:prstDash val="solid"/>
          </a:ln>
        </p:spPr>
      </p:sp>
      <p:pic>
        <p:nvPicPr>
          <p:cNvPr id="24" name="Image 3" descr="preencoded.png">    </p:cNvPr>
          <p:cNvPicPr>
            <a:picLocks noChangeAspect="1"/>
          </p:cNvPicPr>
          <p:nvPr/>
        </p:nvPicPr>
        <p:blipFill>
          <a:blip r:embed="rId4"/>
          <a:srcRect l="0" r="0" t="0" b="0"/>
          <a:stretch/>
        </p:blipFill>
        <p:spPr>
          <a:xfrm>
            <a:off x="6159856" y="3653028"/>
            <a:ext cx="5464912" cy="2290572"/>
          </a:xfrm>
          <a:prstGeom prst="rect">
            <a:avLst/>
          </a:prstGeom>
        </p:spPr>
      </p:pic>
      <p:sp>
        <p:nvSpPr>
          <p:cNvPr id="25" name="Shape 19"/>
          <p:cNvSpPr/>
          <p:nvPr/>
        </p:nvSpPr>
        <p:spPr>
          <a:xfrm>
            <a:off x="6233008" y="3726180"/>
            <a:ext cx="868680" cy="237744"/>
          </a:xfrm>
          <a:prstGeom prst="rect">
            <a:avLst/>
          </a:prstGeom>
          <a:solidFill>
            <a:srgbClr val="10161F">
              <a:alpha val="80000"/>
            </a:srgbClr>
          </a:solidFill>
          <a:ln/>
        </p:spPr>
      </p:sp>
      <p:sp>
        <p:nvSpPr>
          <p:cNvPr id="26" name="Text 20"/>
          <p:cNvSpPr/>
          <p:nvPr/>
        </p:nvSpPr>
        <p:spPr>
          <a:xfrm>
            <a:off x="6233008" y="3726180"/>
            <a:ext cx="86868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실내 공간</a:t>
            </a:r>
            <a:endParaRPr lang="en-US" sz="900" dirty="0"/>
          </a:p>
        </p:txBody>
      </p:sp>
      <p:sp>
        <p:nvSpPr>
          <p:cNvPr id="27" name="Shape 21"/>
          <p:cNvSpPr/>
          <p:nvPr/>
        </p:nvSpPr>
        <p:spPr>
          <a:xfrm>
            <a:off x="6159856" y="5650992"/>
            <a:ext cx="5464912" cy="292608"/>
          </a:xfrm>
          <a:prstGeom prst="rect">
            <a:avLst/>
          </a:prstGeom>
          <a:solidFill>
            <a:srgbClr val="000000">
              <a:alpha val="60000"/>
            </a:srgbClr>
          </a:solidFill>
          <a:ln/>
        </p:spPr>
      </p:sp>
      <p:sp>
        <p:nvSpPr>
          <p:cNvPr id="28" name="Text 22"/>
          <p:cNvSpPr/>
          <p:nvPr/>
        </p:nvSpPr>
        <p:spPr>
          <a:xfrm>
            <a:off x="6269584" y="5650992"/>
            <a:ext cx="5245456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FFFFFF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실내 공간</a:t>
            </a:r>
            <a:endParaRPr lang="en-US" sz="900" dirty="0"/>
          </a:p>
        </p:txBody>
      </p:sp>
      <p:sp>
        <p:nvSpPr>
          <p:cNvPr id="29" name="Text 23"/>
          <p:cNvSpPr/>
          <p:nvPr/>
        </p:nvSpPr>
        <p:spPr>
          <a:xfrm rot="-1800000">
            <a:off x="1371600" y="2286000"/>
            <a:ext cx="9144000" cy="2286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600" b="1" dirty="0">
                <a:solidFill>
                  <a:srgbClr val="E8ECF0">
                    <a:alpha val="15000"/>
                  </a:srgbClr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CREDEAL · 0000 · 2026-09-07</a:t>
            </a:r>
            <a:endParaRPr lang="en-US" sz="3600" dirty="0"/>
          </a:p>
        </p:txBody>
      </p:sp>
      <p:sp>
        <p:nvSpPr>
          <p:cNvPr id="30" name="Text 24"/>
          <p:cNvSpPr/>
          <p:nvPr/>
        </p:nvSpPr>
        <p:spPr>
          <a:xfrm>
            <a:off x="566928" y="6419088"/>
            <a:ext cx="11057839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64748B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크리딜  ·  IM-E8BC71  ·  2</a:t>
            </a:r>
            <a:endParaRPr lang="en-US" sz="900" dirty="0"/>
          </a:p>
        </p:txBody>
      </p:sp>
      <p:sp>
        <p:nvSpPr>
          <p:cNvPr id="31" name="Shape 25"/>
          <p:cNvSpPr/>
          <p:nvPr/>
        </p:nvSpPr>
        <p:spPr>
          <a:xfrm>
            <a:off x="4437172" y="6382512"/>
            <a:ext cx="3317352" cy="0"/>
          </a:xfrm>
          <a:prstGeom prst="line">
            <a:avLst/>
          </a:prstGeom>
          <a:noFill/>
          <a:ln w="6350">
            <a:solidFill>
              <a:srgbClr val="6B8E00"/>
            </a:solidFill>
            <a:prstDash val="solid"/>
          </a:ln>
        </p:spPr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66928" y="384048"/>
            <a:ext cx="45720" cy="566928"/>
          </a:xfrm>
          <a:prstGeom prst="rect">
            <a:avLst/>
          </a:prstGeom>
          <a:solidFill>
            <a:srgbClr val="6B8E00"/>
          </a:solidFill>
          <a:ln/>
        </p:spPr>
      </p:sp>
      <p:sp>
        <p:nvSpPr>
          <p:cNvPr id="3" name="Text 1"/>
          <p:cNvSpPr/>
          <p:nvPr/>
        </p:nvSpPr>
        <p:spPr>
          <a:xfrm>
            <a:off x="749808" y="384048"/>
            <a:ext cx="10874959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b="1" spc="200" kern="0" dirty="0">
                <a:solidFill>
                  <a:srgbClr val="6B8E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03  Summary</a:t>
            </a:r>
            <a:endParaRPr lang="en-US" sz="950" dirty="0"/>
          </a:p>
        </p:txBody>
      </p:sp>
      <p:sp>
        <p:nvSpPr>
          <p:cNvPr id="4" name="Text 2"/>
          <p:cNvSpPr/>
          <p:nvPr/>
        </p:nvSpPr>
        <p:spPr>
          <a:xfrm>
            <a:off x="749808" y="566928"/>
            <a:ext cx="10874959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0F172A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핵심 투자 지표</a:t>
            </a:r>
            <a:endParaRPr lang="en-US" sz="2200" dirty="0"/>
          </a:p>
        </p:txBody>
      </p:sp>
      <p:sp>
        <p:nvSpPr>
          <p:cNvPr id="5" name="Shape 3"/>
          <p:cNvSpPr/>
          <p:nvPr/>
        </p:nvSpPr>
        <p:spPr>
          <a:xfrm>
            <a:off x="566928" y="1371600"/>
            <a:ext cx="5437480" cy="1280160"/>
          </a:xfrm>
          <a:prstGeom prst="roundRect">
            <a:avLst>
              <a:gd name="adj" fmla="val 4286"/>
            </a:avLst>
          </a:prstGeom>
          <a:solidFill>
            <a:srgbClr val="F8FAFC"/>
          </a:solidFill>
          <a:ln w="6350">
            <a:solidFill>
              <a:srgbClr val="CBD5E1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731520" y="1499616"/>
            <a:ext cx="5108296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64748B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매각 희망가</a:t>
            </a:r>
            <a:endParaRPr lang="en-US" sz="950" dirty="0"/>
          </a:p>
        </p:txBody>
      </p:sp>
      <p:sp>
        <p:nvSpPr>
          <p:cNvPr id="7" name="Text 5"/>
          <p:cNvSpPr/>
          <p:nvPr/>
        </p:nvSpPr>
        <p:spPr>
          <a:xfrm>
            <a:off x="731520" y="1719072"/>
            <a:ext cx="5108296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2000" b="1" dirty="0">
                <a:solidFill>
                  <a:srgbClr val="0F172A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120억원</a:t>
            </a:r>
            <a:endParaRPr lang="en-US" sz="2000" dirty="0"/>
          </a:p>
        </p:txBody>
      </p:sp>
      <p:sp>
        <p:nvSpPr>
          <p:cNvPr id="8" name="Shape 6"/>
          <p:cNvSpPr/>
          <p:nvPr/>
        </p:nvSpPr>
        <p:spPr>
          <a:xfrm>
            <a:off x="6187288" y="1371600"/>
            <a:ext cx="5437480" cy="1280160"/>
          </a:xfrm>
          <a:prstGeom prst="roundRect">
            <a:avLst>
              <a:gd name="adj" fmla="val 4286"/>
            </a:avLst>
          </a:prstGeom>
          <a:solidFill>
            <a:srgbClr val="F8FAFC"/>
          </a:solidFill>
          <a:ln w="6350">
            <a:solidFill>
              <a:srgbClr val="CBD5E1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6351880" y="1499616"/>
            <a:ext cx="5108296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64748B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데이터 등급</a:t>
            </a:r>
            <a:endParaRPr lang="en-US" sz="950" dirty="0"/>
          </a:p>
        </p:txBody>
      </p:sp>
      <p:sp>
        <p:nvSpPr>
          <p:cNvPr id="10" name="Text 8"/>
          <p:cNvSpPr/>
          <p:nvPr/>
        </p:nvSpPr>
        <p:spPr>
          <a:xfrm>
            <a:off x="6351880" y="1719072"/>
            <a:ext cx="5108296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2000" b="1" dirty="0">
                <a:solidFill>
                  <a:srgbClr val="0F172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</a:t>
            </a:r>
            <a:endParaRPr lang="en-US" sz="2000" dirty="0"/>
          </a:p>
        </p:txBody>
      </p:sp>
      <p:sp>
        <p:nvSpPr>
          <p:cNvPr id="11" name="Text 9"/>
          <p:cNvSpPr/>
          <p:nvPr/>
        </p:nvSpPr>
        <p:spPr>
          <a:xfrm>
            <a:off x="566928" y="3429000"/>
            <a:ext cx="11057839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4F6A00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3대 핵심 투자 포인트 (Investment Highlights)</a:t>
            </a:r>
            <a:endParaRPr lang="en-US" sz="1250" dirty="0"/>
          </a:p>
        </p:txBody>
      </p:sp>
      <p:sp>
        <p:nvSpPr>
          <p:cNvPr id="12" name="Shape 10"/>
          <p:cNvSpPr/>
          <p:nvPr/>
        </p:nvSpPr>
        <p:spPr>
          <a:xfrm>
            <a:off x="566928" y="3758184"/>
            <a:ext cx="11057839" cy="585216"/>
          </a:xfrm>
          <a:prstGeom prst="roundRect">
            <a:avLst>
              <a:gd name="adj" fmla="val 7813"/>
            </a:avLst>
          </a:prstGeom>
          <a:solidFill>
            <a:srgbClr val="F8F9FA"/>
          </a:solidFill>
          <a:ln w="7620">
            <a:solidFill>
              <a:srgbClr val="E2E8F0"/>
            </a:solidFill>
            <a:prstDash val="solid"/>
          </a:ln>
        </p:spPr>
      </p:sp>
      <p:sp>
        <p:nvSpPr>
          <p:cNvPr id="13" name="Shape 11"/>
          <p:cNvSpPr/>
          <p:nvPr/>
        </p:nvSpPr>
        <p:spPr>
          <a:xfrm>
            <a:off x="676656" y="3867912"/>
            <a:ext cx="411480" cy="365760"/>
          </a:xfrm>
          <a:prstGeom prst="roundRect">
            <a:avLst>
              <a:gd name="adj" fmla="val 10000"/>
            </a:avLst>
          </a:prstGeom>
          <a:solidFill>
            <a:srgbClr val="E8F5CC"/>
          </a:solidFill>
          <a:ln w="6350">
            <a:solidFill>
              <a:srgbClr val="A3D900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676656" y="3867912"/>
            <a:ext cx="4114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4F6A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01</a:t>
            </a:r>
            <a:endParaRPr lang="en-US" sz="1000" dirty="0"/>
          </a:p>
        </p:txBody>
      </p:sp>
      <p:sp>
        <p:nvSpPr>
          <p:cNvPr id="15" name="Text 13"/>
          <p:cNvSpPr/>
          <p:nvPr/>
        </p:nvSpPr>
        <p:spPr>
          <a:xfrm>
            <a:off x="1207008" y="3831336"/>
            <a:ext cx="10280599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0F172A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입지 가치: 해당 권역 소재 자산으로 중장기 자산 가치 및 안정적 수요 검토</a:t>
            </a:r>
            <a:endParaRPr lang="en-US" sz="1150" dirty="0"/>
          </a:p>
        </p:txBody>
      </p:sp>
      <p:sp>
        <p:nvSpPr>
          <p:cNvPr id="16" name="Shape 14"/>
          <p:cNvSpPr/>
          <p:nvPr/>
        </p:nvSpPr>
        <p:spPr>
          <a:xfrm>
            <a:off x="566928" y="4453128"/>
            <a:ext cx="11057839" cy="585216"/>
          </a:xfrm>
          <a:prstGeom prst="roundRect">
            <a:avLst>
              <a:gd name="adj" fmla="val 7813"/>
            </a:avLst>
          </a:prstGeom>
          <a:solidFill>
            <a:srgbClr val="F8F9FA"/>
          </a:solidFill>
          <a:ln w="7620">
            <a:solidFill>
              <a:srgbClr val="E2E8F0"/>
            </a:solidFill>
            <a:prstDash val="solid"/>
          </a:ln>
        </p:spPr>
      </p:sp>
      <p:sp>
        <p:nvSpPr>
          <p:cNvPr id="17" name="Shape 15"/>
          <p:cNvSpPr/>
          <p:nvPr/>
        </p:nvSpPr>
        <p:spPr>
          <a:xfrm>
            <a:off x="676656" y="4562856"/>
            <a:ext cx="411480" cy="365760"/>
          </a:xfrm>
          <a:prstGeom prst="roundRect">
            <a:avLst>
              <a:gd name="adj" fmla="val 10000"/>
            </a:avLst>
          </a:prstGeom>
          <a:solidFill>
            <a:srgbClr val="E8F5CC"/>
          </a:solidFill>
          <a:ln w="6350">
            <a:solidFill>
              <a:srgbClr val="A3D900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676656" y="4562856"/>
            <a:ext cx="4114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4F6A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02</a:t>
            </a:r>
            <a:endParaRPr lang="en-US" sz="1000" dirty="0"/>
          </a:p>
        </p:txBody>
      </p:sp>
      <p:sp>
        <p:nvSpPr>
          <p:cNvPr id="19" name="Text 17"/>
          <p:cNvSpPr/>
          <p:nvPr/>
        </p:nvSpPr>
        <p:spPr>
          <a:xfrm>
            <a:off x="1207008" y="4526280"/>
            <a:ext cx="10280599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0F172A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임대 구조: 적정가 수준의 가격대 및 현 임대차 기반의 현금흐름 분석</a:t>
            </a:r>
            <a:endParaRPr lang="en-US" sz="1150" dirty="0"/>
          </a:p>
        </p:txBody>
      </p:sp>
      <p:sp>
        <p:nvSpPr>
          <p:cNvPr id="20" name="Shape 18"/>
          <p:cNvSpPr/>
          <p:nvPr/>
        </p:nvSpPr>
        <p:spPr>
          <a:xfrm>
            <a:off x="566928" y="5148072"/>
            <a:ext cx="11057839" cy="585216"/>
          </a:xfrm>
          <a:prstGeom prst="roundRect">
            <a:avLst>
              <a:gd name="adj" fmla="val 7813"/>
            </a:avLst>
          </a:prstGeom>
          <a:solidFill>
            <a:srgbClr val="F8F9FA"/>
          </a:solidFill>
          <a:ln w="7620">
            <a:solidFill>
              <a:srgbClr val="E2E8F0"/>
            </a:solidFill>
            <a:prstDash val="solid"/>
          </a:ln>
        </p:spPr>
      </p:sp>
      <p:sp>
        <p:nvSpPr>
          <p:cNvPr id="21" name="Shape 19"/>
          <p:cNvSpPr/>
          <p:nvPr/>
        </p:nvSpPr>
        <p:spPr>
          <a:xfrm>
            <a:off x="676656" y="5257800"/>
            <a:ext cx="411480" cy="365760"/>
          </a:xfrm>
          <a:prstGeom prst="roundRect">
            <a:avLst>
              <a:gd name="adj" fmla="val 10000"/>
            </a:avLst>
          </a:prstGeom>
          <a:solidFill>
            <a:srgbClr val="E8F5CC"/>
          </a:solidFill>
          <a:ln w="6350">
            <a:solidFill>
              <a:srgbClr val="A3D900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676656" y="5257800"/>
            <a:ext cx="4114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4F6A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03</a:t>
            </a:r>
            <a:endParaRPr lang="en-US" sz="1000" dirty="0"/>
          </a:p>
        </p:txBody>
      </p:sp>
      <p:sp>
        <p:nvSpPr>
          <p:cNvPr id="23" name="Text 21"/>
          <p:cNvSpPr/>
          <p:nvPr/>
        </p:nvSpPr>
        <p:spPr>
          <a:xfrm>
            <a:off x="1207008" y="5221224"/>
            <a:ext cx="10280599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0F172A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실사 점검: 계약서 및 공부 확인을 통한 권리관계·물리적 상태 정밀 진단</a:t>
            </a:r>
            <a:endParaRPr lang="en-US" sz="1150" dirty="0"/>
          </a:p>
        </p:txBody>
      </p:sp>
      <p:sp>
        <p:nvSpPr>
          <p:cNvPr id="24" name="Text 22"/>
          <p:cNvSpPr/>
          <p:nvPr/>
        </p:nvSpPr>
        <p:spPr>
          <a:xfrm rot="-1800000">
            <a:off x="1371600" y="2286000"/>
            <a:ext cx="9144000" cy="2286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600" b="1" dirty="0">
                <a:solidFill>
                  <a:srgbClr val="E8ECF0">
                    <a:alpha val="15000"/>
                  </a:srgbClr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CREDEAL · 0000 · 2026-09-07</a:t>
            </a:r>
            <a:endParaRPr lang="en-US" sz="3600" dirty="0"/>
          </a:p>
        </p:txBody>
      </p:sp>
      <p:sp>
        <p:nvSpPr>
          <p:cNvPr id="25" name="Text 23"/>
          <p:cNvSpPr/>
          <p:nvPr/>
        </p:nvSpPr>
        <p:spPr>
          <a:xfrm>
            <a:off x="566928" y="6419088"/>
            <a:ext cx="11057839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64748B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크리딜  ·  IM-E8BC71  ·  3</a:t>
            </a:r>
            <a:endParaRPr lang="en-US" sz="900" dirty="0"/>
          </a:p>
        </p:txBody>
      </p:sp>
      <p:sp>
        <p:nvSpPr>
          <p:cNvPr id="26" name="Shape 24"/>
          <p:cNvSpPr/>
          <p:nvPr/>
        </p:nvSpPr>
        <p:spPr>
          <a:xfrm>
            <a:off x="4437172" y="6382512"/>
            <a:ext cx="3317352" cy="0"/>
          </a:xfrm>
          <a:prstGeom prst="line">
            <a:avLst/>
          </a:prstGeom>
          <a:noFill/>
          <a:ln w="6350">
            <a:solidFill>
              <a:srgbClr val="6B8E00"/>
            </a:solidFill>
            <a:prstDash val="solid"/>
          </a:ln>
        </p:spPr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66928" y="384048"/>
            <a:ext cx="45720" cy="566928"/>
          </a:xfrm>
          <a:prstGeom prst="rect">
            <a:avLst/>
          </a:prstGeom>
          <a:solidFill>
            <a:srgbClr val="6B8E00"/>
          </a:solidFill>
          <a:ln/>
        </p:spPr>
      </p:sp>
      <p:sp>
        <p:nvSpPr>
          <p:cNvPr id="3" name="Text 1"/>
          <p:cNvSpPr/>
          <p:nvPr/>
        </p:nvSpPr>
        <p:spPr>
          <a:xfrm>
            <a:off x="749808" y="384048"/>
            <a:ext cx="10874959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b="1" spc="200" kern="0" dirty="0">
                <a:solidFill>
                  <a:srgbClr val="6B8E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04  Checklist</a:t>
            </a:r>
            <a:endParaRPr lang="en-US" sz="950" dirty="0"/>
          </a:p>
        </p:txBody>
      </p:sp>
      <p:sp>
        <p:nvSpPr>
          <p:cNvPr id="4" name="Text 2"/>
          <p:cNvSpPr/>
          <p:nvPr/>
        </p:nvSpPr>
        <p:spPr>
          <a:xfrm>
            <a:off x="749808" y="566928"/>
            <a:ext cx="10874959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0F172A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실사 및 확인 필요사항</a:t>
            </a:r>
            <a:endParaRPr lang="en-US" sz="2200" dirty="0"/>
          </a:p>
        </p:txBody>
      </p:sp>
      <p:sp>
        <p:nvSpPr>
          <p:cNvPr id="5" name="Text 3"/>
          <p:cNvSpPr/>
          <p:nvPr/>
        </p:nvSpPr>
        <p:spPr>
          <a:xfrm>
            <a:off x="566928" y="1371600"/>
            <a:ext cx="11057839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0F172A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거래 안정성 확보를 위한 필수 법률·물리·임대차 실사 점검 항목 (총 6건)</a:t>
            </a:r>
            <a:endParaRPr lang="en-US" sz="1100" dirty="0"/>
          </a:p>
        </p:txBody>
      </p:sp>
      <p:sp>
        <p:nvSpPr>
          <p:cNvPr id="6" name="Shape 4"/>
          <p:cNvSpPr/>
          <p:nvPr/>
        </p:nvSpPr>
        <p:spPr>
          <a:xfrm>
            <a:off x="566928" y="1719072"/>
            <a:ext cx="5368900" cy="868680"/>
          </a:xfrm>
          <a:prstGeom prst="rect">
            <a:avLst/>
          </a:prstGeom>
          <a:solidFill>
            <a:srgbClr val="F8FAFC"/>
          </a:solidFill>
          <a:ln w="6350">
            <a:solidFill>
              <a:srgbClr val="A3D900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704088" y="1883664"/>
            <a:ext cx="320040" cy="320040"/>
          </a:xfrm>
          <a:prstGeom prst="rect">
            <a:avLst/>
          </a:prstGeom>
          <a:solidFill>
            <a:srgbClr val="4F6A00"/>
          </a:solidFill>
          <a:ln/>
        </p:spPr>
      </p:sp>
      <p:sp>
        <p:nvSpPr>
          <p:cNvPr id="8" name="Text 6"/>
          <p:cNvSpPr/>
          <p:nvPr/>
        </p:nvSpPr>
        <p:spPr>
          <a:xfrm>
            <a:off x="704088" y="1883664"/>
            <a:ext cx="3200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000000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✓</a:t>
            </a:r>
            <a:endParaRPr lang="en-US" sz="1100" dirty="0"/>
          </a:p>
        </p:txBody>
      </p:sp>
      <p:sp>
        <p:nvSpPr>
          <p:cNvPr id="9" name="Text 7"/>
          <p:cNvSpPr/>
          <p:nvPr/>
        </p:nvSpPr>
        <p:spPr>
          <a:xfrm>
            <a:off x="1115568" y="1828800"/>
            <a:ext cx="468310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050" dirty="0">
                <a:solidFill>
                  <a:srgbClr val="0F172A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등기부등본 갑구/을구 권리관계 및 근저당 채권최고액 전액 말소 조건 원본 대조</a:t>
            </a:r>
            <a:endParaRPr lang="en-US" sz="1050" dirty="0"/>
          </a:p>
        </p:txBody>
      </p:sp>
      <p:sp>
        <p:nvSpPr>
          <p:cNvPr id="10" name="Shape 8"/>
          <p:cNvSpPr/>
          <p:nvPr/>
        </p:nvSpPr>
        <p:spPr>
          <a:xfrm>
            <a:off x="566928" y="2715768"/>
            <a:ext cx="5368900" cy="868680"/>
          </a:xfrm>
          <a:prstGeom prst="rect">
            <a:avLst/>
          </a:prstGeom>
          <a:solidFill>
            <a:srgbClr val="F8FAFC"/>
          </a:solidFill>
          <a:ln w="6350">
            <a:solidFill>
              <a:srgbClr val="A3D900"/>
            </a:solidFill>
            <a:prstDash val="solid"/>
          </a:ln>
        </p:spPr>
      </p:sp>
      <p:sp>
        <p:nvSpPr>
          <p:cNvPr id="11" name="Shape 9"/>
          <p:cNvSpPr/>
          <p:nvPr/>
        </p:nvSpPr>
        <p:spPr>
          <a:xfrm>
            <a:off x="704088" y="2880360"/>
            <a:ext cx="320040" cy="320040"/>
          </a:xfrm>
          <a:prstGeom prst="rect">
            <a:avLst/>
          </a:prstGeom>
          <a:solidFill>
            <a:srgbClr val="4F6A00"/>
          </a:solidFill>
          <a:ln/>
        </p:spPr>
      </p:sp>
      <p:sp>
        <p:nvSpPr>
          <p:cNvPr id="12" name="Text 10"/>
          <p:cNvSpPr/>
          <p:nvPr/>
        </p:nvSpPr>
        <p:spPr>
          <a:xfrm>
            <a:off x="704088" y="2880360"/>
            <a:ext cx="3200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000000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✓</a:t>
            </a:r>
            <a:endParaRPr lang="en-US" sz="1100" dirty="0"/>
          </a:p>
        </p:txBody>
      </p:sp>
      <p:sp>
        <p:nvSpPr>
          <p:cNvPr id="13" name="Text 11"/>
          <p:cNvSpPr/>
          <p:nvPr/>
        </p:nvSpPr>
        <p:spPr>
          <a:xfrm>
            <a:off x="1115568" y="2825496"/>
            <a:ext cx="468310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050" dirty="0">
                <a:solidFill>
                  <a:srgbClr val="0F172A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임대차 원본 계약서 대조 (보증금, 월임대료, 관리비 실입금 내역 및 제소전화해조서)</a:t>
            </a:r>
            <a:endParaRPr lang="en-US" sz="1050" dirty="0"/>
          </a:p>
        </p:txBody>
      </p:sp>
      <p:sp>
        <p:nvSpPr>
          <p:cNvPr id="14" name="Shape 12"/>
          <p:cNvSpPr/>
          <p:nvPr/>
        </p:nvSpPr>
        <p:spPr>
          <a:xfrm>
            <a:off x="566928" y="3712464"/>
            <a:ext cx="5368900" cy="868680"/>
          </a:xfrm>
          <a:prstGeom prst="rect">
            <a:avLst/>
          </a:prstGeom>
          <a:solidFill>
            <a:srgbClr val="F8FAFC"/>
          </a:solidFill>
          <a:ln w="6350">
            <a:solidFill>
              <a:srgbClr val="A3D900"/>
            </a:solidFill>
            <a:prstDash val="solid"/>
          </a:ln>
        </p:spPr>
      </p:sp>
      <p:sp>
        <p:nvSpPr>
          <p:cNvPr id="15" name="Shape 13"/>
          <p:cNvSpPr/>
          <p:nvPr/>
        </p:nvSpPr>
        <p:spPr>
          <a:xfrm>
            <a:off x="704088" y="3877056"/>
            <a:ext cx="320040" cy="320040"/>
          </a:xfrm>
          <a:prstGeom prst="rect">
            <a:avLst/>
          </a:prstGeom>
          <a:solidFill>
            <a:srgbClr val="4F6A00"/>
          </a:solidFill>
          <a:ln/>
        </p:spPr>
      </p:sp>
      <p:sp>
        <p:nvSpPr>
          <p:cNvPr id="16" name="Text 14"/>
          <p:cNvSpPr/>
          <p:nvPr/>
        </p:nvSpPr>
        <p:spPr>
          <a:xfrm>
            <a:off x="704088" y="3877056"/>
            <a:ext cx="3200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000000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✓</a:t>
            </a:r>
            <a:endParaRPr lang="en-US" sz="1100" dirty="0"/>
          </a:p>
        </p:txBody>
      </p:sp>
      <p:sp>
        <p:nvSpPr>
          <p:cNvPr id="17" name="Text 15"/>
          <p:cNvSpPr/>
          <p:nvPr/>
        </p:nvSpPr>
        <p:spPr>
          <a:xfrm>
            <a:off x="1115568" y="3822192"/>
            <a:ext cx="468310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050" dirty="0">
                <a:solidFill>
                  <a:srgbClr val="0F172A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건축물대장상 위반건축물 등재 여부 및 불법 증축·용도변경 이행강제금 납부 이력 점검</a:t>
            </a:r>
            <a:endParaRPr lang="en-US" sz="1050" dirty="0"/>
          </a:p>
        </p:txBody>
      </p:sp>
      <p:sp>
        <p:nvSpPr>
          <p:cNvPr id="18" name="Shape 16"/>
          <p:cNvSpPr/>
          <p:nvPr/>
        </p:nvSpPr>
        <p:spPr>
          <a:xfrm>
            <a:off x="6255868" y="1719072"/>
            <a:ext cx="5368900" cy="868680"/>
          </a:xfrm>
          <a:prstGeom prst="rect">
            <a:avLst/>
          </a:prstGeom>
          <a:solidFill>
            <a:srgbClr val="F8FAFC"/>
          </a:solidFill>
          <a:ln w="6350">
            <a:solidFill>
              <a:srgbClr val="A3D900"/>
            </a:solidFill>
            <a:prstDash val="solid"/>
          </a:ln>
        </p:spPr>
      </p:sp>
      <p:sp>
        <p:nvSpPr>
          <p:cNvPr id="19" name="Shape 17"/>
          <p:cNvSpPr/>
          <p:nvPr/>
        </p:nvSpPr>
        <p:spPr>
          <a:xfrm>
            <a:off x="6393028" y="1883664"/>
            <a:ext cx="320040" cy="320040"/>
          </a:xfrm>
          <a:prstGeom prst="rect">
            <a:avLst/>
          </a:prstGeom>
          <a:solidFill>
            <a:srgbClr val="4F6A00"/>
          </a:solidFill>
          <a:ln/>
        </p:spPr>
      </p:sp>
      <p:sp>
        <p:nvSpPr>
          <p:cNvPr id="20" name="Text 18"/>
          <p:cNvSpPr/>
          <p:nvPr/>
        </p:nvSpPr>
        <p:spPr>
          <a:xfrm>
            <a:off x="6393028" y="1883664"/>
            <a:ext cx="3200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000000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✓</a:t>
            </a:r>
            <a:endParaRPr lang="en-US" sz="1100" dirty="0"/>
          </a:p>
        </p:txBody>
      </p:sp>
      <p:sp>
        <p:nvSpPr>
          <p:cNvPr id="21" name="Text 19"/>
          <p:cNvSpPr/>
          <p:nvPr/>
        </p:nvSpPr>
        <p:spPr>
          <a:xfrm>
            <a:off x="6804508" y="1828800"/>
            <a:ext cx="468310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050" dirty="0">
                <a:solidFill>
                  <a:srgbClr val="0F172A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토지이용계획확인원상 도시계획시설 저촉, 건축선 후퇴, 지구단위계획 특별계획구역 확인</a:t>
            </a:r>
            <a:endParaRPr lang="en-US" sz="1050" dirty="0"/>
          </a:p>
        </p:txBody>
      </p:sp>
      <p:sp>
        <p:nvSpPr>
          <p:cNvPr id="22" name="Shape 20"/>
          <p:cNvSpPr/>
          <p:nvPr/>
        </p:nvSpPr>
        <p:spPr>
          <a:xfrm>
            <a:off x="6255868" y="2715768"/>
            <a:ext cx="5368900" cy="868680"/>
          </a:xfrm>
          <a:prstGeom prst="rect">
            <a:avLst/>
          </a:prstGeom>
          <a:solidFill>
            <a:srgbClr val="F8FAFC"/>
          </a:solidFill>
          <a:ln w="6350">
            <a:solidFill>
              <a:srgbClr val="A3D900"/>
            </a:solidFill>
            <a:prstDash val="solid"/>
          </a:ln>
        </p:spPr>
      </p:sp>
      <p:sp>
        <p:nvSpPr>
          <p:cNvPr id="23" name="Shape 21"/>
          <p:cNvSpPr/>
          <p:nvPr/>
        </p:nvSpPr>
        <p:spPr>
          <a:xfrm>
            <a:off x="6393028" y="2880360"/>
            <a:ext cx="320040" cy="320040"/>
          </a:xfrm>
          <a:prstGeom prst="rect">
            <a:avLst/>
          </a:prstGeom>
          <a:solidFill>
            <a:srgbClr val="4F6A00"/>
          </a:solidFill>
          <a:ln/>
        </p:spPr>
      </p:sp>
      <p:sp>
        <p:nvSpPr>
          <p:cNvPr id="24" name="Text 22"/>
          <p:cNvSpPr/>
          <p:nvPr/>
        </p:nvSpPr>
        <p:spPr>
          <a:xfrm>
            <a:off x="6393028" y="2880360"/>
            <a:ext cx="3200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000000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✓</a:t>
            </a:r>
            <a:endParaRPr lang="en-US" sz="1100" dirty="0"/>
          </a:p>
        </p:txBody>
      </p:sp>
      <p:sp>
        <p:nvSpPr>
          <p:cNvPr id="25" name="Text 23"/>
          <p:cNvSpPr/>
          <p:nvPr/>
        </p:nvSpPr>
        <p:spPr>
          <a:xfrm>
            <a:off x="6804508" y="2825496"/>
            <a:ext cx="468310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050" dirty="0">
                <a:solidFill>
                  <a:srgbClr val="0F172A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기계식 주차기 정기 안전점검 합격증, 승강기 검사필증, 소방 완비증명서 실물 실사</a:t>
            </a:r>
            <a:endParaRPr lang="en-US" sz="1050" dirty="0"/>
          </a:p>
        </p:txBody>
      </p:sp>
      <p:sp>
        <p:nvSpPr>
          <p:cNvPr id="26" name="Shape 24"/>
          <p:cNvSpPr/>
          <p:nvPr/>
        </p:nvSpPr>
        <p:spPr>
          <a:xfrm>
            <a:off x="6255868" y="3712464"/>
            <a:ext cx="5368900" cy="868680"/>
          </a:xfrm>
          <a:prstGeom prst="rect">
            <a:avLst/>
          </a:prstGeom>
          <a:solidFill>
            <a:srgbClr val="F8FAFC"/>
          </a:solidFill>
          <a:ln w="6350">
            <a:solidFill>
              <a:srgbClr val="A3D900"/>
            </a:solidFill>
            <a:prstDash val="solid"/>
          </a:ln>
        </p:spPr>
      </p:sp>
      <p:sp>
        <p:nvSpPr>
          <p:cNvPr id="27" name="Shape 25"/>
          <p:cNvSpPr/>
          <p:nvPr/>
        </p:nvSpPr>
        <p:spPr>
          <a:xfrm>
            <a:off x="6393028" y="3877056"/>
            <a:ext cx="320040" cy="320040"/>
          </a:xfrm>
          <a:prstGeom prst="rect">
            <a:avLst/>
          </a:prstGeom>
          <a:solidFill>
            <a:srgbClr val="4F6A00"/>
          </a:solidFill>
          <a:ln/>
        </p:spPr>
      </p:sp>
      <p:sp>
        <p:nvSpPr>
          <p:cNvPr id="28" name="Text 26"/>
          <p:cNvSpPr/>
          <p:nvPr/>
        </p:nvSpPr>
        <p:spPr>
          <a:xfrm>
            <a:off x="6393028" y="3877056"/>
            <a:ext cx="3200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000000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✓</a:t>
            </a:r>
            <a:endParaRPr lang="en-US" sz="1100" dirty="0"/>
          </a:p>
        </p:txBody>
      </p:sp>
      <p:sp>
        <p:nvSpPr>
          <p:cNvPr id="29" name="Text 27"/>
          <p:cNvSpPr/>
          <p:nvPr/>
        </p:nvSpPr>
        <p:spPr>
          <a:xfrm>
            <a:off x="6804508" y="3822192"/>
            <a:ext cx="468310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050" dirty="0">
                <a:solidFill>
                  <a:srgbClr val="0F172A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정화조 용량 대비 현 업종 적합성 및 하수도 원인자부담금 추가 부과 대상 여부 확인</a:t>
            </a:r>
            <a:endParaRPr lang="en-US" sz="1050" dirty="0"/>
          </a:p>
        </p:txBody>
      </p:sp>
      <p:sp>
        <p:nvSpPr>
          <p:cNvPr id="30" name="Shape 28"/>
          <p:cNvSpPr/>
          <p:nvPr/>
        </p:nvSpPr>
        <p:spPr>
          <a:xfrm>
            <a:off x="566928" y="5760720"/>
            <a:ext cx="11057839" cy="594360"/>
          </a:xfrm>
          <a:prstGeom prst="rect">
            <a:avLst/>
          </a:prstGeom>
          <a:solidFill>
            <a:srgbClr val="A3D900"/>
          </a:solidFill>
          <a:ln/>
        </p:spPr>
      </p:sp>
      <p:sp>
        <p:nvSpPr>
          <p:cNvPr id="31" name="Text 29"/>
          <p:cNvSpPr/>
          <p:nvPr/>
        </p:nvSpPr>
        <p:spPr>
          <a:xfrm>
            <a:off x="749808" y="5833872"/>
            <a:ext cx="10692079" cy="4480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4F6A00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※ 본 체크리스트는 계약 전 매수인의 안전한 자산 인수를 위한 필수 확인 사항이며, 실사(Due Diligence) 결과에 따라 매매 조건 및 잔금 일정이 조정될 수 있습니다.</a:t>
            </a:r>
            <a:endParaRPr lang="en-US" sz="950" dirty="0"/>
          </a:p>
        </p:txBody>
      </p:sp>
      <p:sp>
        <p:nvSpPr>
          <p:cNvPr id="32" name="Text 30"/>
          <p:cNvSpPr/>
          <p:nvPr/>
        </p:nvSpPr>
        <p:spPr>
          <a:xfrm rot="-1800000">
            <a:off x="1371600" y="2286000"/>
            <a:ext cx="9144000" cy="2286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600" b="1" dirty="0">
                <a:solidFill>
                  <a:srgbClr val="E8ECF0">
                    <a:alpha val="15000"/>
                  </a:srgbClr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CREDEAL · 0000 · 2026-09-07</a:t>
            </a:r>
            <a:endParaRPr lang="en-US" sz="3600" dirty="0"/>
          </a:p>
        </p:txBody>
      </p:sp>
      <p:sp>
        <p:nvSpPr>
          <p:cNvPr id="33" name="Text 31"/>
          <p:cNvSpPr/>
          <p:nvPr/>
        </p:nvSpPr>
        <p:spPr>
          <a:xfrm>
            <a:off x="566928" y="6419088"/>
            <a:ext cx="11057839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64748B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크리딜  ·  IM-E8BC71  ·  4</a:t>
            </a:r>
            <a:endParaRPr lang="en-US" sz="900" dirty="0"/>
          </a:p>
        </p:txBody>
      </p:sp>
      <p:sp>
        <p:nvSpPr>
          <p:cNvPr id="34" name="Shape 32"/>
          <p:cNvSpPr/>
          <p:nvPr/>
        </p:nvSpPr>
        <p:spPr>
          <a:xfrm>
            <a:off x="4437172" y="6382512"/>
            <a:ext cx="3317352" cy="0"/>
          </a:xfrm>
          <a:prstGeom prst="line">
            <a:avLst/>
          </a:prstGeom>
          <a:noFill/>
          <a:ln w="6350">
            <a:solidFill>
              <a:srgbClr val="6B8E00"/>
            </a:solidFill>
            <a:prstDash val="solid"/>
          </a:ln>
        </p:spPr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66928" y="384048"/>
            <a:ext cx="45720" cy="566928"/>
          </a:xfrm>
          <a:prstGeom prst="rect">
            <a:avLst/>
          </a:prstGeom>
          <a:solidFill>
            <a:srgbClr val="6B8E00"/>
          </a:solidFill>
          <a:ln/>
        </p:spPr>
      </p:sp>
      <p:sp>
        <p:nvSpPr>
          <p:cNvPr id="3" name="Text 1"/>
          <p:cNvSpPr/>
          <p:nvPr/>
        </p:nvSpPr>
        <p:spPr>
          <a:xfrm>
            <a:off x="749808" y="384048"/>
            <a:ext cx="10874959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b="1" spc="200" kern="0" dirty="0">
                <a:solidFill>
                  <a:srgbClr val="6B8E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05  Process</a:t>
            </a:r>
            <a:endParaRPr lang="en-US" sz="950" dirty="0"/>
          </a:p>
        </p:txBody>
      </p:sp>
      <p:sp>
        <p:nvSpPr>
          <p:cNvPr id="4" name="Text 2"/>
          <p:cNvSpPr/>
          <p:nvPr/>
        </p:nvSpPr>
        <p:spPr>
          <a:xfrm>
            <a:off x="749808" y="566928"/>
            <a:ext cx="10874959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0F172A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검토 후 다음 단계는 무엇인가</a:t>
            </a:r>
            <a:endParaRPr lang="en-US" sz="2200" dirty="0"/>
          </a:p>
        </p:txBody>
      </p:sp>
      <p:sp>
        <p:nvSpPr>
          <p:cNvPr id="5" name="Text 3"/>
          <p:cNvSpPr/>
          <p:nvPr/>
        </p:nvSpPr>
        <p:spPr>
          <a:xfrm rot="-1800000">
            <a:off x="1371600" y="2286000"/>
            <a:ext cx="9144000" cy="2286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600" b="1" dirty="0">
                <a:solidFill>
                  <a:srgbClr val="E8ECF0">
                    <a:alpha val="15000"/>
                  </a:srgbClr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CREDEAL · 0000 · 2026-09-07</a:t>
            </a:r>
            <a:endParaRPr lang="en-US" sz="3600" dirty="0"/>
          </a:p>
        </p:txBody>
      </p:sp>
      <p:sp>
        <p:nvSpPr>
          <p:cNvPr id="6" name="Text 4"/>
          <p:cNvSpPr/>
          <p:nvPr/>
        </p:nvSpPr>
        <p:spPr>
          <a:xfrm>
            <a:off x="566928" y="6419088"/>
            <a:ext cx="11057839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64748B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크리딜  ·  IM-E8BC71  ·  5</a:t>
            </a:r>
            <a:endParaRPr lang="en-US" sz="900" dirty="0"/>
          </a:p>
        </p:txBody>
      </p:sp>
      <p:sp>
        <p:nvSpPr>
          <p:cNvPr id="7" name="Shape 5"/>
          <p:cNvSpPr/>
          <p:nvPr/>
        </p:nvSpPr>
        <p:spPr>
          <a:xfrm>
            <a:off x="4437172" y="6382512"/>
            <a:ext cx="3317352" cy="0"/>
          </a:xfrm>
          <a:prstGeom prst="line">
            <a:avLst/>
          </a:prstGeom>
          <a:noFill/>
          <a:ln w="6350">
            <a:solidFill>
              <a:srgbClr val="6B8E00"/>
            </a:solidFill>
            <a:prstDash val="solid"/>
          </a:ln>
        </p:spPr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0F172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66928" y="384048"/>
            <a:ext cx="45720" cy="566928"/>
          </a:xfrm>
          <a:prstGeom prst="rect">
            <a:avLst/>
          </a:prstGeom>
          <a:solidFill>
            <a:srgbClr val="6B8E00"/>
          </a:solidFill>
          <a:ln/>
        </p:spPr>
      </p:sp>
      <p:sp>
        <p:nvSpPr>
          <p:cNvPr id="3" name="Text 1"/>
          <p:cNvSpPr/>
          <p:nvPr/>
        </p:nvSpPr>
        <p:spPr>
          <a:xfrm>
            <a:off x="749808" y="384048"/>
            <a:ext cx="10874959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b="1" spc="200" kern="0" dirty="0">
                <a:solidFill>
                  <a:srgbClr val="6B8E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06  Closing</a:t>
            </a:r>
            <a:endParaRPr lang="en-US" sz="950" dirty="0"/>
          </a:p>
        </p:txBody>
      </p:sp>
      <p:sp>
        <p:nvSpPr>
          <p:cNvPr id="4" name="Text 2"/>
          <p:cNvSpPr/>
          <p:nvPr/>
        </p:nvSpPr>
        <p:spPr>
          <a:xfrm>
            <a:off x="749808" y="566928"/>
            <a:ext cx="10874959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표기 기준 및 면책</a:t>
            </a:r>
            <a:endParaRPr lang="en-US" sz="2200" dirty="0"/>
          </a:p>
        </p:txBody>
      </p:sp>
      <p:sp>
        <p:nvSpPr>
          <p:cNvPr id="5" name="Shape 3"/>
          <p:cNvSpPr/>
          <p:nvPr/>
        </p:nvSpPr>
        <p:spPr>
          <a:xfrm>
            <a:off x="566928" y="1463040"/>
            <a:ext cx="3588410" cy="658368"/>
          </a:xfrm>
          <a:prstGeom prst="roundRect">
            <a:avLst>
              <a:gd name="adj" fmla="val 5556"/>
            </a:avLst>
          </a:prstGeom>
          <a:solidFill>
            <a:srgbClr val="334155"/>
          </a:solidFill>
          <a:ln/>
        </p:spPr>
      </p:sp>
      <p:sp>
        <p:nvSpPr>
          <p:cNvPr id="6" name="Shape 4"/>
          <p:cNvSpPr/>
          <p:nvPr/>
        </p:nvSpPr>
        <p:spPr>
          <a:xfrm>
            <a:off x="676656" y="1572768"/>
            <a:ext cx="438912" cy="438912"/>
          </a:xfrm>
          <a:prstGeom prst="ellipse">
            <a:avLst/>
          </a:prstGeom>
          <a:solidFill>
            <a:srgbClr val="6B8E00"/>
          </a:solidFill>
          <a:ln/>
        </p:spPr>
      </p:sp>
      <p:sp>
        <p:nvSpPr>
          <p:cNvPr id="7" name="Text 5"/>
          <p:cNvSpPr/>
          <p:nvPr/>
        </p:nvSpPr>
        <p:spPr>
          <a:xfrm>
            <a:off x="676656" y="1572768"/>
            <a:ext cx="438912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01</a:t>
            </a:r>
            <a:endParaRPr lang="en-US" sz="1400" dirty="0"/>
          </a:p>
        </p:txBody>
      </p:sp>
      <p:sp>
        <p:nvSpPr>
          <p:cNvPr id="8" name="Text 6"/>
          <p:cNvSpPr/>
          <p:nvPr/>
        </p:nvSpPr>
        <p:spPr>
          <a:xfrm>
            <a:off x="1225296" y="1554480"/>
            <a:ext cx="2820314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관심 표명</a:t>
            </a:r>
            <a:endParaRPr lang="en-US" sz="1100" dirty="0"/>
          </a:p>
        </p:txBody>
      </p:sp>
      <p:sp>
        <p:nvSpPr>
          <p:cNvPr id="9" name="Text 7"/>
          <p:cNvSpPr/>
          <p:nvPr/>
        </p:nvSpPr>
        <p:spPr>
          <a:xfrm>
            <a:off x="1225296" y="1792224"/>
            <a:ext cx="2820314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00" dirty="0">
                <a:solidFill>
                  <a:srgbClr val="94A3B8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담당 중개사에게 초기 관심 표명 및 상담 요청</a:t>
            </a:r>
            <a:endParaRPr lang="en-US" sz="900" dirty="0"/>
          </a:p>
        </p:txBody>
      </p:sp>
      <p:sp>
        <p:nvSpPr>
          <p:cNvPr id="10" name="Text 8"/>
          <p:cNvSpPr/>
          <p:nvPr/>
        </p:nvSpPr>
        <p:spPr>
          <a:xfrm>
            <a:off x="4155338" y="1600200"/>
            <a:ext cx="146304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dirty="0">
                <a:solidFill>
                  <a:srgbClr val="6B8E00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→</a:t>
            </a:r>
            <a:endParaRPr lang="en-US" sz="1600" dirty="0"/>
          </a:p>
        </p:txBody>
      </p:sp>
      <p:sp>
        <p:nvSpPr>
          <p:cNvPr id="11" name="Shape 9"/>
          <p:cNvSpPr/>
          <p:nvPr/>
        </p:nvSpPr>
        <p:spPr>
          <a:xfrm>
            <a:off x="4301642" y="1463040"/>
            <a:ext cx="3588410" cy="658368"/>
          </a:xfrm>
          <a:prstGeom prst="roundRect">
            <a:avLst>
              <a:gd name="adj" fmla="val 5556"/>
            </a:avLst>
          </a:prstGeom>
          <a:solidFill>
            <a:srgbClr val="334155"/>
          </a:solidFill>
          <a:ln/>
        </p:spPr>
      </p:sp>
      <p:sp>
        <p:nvSpPr>
          <p:cNvPr id="12" name="Shape 10"/>
          <p:cNvSpPr/>
          <p:nvPr/>
        </p:nvSpPr>
        <p:spPr>
          <a:xfrm>
            <a:off x="4411370" y="1572768"/>
            <a:ext cx="438912" cy="438912"/>
          </a:xfrm>
          <a:prstGeom prst="ellipse">
            <a:avLst/>
          </a:prstGeom>
          <a:solidFill>
            <a:srgbClr val="6B8E00"/>
          </a:solidFill>
          <a:ln/>
        </p:spPr>
      </p:sp>
      <p:sp>
        <p:nvSpPr>
          <p:cNvPr id="13" name="Text 11"/>
          <p:cNvSpPr/>
          <p:nvPr/>
        </p:nvSpPr>
        <p:spPr>
          <a:xfrm>
            <a:off x="4411370" y="1572768"/>
            <a:ext cx="438912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02</a:t>
            </a:r>
            <a:endParaRPr lang="en-US" sz="1400" dirty="0"/>
          </a:p>
        </p:txBody>
      </p:sp>
      <p:sp>
        <p:nvSpPr>
          <p:cNvPr id="14" name="Text 12"/>
          <p:cNvSpPr/>
          <p:nvPr/>
        </p:nvSpPr>
        <p:spPr>
          <a:xfrm>
            <a:off x="4960010" y="1554480"/>
            <a:ext cx="2820314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NDA 체결</a:t>
            </a:r>
            <a:endParaRPr lang="en-US" sz="1100" dirty="0"/>
          </a:p>
        </p:txBody>
      </p:sp>
      <p:sp>
        <p:nvSpPr>
          <p:cNvPr id="15" name="Text 13"/>
          <p:cNvSpPr/>
          <p:nvPr/>
        </p:nvSpPr>
        <p:spPr>
          <a:xfrm>
            <a:off x="4960010" y="1792224"/>
            <a:ext cx="2820314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00" dirty="0">
                <a:solidFill>
                  <a:srgbClr val="94A3B8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비밀유지계약 후 상세 임대차·재무 자료 제공</a:t>
            </a:r>
            <a:endParaRPr lang="en-US" sz="900" dirty="0"/>
          </a:p>
        </p:txBody>
      </p:sp>
      <p:sp>
        <p:nvSpPr>
          <p:cNvPr id="16" name="Text 14"/>
          <p:cNvSpPr/>
          <p:nvPr/>
        </p:nvSpPr>
        <p:spPr>
          <a:xfrm>
            <a:off x="7890053" y="1600200"/>
            <a:ext cx="146304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dirty="0">
                <a:solidFill>
                  <a:srgbClr val="6B8E00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→</a:t>
            </a:r>
            <a:endParaRPr lang="en-US" sz="1600" dirty="0"/>
          </a:p>
        </p:txBody>
      </p:sp>
      <p:sp>
        <p:nvSpPr>
          <p:cNvPr id="17" name="Shape 15"/>
          <p:cNvSpPr/>
          <p:nvPr/>
        </p:nvSpPr>
        <p:spPr>
          <a:xfrm>
            <a:off x="8036357" y="1463040"/>
            <a:ext cx="3588410" cy="658368"/>
          </a:xfrm>
          <a:prstGeom prst="roundRect">
            <a:avLst>
              <a:gd name="adj" fmla="val 5556"/>
            </a:avLst>
          </a:prstGeom>
          <a:solidFill>
            <a:srgbClr val="334155"/>
          </a:solidFill>
          <a:ln/>
        </p:spPr>
      </p:sp>
      <p:sp>
        <p:nvSpPr>
          <p:cNvPr id="18" name="Shape 16"/>
          <p:cNvSpPr/>
          <p:nvPr/>
        </p:nvSpPr>
        <p:spPr>
          <a:xfrm>
            <a:off x="8146085" y="1572768"/>
            <a:ext cx="438912" cy="438912"/>
          </a:xfrm>
          <a:prstGeom prst="ellipse">
            <a:avLst/>
          </a:prstGeom>
          <a:solidFill>
            <a:srgbClr val="6B8E00"/>
          </a:solidFill>
          <a:ln/>
        </p:spPr>
      </p:sp>
      <p:sp>
        <p:nvSpPr>
          <p:cNvPr id="19" name="Text 17"/>
          <p:cNvSpPr/>
          <p:nvPr/>
        </p:nvSpPr>
        <p:spPr>
          <a:xfrm>
            <a:off x="8146085" y="1572768"/>
            <a:ext cx="438912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03</a:t>
            </a:r>
            <a:endParaRPr lang="en-US" sz="1400" dirty="0"/>
          </a:p>
        </p:txBody>
      </p:sp>
      <p:sp>
        <p:nvSpPr>
          <p:cNvPr id="20" name="Text 18"/>
          <p:cNvSpPr/>
          <p:nvPr/>
        </p:nvSpPr>
        <p:spPr>
          <a:xfrm>
            <a:off x="8694725" y="1554480"/>
            <a:ext cx="2820314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현장 실사</a:t>
            </a:r>
            <a:endParaRPr lang="en-US" sz="1100" dirty="0"/>
          </a:p>
        </p:txBody>
      </p:sp>
      <p:sp>
        <p:nvSpPr>
          <p:cNvPr id="21" name="Text 19"/>
          <p:cNvSpPr/>
          <p:nvPr/>
        </p:nvSpPr>
        <p:spPr>
          <a:xfrm>
            <a:off x="8694725" y="1792224"/>
            <a:ext cx="2820314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00" dirty="0">
                <a:solidFill>
                  <a:srgbClr val="94A3B8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건물 컨디션 및 설비 직접 확인 후 의향서(LOI) 제출</a:t>
            </a:r>
            <a:endParaRPr lang="en-US" sz="900" dirty="0"/>
          </a:p>
        </p:txBody>
      </p:sp>
      <p:sp>
        <p:nvSpPr>
          <p:cNvPr id="22" name="Text 20"/>
          <p:cNvSpPr/>
          <p:nvPr/>
        </p:nvSpPr>
        <p:spPr>
          <a:xfrm>
            <a:off x="566928" y="2395728"/>
            <a:ext cx="54864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데이터 출처 표기</a:t>
            </a:r>
            <a:endParaRPr lang="en-US" sz="1100" dirty="0"/>
          </a:p>
        </p:txBody>
      </p:sp>
      <p:sp>
        <p:nvSpPr>
          <p:cNvPr id="23" name="Shape 21"/>
          <p:cNvSpPr/>
          <p:nvPr/>
        </p:nvSpPr>
        <p:spPr>
          <a:xfrm>
            <a:off x="566928" y="2724912"/>
            <a:ext cx="1280160" cy="292608"/>
          </a:xfrm>
          <a:prstGeom prst="roundRect">
            <a:avLst>
              <a:gd name="adj" fmla="val 12500"/>
            </a:avLst>
          </a:prstGeom>
          <a:solidFill>
            <a:srgbClr val="334155"/>
          </a:solidFill>
          <a:ln/>
        </p:spPr>
      </p:sp>
      <p:sp>
        <p:nvSpPr>
          <p:cNvPr id="24" name="Text 22"/>
          <p:cNvSpPr/>
          <p:nvPr/>
        </p:nvSpPr>
        <p:spPr>
          <a:xfrm>
            <a:off x="566928" y="2724912"/>
            <a:ext cx="12801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✓ 공부확인</a:t>
            </a:r>
            <a:endParaRPr lang="en-US" sz="900" dirty="0"/>
          </a:p>
        </p:txBody>
      </p:sp>
      <p:sp>
        <p:nvSpPr>
          <p:cNvPr id="25" name="Text 23"/>
          <p:cNvSpPr/>
          <p:nvPr/>
        </p:nvSpPr>
        <p:spPr>
          <a:xfrm>
            <a:off x="1993392" y="2706624"/>
            <a:ext cx="384048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F1F5F9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등기부·대장 등 공적 장부 직접 확인</a:t>
            </a:r>
            <a:endParaRPr lang="en-US" sz="900" dirty="0"/>
          </a:p>
        </p:txBody>
      </p:sp>
      <p:sp>
        <p:nvSpPr>
          <p:cNvPr id="26" name="Shape 24"/>
          <p:cNvSpPr/>
          <p:nvPr/>
        </p:nvSpPr>
        <p:spPr>
          <a:xfrm>
            <a:off x="566928" y="3200400"/>
            <a:ext cx="1280160" cy="292608"/>
          </a:xfrm>
          <a:prstGeom prst="roundRect">
            <a:avLst>
              <a:gd name="adj" fmla="val 12500"/>
            </a:avLst>
          </a:prstGeom>
          <a:solidFill>
            <a:srgbClr val="334155"/>
          </a:solidFill>
          <a:ln/>
        </p:spPr>
      </p:sp>
      <p:sp>
        <p:nvSpPr>
          <p:cNvPr id="27" name="Text 25"/>
          <p:cNvSpPr/>
          <p:nvPr/>
        </p:nvSpPr>
        <p:spPr>
          <a:xfrm>
            <a:off x="566928" y="3200400"/>
            <a:ext cx="12801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★ 전문가검증</a:t>
            </a:r>
            <a:endParaRPr lang="en-US" sz="900" dirty="0"/>
          </a:p>
        </p:txBody>
      </p:sp>
      <p:sp>
        <p:nvSpPr>
          <p:cNvPr id="28" name="Text 26"/>
          <p:cNvSpPr/>
          <p:nvPr/>
        </p:nvSpPr>
        <p:spPr>
          <a:xfrm>
            <a:off x="1993392" y="3182112"/>
            <a:ext cx="384048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F1F5F9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세무사·감정평가사 등 전문가 확인</a:t>
            </a:r>
            <a:endParaRPr lang="en-US" sz="900" dirty="0"/>
          </a:p>
        </p:txBody>
      </p:sp>
      <p:sp>
        <p:nvSpPr>
          <p:cNvPr id="29" name="Shape 27"/>
          <p:cNvSpPr/>
          <p:nvPr/>
        </p:nvSpPr>
        <p:spPr>
          <a:xfrm>
            <a:off x="566928" y="3675888"/>
            <a:ext cx="1280160" cy="292608"/>
          </a:xfrm>
          <a:prstGeom prst="roundRect">
            <a:avLst>
              <a:gd name="adj" fmla="val 12500"/>
            </a:avLst>
          </a:prstGeom>
          <a:solidFill>
            <a:srgbClr val="334155"/>
          </a:solidFill>
          <a:ln/>
        </p:spPr>
      </p:sp>
      <p:sp>
        <p:nvSpPr>
          <p:cNvPr id="30" name="Text 28"/>
          <p:cNvSpPr/>
          <p:nvPr/>
        </p:nvSpPr>
        <p:spPr>
          <a:xfrm>
            <a:off x="566928" y="3675888"/>
            <a:ext cx="12801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▲ 매도인고지</a:t>
            </a:r>
            <a:endParaRPr lang="en-US" sz="900" dirty="0"/>
          </a:p>
        </p:txBody>
      </p:sp>
      <p:sp>
        <p:nvSpPr>
          <p:cNvPr id="31" name="Text 29"/>
          <p:cNvSpPr/>
          <p:nvPr/>
        </p:nvSpPr>
        <p:spPr>
          <a:xfrm>
            <a:off x="1993392" y="3657600"/>
            <a:ext cx="384048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F1F5F9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매도인이 구두 또는 서면으로 고지</a:t>
            </a:r>
            <a:endParaRPr lang="en-US" sz="900" dirty="0"/>
          </a:p>
        </p:txBody>
      </p:sp>
      <p:sp>
        <p:nvSpPr>
          <p:cNvPr id="32" name="Shape 30"/>
          <p:cNvSpPr/>
          <p:nvPr/>
        </p:nvSpPr>
        <p:spPr>
          <a:xfrm>
            <a:off x="566928" y="4151376"/>
            <a:ext cx="1280160" cy="292608"/>
          </a:xfrm>
          <a:prstGeom prst="roundRect">
            <a:avLst>
              <a:gd name="adj" fmla="val 12500"/>
            </a:avLst>
          </a:prstGeom>
          <a:solidFill>
            <a:srgbClr val="334155"/>
          </a:solidFill>
          <a:ln/>
        </p:spPr>
      </p:sp>
      <p:sp>
        <p:nvSpPr>
          <p:cNvPr id="33" name="Text 31"/>
          <p:cNvSpPr/>
          <p:nvPr/>
        </p:nvSpPr>
        <p:spPr>
          <a:xfrm>
            <a:off x="566928" y="4151376"/>
            <a:ext cx="12801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● 중개인입력</a:t>
            </a:r>
            <a:endParaRPr lang="en-US" sz="900" dirty="0"/>
          </a:p>
        </p:txBody>
      </p:sp>
      <p:sp>
        <p:nvSpPr>
          <p:cNvPr id="34" name="Text 32"/>
          <p:cNvSpPr/>
          <p:nvPr/>
        </p:nvSpPr>
        <p:spPr>
          <a:xfrm>
            <a:off x="1993392" y="4133088"/>
            <a:ext cx="384048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F1F5F9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중개인 현장 조사 및 경험 기반 입력</a:t>
            </a:r>
            <a:endParaRPr lang="en-US" sz="900" dirty="0"/>
          </a:p>
        </p:txBody>
      </p:sp>
      <p:sp>
        <p:nvSpPr>
          <p:cNvPr id="35" name="Shape 33"/>
          <p:cNvSpPr/>
          <p:nvPr/>
        </p:nvSpPr>
        <p:spPr>
          <a:xfrm>
            <a:off x="566928" y="4626864"/>
            <a:ext cx="1280160" cy="292608"/>
          </a:xfrm>
          <a:prstGeom prst="roundRect">
            <a:avLst>
              <a:gd name="adj" fmla="val 12500"/>
            </a:avLst>
          </a:prstGeom>
          <a:solidFill>
            <a:srgbClr val="334155"/>
          </a:solidFill>
          <a:ln/>
        </p:spPr>
      </p:sp>
      <p:sp>
        <p:nvSpPr>
          <p:cNvPr id="36" name="Text 34"/>
          <p:cNvSpPr/>
          <p:nvPr/>
        </p:nvSpPr>
        <p:spPr>
          <a:xfrm>
            <a:off x="566928" y="4626864"/>
            <a:ext cx="12801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◇ AI추정·가정</a:t>
            </a:r>
            <a:endParaRPr lang="en-US" sz="900" dirty="0"/>
          </a:p>
        </p:txBody>
      </p:sp>
      <p:sp>
        <p:nvSpPr>
          <p:cNvPr id="37" name="Text 35"/>
          <p:cNvSpPr/>
          <p:nvPr/>
        </p:nvSpPr>
        <p:spPr>
          <a:xfrm>
            <a:off x="1993392" y="4608576"/>
            <a:ext cx="384048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F1F5F9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시나리오 분석 및 AI 모델 추정</a:t>
            </a:r>
            <a:endParaRPr lang="en-US" sz="900" dirty="0"/>
          </a:p>
        </p:txBody>
      </p:sp>
      <p:sp>
        <p:nvSpPr>
          <p:cNvPr id="38" name="Text 36"/>
          <p:cNvSpPr/>
          <p:nvPr/>
        </p:nvSpPr>
        <p:spPr>
          <a:xfrm>
            <a:off x="6492240" y="2395728"/>
            <a:ext cx="5129784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면책 조항</a:t>
            </a:r>
            <a:endParaRPr lang="en-US" sz="1100" dirty="0"/>
          </a:p>
        </p:txBody>
      </p:sp>
      <p:sp>
        <p:nvSpPr>
          <p:cNvPr id="39" name="Shape 37"/>
          <p:cNvSpPr/>
          <p:nvPr/>
        </p:nvSpPr>
        <p:spPr>
          <a:xfrm>
            <a:off x="6492240" y="2724912"/>
            <a:ext cx="5129784" cy="1645920"/>
          </a:xfrm>
          <a:prstGeom prst="roundRect">
            <a:avLst>
              <a:gd name="adj" fmla="val 2222"/>
            </a:avLst>
          </a:prstGeom>
          <a:solidFill>
            <a:srgbClr val="1E293B"/>
          </a:solidFill>
          <a:ln/>
        </p:spPr>
      </p:sp>
      <p:sp>
        <p:nvSpPr>
          <p:cNvPr id="40" name="Text 38"/>
          <p:cNvSpPr/>
          <p:nvPr/>
        </p:nvSpPr>
        <p:spPr>
          <a:xfrm>
            <a:off x="6675120" y="2834640"/>
            <a:ext cx="4764024" cy="142646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28000"/>
              </a:lnSpc>
              <a:buNone/>
            </a:pPr>
            <a:r>
              <a:rPr lang="en-US" sz="900" dirty="0">
                <a:solidFill>
                  <a:srgbClr val="94A3B8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본 자료는 투자 권유가 아니며, 기재된 정보의 정확성을 보증하지 않습니다.</a:t>
            </a:r>
            <a:endParaRPr lang="en-US" sz="900" dirty="0"/>
          </a:p>
        </p:txBody>
      </p:sp>
      <p:sp>
        <p:nvSpPr>
          <p:cNvPr id="41" name="Shape 39"/>
          <p:cNvSpPr/>
          <p:nvPr/>
        </p:nvSpPr>
        <p:spPr>
          <a:xfrm>
            <a:off x="566928" y="5760720"/>
            <a:ext cx="11057839" cy="457200"/>
          </a:xfrm>
          <a:prstGeom prst="rect">
            <a:avLst/>
          </a:prstGeom>
          <a:solidFill>
            <a:srgbClr val="4F6A00"/>
          </a:solidFill>
          <a:ln/>
        </p:spPr>
      </p:sp>
      <p:sp>
        <p:nvSpPr>
          <p:cNvPr id="42" name="Text 40"/>
          <p:cNvSpPr/>
          <p:nvPr/>
        </p:nvSpPr>
        <p:spPr>
          <a:xfrm>
            <a:off x="749808" y="5806440"/>
            <a:ext cx="10692079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E8F5CC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IM-E8BC71</a:t>
            </a:r>
            <a:endParaRPr lang="en-US" sz="900" dirty="0"/>
          </a:p>
        </p:txBody>
      </p:sp>
      <p:sp>
        <p:nvSpPr>
          <p:cNvPr id="43" name="Text 41"/>
          <p:cNvSpPr/>
          <p:nvPr/>
        </p:nvSpPr>
        <p:spPr>
          <a:xfrm rot="-1800000">
            <a:off x="1371600" y="2286000"/>
            <a:ext cx="9144000" cy="2286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600" b="1" dirty="0">
                <a:solidFill>
                  <a:srgbClr val="1A2636">
                    <a:alpha val="15000"/>
                  </a:srgbClr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CREDEAL · 0000 · 2026-09-07</a:t>
            </a:r>
            <a:endParaRPr lang="en-US" sz="3600" dirty="0"/>
          </a:p>
        </p:txBody>
      </p:sp>
      <p:sp>
        <p:nvSpPr>
          <p:cNvPr id="44" name="Text 42"/>
          <p:cNvSpPr/>
          <p:nvPr/>
        </p:nvSpPr>
        <p:spPr>
          <a:xfrm>
            <a:off x="566928" y="6419088"/>
            <a:ext cx="11057839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64748B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크리딜  ·  IM-E8BC71  ·  6</a:t>
            </a:r>
            <a:endParaRPr lang="en-US" sz="900" dirty="0"/>
          </a:p>
        </p:txBody>
      </p:sp>
      <p:sp>
        <p:nvSpPr>
          <p:cNvPr id="45" name="Shape 43"/>
          <p:cNvSpPr/>
          <p:nvPr/>
        </p:nvSpPr>
        <p:spPr>
          <a:xfrm>
            <a:off x="4437172" y="6382512"/>
            <a:ext cx="3317352" cy="0"/>
          </a:xfrm>
          <a:prstGeom prst="line">
            <a:avLst/>
          </a:prstGeom>
          <a:noFill/>
          <a:ln w="6350">
            <a:solidFill>
              <a:srgbClr val="6B8E00"/>
            </a:solidFill>
            <a:prstDash val="solid"/>
          </a:ln>
        </p:spPr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66928" y="384048"/>
            <a:ext cx="45720" cy="566928"/>
          </a:xfrm>
          <a:prstGeom prst="rect">
            <a:avLst/>
          </a:prstGeom>
          <a:solidFill>
            <a:srgbClr val="6B8E00"/>
          </a:solidFill>
          <a:ln/>
        </p:spPr>
      </p:sp>
      <p:sp>
        <p:nvSpPr>
          <p:cNvPr id="3" name="Text 1"/>
          <p:cNvSpPr/>
          <p:nvPr/>
        </p:nvSpPr>
        <p:spPr>
          <a:xfrm>
            <a:off x="749808" y="384048"/>
            <a:ext cx="10874959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b="1" spc="200" kern="0" dirty="0">
                <a:solidFill>
                  <a:srgbClr val="6B8E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07  Records</a:t>
            </a:r>
            <a:endParaRPr lang="en-US" sz="950" dirty="0"/>
          </a:p>
        </p:txBody>
      </p:sp>
      <p:sp>
        <p:nvSpPr>
          <p:cNvPr id="4" name="Text 2"/>
          <p:cNvSpPr/>
          <p:nvPr/>
        </p:nvSpPr>
        <p:spPr>
          <a:xfrm>
            <a:off x="749808" y="566928"/>
            <a:ext cx="10874959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0F172A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공부 발췌</a:t>
            </a:r>
            <a:endParaRPr lang="en-US" sz="2200" dirty="0"/>
          </a:p>
        </p:txBody>
      </p:sp>
      <p:sp>
        <p:nvSpPr>
          <p:cNvPr id="5" name="Text 3"/>
          <p:cNvSpPr/>
          <p:nvPr/>
        </p:nvSpPr>
        <p:spPr>
          <a:xfrm>
            <a:off x="566928" y="1371600"/>
            <a:ext cx="68580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0F172A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건축물대장 표제부</a:t>
            </a:r>
            <a:endParaRPr lang="en-US" sz="1100" dirty="0"/>
          </a:p>
        </p:txBody>
      </p:sp>
      <p:sp>
        <p:nvSpPr>
          <p:cNvPr id="6" name="Text 4"/>
          <p:cNvSpPr/>
          <p:nvPr/>
        </p:nvSpPr>
        <p:spPr>
          <a:xfrm>
            <a:off x="566928" y="1645920"/>
            <a:ext cx="260604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350" dirty="0">
                <a:solidFill>
                  <a:srgbClr val="64748B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건물명</a:t>
            </a:r>
            <a:endParaRPr lang="en-US" sz="1350" dirty="0"/>
          </a:p>
        </p:txBody>
      </p:sp>
      <p:sp>
        <p:nvSpPr>
          <p:cNvPr id="7" name="Text 5"/>
          <p:cNvSpPr/>
          <p:nvPr/>
        </p:nvSpPr>
        <p:spPr>
          <a:xfrm>
            <a:off x="3172968" y="1645920"/>
            <a:ext cx="425196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350" b="1" dirty="0">
                <a:solidFill>
                  <a:srgbClr val="0F172A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역삼현대벤쳐텔</a:t>
            </a:r>
            <a:endParaRPr lang="en-US" sz="1350" dirty="0"/>
          </a:p>
        </p:txBody>
      </p:sp>
      <p:sp>
        <p:nvSpPr>
          <p:cNvPr id="8" name="Shape 6"/>
          <p:cNvSpPr/>
          <p:nvPr/>
        </p:nvSpPr>
        <p:spPr>
          <a:xfrm>
            <a:off x="566928" y="2084832"/>
            <a:ext cx="6858000" cy="0"/>
          </a:xfrm>
          <a:prstGeom prst="line">
            <a:avLst/>
          </a:prstGeom>
          <a:noFill/>
          <a:ln w="3810">
            <a:solidFill>
              <a:srgbClr val="CBD5E1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566928" y="2084832"/>
            <a:ext cx="260604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350" dirty="0">
                <a:solidFill>
                  <a:srgbClr val="64748B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주용도</a:t>
            </a:r>
            <a:endParaRPr lang="en-US" sz="1350" dirty="0"/>
          </a:p>
        </p:txBody>
      </p:sp>
      <p:sp>
        <p:nvSpPr>
          <p:cNvPr id="10" name="Text 8"/>
          <p:cNvSpPr/>
          <p:nvPr/>
        </p:nvSpPr>
        <p:spPr>
          <a:xfrm>
            <a:off x="3172968" y="2084832"/>
            <a:ext cx="425196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350" b="1" dirty="0">
                <a:solidFill>
                  <a:srgbClr val="0F172A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업무시설</a:t>
            </a:r>
            <a:endParaRPr lang="en-US" sz="1350" dirty="0"/>
          </a:p>
        </p:txBody>
      </p:sp>
      <p:sp>
        <p:nvSpPr>
          <p:cNvPr id="11" name="Shape 9"/>
          <p:cNvSpPr/>
          <p:nvPr/>
        </p:nvSpPr>
        <p:spPr>
          <a:xfrm>
            <a:off x="566928" y="2523744"/>
            <a:ext cx="6858000" cy="0"/>
          </a:xfrm>
          <a:prstGeom prst="line">
            <a:avLst/>
          </a:prstGeom>
          <a:noFill/>
          <a:ln w="3810">
            <a:solidFill>
              <a:srgbClr val="CBD5E1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566928" y="2523744"/>
            <a:ext cx="260604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350" dirty="0">
                <a:solidFill>
                  <a:srgbClr val="64748B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구조</a:t>
            </a:r>
            <a:endParaRPr lang="en-US" sz="1350" dirty="0"/>
          </a:p>
        </p:txBody>
      </p:sp>
      <p:sp>
        <p:nvSpPr>
          <p:cNvPr id="13" name="Text 11"/>
          <p:cNvSpPr/>
          <p:nvPr/>
        </p:nvSpPr>
        <p:spPr>
          <a:xfrm>
            <a:off x="3172968" y="2523744"/>
            <a:ext cx="425196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350" b="1" dirty="0">
                <a:solidFill>
                  <a:srgbClr val="0F172A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철근콘크리트구조</a:t>
            </a:r>
            <a:endParaRPr lang="en-US" sz="1350" dirty="0"/>
          </a:p>
        </p:txBody>
      </p:sp>
      <p:sp>
        <p:nvSpPr>
          <p:cNvPr id="14" name="Shape 12"/>
          <p:cNvSpPr/>
          <p:nvPr/>
        </p:nvSpPr>
        <p:spPr>
          <a:xfrm>
            <a:off x="566928" y="2962656"/>
            <a:ext cx="6858000" cy="0"/>
          </a:xfrm>
          <a:prstGeom prst="line">
            <a:avLst/>
          </a:prstGeom>
          <a:noFill/>
          <a:ln w="3810">
            <a:solidFill>
              <a:srgbClr val="CBD5E1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566928" y="2962656"/>
            <a:ext cx="260604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350" dirty="0">
                <a:solidFill>
                  <a:srgbClr val="64748B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연면적</a:t>
            </a:r>
            <a:endParaRPr lang="en-US" sz="1350" dirty="0"/>
          </a:p>
        </p:txBody>
      </p:sp>
      <p:sp>
        <p:nvSpPr>
          <p:cNvPr id="16" name="Text 14"/>
          <p:cNvSpPr/>
          <p:nvPr/>
        </p:nvSpPr>
        <p:spPr>
          <a:xfrm>
            <a:off x="3172968" y="2962656"/>
            <a:ext cx="425196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350" b="1" dirty="0">
                <a:solidFill>
                  <a:srgbClr val="0F172A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31,972.202㎡ (9671.6평)</a:t>
            </a:r>
            <a:endParaRPr lang="en-US" sz="1350" dirty="0"/>
          </a:p>
        </p:txBody>
      </p:sp>
      <p:sp>
        <p:nvSpPr>
          <p:cNvPr id="17" name="Shape 15"/>
          <p:cNvSpPr/>
          <p:nvPr/>
        </p:nvSpPr>
        <p:spPr>
          <a:xfrm>
            <a:off x="7604608" y="1371600"/>
            <a:ext cx="0" cy="4754880"/>
          </a:xfrm>
          <a:prstGeom prst="line">
            <a:avLst/>
          </a:prstGeom>
          <a:noFill/>
          <a:ln w="8890">
            <a:solidFill>
              <a:srgbClr val="6B8E00"/>
            </a:solidFill>
            <a:prstDash val="solid"/>
          </a:ln>
        </p:spPr>
      </p:sp>
      <p:sp>
        <p:nvSpPr>
          <p:cNvPr id="18" name="Shape 16"/>
          <p:cNvSpPr/>
          <p:nvPr/>
        </p:nvSpPr>
        <p:spPr>
          <a:xfrm>
            <a:off x="7784287" y="1645920"/>
            <a:ext cx="3840480" cy="2103120"/>
          </a:xfrm>
          <a:prstGeom prst="roundRect">
            <a:avLst>
              <a:gd name="adj" fmla="val 2609"/>
            </a:avLst>
          </a:prstGeom>
          <a:solidFill>
            <a:srgbClr val="DBEAFE"/>
          </a:solidFill>
          <a:ln/>
        </p:spPr>
      </p:sp>
      <p:sp>
        <p:nvSpPr>
          <p:cNvPr id="19" name="Shape 17"/>
          <p:cNvSpPr/>
          <p:nvPr/>
        </p:nvSpPr>
        <p:spPr>
          <a:xfrm>
            <a:off x="7784287" y="1700784"/>
            <a:ext cx="36576" cy="1993392"/>
          </a:xfrm>
          <a:prstGeom prst="rect">
            <a:avLst/>
          </a:prstGeom>
          <a:solidFill>
            <a:srgbClr val="1D4ED8"/>
          </a:solidFill>
          <a:ln/>
        </p:spPr>
      </p:sp>
      <p:sp>
        <p:nvSpPr>
          <p:cNvPr id="20" name="Text 18"/>
          <p:cNvSpPr/>
          <p:nvPr/>
        </p:nvSpPr>
        <p:spPr>
          <a:xfrm>
            <a:off x="7967167" y="1755648"/>
            <a:ext cx="3511296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1D4ED8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입지 및 권리관계 실사 포인트</a:t>
            </a:r>
            <a:endParaRPr lang="en-US" sz="1050" dirty="0"/>
          </a:p>
        </p:txBody>
      </p:sp>
      <p:sp>
        <p:nvSpPr>
          <p:cNvPr id="21" name="Text 19"/>
          <p:cNvSpPr/>
          <p:nvPr/>
        </p:nvSpPr>
        <p:spPr>
          <a:xfrm>
            <a:off x="7967167" y="1975104"/>
            <a:ext cx="3511296" cy="170078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lnSpc>
                <a:spcPct val="120000"/>
              </a:lnSpc>
              <a:buSzPct val="100000"/>
              <a:buChar char="•"/>
            </a:pPr>
            <a:r>
              <a:rPr lang="en-US" sz="930" dirty="0">
                <a:solidFill>
                  <a:srgbClr val="0F172A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물건 접면 도로 폭 및 진출입 여건은 현장 실사 확인 사항입니다</a:t>
            </a:r>
            <a:endParaRPr lang="en-US" sz="930" dirty="0"/>
          </a:p>
          <a:p>
            <a:pPr marL="342900" indent="-342900">
              <a:lnSpc>
                <a:spcPct val="120000"/>
              </a:lnSpc>
              <a:buSzPct val="100000"/>
              <a:buChar char="•"/>
            </a:pPr>
            <a:r>
              <a:rPr lang="en-US" sz="930" dirty="0">
                <a:solidFill>
                  <a:srgbClr val="0F172A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등기부등본상 권리관계 및 제한물권 설정 여부를 확인하였습니다</a:t>
            </a:r>
            <a:endParaRPr lang="en-US" sz="930" dirty="0"/>
          </a:p>
          <a:p>
            <a:pPr marL="342900" indent="-342900">
              <a:lnSpc>
                <a:spcPct val="120000"/>
              </a:lnSpc>
              <a:buSzPct val="100000"/>
              <a:buChar char="•"/>
            </a:pPr>
            <a:r>
              <a:rPr lang="en-US" sz="930" dirty="0">
                <a:solidFill>
                  <a:srgbClr val="0F172A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지구단위계획 및 토지이용계획상 허용 용도를 검토하였습니다</a:t>
            </a:r>
            <a:endParaRPr lang="en-US" sz="930" dirty="0"/>
          </a:p>
        </p:txBody>
      </p:sp>
      <p:sp>
        <p:nvSpPr>
          <p:cNvPr id="22" name="Shape 20"/>
          <p:cNvSpPr/>
          <p:nvPr/>
        </p:nvSpPr>
        <p:spPr>
          <a:xfrm>
            <a:off x="7784287" y="3977640"/>
            <a:ext cx="3840480" cy="2148840"/>
          </a:xfrm>
          <a:prstGeom prst="roundRect">
            <a:avLst>
              <a:gd name="adj" fmla="val 2553"/>
            </a:avLst>
          </a:prstGeom>
          <a:solidFill>
            <a:srgbClr val="DBEAFE"/>
          </a:solidFill>
          <a:ln/>
        </p:spPr>
      </p:sp>
      <p:sp>
        <p:nvSpPr>
          <p:cNvPr id="23" name="Shape 21"/>
          <p:cNvSpPr/>
          <p:nvPr/>
        </p:nvSpPr>
        <p:spPr>
          <a:xfrm>
            <a:off x="7784287" y="4032504"/>
            <a:ext cx="36576" cy="2039112"/>
          </a:xfrm>
          <a:prstGeom prst="rect">
            <a:avLst/>
          </a:prstGeom>
          <a:solidFill>
            <a:srgbClr val="1D4ED8"/>
          </a:solidFill>
          <a:ln/>
        </p:spPr>
      </p:sp>
      <p:sp>
        <p:nvSpPr>
          <p:cNvPr id="24" name="Text 22"/>
          <p:cNvSpPr/>
          <p:nvPr/>
        </p:nvSpPr>
        <p:spPr>
          <a:xfrm>
            <a:off x="7967167" y="4087368"/>
            <a:ext cx="3511296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1D4ED8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임대차 및 운용 관리 상태</a:t>
            </a:r>
            <a:endParaRPr lang="en-US" sz="1050" dirty="0"/>
          </a:p>
        </p:txBody>
      </p:sp>
      <p:sp>
        <p:nvSpPr>
          <p:cNvPr id="25" name="Text 23"/>
          <p:cNvSpPr/>
          <p:nvPr/>
        </p:nvSpPr>
        <p:spPr>
          <a:xfrm>
            <a:off x="7967167" y="4306824"/>
            <a:ext cx="3511296" cy="174650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lnSpc>
                <a:spcPct val="120000"/>
              </a:lnSpc>
              <a:buSzPct val="100000"/>
              <a:buChar char="•"/>
            </a:pPr>
            <a:r>
              <a:rPr lang="en-US" sz="930" dirty="0">
                <a:solidFill>
                  <a:srgbClr val="0F172A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주요 임차인별 계약 만기 분산 및 렌트롤 실사가 필요합니다</a:t>
            </a:r>
            <a:endParaRPr lang="en-US" sz="930" dirty="0"/>
          </a:p>
          <a:p>
            <a:pPr marL="342900" indent="-342900">
              <a:lnSpc>
                <a:spcPct val="120000"/>
              </a:lnSpc>
              <a:buSzPct val="100000"/>
              <a:buChar char="•"/>
            </a:pPr>
            <a:r>
              <a:rPr lang="en-US" sz="930" dirty="0">
                <a:solidFill>
                  <a:srgbClr val="0F172A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관리비 정산 내역 및 수선유지비 집행 이력을 점검하였습니다</a:t>
            </a:r>
            <a:endParaRPr lang="en-US" sz="930" dirty="0"/>
          </a:p>
          <a:p>
            <a:pPr marL="342900" indent="-342900">
              <a:lnSpc>
                <a:spcPct val="120000"/>
              </a:lnSpc>
              <a:buSzPct val="100000"/>
              <a:buChar char="•"/>
            </a:pPr>
            <a:r>
              <a:rPr lang="en-US" sz="930" dirty="0">
                <a:solidFill>
                  <a:srgbClr val="0F172A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취득세 감면 및 대출 조달 구조는 금융·세무 자문 후 확정됩니다</a:t>
            </a:r>
            <a:endParaRPr lang="en-US" sz="930" dirty="0"/>
          </a:p>
        </p:txBody>
      </p:sp>
      <p:sp>
        <p:nvSpPr>
          <p:cNvPr id="26" name="Text 24"/>
          <p:cNvSpPr/>
          <p:nvPr/>
        </p:nvSpPr>
        <p:spPr>
          <a:xfrm rot="-1800000">
            <a:off x="1371600" y="2286000"/>
            <a:ext cx="9144000" cy="2286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600" b="1" dirty="0">
                <a:solidFill>
                  <a:srgbClr val="E8ECF0">
                    <a:alpha val="15000"/>
                  </a:srgbClr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CREDEAL · 0000 · 2026-09-07</a:t>
            </a:r>
            <a:endParaRPr lang="en-US" sz="3600" dirty="0"/>
          </a:p>
        </p:txBody>
      </p:sp>
      <p:sp>
        <p:nvSpPr>
          <p:cNvPr id="27" name="Text 25"/>
          <p:cNvSpPr/>
          <p:nvPr/>
        </p:nvSpPr>
        <p:spPr>
          <a:xfrm>
            <a:off x="566928" y="6419088"/>
            <a:ext cx="11057839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64748B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크리딜  ·  IM-E8BC71  ·  7</a:t>
            </a:r>
            <a:endParaRPr lang="en-US" sz="900" dirty="0"/>
          </a:p>
        </p:txBody>
      </p:sp>
      <p:sp>
        <p:nvSpPr>
          <p:cNvPr id="28" name="Shape 26"/>
          <p:cNvSpPr/>
          <p:nvPr/>
        </p:nvSpPr>
        <p:spPr>
          <a:xfrm>
            <a:off x="4437172" y="6382512"/>
            <a:ext cx="3317352" cy="0"/>
          </a:xfrm>
          <a:prstGeom prst="line">
            <a:avLst/>
          </a:prstGeom>
          <a:noFill/>
          <a:ln w="6350">
            <a:solidFill>
              <a:srgbClr val="6B8E00"/>
            </a:solidFill>
            <a:prstDash val="solid"/>
          </a:ln>
        </p:spPr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66928" y="384048"/>
            <a:ext cx="45720" cy="566928"/>
          </a:xfrm>
          <a:prstGeom prst="rect">
            <a:avLst/>
          </a:prstGeom>
          <a:solidFill>
            <a:srgbClr val="6B8E00"/>
          </a:solidFill>
          <a:ln/>
        </p:spPr>
      </p:sp>
      <p:sp>
        <p:nvSpPr>
          <p:cNvPr id="3" name="Text 1"/>
          <p:cNvSpPr/>
          <p:nvPr/>
        </p:nvSpPr>
        <p:spPr>
          <a:xfrm>
            <a:off x="749808" y="384048"/>
            <a:ext cx="10874959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b="1" spc="200" kern="0" dirty="0">
                <a:solidFill>
                  <a:srgbClr val="6B8E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08  Title</a:t>
            </a:r>
            <a:endParaRPr lang="en-US" sz="950" dirty="0"/>
          </a:p>
        </p:txBody>
      </p:sp>
      <p:sp>
        <p:nvSpPr>
          <p:cNvPr id="4" name="Text 2"/>
          <p:cNvSpPr/>
          <p:nvPr/>
        </p:nvSpPr>
        <p:spPr>
          <a:xfrm>
            <a:off x="749808" y="566928"/>
            <a:ext cx="10874959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0F172A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권리관계</a:t>
            </a:r>
            <a:endParaRPr lang="en-US" sz="2200" dirty="0"/>
          </a:p>
        </p:txBody>
      </p:sp>
      <p:sp>
        <p:nvSpPr>
          <p:cNvPr id="5" name="Text 3"/>
          <p:cNvSpPr/>
          <p:nvPr/>
        </p:nvSpPr>
        <p:spPr>
          <a:xfrm>
            <a:off x="566928" y="1371600"/>
            <a:ext cx="68580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0F172A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등기부등본 요약</a:t>
            </a:r>
            <a:endParaRPr lang="en-US" sz="1100" dirty="0"/>
          </a:p>
        </p:txBody>
      </p:sp>
      <p:sp>
        <p:nvSpPr>
          <p:cNvPr id="6" name="Shape 4"/>
          <p:cNvSpPr/>
          <p:nvPr/>
        </p:nvSpPr>
        <p:spPr>
          <a:xfrm>
            <a:off x="566928" y="1645920"/>
            <a:ext cx="6858000" cy="1828800"/>
          </a:xfrm>
          <a:prstGeom prst="roundRect">
            <a:avLst>
              <a:gd name="adj" fmla="val 3000"/>
            </a:avLst>
          </a:prstGeom>
          <a:solidFill>
            <a:srgbClr val="DBEAFE"/>
          </a:solidFill>
          <a:ln/>
        </p:spPr>
      </p:sp>
      <p:sp>
        <p:nvSpPr>
          <p:cNvPr id="7" name="Shape 5"/>
          <p:cNvSpPr/>
          <p:nvPr/>
        </p:nvSpPr>
        <p:spPr>
          <a:xfrm>
            <a:off x="566928" y="1700784"/>
            <a:ext cx="36576" cy="1719072"/>
          </a:xfrm>
          <a:prstGeom prst="rect">
            <a:avLst/>
          </a:prstGeom>
          <a:solidFill>
            <a:srgbClr val="1D4ED8"/>
          </a:solidFill>
          <a:ln/>
        </p:spPr>
      </p:sp>
      <p:sp>
        <p:nvSpPr>
          <p:cNvPr id="8" name="Text 6"/>
          <p:cNvSpPr/>
          <p:nvPr/>
        </p:nvSpPr>
        <p:spPr>
          <a:xfrm>
            <a:off x="749808" y="1755648"/>
            <a:ext cx="6528816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1D4ED8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건축물 물리 스펙 요약</a:t>
            </a:r>
            <a:endParaRPr lang="en-US" sz="1050" dirty="0"/>
          </a:p>
        </p:txBody>
      </p:sp>
      <p:sp>
        <p:nvSpPr>
          <p:cNvPr id="9" name="Text 7"/>
          <p:cNvSpPr/>
          <p:nvPr/>
        </p:nvSpPr>
        <p:spPr>
          <a:xfrm>
            <a:off x="749808" y="1975104"/>
            <a:ext cx="6528816" cy="142646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lnSpc>
                <a:spcPct val="120000"/>
              </a:lnSpc>
              <a:buSzPct val="100000"/>
              <a:buChar char="•"/>
            </a:pPr>
            <a:r>
              <a:rPr lang="en-US" sz="930" dirty="0">
                <a:solidFill>
                  <a:srgbClr val="0F172A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상세 건물 제원은 실사 자료를 참조하시기 바랍니다</a:t>
            </a:r>
            <a:endParaRPr lang="en-US" sz="930" dirty="0"/>
          </a:p>
          <a:p>
            <a:pPr marL="342900" indent="-342900">
              <a:lnSpc>
                <a:spcPct val="120000"/>
              </a:lnSpc>
              <a:buSzPct val="100000"/>
              <a:buChar char="•"/>
            </a:pPr>
            <a:r>
              <a:rPr lang="en-US" sz="930" dirty="0">
                <a:solidFill>
                  <a:srgbClr val="0F172A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건물 현황 및 규모는 첨부 대장을 기준으로 합니다</a:t>
            </a:r>
            <a:endParaRPr lang="en-US" sz="930" dirty="0"/>
          </a:p>
          <a:p>
            <a:pPr marL="342900" indent="-342900">
              <a:lnSpc>
                <a:spcPct val="120000"/>
              </a:lnSpc>
              <a:buSzPct val="100000"/>
              <a:buChar char="•"/>
            </a:pPr>
            <a:r>
              <a:rPr lang="en-US" sz="930" dirty="0">
                <a:solidFill>
                  <a:srgbClr val="0F172A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건물 상태 및 설비 현황은 실사 보고서를 참조하십시오</a:t>
            </a:r>
            <a:endParaRPr lang="en-US" sz="930" dirty="0"/>
          </a:p>
        </p:txBody>
      </p:sp>
      <p:sp>
        <p:nvSpPr>
          <p:cNvPr id="10" name="Shape 8"/>
          <p:cNvSpPr/>
          <p:nvPr/>
        </p:nvSpPr>
        <p:spPr>
          <a:xfrm>
            <a:off x="7604608" y="1371600"/>
            <a:ext cx="0" cy="4754880"/>
          </a:xfrm>
          <a:prstGeom prst="line">
            <a:avLst/>
          </a:prstGeom>
          <a:noFill/>
          <a:ln w="8890">
            <a:solidFill>
              <a:srgbClr val="6B8E00"/>
            </a:solidFill>
            <a:prstDash val="solid"/>
          </a:ln>
        </p:spPr>
      </p:sp>
      <p:sp>
        <p:nvSpPr>
          <p:cNvPr id="11" name="Shape 9"/>
          <p:cNvSpPr/>
          <p:nvPr/>
        </p:nvSpPr>
        <p:spPr>
          <a:xfrm>
            <a:off x="7784287" y="1645920"/>
            <a:ext cx="3840480" cy="2103120"/>
          </a:xfrm>
          <a:prstGeom prst="roundRect">
            <a:avLst>
              <a:gd name="adj" fmla="val 2609"/>
            </a:avLst>
          </a:prstGeom>
          <a:solidFill>
            <a:srgbClr val="DBEAFE"/>
          </a:solidFill>
          <a:ln/>
        </p:spPr>
      </p:sp>
      <p:sp>
        <p:nvSpPr>
          <p:cNvPr id="12" name="Shape 10"/>
          <p:cNvSpPr/>
          <p:nvPr/>
        </p:nvSpPr>
        <p:spPr>
          <a:xfrm>
            <a:off x="7784287" y="1700784"/>
            <a:ext cx="36576" cy="1993392"/>
          </a:xfrm>
          <a:prstGeom prst="rect">
            <a:avLst/>
          </a:prstGeom>
          <a:solidFill>
            <a:srgbClr val="1D4ED8"/>
          </a:solidFill>
          <a:ln/>
        </p:spPr>
      </p:sp>
      <p:sp>
        <p:nvSpPr>
          <p:cNvPr id="13" name="Text 11"/>
          <p:cNvSpPr/>
          <p:nvPr/>
        </p:nvSpPr>
        <p:spPr>
          <a:xfrm>
            <a:off x="7967167" y="1755648"/>
            <a:ext cx="3511296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1D4ED8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제한물권 및 근저당 말소 확약</a:t>
            </a:r>
            <a:endParaRPr lang="en-US" sz="1050" dirty="0"/>
          </a:p>
        </p:txBody>
      </p:sp>
      <p:sp>
        <p:nvSpPr>
          <p:cNvPr id="14" name="Text 12"/>
          <p:cNvSpPr/>
          <p:nvPr/>
        </p:nvSpPr>
        <p:spPr>
          <a:xfrm>
            <a:off x="7967167" y="1975104"/>
            <a:ext cx="3511296" cy="170078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lnSpc>
                <a:spcPct val="120000"/>
              </a:lnSpc>
              <a:buSzPct val="100000"/>
              <a:buChar char="•"/>
            </a:pPr>
            <a:r>
              <a:rPr lang="en-US" sz="930" dirty="0">
                <a:solidFill>
                  <a:srgbClr val="0F172A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매매 잔금 시 기존 설정된 근저당권 및 담보 설정 전액 말소 조건 승계</a:t>
            </a:r>
            <a:endParaRPr lang="en-US" sz="930" dirty="0"/>
          </a:p>
          <a:p>
            <a:pPr marL="342900" indent="-342900">
              <a:lnSpc>
                <a:spcPct val="120000"/>
              </a:lnSpc>
              <a:buSzPct val="100000"/>
              <a:buChar char="•"/>
            </a:pPr>
            <a:r>
              <a:rPr lang="en-US" sz="930" dirty="0">
                <a:solidFill>
                  <a:srgbClr val="0F172A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소유권 이전 등기 및 근저당 말소 동시 이행을 통한 매수인 권리 확보</a:t>
            </a:r>
            <a:endParaRPr lang="en-US" sz="930" dirty="0"/>
          </a:p>
          <a:p>
            <a:pPr marL="342900" indent="-342900">
              <a:lnSpc>
                <a:spcPct val="120000"/>
              </a:lnSpc>
              <a:buSzPct val="100000"/>
              <a:buChar char="•"/>
            </a:pPr>
            <a:r>
              <a:rPr lang="en-US" sz="930" dirty="0">
                <a:solidFill>
                  <a:srgbClr val="0F172A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임차인 임대보증금 승계 확약서 징구 및 대항력 유무 원본 대조 필수</a:t>
            </a:r>
            <a:endParaRPr lang="en-US" sz="930" dirty="0"/>
          </a:p>
        </p:txBody>
      </p:sp>
      <p:sp>
        <p:nvSpPr>
          <p:cNvPr id="15" name="Shape 13"/>
          <p:cNvSpPr/>
          <p:nvPr/>
        </p:nvSpPr>
        <p:spPr>
          <a:xfrm>
            <a:off x="7784287" y="3950208"/>
            <a:ext cx="3840480" cy="2103120"/>
          </a:xfrm>
          <a:prstGeom prst="roundRect">
            <a:avLst>
              <a:gd name="adj" fmla="val 2609"/>
            </a:avLst>
          </a:prstGeom>
          <a:solidFill>
            <a:srgbClr val="DBEAFE"/>
          </a:solidFill>
          <a:ln/>
        </p:spPr>
      </p:sp>
      <p:sp>
        <p:nvSpPr>
          <p:cNvPr id="16" name="Shape 14"/>
          <p:cNvSpPr/>
          <p:nvPr/>
        </p:nvSpPr>
        <p:spPr>
          <a:xfrm>
            <a:off x="7784287" y="4005072"/>
            <a:ext cx="36576" cy="1993392"/>
          </a:xfrm>
          <a:prstGeom prst="rect">
            <a:avLst/>
          </a:prstGeom>
          <a:solidFill>
            <a:srgbClr val="1D4ED8"/>
          </a:solidFill>
          <a:ln/>
        </p:spPr>
      </p:sp>
      <p:sp>
        <p:nvSpPr>
          <p:cNvPr id="17" name="Text 15"/>
          <p:cNvSpPr/>
          <p:nvPr/>
        </p:nvSpPr>
        <p:spPr>
          <a:xfrm>
            <a:off x="7967167" y="4059936"/>
            <a:ext cx="3511296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1D4ED8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소유권 분쟁 및 처분금지 가처분 검토</a:t>
            </a:r>
            <a:endParaRPr lang="en-US" sz="1050" dirty="0"/>
          </a:p>
        </p:txBody>
      </p:sp>
      <p:sp>
        <p:nvSpPr>
          <p:cNvPr id="18" name="Text 16"/>
          <p:cNvSpPr/>
          <p:nvPr/>
        </p:nvSpPr>
        <p:spPr>
          <a:xfrm>
            <a:off x="7967167" y="4279392"/>
            <a:ext cx="3511296" cy="170078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lnSpc>
                <a:spcPct val="120000"/>
              </a:lnSpc>
              <a:buSzPct val="100000"/>
              <a:buChar char="•"/>
            </a:pPr>
            <a:r>
              <a:rPr lang="en-US" sz="930" dirty="0">
                <a:solidFill>
                  <a:srgbClr val="0F172A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등기부 갑구상 소유권 분쟁, 압류, 가압류, 가처분 등 제한 사항 전무 확인</a:t>
            </a:r>
            <a:endParaRPr lang="en-US" sz="930" dirty="0"/>
          </a:p>
          <a:p>
            <a:pPr marL="342900" indent="-342900">
              <a:lnSpc>
                <a:spcPct val="120000"/>
              </a:lnSpc>
              <a:buSzPct val="100000"/>
              <a:buChar char="•"/>
            </a:pPr>
            <a:r>
              <a:rPr lang="en-US" sz="930" dirty="0">
                <a:solidFill>
                  <a:srgbClr val="0F172A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매도인 본인 확인 및 인감증명서, 위임장 진위 여부 사전 실사 완료</a:t>
            </a:r>
            <a:endParaRPr lang="en-US" sz="930" dirty="0"/>
          </a:p>
          <a:p>
            <a:pPr marL="342900" indent="-342900">
              <a:lnSpc>
                <a:spcPct val="120000"/>
              </a:lnSpc>
              <a:buSzPct val="100000"/>
              <a:buChar char="•"/>
            </a:pPr>
            <a:r>
              <a:rPr lang="en-US" sz="930" dirty="0">
                <a:solidFill>
                  <a:srgbClr val="0F172A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신탁 등기 또는 공동 담보 설정 여부 점검 완료</a:t>
            </a:r>
            <a:endParaRPr lang="en-US" sz="930" dirty="0"/>
          </a:p>
        </p:txBody>
      </p:sp>
      <p:sp>
        <p:nvSpPr>
          <p:cNvPr id="19" name="Text 17"/>
          <p:cNvSpPr/>
          <p:nvPr/>
        </p:nvSpPr>
        <p:spPr>
          <a:xfrm rot="-1800000">
            <a:off x="1371600" y="2286000"/>
            <a:ext cx="9144000" cy="2286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600" b="1" dirty="0">
                <a:solidFill>
                  <a:srgbClr val="E8ECF0">
                    <a:alpha val="15000"/>
                  </a:srgbClr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CREDEAL · 0000 · 2026-09-07</a:t>
            </a:r>
            <a:endParaRPr lang="en-US" sz="3600" dirty="0"/>
          </a:p>
        </p:txBody>
      </p:sp>
      <p:sp>
        <p:nvSpPr>
          <p:cNvPr id="20" name="Text 18"/>
          <p:cNvSpPr/>
          <p:nvPr/>
        </p:nvSpPr>
        <p:spPr>
          <a:xfrm>
            <a:off x="566928" y="6419088"/>
            <a:ext cx="11057839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64748B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크리딜  ·  IM-E8BC71  ·  8</a:t>
            </a:r>
            <a:endParaRPr lang="en-US" sz="900" dirty="0"/>
          </a:p>
        </p:txBody>
      </p:sp>
      <p:sp>
        <p:nvSpPr>
          <p:cNvPr id="21" name="Shape 19"/>
          <p:cNvSpPr/>
          <p:nvPr/>
        </p:nvSpPr>
        <p:spPr>
          <a:xfrm>
            <a:off x="4437172" y="6382512"/>
            <a:ext cx="3317352" cy="0"/>
          </a:xfrm>
          <a:prstGeom prst="line">
            <a:avLst/>
          </a:prstGeom>
          <a:noFill/>
          <a:ln w="6350">
            <a:solidFill>
              <a:srgbClr val="6B8E00"/>
            </a:solidFill>
            <a:prstDash val="solid"/>
          </a:ln>
        </p:spPr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66928" y="384048"/>
            <a:ext cx="45720" cy="566928"/>
          </a:xfrm>
          <a:prstGeom prst="rect">
            <a:avLst/>
          </a:prstGeom>
          <a:solidFill>
            <a:srgbClr val="6B8E00"/>
          </a:solidFill>
          <a:ln/>
        </p:spPr>
      </p:sp>
      <p:sp>
        <p:nvSpPr>
          <p:cNvPr id="3" name="Text 1"/>
          <p:cNvSpPr/>
          <p:nvPr/>
        </p:nvSpPr>
        <p:spPr>
          <a:xfrm>
            <a:off x="749808" y="384048"/>
            <a:ext cx="10874959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b="1" spc="200" kern="0" dirty="0">
                <a:solidFill>
                  <a:srgbClr val="6B8E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09  District</a:t>
            </a:r>
            <a:endParaRPr lang="en-US" sz="950" dirty="0"/>
          </a:p>
        </p:txBody>
      </p:sp>
      <p:sp>
        <p:nvSpPr>
          <p:cNvPr id="4" name="Text 2"/>
          <p:cNvSpPr/>
          <p:nvPr/>
        </p:nvSpPr>
        <p:spPr>
          <a:xfrm>
            <a:off x="749808" y="566928"/>
            <a:ext cx="10874959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0F172A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상권 분석</a:t>
            </a:r>
            <a:endParaRPr lang="en-US" sz="2200" dirty="0"/>
          </a:p>
        </p:txBody>
      </p:sp>
      <p:sp>
        <p:nvSpPr>
          <p:cNvPr id="5" name="Text 3"/>
          <p:cNvSpPr/>
          <p:nvPr/>
        </p:nvSpPr>
        <p:spPr>
          <a:xfrm>
            <a:off x="566928" y="1371600"/>
            <a:ext cx="68580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0F172A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소상공인 상권 분석</a:t>
            </a:r>
            <a:endParaRPr lang="en-US" sz="1100" dirty="0"/>
          </a:p>
        </p:txBody>
      </p:sp>
      <p:sp>
        <p:nvSpPr>
          <p:cNvPr id="6" name="Text 4"/>
          <p:cNvSpPr/>
          <p:nvPr/>
        </p:nvSpPr>
        <p:spPr>
          <a:xfrm>
            <a:off x="566928" y="1645920"/>
            <a:ext cx="260604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350" dirty="0">
                <a:solidFill>
                  <a:srgbClr val="64748B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상권명</a:t>
            </a:r>
            <a:endParaRPr lang="en-US" sz="1350" dirty="0"/>
          </a:p>
        </p:txBody>
      </p:sp>
      <p:sp>
        <p:nvSpPr>
          <p:cNvPr id="7" name="Text 5"/>
          <p:cNvSpPr/>
          <p:nvPr/>
        </p:nvSpPr>
        <p:spPr>
          <a:xfrm>
            <a:off x="3172968" y="1645920"/>
            <a:ext cx="425196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350" b="1" dirty="0">
                <a:solidFill>
                  <a:srgbClr val="0F172A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해당 상권</a:t>
            </a:r>
            <a:endParaRPr lang="en-US" sz="1350" dirty="0"/>
          </a:p>
        </p:txBody>
      </p:sp>
      <p:sp>
        <p:nvSpPr>
          <p:cNvPr id="8" name="Shape 6"/>
          <p:cNvSpPr/>
          <p:nvPr/>
        </p:nvSpPr>
        <p:spPr>
          <a:xfrm>
            <a:off x="566928" y="2084832"/>
            <a:ext cx="6858000" cy="0"/>
          </a:xfrm>
          <a:prstGeom prst="line">
            <a:avLst/>
          </a:prstGeom>
          <a:noFill/>
          <a:ln w="3810">
            <a:solidFill>
              <a:srgbClr val="CBD5E1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566928" y="2084832"/>
            <a:ext cx="260604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350" dirty="0">
                <a:solidFill>
                  <a:srgbClr val="64748B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매출지수</a:t>
            </a:r>
            <a:endParaRPr lang="en-US" sz="1350" dirty="0"/>
          </a:p>
        </p:txBody>
      </p:sp>
      <p:sp>
        <p:nvSpPr>
          <p:cNvPr id="10" name="Text 8"/>
          <p:cNvSpPr/>
          <p:nvPr/>
        </p:nvSpPr>
        <p:spPr>
          <a:xfrm>
            <a:off x="3172968" y="2084832"/>
            <a:ext cx="425196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350" b="1" dirty="0">
                <a:solidFill>
                  <a:srgbClr val="0F172A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80</a:t>
            </a:r>
            <a:endParaRPr lang="en-US" sz="1350" dirty="0"/>
          </a:p>
        </p:txBody>
      </p:sp>
      <p:sp>
        <p:nvSpPr>
          <p:cNvPr id="11" name="Shape 9"/>
          <p:cNvSpPr/>
          <p:nvPr/>
        </p:nvSpPr>
        <p:spPr>
          <a:xfrm>
            <a:off x="566928" y="2523744"/>
            <a:ext cx="6858000" cy="0"/>
          </a:xfrm>
          <a:prstGeom prst="line">
            <a:avLst/>
          </a:prstGeom>
          <a:noFill/>
          <a:ln w="3810">
            <a:solidFill>
              <a:srgbClr val="CBD5E1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566928" y="2523744"/>
            <a:ext cx="260604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350" dirty="0">
                <a:solidFill>
                  <a:srgbClr val="64748B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점포수</a:t>
            </a:r>
            <a:endParaRPr lang="en-US" sz="1350" dirty="0"/>
          </a:p>
        </p:txBody>
      </p:sp>
      <p:sp>
        <p:nvSpPr>
          <p:cNvPr id="13" name="Text 11"/>
          <p:cNvSpPr/>
          <p:nvPr/>
        </p:nvSpPr>
        <p:spPr>
          <a:xfrm>
            <a:off x="3172968" y="2523744"/>
            <a:ext cx="425196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350" b="1" dirty="0">
                <a:solidFill>
                  <a:srgbClr val="0F172A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500개</a:t>
            </a:r>
            <a:endParaRPr lang="en-US" sz="1350" dirty="0"/>
          </a:p>
        </p:txBody>
      </p:sp>
      <p:sp>
        <p:nvSpPr>
          <p:cNvPr id="14" name="Shape 12"/>
          <p:cNvSpPr/>
          <p:nvPr/>
        </p:nvSpPr>
        <p:spPr>
          <a:xfrm>
            <a:off x="7604608" y="1371600"/>
            <a:ext cx="0" cy="4754880"/>
          </a:xfrm>
          <a:prstGeom prst="line">
            <a:avLst/>
          </a:prstGeom>
          <a:noFill/>
          <a:ln w="8890">
            <a:solidFill>
              <a:srgbClr val="6B8E00"/>
            </a:solidFill>
            <a:prstDash val="solid"/>
          </a:ln>
        </p:spPr>
      </p:sp>
      <p:sp>
        <p:nvSpPr>
          <p:cNvPr id="15" name="Shape 13"/>
          <p:cNvSpPr/>
          <p:nvPr/>
        </p:nvSpPr>
        <p:spPr>
          <a:xfrm>
            <a:off x="7784287" y="1645920"/>
            <a:ext cx="3840480" cy="2103120"/>
          </a:xfrm>
          <a:prstGeom prst="roundRect">
            <a:avLst>
              <a:gd name="adj" fmla="val 2609"/>
            </a:avLst>
          </a:prstGeom>
          <a:solidFill>
            <a:srgbClr val="DBEAFE"/>
          </a:solidFill>
          <a:ln/>
        </p:spPr>
      </p:sp>
      <p:sp>
        <p:nvSpPr>
          <p:cNvPr id="16" name="Shape 14"/>
          <p:cNvSpPr/>
          <p:nvPr/>
        </p:nvSpPr>
        <p:spPr>
          <a:xfrm>
            <a:off x="7784287" y="1700784"/>
            <a:ext cx="36576" cy="1993392"/>
          </a:xfrm>
          <a:prstGeom prst="rect">
            <a:avLst/>
          </a:prstGeom>
          <a:solidFill>
            <a:srgbClr val="1D4ED8"/>
          </a:solidFill>
          <a:ln/>
        </p:spPr>
      </p:sp>
      <p:sp>
        <p:nvSpPr>
          <p:cNvPr id="17" name="Text 15"/>
          <p:cNvSpPr/>
          <p:nvPr/>
        </p:nvSpPr>
        <p:spPr>
          <a:xfrm>
            <a:off x="7967167" y="1755648"/>
            <a:ext cx="3511296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1D4ED8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상권 활성도 및 유동인구 특성</a:t>
            </a:r>
            <a:endParaRPr lang="en-US" sz="1050" dirty="0"/>
          </a:p>
        </p:txBody>
      </p:sp>
      <p:sp>
        <p:nvSpPr>
          <p:cNvPr id="18" name="Text 16"/>
          <p:cNvSpPr/>
          <p:nvPr/>
        </p:nvSpPr>
        <p:spPr>
          <a:xfrm>
            <a:off x="7967167" y="1975104"/>
            <a:ext cx="3511296" cy="170078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lnSpc>
                <a:spcPct val="120000"/>
              </a:lnSpc>
              <a:buSzPct val="100000"/>
              <a:buChar char="•"/>
            </a:pPr>
            <a:r>
              <a:rPr lang="en-US" sz="930" dirty="0">
                <a:solidFill>
                  <a:srgbClr val="0F172A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해당 상권은 근린생활·F&amp;B 중심의 안정적 배후 수요 형성</a:t>
            </a:r>
            <a:endParaRPr lang="en-US" sz="930" dirty="0"/>
          </a:p>
          <a:p>
            <a:pPr marL="342900" indent="-342900">
              <a:lnSpc>
                <a:spcPct val="120000"/>
              </a:lnSpc>
              <a:buSzPct val="100000"/>
              <a:buChar char="•"/>
            </a:pPr>
            <a:r>
              <a:rPr lang="en-US" sz="930" dirty="0">
                <a:solidFill>
                  <a:srgbClr val="0F172A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일평균 유동인구 풍부 기반의 지속적 점포 매출 창출력 확보</a:t>
            </a:r>
            <a:endParaRPr lang="en-US" sz="930" dirty="0"/>
          </a:p>
          <a:p>
            <a:pPr marL="342900" indent="-342900">
              <a:lnSpc>
                <a:spcPct val="120000"/>
              </a:lnSpc>
              <a:buSzPct val="100000"/>
              <a:buChar char="•"/>
            </a:pPr>
            <a:r>
              <a:rPr lang="en-US" sz="930" dirty="0">
                <a:solidFill>
                  <a:srgbClr val="0F172A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개업률(2.8%) 및 폐업률(2.1%) 기준 상권 생존 안정성 검증</a:t>
            </a:r>
            <a:endParaRPr lang="en-US" sz="930" dirty="0"/>
          </a:p>
        </p:txBody>
      </p:sp>
      <p:sp>
        <p:nvSpPr>
          <p:cNvPr id="19" name="Shape 17"/>
          <p:cNvSpPr/>
          <p:nvPr/>
        </p:nvSpPr>
        <p:spPr>
          <a:xfrm>
            <a:off x="7784287" y="3950208"/>
            <a:ext cx="3840480" cy="2103120"/>
          </a:xfrm>
          <a:prstGeom prst="roundRect">
            <a:avLst>
              <a:gd name="adj" fmla="val 2609"/>
            </a:avLst>
          </a:prstGeom>
          <a:solidFill>
            <a:srgbClr val="DBEAFE"/>
          </a:solidFill>
          <a:ln/>
        </p:spPr>
      </p:sp>
      <p:sp>
        <p:nvSpPr>
          <p:cNvPr id="20" name="Shape 18"/>
          <p:cNvSpPr/>
          <p:nvPr/>
        </p:nvSpPr>
        <p:spPr>
          <a:xfrm>
            <a:off x="7784287" y="4005072"/>
            <a:ext cx="36576" cy="1993392"/>
          </a:xfrm>
          <a:prstGeom prst="rect">
            <a:avLst/>
          </a:prstGeom>
          <a:solidFill>
            <a:srgbClr val="1D4ED8"/>
          </a:solidFill>
          <a:ln/>
        </p:spPr>
      </p:sp>
      <p:sp>
        <p:nvSpPr>
          <p:cNvPr id="21" name="Text 19"/>
          <p:cNvSpPr/>
          <p:nvPr/>
        </p:nvSpPr>
        <p:spPr>
          <a:xfrm>
            <a:off x="7967167" y="4059936"/>
            <a:ext cx="3511296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1D4ED8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MD 구성 및 집객력 강화 전략</a:t>
            </a:r>
            <a:endParaRPr lang="en-US" sz="1050" dirty="0"/>
          </a:p>
        </p:txBody>
      </p:sp>
      <p:sp>
        <p:nvSpPr>
          <p:cNvPr id="22" name="Text 20"/>
          <p:cNvSpPr/>
          <p:nvPr/>
        </p:nvSpPr>
        <p:spPr>
          <a:xfrm>
            <a:off x="7967167" y="4279392"/>
            <a:ext cx="3511296" cy="170078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lnSpc>
                <a:spcPct val="120000"/>
              </a:lnSpc>
              <a:buSzPct val="100000"/>
              <a:buChar char="•"/>
            </a:pPr>
            <a:r>
              <a:rPr lang="en-US" sz="930" dirty="0">
                <a:solidFill>
                  <a:srgbClr val="0F172A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직장인 및 배후 주거단지 소비 특성을 고려한 앵커 테넌트 유치 적합</a:t>
            </a:r>
            <a:endParaRPr lang="en-US" sz="930" dirty="0"/>
          </a:p>
          <a:p>
            <a:pPr marL="342900" indent="-342900">
              <a:lnSpc>
                <a:spcPct val="120000"/>
              </a:lnSpc>
              <a:buSzPct val="100000"/>
              <a:buChar char="•"/>
            </a:pPr>
            <a:r>
              <a:rPr lang="en-US" sz="930" dirty="0">
                <a:solidFill>
                  <a:srgbClr val="0F172A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주말/주중 시간대별 매출 분산 구조로 안정적 임대료 수취 환경 조성</a:t>
            </a:r>
            <a:endParaRPr lang="en-US" sz="930" dirty="0"/>
          </a:p>
          <a:p>
            <a:pPr marL="342900" indent="-342900">
              <a:lnSpc>
                <a:spcPct val="120000"/>
              </a:lnSpc>
              <a:buSzPct val="100000"/>
              <a:buChar char="•"/>
            </a:pPr>
            <a:r>
              <a:rPr lang="en-US" sz="930" dirty="0">
                <a:solidFill>
                  <a:srgbClr val="0F172A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인근 대형 집객 시설과의 시너지 효과를 통한 상권 확장 잠재력 보유</a:t>
            </a:r>
            <a:endParaRPr lang="en-US" sz="930" dirty="0"/>
          </a:p>
        </p:txBody>
      </p:sp>
      <p:sp>
        <p:nvSpPr>
          <p:cNvPr id="23" name="Text 21"/>
          <p:cNvSpPr/>
          <p:nvPr/>
        </p:nvSpPr>
        <p:spPr>
          <a:xfrm rot="-1800000">
            <a:off x="1371600" y="2286000"/>
            <a:ext cx="9144000" cy="2286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600" b="1" dirty="0">
                <a:solidFill>
                  <a:srgbClr val="E8ECF0">
                    <a:alpha val="15000"/>
                  </a:srgbClr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CREDEAL · 0000 · 2026-09-07</a:t>
            </a:r>
            <a:endParaRPr lang="en-US" sz="3600" dirty="0"/>
          </a:p>
        </p:txBody>
      </p:sp>
      <p:sp>
        <p:nvSpPr>
          <p:cNvPr id="24" name="Text 22"/>
          <p:cNvSpPr/>
          <p:nvPr/>
        </p:nvSpPr>
        <p:spPr>
          <a:xfrm>
            <a:off x="566928" y="6419088"/>
            <a:ext cx="11057839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64748B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크리딜  ·  IM-E8BC71  ·  9</a:t>
            </a:r>
            <a:endParaRPr lang="en-US" sz="900" dirty="0"/>
          </a:p>
        </p:txBody>
      </p:sp>
      <p:sp>
        <p:nvSpPr>
          <p:cNvPr id="25" name="Shape 23"/>
          <p:cNvSpPr/>
          <p:nvPr/>
        </p:nvSpPr>
        <p:spPr>
          <a:xfrm>
            <a:off x="4437172" y="6382512"/>
            <a:ext cx="3317352" cy="0"/>
          </a:xfrm>
          <a:prstGeom prst="line">
            <a:avLst/>
          </a:prstGeom>
          <a:noFill/>
          <a:ln w="6350">
            <a:solidFill>
              <a:srgbClr val="6B8E00"/>
            </a:solidFill>
            <a:prstDash val="solid"/>
          </a:ln>
        </p:spPr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9</Slides>
  <Notes>9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9</vt:i4>
      </vt:variant>
    </vt:vector>
  </HeadingPairs>
  <TitlesOfParts>
    <vt:vector size="12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PptxGenJS</cp:lastModifiedBy>
  <cp:revision>1</cp:revision>
  <dcterms:created xsi:type="dcterms:W3CDTF">2026-09-07T02:33:43Z</dcterms:created>
  <dcterms:modified xsi:type="dcterms:W3CDTF">2026-09-07T02:33:43Z</dcterms:modified>
</cp:coreProperties>
</file>