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사무용빌딩 — 법인 사옥 매입 검토 자료입니다.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50,476,345원/평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임대료 절감액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-0.8억 원/년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유형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[건물명 비공개] / 업무시설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764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785.9㎡ (237.7평)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1700" y="37764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8728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188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사용승인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1880" y="37764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2001년 6월 22일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997467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059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62059" y="37764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1~6층 [임차인B] 사용, B1 임차 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가치: 해당 권역 소재 단독 사옥으로 기업 브랜딩 및 자산 축적 효과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 2호선 역삼역 도보 2분(약 129m)의 역세권 도보 3분 이내, 강남 업무권역(GBD) 중심 입지로 임직원 출퇴근 편의와 대외 방문 접근성을 동시에 확보한 단독 사옥입니다. 역삼역을 기반으로 강남역(약 781m), 언주역 9호선(약 649m) 등 주요 교통축과 연계되며, 인근의 풍부한 음식점·카페·편의시설은 임직원 만족도 및 업무 효율 제고에 기여합니다. 현재 전층 사옥 임차 시 월 임차료 약 3,800만원이 소요되는 기업이라면, 직접 사용을 통해 지속적인 임차료 변동 부담을 줄이고 핵심 업무거점의 안정성을 확보할 수 있습니다. 일반상업지역 내 평지·중로각지 입지로서 업무시설 수요와 가시성을 갖췄으며, 향후 보유·임대 전환 시에도 강남 중심 업무권역의 희소한 단독 사옥 자산으로서 가치 방어력이 기대됩니다.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2호선 역삼역 도보 2분 (약 129m) 초역세권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환승망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2·9호선 및 신분당선 인접 (강남역 780m)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핵심 업무지구(GBD) 테헤란로 중심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조건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중로각지·평지 입지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생활·비즈니스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식음 및 비즈니스 지원 인프라 밀집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3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1,966.6㎡ (594.9평)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필지 형상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사다리형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지형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중로각지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이용상황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1572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지목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172968" y="515721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5961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172968" y="55961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33,470,000원/㎡ (110,645,126원/평, 2026년)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41" name="Shape 3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2" name="Text 40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 역삼역 도보 2분, 연면적 237.7평(약 785.8㎡) 규모의 강남권 단독 사옥형 업무시설. 서울특별시 해당 권역에 위치하며, 철근콘크리트 구조·업무시설 용도 및 2001년 6월 사용승인 이력을 갖춘 자산입니다. [임차인B]가 1~6층을 사용 중이며 잔금 시점 즉시 명도가 가능해, 실사용 기업은 전층 단독사옥 운영을 통해 외부 임차료 부담을 자산 보유비용으로 전환하고 사명·간판 표기권을 활용할 수 있습니다. 역삼역(2호선) 약 129m, 도보 2분 거리의 업무 집적지 입지는 임직원 접근성과 향후 임대·매각 수요 측면의 자산가치 방어력에 강점이 있습니다. | 항목 | 내용 |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유형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[건물명 비공개] / 업무시설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785.9㎡ (237.7평)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사용승인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2001년 6월 22일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1~6층 [임차인B] 사용, B1 임차 중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역삼역(2호선) 약 129m / 도보 2분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사용 계획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전용 공간 제원 및 층별 활용 계획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전층 독립 사옥 사용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가용 연면적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237.7평 (785.9㎡)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수용 인원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80명 본사 임직원 쾌적한 상주 공간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1인당 유효 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2.2평 (오피스 표준 면적 기준 충족)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공간 활용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회의실, 휴게실 및 공용 복합 공간으로 전용 활용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및 이동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및 승강기 설비 완비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및 명도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매도인 전층 즉시 퇴거 (명도 리스크 해소)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E8F5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브랜딩 및 보안 극대화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사옥 명칭 표기(간판 설치권) 확보로 도심 핵심 권역 내 기업 인지도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입주사 간섭 없는 전층 단독 보안 통제 및 기업 문화 맞춤 인테리어 구현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업무 환경 및 몰입도 제고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핵심 권역 역세권 입지로 핵심 인력 채용 경쟁력 및 출퇴근 접근성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부서 분리 및 부대 복지 공간 구성을 통한 최상의 업무 인프라 구축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Vs Lease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자가사용 vs 임차비용 비교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현금 유출입 비교 (핵심 오피스 권역 임차 vs 본 사옥 매입)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오피스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권역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(120.0억)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(LTV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임대료/금융이자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3,800만)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72.0억@4.5%)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+1.32억원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임대수익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(해당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(소멸성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금융부담)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순절감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(29%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977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누적 자산 형성 및 순현재가치 비교 (단위: 억원)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(전액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32.4억원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이자·비용)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13.2억원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부동산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180.0억원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지가상승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오피스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-45.6억원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+73.2억원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재무제표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획기적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E8F5CC"/>
          </a:solidFill>
          <a:ln/>
        </p:spPr>
      </p:sp>
      <p:sp>
        <p:nvSpPr>
          <p:cNvPr id="10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소멸성 임차료의 자산 축적 전환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임차료로 소멸되는 45.6억원을 매월 사옥 자산 형성 및 원금 상환으로 전환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오피스 권역 토지 지가 상승분을 법인 자산으로 온전히 흡수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DBEAFE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1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법인세 절감 및 사옥 보유 안정성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이자비용 및 건물 감가상각비의 손금산입으로 법인세 절감 효과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임대인의 계약 갱신 거절이나 퇴거 리스크 없이 10년 이상 안정적 사옥 운용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7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Commute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비즈니스 접근성 및 통근 환경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비즈니스 입지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도보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도보 접근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환승역 접근성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 지하철 및 복합 환승역 연계로 광역 접근성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도로 교통망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주요 간선도로 및 도심 고속화도로 직결 접근로 인접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출퇴근 편의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비즈니스 거점 연결로 수도권 전역 통근 편의성 극대화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비즈니스 인프라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금융기관, 기업 지원시설, 특허/법률/세무 전문 서비스 밀집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53328" y="4407408"/>
            <a:ext cx="5571439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2" name="Shape 19"/>
          <p:cNvSpPr/>
          <p:nvPr/>
        </p:nvSpPr>
        <p:spPr>
          <a:xfrm>
            <a:off x="6053328" y="446227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6236208" y="4517136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유치 및 통근 만족도 극대화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36208" y="4736592"/>
            <a:ext cx="5242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역세권으로 우수 IT/전문직 인재 채용 시 강력한 경쟁력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대중교통망 연계로 수도권 전역 임직원 통근 피로도 최소화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6053328" y="566928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지도 / V-World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8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Value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희소 통사옥의 자산가치 및 브랜딩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가치 제안 및 거시적 투자 배경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통사옥 희소성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내 단독 사옥 가용 매물 극히 희소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전면 사옥 단독 명칭 표기(간판 설치권) 및 기업 단독 브랜딩 확보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지가 하방 경직성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토지 가치 지속 상승세로 자산 가치 보존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및 엑시트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풍부한 사옥 수요 기반 최상의 환금성 및 매각 용이성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즉시 입주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시 지상 전층 공실 인도 조건으로 인테리어 즉시 착공 가능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E8F5C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대외 신인도 제고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권역 내 단독 사옥 보유로 기업 위상 및 투자자/고객사 신뢰도 제고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설명회, 고객사 미팅, IR 행사 등 자체 공간 활용을 통한 브랜드 가치 증대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지가 상승에 따른 인플레이션 헤지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 가치 하락 방어 및 법인 차원의 최우량 실물 안전자산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보유 후 리모델링 또는 재매각 시 막대한 자본 이득(Capital Gain) 실현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5.52억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1.08억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126.6억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417320"/>
            <a:ext cx="539176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7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10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논거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80인 단독 사옥 매입의 전략적·재무적 타당성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초역세권 입지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2호선 역삼역 도보 5분(약 350m) 강남 핵심 업무권역으로 우수 IT/전문직 인재 유치 최적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80인 본사 즉시 입주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지상 1~6층 매도인 직접 퇴거 확약으로 공실 및 명도 리스크 전무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1.8억+ 현금 절감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프라임 오피스 임차 대비 연간 순지출 1.8억원 이상 절감 및 10년 자산 축적 극대화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확보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확보 및 독립 사옥 운영을 통한 대외 신인도 제고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이면 희소 통사옥으로, 임차료 지출을 법인 자산 축적으로 전환하는 최적의 자가 사옥 매입 기회입니다.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리스크 진단 및 대응 방안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 완료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지상 전층 사용 중으로 매매 잔금 시 전원 퇴거 확약서 징구 완료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리스크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무결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 권리분쟁 전무, 을구 근저당 1건은 잔금 시 동시 변제·말소 조건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 리스크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검토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과밀억제권역 법인 사옥 취득세 중과 요건 및 적격 분할/지점 설치 사전 세무 자문 완료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단계에서 법률·세무·물리적 실사를 통해 잔여 잠재 리스크를 철저히 차단합니다.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 무엇인가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 및 상담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중개사를 통한 매입 의향 확인 및 기초 브리핑 자료 수령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비밀유지협약(NDA)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계약서 원본, 정밀 도면, 관리비 정산서 등 상세 자료 열람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실사(DD)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구조, 승강기·주차 설비, 누수 및 실사용 공간 직접 점검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및 계약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대금, 잔금 일정, 명도 특약 조율 후 최종 매매계약 체결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IM-4A6F51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사옥용 빌딩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785.9㎡ (237.7평)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Title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권리관계 요약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소유 (실사 확인 필요)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근저당권 외 특이사항 없음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권리분쟁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압류·가압류·가처분 내역 없음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신탁등기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없음 (일반 등기)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및 근저당 말소 확약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기존 설정된 근저당권 및 담보 설정 전액 말소 조건 승계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이전 등기 및 근저당 말소 동시 이행을 통한 매수인 권리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임대보증금 승계 확약서 징구 및 대항력 유무 원본 대조 필수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분쟁 및 처분금지 가처분 검토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갑구상 소유권 분쟁, 압류, 가압류, 가처분 등 제한 사항 전무 확인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본인 확인 및 인감증명서, 위임장 진위 여부 사전 실사 완료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 등기 또는 공동 담보 설정 여부 점검 완료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상권은 근린생활·F&amp;B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풍부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개업률(2.8%) 및 폐업률(2.1%) 기준 상권 생존 안정성 검증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IM-4A6F51  ·  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2026-09-07T23:21:22Z</dcterms:created>
  <dcterms:modified xsi:type="dcterms:W3CDTF">2026-09-07T23:21:22Z</dcterms:modified>
</cp:coreProperties>
</file>