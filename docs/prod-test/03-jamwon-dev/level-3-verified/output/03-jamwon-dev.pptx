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6B8E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서초구 잠원동 기타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2026-09-08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IM-2E96C0  ·  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매각 희망가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719072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242.3억원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13834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78426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78426" y="1719072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614.0평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060741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5333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225333" y="1719072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66928" y="34290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375818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" y="386791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38679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07008" y="383133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입지: 해당 권역 소재 토지로 용적률 잔여 및 개발 가능성 검토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453128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" y="4562856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456285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07008" y="4526280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 수지: 적정가 수준의 토지비 기반 개발 사업 수익성 분석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5148072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" y="5257800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" y="52578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07008" y="5221224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인허가: 도시계획·용도지역·건폐율 등 공법 여건 사전 점검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2026-09-08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IM-2E96C0  ·  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Scale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규모 검토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권역 신축 개발 규모 및 층별 용도 계획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연면적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614.01평 (2029.8㎡)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0773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233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 용도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72330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오피스 중심 복합 임대시설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048549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3141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 층 구성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13141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B1~6F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66928" y="331927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4472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건축 가능 면적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3666744"/>
            <a:ext cx="324703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66928" y="4626864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4681728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736592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건축 규모 요약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49808" y="4956048"/>
            <a:ext cx="51082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대지면적 미정, 용도지역 확인 필요에 위치하여 신축 및 재건축 개발 가치가 매우 높습니다. ### 개발 규제 및 공법 여력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6187288" y="4626864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DCFCE7"/>
          </a:solidFill>
          <a:ln/>
        </p:spPr>
      </p:sp>
      <p:sp>
        <p:nvSpPr>
          <p:cNvPr id="24" name="Shape 22"/>
          <p:cNvSpPr/>
          <p:nvPr/>
        </p:nvSpPr>
        <p:spPr>
          <a:xfrm>
            <a:off x="6187288" y="4681728"/>
            <a:ext cx="36576" cy="117043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5" name="Text 23"/>
          <p:cNvSpPr/>
          <p:nvPr/>
        </p:nvSpPr>
        <p:spPr>
          <a:xfrm>
            <a:off x="6370168" y="4736592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규모 적정성 검토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70168" y="4956048"/>
            <a:ext cx="51082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권역 소재 토지의 용적률 200% 기준 건축 가능 면적 검토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용도 및 규모에 따른 인허가 가능성 사전 검증 필요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2026-09-08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IM-2E96C0  ·  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Checklist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및 확인 필요사항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3건)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19072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대지면적 미정, 용도지역 확인 필요에 위치하여 신축 및 재건축 개발 가치가 매우 높습니다.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" y="2715768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1556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 · 확인 필요 · 법정 건폐율/용적률 상한 적용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55868" y="1719072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16" name="Text 14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0450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잠재력 · 잔여 용적률 및 건축 가능 연면적 확인 필요 · 상업/업무 시설 기획 가능 · &gt; 건축.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5760720"/>
            <a:ext cx="11057839" cy="59436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5833872"/>
            <a:ext cx="10692079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2026-09-08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IM-2E96C0  ·  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Closing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3" name="Text 11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9" name="Text 17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IM-2E96C0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2026-09-08</a:t>
            </a:r>
            <a:endParaRPr lang="en-US" sz="3600" dirty="0"/>
          </a:p>
        </p:txBody>
      </p:sp>
      <p:sp>
        <p:nvSpPr>
          <p:cNvPr id="44" name="Text 4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IM-2E96C0  ·  5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Title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권리관계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권리관계 요약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소유권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단독 소유 (실사 확인 필요)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제한물권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근저당권 외 특이사항 없음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권리분쟁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압류·가압류·가처분 내역 없음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신탁등기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없음 (일반 등기)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9" name="Shape 17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0" name="Text 18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제한물권 및 근저당 말소 확약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잔금 시 기존 설정된 근저당권 및 담보 설정 전액 말소 조건 승계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소유권 이전 등기 및 근저당 말소 동시 이행을 통한 매수인 권리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임차인 임대보증금 승계 확약서 징구 및 대항력 유무 원본 대조 필수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7784287" y="3950208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23" name="Shape 21"/>
          <p:cNvSpPr/>
          <p:nvPr/>
        </p:nvSpPr>
        <p:spPr>
          <a:xfrm>
            <a:off x="7784287" y="4005072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7967167" y="405993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소유권 분쟁 및 처분금지 가처분 검토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967167" y="4279392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 갑구상 소유권 분쟁, 압류, 가압류, 가처분 등 제한 사항 전무 확인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 본인 확인 및 인감증명서, 위임장 진위 여부 사전 실사 완료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신탁 등기 또는 공동 담보 설정 여부 점검 완료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2026-09-08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IM-2E96C0  ·  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Cadastral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지적도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연속지적도 (V-World)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주소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주변 인프라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53328" y="3118104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2026-09-08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IM-2E96C0  ·  7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District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 분석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소상공인 상권 분석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상권명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상권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매출지수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점포수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500개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 활성도 및 유동인구 특성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상권은 근린생활·F&amp;B 중심의 안정적 배후 수요 형성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일평균 유동인구 풍부 기반의 지속적 점포 매출 창출력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개업률(2.8%) 및 폐업률(2.1%) 기준 상권 생존 안정성 검증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7784287" y="3950208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20" name="Shape 18"/>
          <p:cNvSpPr/>
          <p:nvPr/>
        </p:nvSpPr>
        <p:spPr>
          <a:xfrm>
            <a:off x="7784287" y="4005072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7967167" y="405993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 구성 및 집객력 강화 전략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67167" y="4279392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직장인 및 배후 주거단지 소비 특성을 고려한 앵커 테넌트 유치 적합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주말/주중 시간대별 매출 분산 구조로 안정적 임대료 수취 환경 조성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대형 집객 시설과의 시너지 효과를 통한 상권 확장 잠재력 보유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2026-09-08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IM-2E96C0  ·  8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2026-09-08T03:04:42Z</dcterms:created>
  <dcterms:modified xsi:type="dcterms:W3CDTF">2026-09-08T03:04:42Z</dcterms:modified>
</cp:coreProperties>
</file>