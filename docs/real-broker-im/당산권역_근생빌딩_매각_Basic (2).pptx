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당산권역 근생빌딩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영등포구 영신로 259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근생빌딩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33425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44398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115억 원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 부동산 중개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2026.09.28  |  이상은  |  JS 부동산 중개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2026-09-28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IM-5F96A2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종합 가치 제안: 당산권역 소재 [건물명 비공개] — 임대 수익 구조와 자산 가치 상승 시나리오를 분석합니다. 3대 핵심 투자 포인트 (Investment Highlights) • 원금 안전판 확보: 2·9호선 당산역 도보 5분 거리의 준공업지역 [건물명 비공개]. 자주식 8대와 전기차 1대 주차 시설을 갖췄습니다. • 안정적 월 현금흐름: 현행 임대차 현황 및 공실률 기반 순영업소득(NOI) 구조가 확인됩니다. • 가치 상승 및 출구 전략: 현행 공법 여력을 활용한 밸류업 기회와 더불어 향후 권역 지가 상승에 따른 시세차익 실현이 유력합니다. 인근 실거래 비교 사례 10건 기준 평균 평당가 약 3,270만원/평(32,702,189원)으로, 본 자산과 비교 검토할 수 있습니다. 권역 시세 벤치마킹 (실거래 분석 · 연면적 기준)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436평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1.56%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118.4억 원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153평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종합 가치 제안: 당산권역 소재 [건물명 비공개] — 임대 수익 구조와 자산 가치 상승 시나리오를 분석합니다. 3대 핵심 투자 포인트 (Investment Hig...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| 권역 평균 ㎡당 단가 (연면적 기준) | 9,892,412원/㎡ |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당산역 도보 5분 역세권, 당산권역 업무·상업 중심지 배후 수요 확보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2026-09-28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IM-5F96A2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용도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제2종근린생활시설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1,441.15㎡ (약 436평)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506.8㎡ (약 153평)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/ 지상 5층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준공년도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2002년 (24년 경과)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210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주구조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6210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59936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059936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12541" y="4059936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115억 원 (VAT 별도)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상업용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권리관계 및 임대차 계약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인접 인프라 및 입지 환경 분석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8F4F8"/>
          </a:solidFill>
          <a:ln/>
        </p:spPr>
      </p:sp>
      <p:sp>
        <p:nvSpPr>
          <p:cNvPr id="36" name="Shape 34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7" name="Text 35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조건 및 운영비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후 운용 계획에 따른 수익성 분석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2026-09-28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IM-5F96A2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549323" y="14813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영등포구 영신로 259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89320" y="182880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82880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49323" y="182880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9호선 도보 5분 (약 406m)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89320" y="21762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9320" y="217627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549323" y="217627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당산권역 주요 상업·업무 권역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25237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9320" y="252374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549323" y="252374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당산삼성래미안4차아파트 425동 도보 1분 (약 28m)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89320" y="287121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287121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549323" y="287121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당산센트럴아이파크아파트 후문 도보 1분 (약 77m)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89320" y="3328416"/>
            <a:ext cx="5571439" cy="877824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</p:spPr>
      </p:sp>
      <p:sp>
        <p:nvSpPr>
          <p:cNvPr id="22" name="Shape 19"/>
          <p:cNvSpPr/>
          <p:nvPr/>
        </p:nvSpPr>
        <p:spPr>
          <a:xfrm>
            <a:off x="5989320" y="3383280"/>
            <a:ext cx="36576" cy="768096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3" name="Text 20"/>
          <p:cNvSpPr/>
          <p:nvPr/>
        </p:nvSpPr>
        <p:spPr>
          <a:xfrm>
            <a:off x="6135624" y="341985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135624" y="3621024"/>
            <a:ext cx="53154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당산권역 배후 상권 기반 안정적 임대 수요</a:t>
            </a:r>
            <a:endParaRPr lang="en-US" sz="980" dirty="0"/>
          </a:p>
        </p:txBody>
      </p:sp>
      <p:sp>
        <p:nvSpPr>
          <p:cNvPr id="25" name="Text 22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2026-09-28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IM-5F96A2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506.8㎡ (153.3평)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23160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423160" y="28529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400% 이하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32552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5526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423160" y="325526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6576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423160" y="365760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7,501만 원/평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6" name="Text 24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지역 기준 법정 건폐율 60% 이하, 법정 용적률 400%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2026-09-28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IM-5F96A2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37160" cy="137160"/>
          </a:xfrm>
          <a:prstGeom prst="rect">
            <a:avLst/>
          </a:prstGeom>
          <a:solidFill>
            <a:srgbClr val="C9A9A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34440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148840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5364480"/>
            <a:ext cx="274320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85800" y="5181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536448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33272" y="5391912"/>
            <a:ext cx="2468880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5382768"/>
            <a:ext cx="2395728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카페(자가) (96평)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69392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1737" y="4721352"/>
            <a:ext cx="610020" cy="61569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0025" y="4712208"/>
            <a:ext cx="57344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약국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61757" y="4721352"/>
            <a:ext cx="821930" cy="61569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80045" y="4712208"/>
            <a:ext cx="785354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02336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92504" y="4050792"/>
            <a:ext cx="1950415" cy="61569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9080" y="4041648"/>
            <a:ext cx="1877263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 (76평)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35280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292504" y="3380232"/>
            <a:ext cx="1950415" cy="61569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9080" y="3371088"/>
            <a:ext cx="1877263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헬쓰장 (76평)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268224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292504" y="2709672"/>
            <a:ext cx="1307762" cy="615696"/>
          </a:xfrm>
          <a:prstGeom prst="rect">
            <a:avLst/>
          </a:prstGeom>
          <a:solidFill>
            <a:srgbClr val="C9A9A6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9080" y="2700528"/>
            <a:ext cx="123461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와인매장 (51평)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00266" y="2709672"/>
            <a:ext cx="642654" cy="61569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8554" y="2700528"/>
            <a:ext cx="606078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2920" y="2011680"/>
            <a:ext cx="475488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51737" y="2039112"/>
            <a:ext cx="1431950" cy="61569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88313" y="2029968"/>
            <a:ext cx="1358798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내과 (56평)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6080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86200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960120"/>
                <a:gridCol w="1325880"/>
                <a:gridCol w="868680"/>
                <a:gridCol w="868680"/>
                <a:gridCol w="777240"/>
                <a:gridCol w="777240"/>
                <a:gridCol w="1124712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호실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용도/업종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전용면적(㎡)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보증금(만원)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월세(만원)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카페(자가)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카페(자가)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317.4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105.5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883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252.2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헬쓰장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헬쓰장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252.2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2026-04-17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와인매장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와인매장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168.9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2025-04-30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83.0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5B6B7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183.8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2026-08-31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1441.3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1,946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2026-09-28</a:t>
            </a:r>
            <a:endParaRPr lang="en-US" sz="3600" dirty="0"/>
          </a:p>
        </p:txBody>
      </p:sp>
      <p:sp>
        <p:nvSpPr>
          <p:cNvPr id="39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IM-5F96A2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10600639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60359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00439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82112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00439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9584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0439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77056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00439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112.1억원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24528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589788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8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5952744"/>
            <a:ext cx="36576" cy="32918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" y="598932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" y="619048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2.1%는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2026-09-28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IM-5F96A2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이상은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 xanova@naver.com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JS 부동산 중개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 부동산 중개 · IM-5F96A2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2026-09-28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IM-5F96A2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2026-09-28T02:14:13Z</dcterms:created>
  <dcterms:modified xsi:type="dcterms:W3CDTF">2026-09-28T02:14:13Z</dcterms:modified>
</cp:coreProperties>
</file>