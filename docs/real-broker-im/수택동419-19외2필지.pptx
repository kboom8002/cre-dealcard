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  <p:sldMasterId id="2147483770" r:id="rId2"/>
    <p:sldMasterId id="2147483699" r:id="rId3"/>
    <p:sldMasterId id="2147483687" r:id="rId4"/>
    <p:sldMasterId id="2147483799" r:id="rId5"/>
  </p:sldMasterIdLst>
  <p:notesMasterIdLst>
    <p:notesMasterId r:id="rId24"/>
  </p:notesMasterIdLst>
  <p:handoutMasterIdLst>
    <p:handoutMasterId r:id="rId25"/>
  </p:handoutMasterIdLst>
  <p:sldIdLst>
    <p:sldId id="298" r:id="rId6"/>
    <p:sldId id="302" r:id="rId7"/>
    <p:sldId id="329" r:id="rId8"/>
    <p:sldId id="395" r:id="rId9"/>
    <p:sldId id="331" r:id="rId10"/>
    <p:sldId id="377" r:id="rId11"/>
    <p:sldId id="393" r:id="rId12"/>
    <p:sldId id="392" r:id="rId13"/>
    <p:sldId id="396" r:id="rId14"/>
    <p:sldId id="391" r:id="rId15"/>
    <p:sldId id="389" r:id="rId16"/>
    <p:sldId id="390" r:id="rId17"/>
    <p:sldId id="388" r:id="rId18"/>
    <p:sldId id="317" r:id="rId19"/>
    <p:sldId id="318" r:id="rId20"/>
    <p:sldId id="387" r:id="rId21"/>
    <p:sldId id="376" r:id="rId22"/>
    <p:sldId id="297" r:id="rId2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17D"/>
    <a:srgbClr val="008A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테마 스타일 2 - 강조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065" autoAdjust="0"/>
  </p:normalViewPr>
  <p:slideViewPr>
    <p:cSldViewPr>
      <p:cViewPr varScale="1">
        <p:scale>
          <a:sx n="83" d="100"/>
          <a:sy n="83" d="100"/>
        </p:scale>
        <p:origin x="143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9" d="100"/>
          <a:sy n="69" d="100"/>
        </p:scale>
        <p:origin x="-210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ko-KR" altLang="en-US"/>
              <a:t>글쎄다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4EE1D-473B-46A9-A495-98369858215B}" type="datetimeFigureOut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ko-KR"/>
              <a:t>ghfhfh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78890-9D1B-4290-B2A0-A2C38343EE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4721151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ko-KR" altLang="en-US"/>
              <a:t>글쎄다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B6A78E-95D9-4880-AB4E-ABEB3B5423DE}" type="datetimeFigureOut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ko-KR"/>
              <a:t>ghfhfh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D46009-70E3-4CB0-88DF-83DDD12CAD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340374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282950" y="552450"/>
            <a:ext cx="3432175" cy="25749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091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CB65B-16F1-46EB-B7BF-78F9DBA3228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CB65B-16F1-46EB-B7BF-78F9DBA3228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CB65B-16F1-46EB-B7BF-78F9DBA3228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CB65B-16F1-46EB-B7BF-78F9DBA3228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CB65B-16F1-46EB-B7BF-78F9DBA3228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CB65B-16F1-46EB-B7BF-78F9DBA3228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CB65B-16F1-46EB-B7BF-78F9DBA3228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CB65B-16F1-46EB-B7BF-78F9DBA3228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CB65B-16F1-46EB-B7BF-78F9DBA3228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CB65B-16F1-46EB-B7BF-78F9DBA3228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CB65B-16F1-46EB-B7BF-78F9DBA3228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CB65B-16F1-46EB-B7BF-78F9DBA3228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3E02B-9720-4ACE-8CC1-B040FD7FA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3E02B-9720-4ACE-8CC1-B040FD7FA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3E02B-9720-4ACE-8CC1-B040FD7FA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3E02B-9720-4ACE-8CC1-B040FD7FA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3E02B-9720-4ACE-8CC1-B040FD7FA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3E02B-9720-4ACE-8CC1-B040FD7FA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3E02B-9720-4ACE-8CC1-B040FD7FA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3E02B-9720-4ACE-8CC1-B040FD7FA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3E02B-9720-4ACE-8CC1-B040FD7FA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3E02B-9720-4ACE-8CC1-B040FD7FA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3E02B-9720-4ACE-8CC1-B040FD7FA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6FD5-6B54-4499-AB28-BDBD8FDA0C1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6FD5-6B54-4499-AB28-BDBD8FDA0C1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6FD5-6B54-4499-AB28-BDBD8FDA0C1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67744" y="260648"/>
            <a:ext cx="6347048" cy="346050"/>
          </a:xfrm>
        </p:spPr>
        <p:txBody>
          <a:bodyPr>
            <a:noAutofit/>
          </a:bodyPr>
          <a:lstStyle>
            <a:lvl1pPr>
              <a:defRPr sz="2800">
                <a:ln cmpd="dbl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  <a:gradFill>
                  <a:gsLst>
                    <a:gs pos="0">
                      <a:schemeClr val="accent2">
                        <a:lumMod val="20000"/>
                        <a:lumOff val="8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2050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buNone/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endParaRPr lang="ko-KR" altLang="en-US" dirty="0"/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2836911"/>
          </a:xfrm>
        </p:spPr>
        <p:txBody>
          <a:bodyPr/>
          <a:lstStyle>
            <a:lvl1pPr>
              <a:buNone/>
              <a:defRPr sz="2800"/>
            </a:lvl1pPr>
            <a:lvl2pPr>
              <a:defRPr sz="2400"/>
            </a:lvl2pPr>
            <a:lvl3pPr>
              <a:defRPr sz="2000" b="1"/>
            </a:lvl3pPr>
            <a:lvl4pPr>
              <a:defRPr sz="1800" b="1"/>
            </a:lvl4pPr>
            <a:lvl5pPr>
              <a:defRPr sz="1800" b="1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ko-KR" altLang="en-US" dirty="0"/>
          </a:p>
        </p:txBody>
      </p:sp>
      <p:sp>
        <p:nvSpPr>
          <p:cNvPr id="8" name="바닥글 개체 틀 3"/>
          <p:cNvSpPr txBox="1">
            <a:spLocks/>
          </p:cNvSpPr>
          <p:nvPr userDrawn="1"/>
        </p:nvSpPr>
        <p:spPr>
          <a:xfrm>
            <a:off x="-252536" y="6309320"/>
            <a:ext cx="92170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200" b="1"/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SL95052758                     REX-Asset   realty  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co.Ltd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 descr="렉스로고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60232" y="6237312"/>
            <a:ext cx="2057400" cy="356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6FD5-6B54-4499-AB28-BDBD8FDA0C1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6FD5-6B54-4499-AB28-BDBD8FDA0C1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6FD5-6B54-4499-AB28-BDBD8FDA0C1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6FD5-6B54-4499-AB28-BDBD8FDA0C1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6FD5-6B54-4499-AB28-BDBD8FDA0C1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6FD5-6B54-4499-AB28-BDBD8FDA0C1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6FD5-6B54-4499-AB28-BDBD8FDA0C1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3BF4-BC3B-45DC-A715-0756DAC3AA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3BF4-BC3B-45DC-A715-0756DAC3AA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3BF4-BC3B-45DC-A715-0756DAC3AA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3BF4-BC3B-45DC-A715-0756DAC3AA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56792"/>
            <a:ext cx="4041775" cy="64807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204863"/>
            <a:ext cx="4041775" cy="39212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3BF4-BC3B-45DC-A715-0756DAC3AA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3BF4-BC3B-45DC-A715-0756DAC3AA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3BF4-BC3B-45DC-A715-0756DAC3AA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3BF4-BC3B-45DC-A715-0756DAC3AA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3BF4-BC3B-45DC-A715-0756DAC3AA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3BF4-BC3B-45DC-A715-0756DAC3AA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3BF4-BC3B-45DC-A715-0756DAC3AA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7"/>
          <p:cNvGraphicFramePr>
            <a:graphicFrameLocks noChangeAspect="1"/>
          </p:cNvGraphicFramePr>
          <p:nvPr/>
        </p:nvGraphicFramePr>
        <p:xfrm>
          <a:off x="4356100" y="9525"/>
          <a:ext cx="4787900" cy="385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Image" r:id="rId3" imgW="8228571" imgH="8711111" progId="">
                  <p:embed/>
                </p:oleObj>
              </mc:Choice>
              <mc:Fallback>
                <p:oleObj name="Image" r:id="rId3" imgW="8228571" imgH="8711111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9525"/>
                        <a:ext cx="4787900" cy="385127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EAE2BA">
                              <a:alpha val="21999"/>
                            </a:srgbClr>
                          </a:gs>
                          <a:gs pos="5832">
                            <a:srgbClr val="E6DA9B">
                              <a:alpha val="26548"/>
                            </a:srgbClr>
                          </a:gs>
                          <a:gs pos="12000">
                            <a:srgbClr val="E6D78A">
                              <a:alpha val="31359"/>
                            </a:srgbClr>
                          </a:gs>
                          <a:gs pos="30000">
                            <a:srgbClr val="C7AC4C">
                              <a:alpha val="45399"/>
                            </a:srgbClr>
                          </a:gs>
                          <a:gs pos="40005">
                            <a:srgbClr val="DCC975">
                              <a:alpha val="53203"/>
                            </a:srgbClr>
                          </a:gs>
                          <a:gs pos="45000">
                            <a:srgbClr val="E6D78A">
                              <a:alpha val="57099"/>
                            </a:srgbClr>
                          </a:gs>
                          <a:gs pos="77000">
                            <a:srgbClr val="C7AC4C">
                              <a:alpha val="82060"/>
                            </a:srgbClr>
                          </a:gs>
                          <a:gs pos="100000">
                            <a:srgbClr val="E6DCAC"/>
                          </a:gs>
                        </a:gsLst>
                        <a:lin ang="0"/>
                      </a:gra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8" descr="Light horizontal"/>
          <p:cNvSpPr>
            <a:spLocks noChangeArrowheads="1"/>
          </p:cNvSpPr>
          <p:nvPr/>
        </p:nvSpPr>
        <p:spPr bwMode="gray">
          <a:xfrm>
            <a:off x="0" y="9525"/>
            <a:ext cx="1258888" cy="6848475"/>
          </a:xfrm>
          <a:prstGeom prst="rect">
            <a:avLst/>
          </a:prstGeom>
          <a:pattFill prst="ltHorz">
            <a:fgClr>
              <a:srgbClr val="D7DB9D"/>
            </a:fgClr>
            <a:bgClr>
              <a:schemeClr val="bg1"/>
            </a:bgClr>
          </a:patt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/>
          </a:p>
        </p:txBody>
      </p:sp>
      <p:sp>
        <p:nvSpPr>
          <p:cNvPr id="5" name="Rectangle 19"/>
          <p:cNvSpPr>
            <a:spLocks noChangeArrowheads="1"/>
          </p:cNvSpPr>
          <p:nvPr/>
        </p:nvSpPr>
        <p:spPr bwMode="ltGray">
          <a:xfrm flipV="1">
            <a:off x="0" y="3259138"/>
            <a:ext cx="9144000" cy="746125"/>
          </a:xfrm>
          <a:prstGeom prst="rect">
            <a:avLst/>
          </a:prstGeom>
          <a:solidFill>
            <a:srgbClr val="D7DB9D">
              <a:alpha val="70979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/>
          </a:p>
        </p:txBody>
      </p:sp>
      <p:pic>
        <p:nvPicPr>
          <p:cNvPr id="6" name="그림 8" descr="제이엠투-신규1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800" y="5589588"/>
            <a:ext cx="9779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1447800" y="3548063"/>
            <a:ext cx="7239000" cy="1371600"/>
          </a:xfrm>
          <a:prstGeom prst="rect">
            <a:avLst/>
          </a:prstGeom>
        </p:spPr>
        <p:txBody>
          <a:bodyPr/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19734781"/>
      </p:ext>
    </p:extLst>
  </p:cSld>
  <p:clrMapOvr>
    <a:masterClrMapping/>
  </p:clrMapOvr>
  <p:hf sldNum="0"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7688" y="319088"/>
            <a:ext cx="7162800" cy="563562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946650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400800"/>
            <a:ext cx="2667000" cy="255588"/>
          </a:xfrm>
          <a:prstGeom prst="rect">
            <a:avLst/>
          </a:prstGeom>
        </p:spPr>
        <p:txBody>
          <a:bodyPr/>
          <a:lstStyle>
            <a:lvl1pPr eaLnBrk="1" latinLnBrk="0" hangingPunct="1">
              <a:defRPr kumimoji="0">
                <a:latin typeface="Arial" pitchFamily="34" charset="0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5943600" y="6400800"/>
            <a:ext cx="2895600" cy="2286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 kumimoji="0">
                <a:latin typeface="Arial" pitchFamily="34" charset="0"/>
                <a:ea typeface="+mn-ea"/>
              </a:defRPr>
            </a:lvl1pPr>
          </a:lstStyle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29CD17-4968-4323-A9EE-781C602B4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597411"/>
      </p:ext>
    </p:extLst>
  </p:cSld>
  <p:clrMapOvr>
    <a:masterClrMapping/>
  </p:clrMapOvr>
  <p:hf sldNum="0"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7688" y="319088"/>
            <a:ext cx="7162800" cy="563562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400800"/>
            <a:ext cx="2667000" cy="255588"/>
          </a:xfrm>
          <a:prstGeom prst="rect">
            <a:avLst/>
          </a:prstGeom>
        </p:spPr>
        <p:txBody>
          <a:bodyPr/>
          <a:lstStyle>
            <a:lvl1pPr eaLnBrk="1" latinLnBrk="0" hangingPunct="1">
              <a:defRPr kumimoji="0">
                <a:latin typeface="Arial" pitchFamily="34" charset="0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5943600" y="6400800"/>
            <a:ext cx="2895600" cy="2286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 kumimoji="0">
                <a:latin typeface="Arial" pitchFamily="34" charset="0"/>
                <a:ea typeface="+mn-ea"/>
              </a:defRPr>
            </a:lvl1pPr>
          </a:lstStyle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29CD17-4968-4323-A9EE-781C602B4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988800"/>
      </p:ext>
    </p:extLst>
  </p:cSld>
  <p:clrMapOvr>
    <a:masterClrMapping/>
  </p:clrMapOvr>
  <p:hf sldNum="0"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400800"/>
            <a:ext cx="2667000" cy="255588"/>
          </a:xfrm>
          <a:prstGeom prst="rect">
            <a:avLst/>
          </a:prstGeom>
        </p:spPr>
        <p:txBody>
          <a:bodyPr/>
          <a:lstStyle>
            <a:lvl1pPr eaLnBrk="1" latinLnBrk="0" hangingPunct="1">
              <a:defRPr kumimoji="0">
                <a:latin typeface="Arial" pitchFamily="34" charset="0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5943600" y="6400800"/>
            <a:ext cx="2895600" cy="2286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 kumimoji="0">
                <a:latin typeface="Arial" pitchFamily="34" charset="0"/>
                <a:ea typeface="+mn-ea"/>
              </a:defRPr>
            </a:lvl1pPr>
          </a:lstStyle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29CD17-4968-4323-A9EE-781C602B4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300781"/>
      </p:ext>
    </p:extLst>
  </p:cSld>
  <p:clrMapOvr>
    <a:masterClrMapping/>
  </p:clrMapOvr>
  <p:hf sldNum="0"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7688" y="319088"/>
            <a:ext cx="7162800" cy="563562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1C82C8-7A3C-4D9F-BA17-5D4026EE08C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순서도: 처리 5"/>
          <p:cNvSpPr/>
          <p:nvPr userDrawn="1"/>
        </p:nvSpPr>
        <p:spPr>
          <a:xfrm>
            <a:off x="0" y="6453336"/>
            <a:ext cx="9144000" cy="0"/>
          </a:xfrm>
          <a:prstGeom prst="flowChartProcess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6"/>
          <p:cNvSpPr txBox="1">
            <a:spLocks/>
          </p:cNvSpPr>
          <p:nvPr userDrawn="1"/>
        </p:nvSpPr>
        <p:spPr>
          <a:xfrm>
            <a:off x="6588224" y="6544990"/>
            <a:ext cx="2133600" cy="31301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785534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400800"/>
            <a:ext cx="2667000" cy="255588"/>
          </a:xfrm>
          <a:prstGeom prst="rect">
            <a:avLst/>
          </a:prstGeom>
        </p:spPr>
        <p:txBody>
          <a:bodyPr/>
          <a:lstStyle>
            <a:lvl1pPr eaLnBrk="1" latinLnBrk="0" hangingPunct="1">
              <a:defRPr kumimoji="0">
                <a:latin typeface="Arial" pitchFamily="34" charset="0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5943600" y="6400800"/>
            <a:ext cx="2895600" cy="2286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 kumimoji="0">
                <a:latin typeface="Arial" pitchFamily="34" charset="0"/>
                <a:ea typeface="+mn-ea"/>
              </a:defRPr>
            </a:lvl1pPr>
          </a:lstStyle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29CD17-4968-4323-A9EE-781C602B4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1097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400800"/>
            <a:ext cx="2667000" cy="255588"/>
          </a:xfrm>
          <a:prstGeom prst="rect">
            <a:avLst/>
          </a:prstGeom>
        </p:spPr>
        <p:txBody>
          <a:bodyPr/>
          <a:lstStyle>
            <a:lvl1pPr eaLnBrk="1" latinLnBrk="0" hangingPunct="1">
              <a:defRPr kumimoji="0">
                <a:latin typeface="Arial" pitchFamily="34" charset="0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5943600" y="6400800"/>
            <a:ext cx="2895600" cy="2286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 kumimoji="0">
                <a:latin typeface="Arial" pitchFamily="34" charset="0"/>
                <a:ea typeface="+mn-ea"/>
              </a:defRPr>
            </a:lvl1pPr>
          </a:lstStyle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29CD17-4968-4323-A9EE-781C602B4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6798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400800"/>
            <a:ext cx="2667000" cy="255588"/>
          </a:xfrm>
          <a:prstGeom prst="rect">
            <a:avLst/>
          </a:prstGeom>
        </p:spPr>
        <p:txBody>
          <a:bodyPr/>
          <a:lstStyle>
            <a:lvl1pPr eaLnBrk="1" latinLnBrk="0" hangingPunct="1">
              <a:defRPr kumimoji="0">
                <a:latin typeface="Arial" pitchFamily="34" charset="0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5943600" y="6400800"/>
            <a:ext cx="2895600" cy="2286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 kumimoji="0">
                <a:latin typeface="Arial" pitchFamily="34" charset="0"/>
                <a:ea typeface="+mn-ea"/>
              </a:defRPr>
            </a:lvl1pPr>
          </a:lstStyle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29CD17-4968-4323-A9EE-781C602B4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52586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7688" y="319088"/>
            <a:ext cx="7162800" cy="563562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400800"/>
            <a:ext cx="2667000" cy="255588"/>
          </a:xfrm>
          <a:prstGeom prst="rect">
            <a:avLst/>
          </a:prstGeom>
        </p:spPr>
        <p:txBody>
          <a:bodyPr/>
          <a:lstStyle>
            <a:lvl1pPr eaLnBrk="1" latinLnBrk="0" hangingPunct="1">
              <a:defRPr kumimoji="0"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www.themegallery.com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5943600" y="6400800"/>
            <a:ext cx="2895600" cy="2286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 kumimoji="0">
                <a:latin typeface="Arial" pitchFamily="34" charset="0"/>
                <a:ea typeface="+mn-ea"/>
              </a:defRPr>
            </a:lvl1pPr>
          </a:lstStyle>
          <a:p>
            <a:r>
              <a:rPr lang="en-US" altLang="ko-KR"/>
              <a:t>ghfghfgh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29CD17-4968-4323-A9EE-781C602B4EB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889602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400800"/>
            <a:ext cx="2667000" cy="255588"/>
          </a:xfrm>
          <a:prstGeom prst="rect">
            <a:avLst/>
          </a:prstGeom>
        </p:spPr>
        <p:txBody>
          <a:bodyPr/>
          <a:lstStyle>
            <a:lvl1pPr eaLnBrk="1" latinLnBrk="0" hangingPunct="1">
              <a:defRPr kumimoji="0">
                <a:latin typeface="Arial" pitchFamily="34" charset="0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5943600" y="6400800"/>
            <a:ext cx="2895600" cy="2286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 kumimoji="0">
                <a:latin typeface="Arial" pitchFamily="34" charset="0"/>
                <a:ea typeface="+mn-ea"/>
              </a:defRPr>
            </a:lvl1pPr>
          </a:lstStyle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29CD17-4968-4323-A9EE-781C602B4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736351"/>
      </p:ext>
    </p:extLst>
  </p:cSld>
  <p:clrMapOvr>
    <a:masterClrMapping/>
  </p:clrMapOvr>
  <p:hf sldNum="0"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7688" y="319088"/>
            <a:ext cx="7162800" cy="563562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57200" y="1076325"/>
            <a:ext cx="8229600" cy="5248275"/>
          </a:xfrm>
        </p:spPr>
        <p:txBody>
          <a:bodyPr/>
          <a:lstStyle/>
          <a:p>
            <a:pPr lvl="0"/>
            <a:r>
              <a:rPr lang="ko-KR" altLang="en-US" noProof="0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400800"/>
            <a:ext cx="2667000" cy="255588"/>
          </a:xfrm>
          <a:prstGeom prst="rect">
            <a:avLst/>
          </a:prstGeom>
        </p:spPr>
        <p:txBody>
          <a:bodyPr/>
          <a:lstStyle>
            <a:lvl1pPr eaLnBrk="1" latinLnBrk="0" hangingPunct="1">
              <a:defRPr kumimoji="0">
                <a:latin typeface="Arial" pitchFamily="34" charset="0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5943600" y="6400800"/>
            <a:ext cx="2895600" cy="2286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 kumimoji="0">
                <a:latin typeface="Arial" pitchFamily="34" charset="0"/>
                <a:ea typeface="+mn-ea"/>
              </a:defRPr>
            </a:lvl1pPr>
          </a:lstStyle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29CD17-4968-4323-A9EE-781C602B4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971223"/>
      </p:ext>
    </p:extLst>
  </p:cSld>
  <p:clrMapOvr>
    <a:masterClrMapping/>
  </p:clrMapOvr>
  <p:hf sldNum="0" hd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latinLnBrk="0" hangingPunct="0">
              <a:defRPr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fld id="{A834310F-B938-4639-A210-2A8D56E4086F}" type="datetime1">
              <a:rPr lang="ko-KR" altLang="en-US" smtClean="0"/>
              <a:pPr>
                <a:defRPr/>
              </a:pPr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latinLnBrk="0" hangingPunct="0">
              <a:defRPr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홍길동과장 </a:t>
            </a:r>
            <a:r>
              <a:rPr lang="en-US" altLang="ko-KR"/>
              <a:t>02-1577-3380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3865C6-C86D-4FE4-B078-98F7348F278D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67665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latinLnBrk="0" hangingPunct="0">
              <a:defRPr>
                <a:latin typeface="Arial" charset="0"/>
                <a:ea typeface="굴림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latinLnBrk="0" hangingPunct="0">
              <a:defRPr>
                <a:latin typeface="Arial" charset="0"/>
                <a:ea typeface="굴림" pitchFamily="50" charset="-127"/>
              </a:defRPr>
            </a:lvl1pPr>
          </a:lstStyle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29CD17-4968-4323-A9EE-781C602B4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3316490"/>
      </p:ext>
    </p:extLst>
  </p:cSld>
  <p:clrMapOvr>
    <a:masterClrMapping/>
  </p:clrMapOvr>
  <p:hf sldNum="0" hd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순서도: 처리 9"/>
          <p:cNvSpPr/>
          <p:nvPr userDrawn="1"/>
        </p:nvSpPr>
        <p:spPr>
          <a:xfrm>
            <a:off x="0" y="6453336"/>
            <a:ext cx="9144000" cy="0"/>
          </a:xfrm>
          <a:prstGeom prst="flowChartProcess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슬라이드 번호 개체 틀 6"/>
          <p:cNvSpPr txBox="1">
            <a:spLocks/>
          </p:cNvSpPr>
          <p:nvPr userDrawn="1"/>
        </p:nvSpPr>
        <p:spPr>
          <a:xfrm>
            <a:off x="6588224" y="6544990"/>
            <a:ext cx="2133600" cy="31301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바닥글 개체 틀 3"/>
          <p:cNvSpPr txBox="1">
            <a:spLocks/>
          </p:cNvSpPr>
          <p:nvPr userDrawn="1"/>
        </p:nvSpPr>
        <p:spPr>
          <a:xfrm>
            <a:off x="-252536" y="6309320"/>
            <a:ext cx="7308304" cy="6926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200" b="1"/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S36682758                                              Miso   realty  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co.Ltd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제목 1"/>
          <p:cNvSpPr>
            <a:spLocks noGrp="1"/>
          </p:cNvSpPr>
          <p:nvPr>
            <p:ph type="ctrTitle"/>
          </p:nvPr>
        </p:nvSpPr>
        <p:spPr>
          <a:xfrm>
            <a:off x="1115616" y="1556792"/>
            <a:ext cx="288032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6547719"/>
            <a:ext cx="2133600" cy="310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75656" y="274638"/>
            <a:ext cx="7344816" cy="346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>
            <a:noAutofit/>
          </a:bodyPr>
          <a:lstStyle>
            <a:lvl1pPr>
              <a:defRPr sz="24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9CD17-4968-4323-A9EE-781C602B4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9CD17-4968-4323-A9EE-781C602B4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2843808" y="6356350"/>
            <a:ext cx="4176464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9CD17-4968-4323-A9EE-781C602B4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9CD17-4968-4323-A9EE-781C602B4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48.xml"/><Relationship Id="rId21" Type="http://schemas.openxmlformats.org/officeDocument/2006/relationships/image" Target="../media/image2.jpeg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theme" Target="../theme/theme5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CB65B-16F1-46EB-B7BF-78F9DBA3228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</p:sldLayoutIdLst>
  <p:hf sldNum="0"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3E02B-9720-4ACE-8CC1-B040FD7FA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hf sldNum="0"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66FD5-6B54-4499-AB28-BDBD8FDA0C1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hf sldNum="0"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ghfghfgh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93BF4-BC3B-45DC-A715-0756DAC3AA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 descr="Light horizontal"/>
          <p:cNvSpPr>
            <a:spLocks noChangeArrowheads="1"/>
          </p:cNvSpPr>
          <p:nvPr/>
        </p:nvSpPr>
        <p:spPr bwMode="gray">
          <a:xfrm>
            <a:off x="0" y="0"/>
            <a:ext cx="468313" cy="6858000"/>
          </a:xfrm>
          <a:prstGeom prst="rect">
            <a:avLst/>
          </a:prstGeom>
          <a:pattFill prst="ltHorz">
            <a:fgClr>
              <a:schemeClr val="bg2"/>
            </a:fgClr>
            <a:bgClr>
              <a:srgbClr val="FFFFFF"/>
            </a:bgClr>
          </a:patt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57600" y="6386513"/>
            <a:ext cx="2133600" cy="2111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0" hangingPunct="1">
              <a:defRPr kumimoji="0" sz="1000" b="1">
                <a:latin typeface="Verdana" pitchFamily="34" charset="0"/>
                <a:ea typeface="굴림" pitchFamily="50" charset="-127"/>
              </a:defRPr>
            </a:lvl1pPr>
          </a:lstStyle>
          <a:p>
            <a:fld id="{DF29CD17-4968-4323-A9EE-781C602B4EB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71438" y="690563"/>
            <a:ext cx="9001125" cy="1587"/>
          </a:xfrm>
          <a:prstGeom prst="line">
            <a:avLst/>
          </a:prstGeom>
          <a:ln w="38100">
            <a:solidFill>
              <a:srgbClr val="9695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85725" y="6383338"/>
            <a:ext cx="533400" cy="53975"/>
          </a:xfrm>
          <a:prstGeom prst="rect">
            <a:avLst/>
          </a:prstGeom>
          <a:solidFill>
            <a:srgbClr val="FFC000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49288" y="6388100"/>
            <a:ext cx="8404225" cy="49213"/>
          </a:xfrm>
          <a:prstGeom prst="rect">
            <a:avLst/>
          </a:prstGeom>
          <a:solidFill>
            <a:srgbClr val="96956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pic>
        <p:nvPicPr>
          <p:cNvPr id="9" name="그림 9" descr="엠에스 로고"/>
          <p:cNvPicPr>
            <a:picLocks noGrp="1" noChangeAspect="1"/>
          </p:cNvPicPr>
          <p:nvPr isPhoto="1"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488" y="117475"/>
            <a:ext cx="22320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3" r:id="rId14"/>
    <p:sldLayoutId id="2147483654" r:id="rId15"/>
    <p:sldLayoutId id="2147483754" r:id="rId16"/>
    <p:sldLayoutId id="2147483713" r:id="rId17"/>
    <p:sldLayoutId id="2147483711" r:id="rId18"/>
    <p:sldLayoutId id="2147483659" r:id="rId19"/>
  </p:sldLayoutIdLst>
  <p:hf sldNum="0" hd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Arial" pitchFamily="34" charset="0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itchFamily="34" charset="0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itchFamily="34" charset="0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8.xml"/><Relationship Id="rId5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1"/>
          <p:cNvSpPr txBox="1">
            <a:spLocks/>
          </p:cNvSpPr>
          <p:nvPr/>
        </p:nvSpPr>
        <p:spPr>
          <a:xfrm>
            <a:off x="517524" y="620713"/>
            <a:ext cx="6574755" cy="1512887"/>
          </a:xfrm>
          <a:prstGeom prst="rect">
            <a:avLst/>
          </a:prstGeom>
        </p:spPr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6600" b="1" dirty="0">
                <a:solidFill>
                  <a:srgbClr val="996633"/>
                </a:solidFill>
                <a:latin typeface="나눔고딕" pitchFamily="50" charset="-127"/>
                <a:ea typeface="나눔고딕" pitchFamily="50" charset="-127"/>
              </a:rPr>
              <a:t>Building</a:t>
            </a:r>
            <a:r>
              <a:rPr kumimoji="0" lang="en-US" altLang="ko-KR" sz="6600" b="1" dirty="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kumimoji="0" lang="en-US" altLang="ko-KR" sz="6600" b="1" dirty="0">
                <a:solidFill>
                  <a:srgbClr val="121C3F"/>
                </a:solidFill>
                <a:latin typeface="나눔고딕" pitchFamily="50" charset="-127"/>
                <a:ea typeface="나눔고딕" pitchFamily="50" charset="-127"/>
              </a:rPr>
              <a:t>Report 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b="1" dirty="0">
                <a:solidFill>
                  <a:srgbClr val="121C3F"/>
                </a:solidFill>
                <a:latin typeface="나눔고딕" pitchFamily="50" charset="-127"/>
                <a:ea typeface="나눔고딕" pitchFamily="50" charset="-127"/>
              </a:rPr>
              <a:t>&lt;</a:t>
            </a:r>
            <a:r>
              <a:rPr lang="ko-KR" altLang="en-US" sz="3200" b="1" dirty="0">
                <a:solidFill>
                  <a:srgbClr val="996633"/>
                </a:solidFill>
                <a:latin typeface="나눔고딕" pitchFamily="50" charset="-127"/>
                <a:ea typeface="나눔고딕" pitchFamily="50" charset="-127"/>
              </a:rPr>
              <a:t>물건</a:t>
            </a:r>
            <a:r>
              <a:rPr lang="ko-KR" altLang="en-US" sz="3200" b="1" dirty="0">
                <a:solidFill>
                  <a:srgbClr val="121C3F"/>
                </a:solidFill>
                <a:latin typeface="나눔고딕" pitchFamily="50" charset="-127"/>
                <a:ea typeface="나눔고딕" pitchFamily="50" charset="-127"/>
              </a:rPr>
              <a:t> 보고서</a:t>
            </a:r>
            <a:r>
              <a:rPr lang="en-US" altLang="ko-KR" sz="3200" b="1" dirty="0">
                <a:solidFill>
                  <a:srgbClr val="121C3F"/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3200" b="1" dirty="0" smtClean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전속</a:t>
            </a:r>
            <a:endParaRPr kumimoji="0" lang="ko-KR" altLang="en-US" sz="3600" b="1" dirty="0">
              <a:solidFill>
                <a:srgbClr val="FF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6387" name="텍스트 개체 틀 12"/>
          <p:cNvSpPr txBox="1">
            <a:spLocks/>
          </p:cNvSpPr>
          <p:nvPr/>
        </p:nvSpPr>
        <p:spPr bwMode="auto">
          <a:xfrm>
            <a:off x="6207125" y="3992054"/>
            <a:ext cx="2290935" cy="130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1300" b="1" dirty="0" smtClean="0">
                <a:latin typeface="나눔고딕" pitchFamily="50" charset="-127"/>
                <a:ea typeface="나눔고딕" pitchFamily="50" charset="-127"/>
              </a:rPr>
              <a:t>담당</a:t>
            </a:r>
            <a:r>
              <a:rPr lang="en-US" altLang="ko-KR" sz="1300" b="1" dirty="0" smtClean="0">
                <a:latin typeface="나눔고딕" pitchFamily="50" charset="-127"/>
                <a:ea typeface="나눔고딕" pitchFamily="50" charset="-127"/>
              </a:rPr>
              <a:t>:</a:t>
            </a:r>
            <a:r>
              <a:rPr lang="ko-KR" altLang="en-US" sz="1300" b="1" dirty="0" err="1" smtClean="0">
                <a:latin typeface="나눔고딕" pitchFamily="50" charset="-127"/>
                <a:ea typeface="나눔고딕" pitchFamily="50" charset="-127"/>
              </a:rPr>
              <a:t>차상혁대표</a:t>
            </a:r>
            <a:endParaRPr lang="en-US" altLang="ko-KR" sz="1300" b="1" dirty="0">
              <a:latin typeface="나눔고딕" pitchFamily="50" charset="-127"/>
              <a:ea typeface="나눔고딕" pitchFamily="50" charset="-127"/>
            </a:endParaRPr>
          </a:p>
          <a:p>
            <a:pPr algn="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1300" b="1" dirty="0" smtClean="0">
                <a:latin typeface="나눔고딕" pitchFamily="50" charset="-127"/>
                <a:ea typeface="나눔고딕" pitchFamily="50" charset="-127"/>
              </a:rPr>
              <a:t>연락처</a:t>
            </a:r>
            <a:r>
              <a:rPr lang="en-US" altLang="ko-KR" sz="1300" b="1" dirty="0" smtClean="0">
                <a:latin typeface="나눔고딕" pitchFamily="50" charset="-127"/>
                <a:ea typeface="나눔고딕" pitchFamily="50" charset="-127"/>
              </a:rPr>
              <a:t>:</a:t>
            </a:r>
            <a:r>
              <a:rPr kumimoji="0" lang="en-US" altLang="ko-KR" sz="1300" b="1" dirty="0" smtClean="0">
                <a:latin typeface="나눔고딕" pitchFamily="50" charset="-127"/>
                <a:ea typeface="나눔고딕" pitchFamily="50" charset="-127"/>
              </a:rPr>
              <a:t>519-3049</a:t>
            </a:r>
            <a:endParaRPr kumimoji="0" lang="en-US" altLang="ko-KR" sz="1300" b="1" dirty="0">
              <a:latin typeface="나눔고딕" pitchFamily="50" charset="-127"/>
              <a:ea typeface="나눔고딕" pitchFamily="50" charset="-127"/>
            </a:endParaRPr>
          </a:p>
          <a:p>
            <a:pPr algn="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ko-KR" altLang="en-US" sz="1300" b="1" dirty="0" smtClean="0">
                <a:latin typeface="나눔고딕" pitchFamily="50" charset="-127"/>
                <a:ea typeface="나눔고딕" pitchFamily="50" charset="-127"/>
              </a:rPr>
              <a:t>팩스</a:t>
            </a:r>
            <a:r>
              <a:rPr kumimoji="0" lang="en-US" altLang="ko-KR" sz="1300" b="1" dirty="0" smtClean="0">
                <a:latin typeface="나눔고딕" pitchFamily="50" charset="-127"/>
                <a:ea typeface="나눔고딕" pitchFamily="50" charset="-127"/>
              </a:rPr>
              <a:t>:02-3446-9100</a:t>
            </a:r>
            <a:endParaRPr kumimoji="0" lang="ko-KR" altLang="en-US" sz="1300" b="1" dirty="0">
              <a:latin typeface="나눔고딕" pitchFamily="50" charset="-127"/>
              <a:ea typeface="나눔고딕" pitchFamily="50" charset="-127"/>
            </a:endParaRPr>
          </a:p>
          <a:p>
            <a:pPr algn="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300" b="1" dirty="0" smtClean="0">
                <a:latin typeface="나눔고딕" pitchFamily="50" charset="-127"/>
                <a:ea typeface="나눔고딕" pitchFamily="50" charset="-127"/>
              </a:rPr>
              <a:t>E-mail</a:t>
            </a:r>
            <a:endParaRPr kumimoji="0" lang="ko-KR" altLang="en-US" sz="1300" b="1" dirty="0"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1187624" y="5300663"/>
            <a:ext cx="731043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평행 사변형 35"/>
          <p:cNvSpPr/>
          <p:nvPr/>
        </p:nvSpPr>
        <p:spPr>
          <a:xfrm>
            <a:off x="467544" y="2421731"/>
            <a:ext cx="6913563" cy="71438"/>
          </a:xfrm>
          <a:prstGeom prst="parallelogram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1" name="Picture 12" descr="C:\Users\lsh\lsh업무용\양식\사본 -제이에스로고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5502010"/>
            <a:ext cx="2664297" cy="432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 descr="C:\Users\lsh\lsh업무용\양식\사본 -제이에스로고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7213" y="101887"/>
            <a:ext cx="2088232" cy="461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8232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506413" y="144463"/>
            <a:ext cx="478631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latinLnBrk="0" hangingPunct="1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  <a:t/>
            </a:r>
            <a:b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</a:br>
            <a:r>
              <a:rPr kumimoji="0" lang="en-US" altLang="ko-KR" sz="2000" dirty="0">
                <a:solidFill>
                  <a:srgbClr val="996633"/>
                </a:solidFill>
                <a:latin typeface="Times New Roman" pitchFamily="18" charset="0"/>
              </a:rPr>
              <a:t>Building</a:t>
            </a:r>
            <a:r>
              <a:rPr kumimoji="0" lang="en-US" altLang="ko-KR" sz="2000" dirty="0">
                <a:latin typeface="Times New Roman" pitchFamily="18" charset="0"/>
              </a:rPr>
              <a:t> </a:t>
            </a:r>
            <a:r>
              <a:rPr kumimoji="0" lang="en-US" altLang="ko-KR" sz="2000" dirty="0">
                <a:solidFill>
                  <a:srgbClr val="121C3F"/>
                </a:solidFill>
                <a:latin typeface="Times New Roman" pitchFamily="18" charset="0"/>
              </a:rPr>
              <a:t>Report </a:t>
            </a:r>
            <a:r>
              <a:rPr kumimoji="0" lang="en-US" altLang="ko-KR" sz="2000">
                <a:solidFill>
                  <a:srgbClr val="121C3F"/>
                </a:solidFill>
                <a:latin typeface="Times New Roman" pitchFamily="18" charset="0"/>
              </a:rPr>
              <a:t>– </a:t>
            </a:r>
            <a:r>
              <a:rPr kumimoji="0" lang="ko-KR" altLang="en-US" sz="2000">
                <a:solidFill>
                  <a:srgbClr val="121C3F"/>
                </a:solidFill>
                <a:latin typeface="Times New Roman" pitchFamily="18" charset="0"/>
              </a:rPr>
              <a:t> </a:t>
            </a:r>
            <a:r>
              <a:rPr lang="ko-KR" altLang="en-US" sz="2000">
                <a:solidFill>
                  <a:srgbClr val="121C3F"/>
                </a:solidFill>
                <a:latin typeface="Times New Roman" pitchFamily="18" charset="0"/>
              </a:rPr>
              <a:t>개요</a:t>
            </a:r>
            <a:endParaRPr kumimoji="0" lang="en-US" altLang="ko-KR" sz="1200" dirty="0">
              <a:solidFill>
                <a:srgbClr val="121C3F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5" name="Picture 12" descr="C:\Users\lsh\lsh업무용\양식\사본 -제이에스로고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79089"/>
            <a:ext cx="2475384" cy="541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375759"/>
              </p:ext>
            </p:extLst>
          </p:nvPr>
        </p:nvGraphicFramePr>
        <p:xfrm>
          <a:off x="611560" y="764707"/>
          <a:ext cx="8380040" cy="5822974"/>
        </p:xfrm>
        <a:graphic>
          <a:graphicData uri="http://schemas.openxmlformats.org/drawingml/2006/table">
            <a:tbl>
              <a:tblPr/>
              <a:tblGrid>
                <a:gridCol w="1199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6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6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66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66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66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66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970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소 재 지</a:t>
                      </a:r>
                    </a:p>
                  </a:txBody>
                  <a:tcPr marL="6505" marR="6505" marT="70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경기도 구리시 수택 동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419-19,419-12,419-96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5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     치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구리 시장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도로상황</a:t>
                      </a: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12m*6m*4M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도로 접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78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0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토지정보</a:t>
                      </a:r>
                    </a:p>
                  </a:txBody>
                  <a:tcPr marL="6505" marR="6505" marT="70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면      적</a:t>
                      </a: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651.2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㎡</a:t>
                      </a:r>
                    </a:p>
                  </a:txBody>
                  <a:tcPr marL="6505" marR="6505" marT="704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196.98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평</a:t>
                      </a: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505" marR="6505" marT="704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용도지역</a:t>
                      </a: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도시지역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상업지역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8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공시지가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평당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공시지가 합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78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706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건물정보</a:t>
                      </a:r>
                    </a:p>
                  </a:txBody>
                  <a:tcPr marL="6505" marR="6505" marT="70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연 면 적</a:t>
                      </a: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505" marR="6505" marT="704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7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건 폐 율</a:t>
                      </a: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용 적 율</a:t>
                      </a: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7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규     모</a:t>
                      </a: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주차대수</a:t>
                      </a: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7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준공년도</a:t>
                      </a: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승 강 기</a:t>
                      </a: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578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970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금융정보</a:t>
                      </a:r>
                    </a:p>
                  </a:txBody>
                  <a:tcPr marL="6505" marR="6505" marT="70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보 증 금</a:t>
                      </a: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만원</a:t>
                      </a:r>
                    </a:p>
                  </a:txBody>
                  <a:tcPr marL="6505" marR="6505" marT="704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임 대 료</a:t>
                      </a: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만원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부가세 별도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97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관 리 비</a:t>
                      </a: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</a:t>
                      </a: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만원</a:t>
                      </a:r>
                    </a:p>
                  </a:txBody>
                  <a:tcPr marL="6505" marR="6505" marT="704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융 자 금</a:t>
                      </a: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억원</a:t>
                      </a:r>
                    </a:p>
                  </a:txBody>
                  <a:tcPr marL="6505" marR="6505" marT="704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97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매 매 가</a:t>
                      </a: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89</a:t>
                      </a:r>
                      <a:r>
                        <a:rPr lang="ko-KR" altLang="en-US" sz="1000" b="1" i="0" u="none" strike="noStrike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억</a:t>
                      </a:r>
                      <a:endParaRPr lang="ko-KR" altLang="en-US" sz="1000" b="1" i="0" u="none" strike="noStrike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1" i="0" u="none" strike="noStrike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수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익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률</a:t>
                      </a: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6505" marR="6505" marT="704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2578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0777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err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특</a:t>
                      </a:r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  징</a:t>
                      </a:r>
                    </a:p>
                  </a:txBody>
                  <a:tcPr marL="6505" marR="6505" marT="70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구리 역  경의선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,8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호선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380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미터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분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도보권준역세권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구리전통시장 </a:t>
                      </a:r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안골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로 상권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생활형소비중심상권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지역상권</a:t>
                      </a:r>
                      <a:endParaRPr lang="en-US" altLang="ko-KR" sz="900" b="0" i="0" u="none" strike="noStrike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07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상품 다양화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랜드마크화가능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복합개발 저층 상가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중층오피스텔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;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상층 업무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&amp;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주거</a:t>
                      </a:r>
                      <a:endParaRPr lang="en-US" altLang="ko-KR" sz="900" b="0" i="0" u="none" strike="noStrike" baseline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907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.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현재 나대지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고밀도핵심개발부지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오피스텔부지추천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/1,260%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용적율허가필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2,500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평</a:t>
                      </a:r>
                      <a:endParaRPr lang="ko-KR" altLang="en-US" sz="900" b="0" i="0" u="none" strike="noStrike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fontAlgn="ctr"/>
                      <a:endParaRPr lang="en-US" altLang="ko-KR" sz="900" b="0" i="0" u="none" strike="noStrike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907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평당</a:t>
                      </a:r>
                      <a:r>
                        <a:rPr lang="ko-KR" altLang="en-US" sz="1050" b="0" i="0" u="none" strike="noStrike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50" b="0" i="0" u="none" strike="noStrike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4,500</a:t>
                      </a:r>
                      <a:r>
                        <a:rPr lang="ko-KR" altLang="en-US" sz="1050" b="0" i="0" u="none" strike="noStrike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만원</a:t>
                      </a:r>
                      <a:endParaRPr lang="ko-KR" altLang="en-US" sz="1050" b="0" i="0" u="none" strike="noStrike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ea"/>
                        <a:ea typeface="+mn-ea"/>
                      </a:endParaRPr>
                    </a:p>
                    <a:p>
                      <a:pPr algn="l" fontAlgn="ctr"/>
                      <a:endParaRPr lang="en-US" altLang="ko-KR" sz="900" b="0" i="0" u="none" strike="noStrike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907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505" marR="6505" marT="70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9063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506413" y="144463"/>
            <a:ext cx="62928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latinLnBrk="0" hangingPunct="1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  <a:t/>
            </a:r>
            <a:b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</a:br>
            <a:r>
              <a:rPr kumimoji="0" lang="en-US" altLang="ko-KR" sz="2000" dirty="0">
                <a:solidFill>
                  <a:srgbClr val="996633"/>
                </a:solidFill>
                <a:latin typeface="Times New Roman" pitchFamily="18" charset="0"/>
              </a:rPr>
              <a:t>Building</a:t>
            </a:r>
            <a:r>
              <a:rPr kumimoji="0" lang="en-US" altLang="ko-KR" sz="2000" dirty="0">
                <a:latin typeface="Times New Roman" pitchFamily="18" charset="0"/>
              </a:rPr>
              <a:t> </a:t>
            </a:r>
            <a:r>
              <a:rPr kumimoji="0" lang="en-US" altLang="ko-KR" sz="2000" dirty="0">
                <a:solidFill>
                  <a:srgbClr val="121C3F"/>
                </a:solidFill>
                <a:latin typeface="Times New Roman" pitchFamily="18" charset="0"/>
              </a:rPr>
              <a:t>Report – </a:t>
            </a:r>
            <a:r>
              <a:rPr kumimoji="0" lang="ko-KR" altLang="en-US" sz="2000" dirty="0">
                <a:solidFill>
                  <a:srgbClr val="121C3F"/>
                </a:solidFill>
                <a:latin typeface="Times New Roman" pitchFamily="18" charset="0"/>
              </a:rPr>
              <a:t>위치</a:t>
            </a:r>
            <a:endParaRPr kumimoji="0" lang="en-US" altLang="ko-KR" sz="1200" dirty="0">
              <a:solidFill>
                <a:srgbClr val="121C3F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4" name="Picture 12" descr="C:\Users\lsh\lsh업무용\양식\사본 -제이에스로고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188121"/>
            <a:ext cx="2664297" cy="432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12" y="760508"/>
            <a:ext cx="8378881" cy="562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677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506413" y="144463"/>
            <a:ext cx="62928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latinLnBrk="0" hangingPunct="1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  <a:t/>
            </a:r>
            <a:b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</a:br>
            <a:r>
              <a:rPr kumimoji="0" lang="en-US" altLang="ko-KR" sz="2000" dirty="0">
                <a:solidFill>
                  <a:srgbClr val="996633"/>
                </a:solidFill>
                <a:latin typeface="Times New Roman" pitchFamily="18" charset="0"/>
              </a:rPr>
              <a:t>Building</a:t>
            </a:r>
            <a:r>
              <a:rPr kumimoji="0" lang="en-US" altLang="ko-KR" sz="2000" dirty="0">
                <a:latin typeface="Times New Roman" pitchFamily="18" charset="0"/>
              </a:rPr>
              <a:t> </a:t>
            </a:r>
            <a:r>
              <a:rPr kumimoji="0" lang="en-US" altLang="ko-KR" sz="2000" dirty="0">
                <a:solidFill>
                  <a:srgbClr val="121C3F"/>
                </a:solidFill>
                <a:latin typeface="Times New Roman" pitchFamily="18" charset="0"/>
              </a:rPr>
              <a:t>Report – </a:t>
            </a:r>
            <a:r>
              <a:rPr kumimoji="0" lang="ko-KR" altLang="en-US" sz="2000" dirty="0" smtClean="0">
                <a:solidFill>
                  <a:srgbClr val="121C3F"/>
                </a:solidFill>
                <a:latin typeface="Times New Roman" pitchFamily="18" charset="0"/>
              </a:rPr>
              <a:t>위치</a:t>
            </a:r>
            <a:r>
              <a:rPr kumimoji="0" lang="en-US" altLang="ko-KR" sz="2000" dirty="0" smtClean="0">
                <a:solidFill>
                  <a:srgbClr val="121C3F"/>
                </a:solidFill>
                <a:latin typeface="Times New Roman" pitchFamily="18" charset="0"/>
              </a:rPr>
              <a:t>2</a:t>
            </a:r>
            <a:endParaRPr kumimoji="0" lang="en-US" altLang="ko-KR" sz="1200" dirty="0">
              <a:solidFill>
                <a:srgbClr val="121C3F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4" name="Picture 12" descr="C:\Users\lsh\lsh업무용\양식\사본 -제이에스로고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188121"/>
            <a:ext cx="2664297" cy="432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20" y="764704"/>
            <a:ext cx="8685909" cy="561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800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506412" y="144463"/>
            <a:ext cx="5793779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latinLnBrk="0" hangingPunct="1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  <a:t/>
            </a:r>
            <a:b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</a:br>
            <a:r>
              <a:rPr kumimoji="0" lang="en-US" altLang="ko-KR" sz="2000" dirty="0">
                <a:solidFill>
                  <a:srgbClr val="996633"/>
                </a:solidFill>
                <a:latin typeface="Times New Roman" pitchFamily="18" charset="0"/>
              </a:rPr>
              <a:t>Building</a:t>
            </a:r>
            <a:r>
              <a:rPr kumimoji="0" lang="en-US" altLang="ko-KR" sz="2000" dirty="0">
                <a:latin typeface="Times New Roman" pitchFamily="18" charset="0"/>
              </a:rPr>
              <a:t> </a:t>
            </a:r>
            <a:r>
              <a:rPr kumimoji="0" lang="en-US" altLang="ko-KR" sz="2000" dirty="0">
                <a:solidFill>
                  <a:srgbClr val="121C3F"/>
                </a:solidFill>
                <a:latin typeface="Times New Roman" pitchFamily="18" charset="0"/>
              </a:rPr>
              <a:t>Report – </a:t>
            </a:r>
            <a:r>
              <a:rPr kumimoji="0" lang="ko-KR" altLang="en-US" sz="2000" dirty="0">
                <a:solidFill>
                  <a:srgbClr val="121C3F"/>
                </a:solidFill>
                <a:latin typeface="Times New Roman" pitchFamily="18" charset="0"/>
              </a:rPr>
              <a:t> </a:t>
            </a:r>
            <a:r>
              <a:rPr lang="ko-KR" altLang="en-US" sz="2000" dirty="0">
                <a:solidFill>
                  <a:srgbClr val="121C3F"/>
                </a:solidFill>
                <a:latin typeface="Times New Roman" pitchFamily="18" charset="0"/>
              </a:rPr>
              <a:t>지적도</a:t>
            </a:r>
            <a:endParaRPr kumimoji="0" lang="en-US" altLang="ko-KR" sz="1200" dirty="0">
              <a:solidFill>
                <a:srgbClr val="121C3F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3" name="Picture 12" descr="C:\Users\lsh\lsh업무용\양식\사본 -제이에스로고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757" y="144463"/>
            <a:ext cx="2664297" cy="432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12" y="683013"/>
            <a:ext cx="8338213" cy="576064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cxnSp>
        <p:nvCxnSpPr>
          <p:cNvPr id="5" name="직선 연결선 4"/>
          <p:cNvCxnSpPr/>
          <p:nvPr/>
        </p:nvCxnSpPr>
        <p:spPr bwMode="auto">
          <a:xfrm>
            <a:off x="4716016" y="1988840"/>
            <a:ext cx="432048" cy="7920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직선 연결선 6"/>
          <p:cNvCxnSpPr/>
          <p:nvPr/>
        </p:nvCxnSpPr>
        <p:spPr bwMode="auto">
          <a:xfrm flipH="1">
            <a:off x="4283969" y="1988840"/>
            <a:ext cx="432047" cy="36004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직선 연결선 10"/>
          <p:cNvCxnSpPr/>
          <p:nvPr/>
        </p:nvCxnSpPr>
        <p:spPr bwMode="auto">
          <a:xfrm flipH="1">
            <a:off x="4139952" y="2348880"/>
            <a:ext cx="144017" cy="43204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직선 연결선 12"/>
          <p:cNvCxnSpPr/>
          <p:nvPr/>
        </p:nvCxnSpPr>
        <p:spPr bwMode="auto">
          <a:xfrm>
            <a:off x="4139952" y="2780928"/>
            <a:ext cx="0" cy="21602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직선 연결선 15"/>
          <p:cNvCxnSpPr/>
          <p:nvPr/>
        </p:nvCxnSpPr>
        <p:spPr bwMode="auto">
          <a:xfrm>
            <a:off x="4139952" y="2996952"/>
            <a:ext cx="144017" cy="2880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038418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506413" y="144463"/>
            <a:ext cx="478631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latinLnBrk="0" hangingPunct="1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  <a:t/>
            </a:r>
            <a:b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</a:br>
            <a:r>
              <a:rPr kumimoji="0" lang="en-US" altLang="ko-KR" sz="2000" dirty="0">
                <a:solidFill>
                  <a:srgbClr val="996633"/>
                </a:solidFill>
                <a:latin typeface="Times New Roman" pitchFamily="18" charset="0"/>
              </a:rPr>
              <a:t>Building</a:t>
            </a:r>
            <a:r>
              <a:rPr kumimoji="0" lang="en-US" altLang="ko-KR" sz="2000" dirty="0">
                <a:latin typeface="Times New Roman" pitchFamily="18" charset="0"/>
              </a:rPr>
              <a:t> </a:t>
            </a:r>
            <a:r>
              <a:rPr kumimoji="0" lang="en-US" altLang="ko-KR" sz="2000" dirty="0">
                <a:solidFill>
                  <a:srgbClr val="121C3F"/>
                </a:solidFill>
                <a:latin typeface="Times New Roman" pitchFamily="18" charset="0"/>
              </a:rPr>
              <a:t>Report – </a:t>
            </a:r>
            <a:r>
              <a:rPr kumimoji="0" lang="ko-KR" altLang="en-US" sz="2000" dirty="0">
                <a:solidFill>
                  <a:srgbClr val="121C3F"/>
                </a:solidFill>
                <a:latin typeface="Times New Roman" pitchFamily="18" charset="0"/>
              </a:rPr>
              <a:t> </a:t>
            </a:r>
            <a:r>
              <a:rPr lang="ko-KR" altLang="en-US" sz="2000" dirty="0" smtClean="0">
                <a:solidFill>
                  <a:srgbClr val="121C3F"/>
                </a:solidFill>
                <a:latin typeface="Times New Roman" pitchFamily="18" charset="0"/>
              </a:rPr>
              <a:t>토지 사진</a:t>
            </a:r>
            <a:r>
              <a:rPr kumimoji="0" lang="ko-KR" altLang="en-US" sz="2000" dirty="0" smtClean="0">
                <a:solidFill>
                  <a:srgbClr val="121C3F"/>
                </a:solidFill>
                <a:latin typeface="Times New Roman" pitchFamily="18" charset="0"/>
              </a:rPr>
              <a:t> </a:t>
            </a:r>
            <a:endParaRPr kumimoji="0" lang="en-US" altLang="ko-KR" sz="1200" dirty="0">
              <a:solidFill>
                <a:srgbClr val="121C3F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4" name="Picture 12" descr="C:\Users\lsh\lsh업무용\양식\사본 -제이에스로고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757" y="144463"/>
            <a:ext cx="2664297" cy="432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13" y="692696"/>
            <a:ext cx="8588484" cy="576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061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506413" y="144463"/>
            <a:ext cx="478631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latinLnBrk="0" hangingPunct="1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  <a:t/>
            </a:r>
            <a:b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</a:br>
            <a:r>
              <a:rPr kumimoji="0" lang="en-US" altLang="ko-KR" sz="2000" dirty="0">
                <a:solidFill>
                  <a:srgbClr val="996633"/>
                </a:solidFill>
                <a:latin typeface="Times New Roman" pitchFamily="18" charset="0"/>
              </a:rPr>
              <a:t>Building</a:t>
            </a:r>
            <a:r>
              <a:rPr kumimoji="0" lang="en-US" altLang="ko-KR" sz="2000" dirty="0">
                <a:latin typeface="Times New Roman" pitchFamily="18" charset="0"/>
              </a:rPr>
              <a:t> </a:t>
            </a:r>
            <a:r>
              <a:rPr kumimoji="0" lang="en-US" altLang="ko-KR" sz="2000" dirty="0">
                <a:solidFill>
                  <a:srgbClr val="121C3F"/>
                </a:solidFill>
                <a:latin typeface="Times New Roman" pitchFamily="18" charset="0"/>
              </a:rPr>
              <a:t>Report – </a:t>
            </a:r>
            <a:r>
              <a:rPr kumimoji="0" lang="ko-KR" altLang="en-US" sz="2000" dirty="0">
                <a:solidFill>
                  <a:srgbClr val="121C3F"/>
                </a:solidFill>
                <a:latin typeface="Times New Roman" pitchFamily="18" charset="0"/>
              </a:rPr>
              <a:t> </a:t>
            </a:r>
            <a:r>
              <a:rPr lang="ko-KR" altLang="en-US" sz="2000" dirty="0" smtClean="0">
                <a:solidFill>
                  <a:srgbClr val="121C3F"/>
                </a:solidFill>
                <a:latin typeface="Times New Roman" pitchFamily="18" charset="0"/>
              </a:rPr>
              <a:t>토지앞도로사진</a:t>
            </a:r>
            <a:r>
              <a:rPr lang="en-US" altLang="ko-KR" sz="2000" dirty="0" smtClean="0">
                <a:solidFill>
                  <a:srgbClr val="121C3F"/>
                </a:solidFill>
                <a:latin typeface="Times New Roman" pitchFamily="18" charset="0"/>
              </a:rPr>
              <a:t>1</a:t>
            </a:r>
            <a:r>
              <a:rPr kumimoji="0" lang="ko-KR" altLang="en-US" sz="2000" dirty="0" smtClean="0">
                <a:solidFill>
                  <a:srgbClr val="121C3F"/>
                </a:solidFill>
                <a:latin typeface="Times New Roman" pitchFamily="18" charset="0"/>
              </a:rPr>
              <a:t> </a:t>
            </a:r>
            <a:endParaRPr kumimoji="0" lang="en-US" altLang="ko-KR" sz="1200" dirty="0">
              <a:solidFill>
                <a:srgbClr val="121C3F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4" name="Picture 12" descr="C:\Users\lsh\lsh업무용\양식\사본 -제이에스로고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757" y="144463"/>
            <a:ext cx="2664297" cy="432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14" y="692696"/>
            <a:ext cx="7954018" cy="56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540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506413" y="144463"/>
            <a:ext cx="478631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latinLnBrk="0" hangingPunct="1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  <a:t/>
            </a:r>
            <a:b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</a:br>
            <a:r>
              <a:rPr kumimoji="0" lang="en-US" altLang="ko-KR" sz="2000" dirty="0">
                <a:solidFill>
                  <a:srgbClr val="996633"/>
                </a:solidFill>
                <a:latin typeface="Times New Roman" pitchFamily="18" charset="0"/>
              </a:rPr>
              <a:t>Building</a:t>
            </a:r>
            <a:r>
              <a:rPr kumimoji="0" lang="en-US" altLang="ko-KR" sz="2000" dirty="0">
                <a:latin typeface="Times New Roman" pitchFamily="18" charset="0"/>
              </a:rPr>
              <a:t> </a:t>
            </a:r>
            <a:r>
              <a:rPr kumimoji="0" lang="en-US" altLang="ko-KR" sz="2000" dirty="0">
                <a:solidFill>
                  <a:srgbClr val="121C3F"/>
                </a:solidFill>
                <a:latin typeface="Times New Roman" pitchFamily="18" charset="0"/>
              </a:rPr>
              <a:t>Report – </a:t>
            </a:r>
            <a:r>
              <a:rPr kumimoji="0" lang="ko-KR" altLang="en-US" sz="2000" dirty="0">
                <a:solidFill>
                  <a:srgbClr val="121C3F"/>
                </a:solidFill>
                <a:latin typeface="Times New Roman" pitchFamily="18" charset="0"/>
              </a:rPr>
              <a:t> </a:t>
            </a:r>
            <a:r>
              <a:rPr lang="ko-KR" altLang="en-US" sz="2000" dirty="0" smtClean="0">
                <a:solidFill>
                  <a:srgbClr val="121C3F"/>
                </a:solidFill>
                <a:latin typeface="Times New Roman" pitchFamily="18" charset="0"/>
              </a:rPr>
              <a:t>토지옆도로사진</a:t>
            </a:r>
            <a:r>
              <a:rPr lang="en-US" altLang="ko-KR" sz="2000" dirty="0" smtClean="0">
                <a:solidFill>
                  <a:srgbClr val="121C3F"/>
                </a:solidFill>
                <a:latin typeface="Times New Roman" pitchFamily="18" charset="0"/>
              </a:rPr>
              <a:t>2</a:t>
            </a:r>
            <a:r>
              <a:rPr kumimoji="0" lang="ko-KR" altLang="en-US" sz="2000" dirty="0" smtClean="0">
                <a:solidFill>
                  <a:srgbClr val="121C3F"/>
                </a:solidFill>
                <a:latin typeface="Times New Roman" pitchFamily="18" charset="0"/>
              </a:rPr>
              <a:t> </a:t>
            </a:r>
            <a:endParaRPr kumimoji="0" lang="en-US" altLang="ko-KR" sz="1200" dirty="0">
              <a:solidFill>
                <a:srgbClr val="121C3F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4" name="Picture 12" descr="C:\Users\lsh\lsh업무용\양식\사본 -제이에스로고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757" y="144463"/>
            <a:ext cx="2664297" cy="432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47" y="692696"/>
            <a:ext cx="8026027" cy="577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245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506413" y="144463"/>
            <a:ext cx="478631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latinLnBrk="0" hangingPunct="1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  <a:t/>
            </a:r>
            <a:b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</a:br>
            <a:r>
              <a:rPr kumimoji="0" lang="en-US" altLang="ko-KR" sz="2000" dirty="0">
                <a:solidFill>
                  <a:srgbClr val="996633"/>
                </a:solidFill>
                <a:latin typeface="Times New Roman" pitchFamily="18" charset="0"/>
              </a:rPr>
              <a:t>Building</a:t>
            </a:r>
            <a:r>
              <a:rPr kumimoji="0" lang="en-US" altLang="ko-KR" sz="2000" dirty="0">
                <a:latin typeface="Times New Roman" pitchFamily="18" charset="0"/>
              </a:rPr>
              <a:t> </a:t>
            </a:r>
            <a:r>
              <a:rPr kumimoji="0" lang="en-US" altLang="ko-KR" sz="2000" dirty="0">
                <a:solidFill>
                  <a:srgbClr val="121C3F"/>
                </a:solidFill>
                <a:latin typeface="Times New Roman" pitchFamily="18" charset="0"/>
              </a:rPr>
              <a:t>Report – </a:t>
            </a:r>
            <a:r>
              <a:rPr kumimoji="0" lang="ko-KR" altLang="en-US" sz="2000" dirty="0">
                <a:solidFill>
                  <a:srgbClr val="121C3F"/>
                </a:solidFill>
                <a:latin typeface="Times New Roman" pitchFamily="18" charset="0"/>
              </a:rPr>
              <a:t> </a:t>
            </a:r>
            <a:r>
              <a:rPr kumimoji="0" lang="ko-KR" altLang="en-US" sz="2000" dirty="0" smtClean="0">
                <a:solidFill>
                  <a:srgbClr val="121C3F"/>
                </a:solidFill>
                <a:latin typeface="Times New Roman" pitchFamily="18" charset="0"/>
              </a:rPr>
              <a:t>바로 옆 오피스텔 </a:t>
            </a:r>
            <a:endParaRPr kumimoji="0" lang="en-US" altLang="ko-KR" sz="1200" dirty="0">
              <a:solidFill>
                <a:srgbClr val="121C3F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4" name="Picture 12" descr="C:\Users\lsh\lsh업무용\양식\사본 -제이에스로고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757" y="144463"/>
            <a:ext cx="2664297" cy="432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66" y="692696"/>
            <a:ext cx="7696867" cy="56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916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506413" y="144463"/>
            <a:ext cx="478631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latinLnBrk="0" hangingPunct="1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  <a:t/>
            </a:r>
            <a:b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</a:br>
            <a:r>
              <a:rPr kumimoji="0" lang="en-US" altLang="ko-KR" sz="2000" dirty="0">
                <a:solidFill>
                  <a:srgbClr val="996633"/>
                </a:solidFill>
                <a:latin typeface="Times New Roman" pitchFamily="18" charset="0"/>
              </a:rPr>
              <a:t>Building</a:t>
            </a:r>
            <a:r>
              <a:rPr kumimoji="0" lang="en-US" altLang="ko-KR" sz="2000" dirty="0">
                <a:latin typeface="Times New Roman" pitchFamily="18" charset="0"/>
              </a:rPr>
              <a:t> </a:t>
            </a:r>
            <a:r>
              <a:rPr kumimoji="0" lang="en-US" altLang="ko-KR" sz="2000" dirty="0">
                <a:solidFill>
                  <a:srgbClr val="121C3F"/>
                </a:solidFill>
                <a:latin typeface="Times New Roman" pitchFamily="18" charset="0"/>
              </a:rPr>
              <a:t>Report – </a:t>
            </a:r>
            <a:r>
              <a:rPr kumimoji="0" lang="ko-KR" altLang="en-US" sz="2000" dirty="0">
                <a:solidFill>
                  <a:srgbClr val="121C3F"/>
                </a:solidFill>
                <a:latin typeface="Times New Roman" pitchFamily="18" charset="0"/>
              </a:rPr>
              <a:t> </a:t>
            </a:r>
            <a:r>
              <a:rPr lang="ko-KR" altLang="en-US" sz="2000" dirty="0" smtClean="0">
                <a:solidFill>
                  <a:srgbClr val="121C3F"/>
                </a:solidFill>
                <a:latin typeface="Times New Roman" pitchFamily="18" charset="0"/>
              </a:rPr>
              <a:t>토지측면사진</a:t>
            </a:r>
            <a:r>
              <a:rPr kumimoji="0" lang="ko-KR" altLang="en-US" sz="2000" dirty="0" smtClean="0">
                <a:solidFill>
                  <a:srgbClr val="121C3F"/>
                </a:solidFill>
                <a:latin typeface="Times New Roman" pitchFamily="18" charset="0"/>
              </a:rPr>
              <a:t> </a:t>
            </a:r>
            <a:endParaRPr kumimoji="0" lang="en-US" altLang="ko-KR" sz="1200" dirty="0">
              <a:solidFill>
                <a:srgbClr val="121C3F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4" name="Picture 12" descr="C:\Users\lsh\lsh업무용\양식\사본 -제이에스로고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757" y="144463"/>
            <a:ext cx="2664297" cy="432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464" y="692696"/>
            <a:ext cx="8094984" cy="576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064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506412" y="144463"/>
            <a:ext cx="64418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latinLnBrk="0" hangingPunct="1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  <a:t/>
            </a:r>
            <a:b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</a:br>
            <a:r>
              <a:rPr kumimoji="0" lang="en-US" altLang="ko-KR" sz="2000" dirty="0">
                <a:solidFill>
                  <a:srgbClr val="996633"/>
                </a:solidFill>
                <a:latin typeface="Times New Roman" pitchFamily="18" charset="0"/>
              </a:rPr>
              <a:t>Building</a:t>
            </a:r>
            <a:r>
              <a:rPr kumimoji="0" lang="en-US" altLang="ko-KR" sz="2000" dirty="0">
                <a:latin typeface="Times New Roman" pitchFamily="18" charset="0"/>
              </a:rPr>
              <a:t> </a:t>
            </a:r>
            <a:r>
              <a:rPr kumimoji="0" lang="en-US" altLang="ko-KR" sz="2000" dirty="0">
                <a:solidFill>
                  <a:srgbClr val="121C3F"/>
                </a:solidFill>
                <a:latin typeface="Times New Roman" pitchFamily="18" charset="0"/>
              </a:rPr>
              <a:t>Report – </a:t>
            </a:r>
            <a:r>
              <a:rPr kumimoji="0" lang="ko-KR" altLang="en-US" sz="2000" dirty="0">
                <a:solidFill>
                  <a:srgbClr val="121C3F"/>
                </a:solidFill>
                <a:latin typeface="Times New Roman" pitchFamily="18" charset="0"/>
              </a:rPr>
              <a:t> </a:t>
            </a:r>
            <a:r>
              <a:rPr lang="ko-KR" altLang="en-US" sz="2000" dirty="0" smtClean="0">
                <a:solidFill>
                  <a:srgbClr val="121C3F"/>
                </a:solidFill>
                <a:latin typeface="Times New Roman" pitchFamily="18" charset="0"/>
              </a:rPr>
              <a:t>구리 역 </a:t>
            </a:r>
            <a:r>
              <a:rPr lang="en-US" altLang="ko-KR" sz="2000" dirty="0" smtClean="0">
                <a:solidFill>
                  <a:srgbClr val="121C3F"/>
                </a:solidFill>
                <a:latin typeface="Times New Roman" pitchFamily="18" charset="0"/>
              </a:rPr>
              <a:t>3</a:t>
            </a:r>
            <a:r>
              <a:rPr lang="ko-KR" altLang="en-US" sz="2000" dirty="0" smtClean="0">
                <a:solidFill>
                  <a:srgbClr val="121C3F"/>
                </a:solidFill>
                <a:latin typeface="Times New Roman" pitchFamily="18" charset="0"/>
              </a:rPr>
              <a:t>만명 이용객 별내 선 연결</a:t>
            </a:r>
            <a:r>
              <a:rPr kumimoji="0" lang="ko-KR" altLang="en-US" sz="2000" dirty="0" smtClean="0">
                <a:solidFill>
                  <a:srgbClr val="121C3F"/>
                </a:solidFill>
                <a:latin typeface="Times New Roman" pitchFamily="18" charset="0"/>
              </a:rPr>
              <a:t> </a:t>
            </a:r>
            <a:endParaRPr kumimoji="0" lang="en-US" altLang="ko-KR" sz="1200" dirty="0">
              <a:solidFill>
                <a:srgbClr val="121C3F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4" name="Picture 12" descr="C:\Users\lsh\lsh업무용\양식\사본 -제이에스로고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757" y="144463"/>
            <a:ext cx="2664297" cy="432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13" y="709127"/>
            <a:ext cx="8098035" cy="545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583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506413" y="144463"/>
            <a:ext cx="478631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latinLnBrk="0" hangingPunct="1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  <a:t/>
            </a:r>
            <a:b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</a:br>
            <a:r>
              <a:rPr kumimoji="0" lang="en-US" altLang="ko-KR" sz="2000" dirty="0">
                <a:solidFill>
                  <a:srgbClr val="996633"/>
                </a:solidFill>
                <a:latin typeface="Times New Roman" pitchFamily="18" charset="0"/>
              </a:rPr>
              <a:t>Building</a:t>
            </a:r>
            <a:r>
              <a:rPr kumimoji="0" lang="en-US" altLang="ko-KR" sz="2000" dirty="0">
                <a:latin typeface="Times New Roman" pitchFamily="18" charset="0"/>
              </a:rPr>
              <a:t> </a:t>
            </a:r>
            <a:r>
              <a:rPr kumimoji="0" lang="en-US" altLang="ko-KR" sz="2000" dirty="0">
                <a:solidFill>
                  <a:srgbClr val="121C3F"/>
                </a:solidFill>
                <a:latin typeface="Times New Roman" pitchFamily="18" charset="0"/>
              </a:rPr>
              <a:t>Report – </a:t>
            </a:r>
            <a:r>
              <a:rPr kumimoji="0" lang="ko-KR" altLang="en-US" sz="2000" dirty="0">
                <a:solidFill>
                  <a:srgbClr val="121C3F"/>
                </a:solidFill>
                <a:latin typeface="Times New Roman" pitchFamily="18" charset="0"/>
              </a:rPr>
              <a:t> </a:t>
            </a:r>
            <a:r>
              <a:rPr lang="ko-KR" altLang="en-US" sz="2000" dirty="0" smtClean="0">
                <a:solidFill>
                  <a:srgbClr val="121C3F"/>
                </a:solidFill>
                <a:latin typeface="Times New Roman" pitchFamily="18" charset="0"/>
              </a:rPr>
              <a:t>구리 시장 인산인해</a:t>
            </a:r>
            <a:r>
              <a:rPr kumimoji="0" lang="ko-KR" altLang="en-US" sz="2000" dirty="0" smtClean="0">
                <a:solidFill>
                  <a:srgbClr val="121C3F"/>
                </a:solidFill>
                <a:latin typeface="Times New Roman" pitchFamily="18" charset="0"/>
              </a:rPr>
              <a:t> </a:t>
            </a:r>
            <a:endParaRPr kumimoji="0" lang="en-US" altLang="ko-KR" sz="1200" dirty="0">
              <a:solidFill>
                <a:srgbClr val="121C3F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4" name="Picture 12" descr="C:\Users\lsh\lsh업무용\양식\사본 -제이에스로고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757" y="144463"/>
            <a:ext cx="2664297" cy="432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91" y="692696"/>
            <a:ext cx="8689263" cy="518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031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506413" y="144463"/>
            <a:ext cx="478631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latinLnBrk="0" hangingPunct="1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  <a:t/>
            </a:r>
            <a:b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</a:br>
            <a:r>
              <a:rPr kumimoji="0" lang="en-US" altLang="ko-KR" sz="2000" dirty="0">
                <a:solidFill>
                  <a:srgbClr val="996633"/>
                </a:solidFill>
                <a:latin typeface="Times New Roman" pitchFamily="18" charset="0"/>
              </a:rPr>
              <a:t>Building</a:t>
            </a:r>
            <a:r>
              <a:rPr kumimoji="0" lang="en-US" altLang="ko-KR" sz="2000" dirty="0">
                <a:latin typeface="Times New Roman" pitchFamily="18" charset="0"/>
              </a:rPr>
              <a:t> </a:t>
            </a:r>
            <a:r>
              <a:rPr kumimoji="0" lang="en-US" altLang="ko-KR" sz="2000" dirty="0">
                <a:solidFill>
                  <a:srgbClr val="121C3F"/>
                </a:solidFill>
                <a:latin typeface="Times New Roman" pitchFamily="18" charset="0"/>
              </a:rPr>
              <a:t>Report – </a:t>
            </a:r>
            <a:r>
              <a:rPr kumimoji="0" lang="ko-KR" altLang="en-US" sz="2000" dirty="0">
                <a:solidFill>
                  <a:srgbClr val="121C3F"/>
                </a:solidFill>
                <a:latin typeface="Times New Roman" pitchFamily="18" charset="0"/>
              </a:rPr>
              <a:t> </a:t>
            </a:r>
            <a:r>
              <a:rPr lang="ko-KR" altLang="en-US" sz="2000" dirty="0" err="1" smtClean="0">
                <a:solidFill>
                  <a:srgbClr val="121C3F"/>
                </a:solidFill>
                <a:latin typeface="Times New Roman" pitchFamily="18" charset="0"/>
              </a:rPr>
              <a:t>안골로먹자상권</a:t>
            </a:r>
            <a:r>
              <a:rPr kumimoji="0" lang="ko-KR" altLang="en-US" sz="2000" dirty="0" smtClean="0">
                <a:solidFill>
                  <a:srgbClr val="121C3F"/>
                </a:solidFill>
                <a:latin typeface="Times New Roman" pitchFamily="18" charset="0"/>
              </a:rPr>
              <a:t> </a:t>
            </a:r>
            <a:endParaRPr kumimoji="0" lang="en-US" altLang="ko-KR" sz="1200" dirty="0">
              <a:solidFill>
                <a:srgbClr val="121C3F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4" name="Picture 12" descr="C:\Users\lsh\lsh업무용\양식\사본 -제이에스로고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757" y="144463"/>
            <a:ext cx="2664297" cy="432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16" y="1283784"/>
            <a:ext cx="8397968" cy="429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938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/>
        </p:nvCxnSpPr>
        <p:spPr>
          <a:xfrm>
            <a:off x="71438" y="690563"/>
            <a:ext cx="9001125" cy="1587"/>
          </a:xfrm>
          <a:prstGeom prst="line">
            <a:avLst/>
          </a:prstGeom>
          <a:ln w="38100">
            <a:solidFill>
              <a:srgbClr val="9695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506412" y="144463"/>
            <a:ext cx="5433739" cy="472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atinLnBrk="0">
              <a:lnSpc>
                <a:spcPct val="60000"/>
              </a:lnSpc>
              <a:spcBef>
                <a:spcPct val="0"/>
              </a:spcBef>
              <a:buClrTx/>
              <a:buNone/>
            </a:pPr>
            <a: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  <a:t/>
            </a:r>
            <a:b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</a:br>
            <a:r>
              <a:rPr kumimoji="0" lang="en-US" altLang="ko-KR" sz="2000" dirty="0">
                <a:solidFill>
                  <a:srgbClr val="996633"/>
                </a:solidFill>
                <a:latin typeface="Times New Roman" pitchFamily="18" charset="0"/>
              </a:rPr>
              <a:t>Building</a:t>
            </a:r>
            <a:r>
              <a:rPr kumimoji="0" lang="en-US" altLang="ko-KR" sz="2000" dirty="0">
                <a:latin typeface="Times New Roman" pitchFamily="18" charset="0"/>
              </a:rPr>
              <a:t> </a:t>
            </a:r>
            <a:r>
              <a:rPr kumimoji="0" lang="en-US" altLang="ko-KR" sz="2000" dirty="0">
                <a:solidFill>
                  <a:srgbClr val="121C3F"/>
                </a:solidFill>
                <a:latin typeface="Times New Roman" pitchFamily="18" charset="0"/>
              </a:rPr>
              <a:t>Report </a:t>
            </a:r>
            <a:r>
              <a:rPr kumimoji="0" lang="en-US" altLang="ko-KR" sz="2000" dirty="0" smtClean="0">
                <a:solidFill>
                  <a:srgbClr val="121C3F"/>
                </a:solidFill>
                <a:latin typeface="Times New Roman" pitchFamily="18" charset="0"/>
              </a:rPr>
              <a:t>–</a:t>
            </a:r>
            <a:r>
              <a:rPr lang="ko-KR" altLang="en-US" sz="2000" dirty="0" smtClean="0">
                <a:solidFill>
                  <a:srgbClr val="121C3F"/>
                </a:solidFill>
                <a:latin typeface="Times New Roman" pitchFamily="18" charset="0"/>
              </a:rPr>
              <a:t>토지이용계획확인원</a:t>
            </a:r>
            <a:r>
              <a:rPr lang="en-US" altLang="ko-KR" sz="2000" dirty="0" smtClean="0">
                <a:solidFill>
                  <a:srgbClr val="121C3F"/>
                </a:solidFill>
                <a:latin typeface="Times New Roman" pitchFamily="18" charset="0"/>
              </a:rPr>
              <a:t>419-19</a:t>
            </a:r>
            <a:endParaRPr kumimoji="0" lang="en-US" altLang="ko-KR" sz="1200" dirty="0">
              <a:solidFill>
                <a:srgbClr val="121C3F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34820" name="자유형 1"/>
          <p:cNvSpPr>
            <a:spLocks/>
          </p:cNvSpPr>
          <p:nvPr/>
        </p:nvSpPr>
        <p:spPr bwMode="auto">
          <a:xfrm>
            <a:off x="1968500" y="3251200"/>
            <a:ext cx="361950" cy="342900"/>
          </a:xfrm>
          <a:custGeom>
            <a:avLst/>
            <a:gdLst>
              <a:gd name="T0" fmla="*/ 107950 w 361950"/>
              <a:gd name="T1" fmla="*/ 342900 h 342900"/>
              <a:gd name="T2" fmla="*/ 361950 w 361950"/>
              <a:gd name="T3" fmla="*/ 266700 h 342900"/>
              <a:gd name="T4" fmla="*/ 247650 w 361950"/>
              <a:gd name="T5" fmla="*/ 0 h 342900"/>
              <a:gd name="T6" fmla="*/ 0 w 361950"/>
              <a:gd name="T7" fmla="*/ 88900 h 342900"/>
              <a:gd name="T8" fmla="*/ 107950 w 361950"/>
              <a:gd name="T9" fmla="*/ 342900 h 3429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1950"/>
              <a:gd name="T16" fmla="*/ 0 h 342900"/>
              <a:gd name="T17" fmla="*/ 361950 w 361950"/>
              <a:gd name="T18" fmla="*/ 342900 h 3429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1950" h="342900">
                <a:moveTo>
                  <a:pt x="107950" y="342900"/>
                </a:moveTo>
                <a:lnTo>
                  <a:pt x="361950" y="266700"/>
                </a:lnTo>
                <a:lnTo>
                  <a:pt x="247650" y="0"/>
                </a:lnTo>
                <a:lnTo>
                  <a:pt x="0" y="88900"/>
                </a:lnTo>
                <a:lnTo>
                  <a:pt x="107950" y="34290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6" name="Picture 12" descr="C:\Users\lsh\lsh업무용\양식\사본 -제이에스로고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757" y="144463"/>
            <a:ext cx="2664297" cy="432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12" y="719727"/>
            <a:ext cx="8679898" cy="578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122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/>
        </p:nvCxnSpPr>
        <p:spPr>
          <a:xfrm>
            <a:off x="71438" y="690563"/>
            <a:ext cx="9001125" cy="1587"/>
          </a:xfrm>
          <a:prstGeom prst="line">
            <a:avLst/>
          </a:prstGeom>
          <a:ln w="38100">
            <a:solidFill>
              <a:srgbClr val="9695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43" name="Rectangle 2"/>
          <p:cNvSpPr>
            <a:spLocks noChangeArrowheads="1"/>
          </p:cNvSpPr>
          <p:nvPr/>
        </p:nvSpPr>
        <p:spPr bwMode="auto">
          <a:xfrm>
            <a:off x="498475" y="188913"/>
            <a:ext cx="5801717" cy="472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latinLnBrk="0" hangingPunct="1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  <a:t/>
            </a:r>
            <a:b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</a:br>
            <a:r>
              <a:rPr kumimoji="0" lang="en-US" altLang="ko-KR" sz="2000" dirty="0">
                <a:solidFill>
                  <a:srgbClr val="996633"/>
                </a:solidFill>
                <a:latin typeface="Times New Roman" pitchFamily="18" charset="0"/>
              </a:rPr>
              <a:t>Building</a:t>
            </a:r>
            <a:r>
              <a:rPr kumimoji="0" lang="en-US" altLang="ko-KR" sz="2000" dirty="0">
                <a:latin typeface="Times New Roman" pitchFamily="18" charset="0"/>
              </a:rPr>
              <a:t> </a:t>
            </a:r>
            <a:r>
              <a:rPr kumimoji="0" lang="en-US" altLang="ko-KR" sz="2000" dirty="0">
                <a:solidFill>
                  <a:srgbClr val="121C3F"/>
                </a:solidFill>
                <a:latin typeface="Times New Roman" pitchFamily="18" charset="0"/>
              </a:rPr>
              <a:t>Report – </a:t>
            </a:r>
            <a:endParaRPr kumimoji="0" lang="en-US" altLang="ko-KR" sz="1800" dirty="0">
              <a:solidFill>
                <a:srgbClr val="121C3F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5" name="Picture 12" descr="C:\Users\lsh\lsh업무용\양식\사본 -제이에스로고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757" y="144463"/>
            <a:ext cx="2664297" cy="432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2555776" y="260648"/>
            <a:ext cx="37444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>
                <a:solidFill>
                  <a:srgbClr val="121C3F"/>
                </a:solidFill>
                <a:latin typeface="Times New Roman" pitchFamily="18" charset="0"/>
              </a:rPr>
              <a:t>토지이용계획확인원 </a:t>
            </a:r>
            <a:r>
              <a:rPr lang="en-US" altLang="ko-KR" dirty="0" smtClean="0">
                <a:solidFill>
                  <a:srgbClr val="121C3F"/>
                </a:solidFill>
                <a:latin typeface="Times New Roman" pitchFamily="18" charset="0"/>
              </a:rPr>
              <a:t>419-12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46" y="701714"/>
            <a:ext cx="8252425" cy="567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55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/>
        </p:nvCxnSpPr>
        <p:spPr>
          <a:xfrm>
            <a:off x="71438" y="690563"/>
            <a:ext cx="9001125" cy="1587"/>
          </a:xfrm>
          <a:prstGeom prst="line">
            <a:avLst/>
          </a:prstGeom>
          <a:ln w="38100">
            <a:solidFill>
              <a:srgbClr val="9695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43" name="Rectangle 2"/>
          <p:cNvSpPr>
            <a:spLocks noChangeArrowheads="1"/>
          </p:cNvSpPr>
          <p:nvPr/>
        </p:nvSpPr>
        <p:spPr bwMode="auto">
          <a:xfrm>
            <a:off x="498475" y="188913"/>
            <a:ext cx="5801717" cy="472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latinLnBrk="0" hangingPunct="1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  <a:t/>
            </a:r>
            <a:b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</a:br>
            <a:r>
              <a:rPr kumimoji="0" lang="en-US" altLang="ko-KR" sz="2000" dirty="0">
                <a:solidFill>
                  <a:srgbClr val="996633"/>
                </a:solidFill>
                <a:latin typeface="Times New Roman" pitchFamily="18" charset="0"/>
              </a:rPr>
              <a:t>Building</a:t>
            </a:r>
            <a:r>
              <a:rPr kumimoji="0" lang="en-US" altLang="ko-KR" sz="2000" dirty="0">
                <a:latin typeface="Times New Roman" pitchFamily="18" charset="0"/>
              </a:rPr>
              <a:t> </a:t>
            </a:r>
            <a:r>
              <a:rPr kumimoji="0" lang="en-US" altLang="ko-KR" sz="2000" dirty="0">
                <a:solidFill>
                  <a:srgbClr val="121C3F"/>
                </a:solidFill>
                <a:latin typeface="Times New Roman" pitchFamily="18" charset="0"/>
              </a:rPr>
              <a:t>Report – </a:t>
            </a:r>
            <a:endParaRPr kumimoji="0" lang="en-US" altLang="ko-KR" sz="1800" dirty="0">
              <a:solidFill>
                <a:srgbClr val="121C3F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5" name="Picture 12" descr="C:\Users\lsh\lsh업무용\양식\사본 -제이에스로고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757" y="144463"/>
            <a:ext cx="2664297" cy="432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2555776" y="260648"/>
            <a:ext cx="37444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>
                <a:solidFill>
                  <a:srgbClr val="121C3F"/>
                </a:solidFill>
                <a:latin typeface="Times New Roman" pitchFamily="18" charset="0"/>
              </a:rPr>
              <a:t>토지이용계획확인원 </a:t>
            </a:r>
            <a:r>
              <a:rPr lang="en-US" altLang="ko-KR" dirty="0" smtClean="0">
                <a:solidFill>
                  <a:srgbClr val="121C3F"/>
                </a:solidFill>
                <a:latin typeface="Times New Roman" pitchFamily="18" charset="0"/>
              </a:rPr>
              <a:t>419-96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74" y="722615"/>
            <a:ext cx="8394005" cy="565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314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644771" y="770792"/>
            <a:ext cx="797608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644771" y="6220558"/>
            <a:ext cx="797608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04" name="텍스트 개체 틀 12"/>
          <p:cNvSpPr txBox="1">
            <a:spLocks/>
          </p:cNvSpPr>
          <p:nvPr/>
        </p:nvSpPr>
        <p:spPr bwMode="auto">
          <a:xfrm>
            <a:off x="3774832" y="5156691"/>
            <a:ext cx="4295043" cy="70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atinLnBrk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1292" dirty="0">
                <a:latin typeface="나눔고딕" pitchFamily="50" charset="-127"/>
                <a:ea typeface="나눔고딕" pitchFamily="50" charset="-127"/>
              </a:rPr>
              <a:t>서울시 강남구 강남대로 </a:t>
            </a:r>
            <a:r>
              <a:rPr lang="en-US" altLang="ko-KR" sz="1292" dirty="0" smtClean="0">
                <a:latin typeface="나눔고딕" pitchFamily="50" charset="-127"/>
                <a:ea typeface="나눔고딕" pitchFamily="50" charset="-127"/>
              </a:rPr>
              <a:t>581  </a:t>
            </a:r>
            <a:r>
              <a:rPr lang="ko-KR" altLang="en-US" sz="1292" dirty="0" err="1">
                <a:latin typeface="나눔고딕" pitchFamily="50" charset="-127"/>
                <a:ea typeface="나눔고딕" pitchFamily="50" charset="-127"/>
              </a:rPr>
              <a:t>푸른빌딩</a:t>
            </a:r>
            <a:r>
              <a:rPr lang="en-US" altLang="ko-KR" sz="1292" dirty="0">
                <a:latin typeface="나눔고딕" pitchFamily="50" charset="-127"/>
                <a:ea typeface="나눔고딕" pitchFamily="50" charset="-127"/>
              </a:rPr>
              <a:t>5</a:t>
            </a:r>
            <a:r>
              <a:rPr lang="ko-KR" altLang="en-US" sz="1292" dirty="0">
                <a:latin typeface="나눔고딕" pitchFamily="50" charset="-127"/>
                <a:ea typeface="나눔고딕" pitchFamily="50" charset="-127"/>
              </a:rPr>
              <a:t>층</a:t>
            </a:r>
            <a:r>
              <a:rPr lang="en-US" altLang="ko-KR" sz="1292" dirty="0">
                <a:latin typeface="나눔고딕" pitchFamily="50" charset="-127"/>
                <a:ea typeface="나눔고딕" pitchFamily="50" charset="-127"/>
              </a:rPr>
              <a:t> </a:t>
            </a:r>
          </a:p>
          <a:p>
            <a:pPr latinLnBrk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292" dirty="0">
                <a:latin typeface="나눔고딕" pitchFamily="50" charset="-127"/>
                <a:ea typeface="나눔고딕" pitchFamily="50" charset="-127"/>
              </a:rPr>
              <a:t>TEL :</a:t>
            </a:r>
            <a:r>
              <a:rPr lang="ko-KR" altLang="en-US" sz="1292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92" dirty="0">
                <a:latin typeface="나눔고딕" pitchFamily="50" charset="-127"/>
                <a:ea typeface="나눔고딕" pitchFamily="50" charset="-127"/>
              </a:rPr>
              <a:t>02-551-9009  FAX : </a:t>
            </a:r>
            <a:r>
              <a:rPr lang="en-US" altLang="ko-KR" sz="1292" dirty="0" smtClean="0">
                <a:latin typeface="나눔고딕" pitchFamily="50" charset="-127"/>
                <a:ea typeface="나눔고딕" pitchFamily="50" charset="-127"/>
              </a:rPr>
              <a:t>02-551-9003</a:t>
            </a:r>
            <a:endParaRPr lang="en-US" altLang="ko-KR" sz="1292" dirty="0"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25607" name="그림 8" descr="엠에스 로고"/>
          <p:cNvPicPr>
            <a:picLocks noGrp="1" noChangeAspect="1"/>
          </p:cNvPicPr>
          <p:nvPr isPhoto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1" y="5156690"/>
            <a:ext cx="2060331" cy="599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962843" y="3274650"/>
            <a:ext cx="663819" cy="376385"/>
          </a:xfrm>
          <a:prstGeom prst="rect">
            <a:avLst/>
          </a:prstGeom>
          <a:solidFill>
            <a:srgbClr val="A1841B">
              <a:alpha val="70000"/>
            </a:srgb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923" dirty="0" err="1">
                <a:solidFill>
                  <a:schemeClr val="bg2">
                    <a:lumMod val="10000"/>
                  </a:schemeClr>
                </a:solidFill>
              </a:rPr>
              <a:t>논현역</a:t>
            </a:r>
            <a:r>
              <a:rPr lang="ko-KR" altLang="en-US" sz="923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altLang="ko-KR" sz="923" dirty="0">
                <a:solidFill>
                  <a:schemeClr val="bg2">
                    <a:lumMod val="10000"/>
                  </a:schemeClr>
                </a:solidFill>
              </a:rPr>
              <a:t>6</a:t>
            </a:r>
            <a:r>
              <a:rPr lang="ko-KR" altLang="en-US" sz="923" dirty="0" err="1">
                <a:solidFill>
                  <a:schemeClr val="bg2">
                    <a:lumMod val="10000"/>
                  </a:schemeClr>
                </a:solidFill>
              </a:rPr>
              <a:t>번출구</a:t>
            </a:r>
            <a:endParaRPr lang="ko-KR" altLang="en-US" sz="923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458455" y="2934543"/>
            <a:ext cx="886782" cy="3054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385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←신사역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4974557" y="2934543"/>
            <a:ext cx="1252267" cy="3054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385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논현역사거리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6868442" y="2934542"/>
            <a:ext cx="1064715" cy="3054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385" cap="all" dirty="0" err="1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신논현역</a:t>
            </a:r>
            <a:r>
              <a:rPr lang="ko-KR" altLang="en-US" sz="1385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→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3102975" y="2934543"/>
            <a:ext cx="896400" cy="3054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385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강남대로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5394657" y="2115528"/>
            <a:ext cx="397801" cy="659796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 algn="ctr">
              <a:defRPr/>
            </a:pPr>
            <a:r>
              <a:rPr lang="ko-KR" altLang="en-US" sz="1385" cap="all" dirty="0" err="1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학동로</a:t>
            </a:r>
            <a:endParaRPr lang="ko-KR" altLang="en-US" sz="1385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394657" y="3713560"/>
            <a:ext cx="397801" cy="848950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 algn="ctr">
              <a:defRPr/>
            </a:pPr>
            <a:r>
              <a:rPr lang="ko-KR" altLang="en-US" sz="1385" cap="all" dirty="0" err="1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신반포로</a:t>
            </a:r>
            <a:endParaRPr lang="ko-KR" altLang="en-US" sz="1385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635304" y="2523393"/>
            <a:ext cx="872828" cy="22655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662" dirty="0"/>
              <a:t>기아자동차</a:t>
            </a:r>
          </a:p>
        </p:txBody>
      </p:sp>
      <p:sp>
        <p:nvSpPr>
          <p:cNvPr id="21" name="TextBox 20"/>
          <p:cNvSpPr txBox="1"/>
          <p:nvPr/>
        </p:nvSpPr>
        <p:spPr>
          <a:xfrm flipH="1">
            <a:off x="2635304" y="3375266"/>
            <a:ext cx="970052" cy="859466"/>
          </a:xfrm>
          <a:prstGeom prst="rect">
            <a:avLst/>
          </a:prstGeom>
          <a:gradFill>
            <a:gsLst>
              <a:gs pos="15000">
                <a:srgbClr val="FFC000">
                  <a:alpha val="70000"/>
                </a:srgbClr>
              </a:gs>
              <a:gs pos="52000">
                <a:srgbClr val="37ABA0">
                  <a:alpha val="70000"/>
                </a:srgbClr>
              </a:gs>
              <a:gs pos="81000">
                <a:srgbClr val="7030A0">
                  <a:alpha val="70000"/>
                </a:srgbClr>
              </a:gs>
            </a:gsLst>
            <a:lin ang="5400000" scaled="0"/>
          </a:gra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831" dirty="0" err="1">
                <a:solidFill>
                  <a:schemeClr val="bg2">
                    <a:lumMod val="10000"/>
                  </a:schemeClr>
                </a:solidFill>
              </a:rPr>
              <a:t>엠에스</a:t>
            </a:r>
            <a:r>
              <a:rPr lang="ko-KR" altLang="en-US" sz="831" dirty="0">
                <a:solidFill>
                  <a:schemeClr val="bg2">
                    <a:lumMod val="10000"/>
                  </a:schemeClr>
                </a:solidFill>
              </a:rPr>
              <a:t> </a:t>
            </a:r>
            <a:endParaRPr lang="en-US" altLang="ko-KR" sz="831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defRPr/>
            </a:pPr>
            <a:r>
              <a:rPr lang="ko-KR" altLang="en-US" sz="831" dirty="0">
                <a:solidFill>
                  <a:schemeClr val="bg2">
                    <a:lumMod val="10000"/>
                  </a:schemeClr>
                </a:solidFill>
              </a:rPr>
              <a:t>부동산중개법인㈜ </a:t>
            </a:r>
            <a:endParaRPr lang="en-US" altLang="ko-KR" sz="831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defRPr/>
            </a:pPr>
            <a:r>
              <a:rPr lang="en-US" altLang="ko-KR" sz="831" dirty="0">
                <a:solidFill>
                  <a:schemeClr val="bg2">
                    <a:lumMod val="10000"/>
                  </a:schemeClr>
                </a:solidFill>
              </a:rPr>
              <a:t>5</a:t>
            </a:r>
            <a:r>
              <a:rPr lang="ko-KR" altLang="en-US" sz="831" dirty="0">
                <a:solidFill>
                  <a:schemeClr val="bg2">
                    <a:lumMod val="10000"/>
                  </a:schemeClr>
                </a:solidFill>
              </a:rPr>
              <a:t>층</a:t>
            </a:r>
            <a:endParaRPr lang="en-US" altLang="ko-KR" sz="831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defRPr/>
            </a:pPr>
            <a:r>
              <a:rPr lang="ko-KR" altLang="en-US" sz="831" dirty="0" err="1">
                <a:solidFill>
                  <a:schemeClr val="bg2">
                    <a:lumMod val="10000"/>
                  </a:schemeClr>
                </a:solidFill>
              </a:rPr>
              <a:t>푸른저축은행</a:t>
            </a:r>
            <a:r>
              <a:rPr lang="en-US" altLang="ko-KR" sz="831" dirty="0">
                <a:solidFill>
                  <a:schemeClr val="bg2">
                    <a:lumMod val="10000"/>
                  </a:schemeClr>
                </a:solidFill>
              </a:rPr>
              <a:t>1</a:t>
            </a:r>
            <a:r>
              <a:rPr lang="ko-KR" altLang="en-US" sz="831" dirty="0">
                <a:solidFill>
                  <a:schemeClr val="bg2">
                    <a:lumMod val="10000"/>
                  </a:schemeClr>
                </a:solidFill>
              </a:rPr>
              <a:t>층</a:t>
            </a:r>
          </a:p>
        </p:txBody>
      </p:sp>
      <p:pic>
        <p:nvPicPr>
          <p:cNvPr id="27" name="Picture 12" descr="C:\Users\lsh\lsh업무용\양식\사본 -제이에스로고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360" y="105937"/>
            <a:ext cx="2664297" cy="432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Rectangle 2"/>
          <p:cNvSpPr>
            <a:spLocks noChangeArrowheads="1"/>
          </p:cNvSpPr>
          <p:nvPr/>
        </p:nvSpPr>
        <p:spPr bwMode="auto">
          <a:xfrm>
            <a:off x="498475" y="188913"/>
            <a:ext cx="5801717" cy="472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latinLnBrk="0" hangingPunct="1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  <a:t/>
            </a:r>
            <a:br>
              <a:rPr kumimoji="0" lang="en-US" altLang="ko-KR" sz="2000" dirty="0">
                <a:solidFill>
                  <a:srgbClr val="CC0000"/>
                </a:solidFill>
                <a:latin typeface="Times New Roman" pitchFamily="18" charset="0"/>
              </a:rPr>
            </a:br>
            <a:r>
              <a:rPr kumimoji="0" lang="en-US" altLang="ko-KR" sz="2000" dirty="0">
                <a:solidFill>
                  <a:srgbClr val="996633"/>
                </a:solidFill>
                <a:latin typeface="Times New Roman" pitchFamily="18" charset="0"/>
              </a:rPr>
              <a:t>Building</a:t>
            </a:r>
            <a:r>
              <a:rPr kumimoji="0" lang="en-US" altLang="ko-KR" sz="2000" dirty="0">
                <a:latin typeface="Times New Roman" pitchFamily="18" charset="0"/>
              </a:rPr>
              <a:t> </a:t>
            </a:r>
            <a:r>
              <a:rPr kumimoji="0" lang="en-US" altLang="ko-KR" sz="2000" dirty="0">
                <a:solidFill>
                  <a:srgbClr val="121C3F"/>
                </a:solidFill>
                <a:latin typeface="Times New Roman" pitchFamily="18" charset="0"/>
              </a:rPr>
              <a:t>Report </a:t>
            </a:r>
            <a:r>
              <a:rPr kumimoji="0" lang="en-US" altLang="ko-KR" sz="2000" dirty="0" smtClean="0">
                <a:solidFill>
                  <a:srgbClr val="121C3F"/>
                </a:solidFill>
                <a:latin typeface="Times New Roman" pitchFamily="18" charset="0"/>
              </a:rPr>
              <a:t>–</a:t>
            </a:r>
            <a:r>
              <a:rPr lang="ko-KR" altLang="en-US" sz="2000" dirty="0" smtClean="0">
                <a:solidFill>
                  <a:srgbClr val="121C3F"/>
                </a:solidFill>
                <a:latin typeface="Times New Roman" pitchFamily="18" charset="0"/>
              </a:rPr>
              <a:t>제이에스</a:t>
            </a:r>
            <a:r>
              <a:rPr kumimoji="0" lang="ko-KR" altLang="en-US" sz="2000" dirty="0" smtClean="0">
                <a:solidFill>
                  <a:srgbClr val="121C3F"/>
                </a:solidFill>
                <a:latin typeface="Times New Roman" pitchFamily="18" charset="0"/>
              </a:rPr>
              <a:t>위치도</a:t>
            </a:r>
            <a:r>
              <a:rPr kumimoji="0" lang="en-US" altLang="ko-KR" sz="2000" dirty="0" smtClean="0">
                <a:solidFill>
                  <a:srgbClr val="121C3F"/>
                </a:solidFill>
                <a:latin typeface="Times New Roman" pitchFamily="18" charset="0"/>
              </a:rPr>
              <a:t> </a:t>
            </a:r>
            <a:endParaRPr kumimoji="0" lang="en-US" altLang="ko-KR" sz="1800" dirty="0">
              <a:solidFill>
                <a:srgbClr val="121C3F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567" y="700691"/>
            <a:ext cx="777884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827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317500" y="549275"/>
            <a:ext cx="864076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317500" y="6453188"/>
            <a:ext cx="864076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28" name="TextBox 10"/>
          <p:cNvSpPr txBox="1">
            <a:spLocks noChangeArrowheads="1"/>
          </p:cNvSpPr>
          <p:nvPr/>
        </p:nvSpPr>
        <p:spPr bwMode="auto">
          <a:xfrm>
            <a:off x="2236788" y="933450"/>
            <a:ext cx="4800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7200" b="1">
                <a:latin typeface="나눔고딕" pitchFamily="50" charset="-127"/>
                <a:ea typeface="나눔고딕" pitchFamily="50" charset="-127"/>
              </a:rPr>
              <a:t>감사합니다</a:t>
            </a:r>
            <a:r>
              <a:rPr lang="en-US" altLang="ko-KR" sz="7200" b="1">
                <a:latin typeface="나눔고딕" pitchFamily="50" charset="-127"/>
                <a:ea typeface="나눔고딕" pitchFamily="50" charset="-127"/>
              </a:rPr>
              <a:t>.</a:t>
            </a:r>
            <a:endParaRPr lang="ko-KR" altLang="en-US" sz="7200" b="1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36788" y="2206625"/>
            <a:ext cx="4800600" cy="356636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4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행복한 재산증식을 </a:t>
            </a:r>
            <a:r>
              <a:rPr lang="ko-KR" altLang="en-US" sz="1400" b="1" dirty="0" err="1" smtClean="0">
                <a:solidFill>
                  <a:schemeClr val="accent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제이에스에스</a:t>
            </a:r>
            <a:r>
              <a:rPr lang="ko-KR" altLang="en-US" sz="1400" b="1" dirty="0" err="1" smtClean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에서</a:t>
            </a:r>
            <a:r>
              <a:rPr lang="ko-KR" altLang="en-US" sz="1400" b="1" dirty="0" smtClean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해드리겠습니다</a:t>
            </a:r>
            <a:r>
              <a:rPr lang="en-US" altLang="ko-KR" sz="14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algn="ctr">
              <a:lnSpc>
                <a:spcPct val="150000"/>
              </a:lnSpc>
              <a:defRPr/>
            </a:pPr>
            <a:endParaRPr lang="en-US" altLang="ko-KR" sz="1050" dirty="0">
              <a:latin typeface="나눔고딕" pitchFamily="50" charset="-127"/>
              <a:ea typeface="나눔고딕" pitchFamily="50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105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050" dirty="0" err="1" smtClean="0">
                <a:latin typeface="나눔고딕" pitchFamily="50" charset="-127"/>
                <a:ea typeface="나눔고딕" pitchFamily="50" charset="-127"/>
              </a:rPr>
              <a:t>제이에스부동산중개주식회사는</a:t>
            </a:r>
            <a:r>
              <a:rPr lang="ko-KR" altLang="en-US" sz="1050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050" dirty="0">
                <a:latin typeface="나눔고딕" pitchFamily="50" charset="-127"/>
                <a:ea typeface="나눔고딕" pitchFamily="50" charset="-127"/>
              </a:rPr>
              <a:t>국내 최고</a:t>
            </a:r>
            <a:r>
              <a:rPr lang="en-US" altLang="ko-KR" sz="1050" dirty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050" dirty="0">
                <a:latin typeface="나눔고딕" pitchFamily="50" charset="-127"/>
                <a:ea typeface="나눔고딕" pitchFamily="50" charset="-127"/>
              </a:rPr>
              <a:t>최대규모의 빌딩전문 중개업체로 </a:t>
            </a:r>
          </a:p>
          <a:p>
            <a:pPr algn="ctr">
              <a:lnSpc>
                <a:spcPct val="150000"/>
              </a:lnSpc>
              <a:defRPr/>
            </a:pPr>
            <a:r>
              <a:rPr lang="ko-KR" altLang="en-US" sz="1050" dirty="0">
                <a:latin typeface="나눔고딕" pitchFamily="50" charset="-127"/>
                <a:ea typeface="나눔고딕" pitchFamily="50" charset="-127"/>
              </a:rPr>
              <a:t>풍부한 현장 실무경험과 </a:t>
            </a:r>
            <a:r>
              <a:rPr lang="en-US" altLang="ko-KR" sz="1050" dirty="0">
                <a:latin typeface="나눔고딕" pitchFamily="50" charset="-127"/>
                <a:ea typeface="나눔고딕" pitchFamily="50" charset="-127"/>
              </a:rPr>
              <a:t>20</a:t>
            </a:r>
            <a:r>
              <a:rPr lang="ko-KR" altLang="en-US" sz="1050" dirty="0">
                <a:latin typeface="나눔고딕" pitchFamily="50" charset="-127"/>
                <a:ea typeface="나눔고딕" pitchFamily="50" charset="-127"/>
              </a:rPr>
              <a:t>여 년간의 노하우를 바탕으로 </a:t>
            </a:r>
          </a:p>
          <a:p>
            <a:pPr algn="ctr">
              <a:lnSpc>
                <a:spcPct val="150000"/>
              </a:lnSpc>
              <a:defRPr/>
            </a:pPr>
            <a:r>
              <a:rPr lang="ko-KR" altLang="en-US" sz="1050" dirty="0">
                <a:latin typeface="나눔고딕" pitchFamily="50" charset="-127"/>
                <a:ea typeface="나눔고딕" pitchFamily="50" charset="-127"/>
              </a:rPr>
              <a:t>설립되어 빌딩에  관한 </a:t>
            </a:r>
            <a:r>
              <a:rPr lang="ko-KR" altLang="en-US" sz="105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모든 종합 관리서비스</a:t>
            </a:r>
            <a:r>
              <a:rPr lang="ko-KR" altLang="en-US" sz="1050" dirty="0">
                <a:latin typeface="나눔고딕" pitchFamily="50" charset="-127"/>
                <a:ea typeface="나눔고딕" pitchFamily="50" charset="-127"/>
              </a:rPr>
              <a:t>를 제공하고 있습니다</a:t>
            </a:r>
            <a:r>
              <a:rPr lang="en-US" altLang="ko-KR" sz="1050" dirty="0">
                <a:latin typeface="나눔고딕" pitchFamily="50" charset="-127"/>
                <a:ea typeface="나눔고딕" pitchFamily="50" charset="-127"/>
              </a:rPr>
              <a:t>. </a:t>
            </a:r>
          </a:p>
          <a:p>
            <a:pPr algn="ctr">
              <a:lnSpc>
                <a:spcPct val="150000"/>
              </a:lnSpc>
              <a:defRPr/>
            </a:pPr>
            <a:endParaRPr lang="en-US" altLang="ko-KR" sz="1050" dirty="0">
              <a:latin typeface="나눔고딕" pitchFamily="50" charset="-127"/>
              <a:ea typeface="나눔고딕" pitchFamily="50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105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050" dirty="0">
                <a:latin typeface="나눔고딕" pitchFamily="50" charset="-127"/>
                <a:ea typeface="나눔고딕" pitchFamily="50" charset="-127"/>
              </a:rPr>
              <a:t>지난 </a:t>
            </a:r>
            <a:r>
              <a:rPr lang="en-US" altLang="ko-KR" sz="1050" dirty="0">
                <a:latin typeface="나눔고딕" pitchFamily="50" charset="-127"/>
                <a:ea typeface="나눔고딕" pitchFamily="50" charset="-127"/>
              </a:rPr>
              <a:t>20</a:t>
            </a:r>
            <a:r>
              <a:rPr lang="ko-KR" altLang="en-US" sz="1050" dirty="0">
                <a:latin typeface="나눔고딕" pitchFamily="50" charset="-127"/>
                <a:ea typeface="나눔고딕" pitchFamily="50" charset="-127"/>
              </a:rPr>
              <a:t>여 년간 수 많은 개인</a:t>
            </a:r>
            <a:r>
              <a:rPr lang="en-US" altLang="ko-KR" sz="1050" dirty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050" dirty="0">
                <a:latin typeface="나눔고딕" pitchFamily="50" charset="-127"/>
                <a:ea typeface="나눔고딕" pitchFamily="50" charset="-127"/>
              </a:rPr>
              <a:t>법인과의 빌딩 거래를 통해서 경험했기에</a:t>
            </a:r>
          </a:p>
          <a:p>
            <a:pPr algn="ctr">
              <a:lnSpc>
                <a:spcPct val="150000"/>
              </a:lnSpc>
              <a:defRPr/>
            </a:pPr>
            <a:r>
              <a:rPr lang="ko-KR" altLang="en-US" sz="1050" dirty="0">
                <a:latin typeface="나눔고딕" pitchFamily="50" charset="-127"/>
                <a:ea typeface="나눔고딕" pitchFamily="50" charset="-127"/>
              </a:rPr>
              <a:t>고객들의 어려움과 </a:t>
            </a:r>
            <a:r>
              <a:rPr lang="en-US" altLang="ko-KR" sz="1050" dirty="0">
                <a:latin typeface="나눔고딕" pitchFamily="50" charset="-127"/>
                <a:ea typeface="나눔고딕" pitchFamily="50" charset="-127"/>
              </a:rPr>
              <a:t>Needs</a:t>
            </a:r>
            <a:r>
              <a:rPr lang="ko-KR" altLang="en-US" sz="1050" dirty="0">
                <a:latin typeface="나눔고딕" pitchFamily="50" charset="-127"/>
                <a:ea typeface="나눔고딕" pitchFamily="50" charset="-127"/>
              </a:rPr>
              <a:t>를  누구보다 정확하게 파악하고 빌딩 별 규모</a:t>
            </a:r>
            <a:r>
              <a:rPr lang="en-US" altLang="ko-KR" sz="1050" dirty="0">
                <a:latin typeface="나눔고딕" pitchFamily="50" charset="-127"/>
                <a:ea typeface="나눔고딕" pitchFamily="50" charset="-127"/>
              </a:rPr>
              <a:t>,</a:t>
            </a:r>
          </a:p>
          <a:p>
            <a:pPr algn="ctr">
              <a:lnSpc>
                <a:spcPct val="150000"/>
              </a:lnSpc>
              <a:defRPr/>
            </a:pPr>
            <a:r>
              <a:rPr lang="ko-KR" altLang="en-US" sz="1050" dirty="0">
                <a:latin typeface="나눔고딕" pitchFamily="50" charset="-127"/>
                <a:ea typeface="나눔고딕" pitchFamily="50" charset="-127"/>
              </a:rPr>
              <a:t>예산에 따라 고객이 소유한 빌딩의 가치를 극대화할 수 있도록 </a:t>
            </a:r>
          </a:p>
          <a:p>
            <a:pPr algn="ctr">
              <a:lnSpc>
                <a:spcPct val="150000"/>
              </a:lnSpc>
              <a:defRPr/>
            </a:pPr>
            <a:r>
              <a:rPr lang="ko-KR" altLang="en-US" sz="105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맞춤 관리 서비스</a:t>
            </a:r>
            <a:r>
              <a:rPr lang="ko-KR" altLang="en-US" sz="1050" dirty="0">
                <a:latin typeface="나눔고딕" pitchFamily="50" charset="-127"/>
                <a:ea typeface="나눔고딕" pitchFamily="50" charset="-127"/>
              </a:rPr>
              <a:t>를 약속 드립니다</a:t>
            </a:r>
            <a:r>
              <a:rPr lang="en-US" altLang="ko-KR" sz="1050" dirty="0">
                <a:latin typeface="나눔고딕" pitchFamily="50" charset="-127"/>
                <a:ea typeface="나눔고딕" pitchFamily="50" charset="-127"/>
              </a:rPr>
              <a:t>. </a:t>
            </a:r>
          </a:p>
          <a:p>
            <a:pPr algn="ctr">
              <a:lnSpc>
                <a:spcPct val="150000"/>
              </a:lnSpc>
              <a:defRPr/>
            </a:pPr>
            <a:endParaRPr lang="en-US" altLang="ko-KR" sz="1050" dirty="0">
              <a:latin typeface="나눔고딕" pitchFamily="50" charset="-127"/>
              <a:ea typeface="나눔고딕" pitchFamily="50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105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050" dirty="0">
                <a:latin typeface="나눔고딕" pitchFamily="50" charset="-127"/>
                <a:ea typeface="나눔고딕" pitchFamily="50" charset="-127"/>
              </a:rPr>
              <a:t>업계를 이끌어 나가는 최고의 부동산 기업을 지향합니다</a:t>
            </a:r>
            <a:r>
              <a:rPr lang="en-US" altLang="ko-KR" sz="1050" dirty="0">
                <a:latin typeface="나눔고딕" pitchFamily="50" charset="-127"/>
                <a:ea typeface="나눔고딕" pitchFamily="50" charset="-127"/>
              </a:rPr>
              <a:t>. </a:t>
            </a:r>
          </a:p>
          <a:p>
            <a:pPr algn="ctr">
              <a:lnSpc>
                <a:spcPct val="150000"/>
              </a:lnSpc>
              <a:defRPr/>
            </a:pPr>
            <a:r>
              <a:rPr lang="ko-KR" altLang="en-US" sz="1050" dirty="0">
                <a:latin typeface="나눔고딕" pitchFamily="50" charset="-127"/>
                <a:ea typeface="나눔고딕" pitchFamily="50" charset="-127"/>
              </a:rPr>
              <a:t>고객에게는 감동을</a:t>
            </a:r>
            <a:r>
              <a:rPr lang="en-US" altLang="ko-KR" sz="1050" dirty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050" dirty="0">
                <a:latin typeface="나눔고딕" pitchFamily="50" charset="-127"/>
                <a:ea typeface="나눔고딕" pitchFamily="50" charset="-127"/>
              </a:rPr>
              <a:t>함께하는 직원에게는 </a:t>
            </a:r>
            <a:r>
              <a:rPr lang="ko-KR" altLang="en-US" sz="1050" dirty="0" err="1">
                <a:latin typeface="나눔고딕" pitchFamily="50" charset="-127"/>
                <a:ea typeface="나눔고딕" pitchFamily="50" charset="-127"/>
              </a:rPr>
              <a:t>엠에스</a:t>
            </a:r>
            <a:r>
              <a:rPr lang="ko-KR" altLang="en-US" sz="1050" dirty="0">
                <a:latin typeface="나눔고딕" pitchFamily="50" charset="-127"/>
                <a:ea typeface="나눔고딕" pitchFamily="50" charset="-127"/>
              </a:rPr>
              <a:t> 가족의 자긍심을</a:t>
            </a:r>
            <a:r>
              <a:rPr lang="en-US" altLang="ko-KR" sz="1050" dirty="0">
                <a:latin typeface="나눔고딕" pitchFamily="50" charset="-127"/>
                <a:ea typeface="나눔고딕" pitchFamily="50" charset="-127"/>
              </a:rPr>
              <a:t>, </a:t>
            </a:r>
          </a:p>
          <a:p>
            <a:pPr algn="ctr">
              <a:lnSpc>
                <a:spcPct val="150000"/>
              </a:lnSpc>
              <a:defRPr/>
            </a:pPr>
            <a:r>
              <a:rPr lang="ko-KR" altLang="en-US" sz="1050" dirty="0">
                <a:latin typeface="나눔고딕" pitchFamily="50" charset="-127"/>
                <a:ea typeface="나눔고딕" pitchFamily="50" charset="-127"/>
              </a:rPr>
              <a:t>파트너에게는 기회를 위한 공간이 되는 </a:t>
            </a:r>
            <a:r>
              <a:rPr lang="ko-KR" altLang="en-US" sz="1050" b="1" dirty="0" err="1" smtClean="0">
                <a:solidFill>
                  <a:srgbClr val="0070C0"/>
                </a:solidFill>
                <a:latin typeface="나눔고딕" pitchFamily="50" charset="-127"/>
                <a:ea typeface="나눔고딕" pitchFamily="50" charset="-127"/>
              </a:rPr>
              <a:t>제이에스부동산㈜</a:t>
            </a:r>
            <a:r>
              <a:rPr lang="ko-KR" altLang="en-US" sz="1050" dirty="0" err="1">
                <a:latin typeface="나눔고딕" pitchFamily="50" charset="-127"/>
                <a:ea typeface="나눔고딕" pitchFamily="50" charset="-127"/>
              </a:rPr>
              <a:t>가</a:t>
            </a:r>
            <a:r>
              <a:rPr lang="ko-KR" altLang="en-US" sz="1050" dirty="0">
                <a:latin typeface="나눔고딕" pitchFamily="50" charset="-127"/>
                <a:ea typeface="나눔고딕" pitchFamily="50" charset="-127"/>
              </a:rPr>
              <a:t> 되겠습니다</a:t>
            </a:r>
            <a:r>
              <a:rPr lang="en-US" altLang="ko-KR" sz="1050" dirty="0">
                <a:latin typeface="나눔고딕" pitchFamily="50" charset="-127"/>
                <a:ea typeface="나눔고딕" pitchFamily="50" charset="-127"/>
              </a:rPr>
              <a:t>.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2344738" y="2206625"/>
            <a:ext cx="4319587" cy="444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2344738" y="909638"/>
            <a:ext cx="4319587" cy="444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텍스트 개체 틀 12"/>
          <p:cNvSpPr txBox="1">
            <a:spLocks/>
          </p:cNvSpPr>
          <p:nvPr/>
        </p:nvSpPr>
        <p:spPr>
          <a:xfrm>
            <a:off x="317500" y="188913"/>
            <a:ext cx="3324225" cy="360362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sz="1400" b="1" dirty="0">
                <a:solidFill>
                  <a:srgbClr val="996633"/>
                </a:solidFill>
                <a:latin typeface="나눔고딕" pitchFamily="50" charset="-127"/>
                <a:ea typeface="나눔고딕" pitchFamily="50" charset="-127"/>
              </a:rPr>
              <a:t>Building</a:t>
            </a:r>
            <a:r>
              <a:rPr lang="en-US" altLang="ko-KR" sz="1400" b="1" dirty="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400" b="1" dirty="0">
                <a:solidFill>
                  <a:srgbClr val="121C3F"/>
                </a:solidFill>
                <a:latin typeface="나눔고딕" pitchFamily="50" charset="-127"/>
                <a:ea typeface="나눔고딕" pitchFamily="50" charset="-127"/>
              </a:rPr>
              <a:t>Report </a:t>
            </a:r>
            <a:endParaRPr lang="ko-KR" altLang="en-US" sz="1400" b="1" dirty="0">
              <a:solidFill>
                <a:schemeClr val="tx1">
                  <a:tint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26633" name="그림 9" descr="엠에스 로고"/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488" y="117475"/>
            <a:ext cx="22320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2" descr="C:\Users\lsh\lsh업무용\양식\사본 -제이에스로고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757" y="144463"/>
            <a:ext cx="2664297" cy="432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0120486"/>
      </p:ext>
    </p:extLst>
  </p:cSld>
  <p:clrMapOvr>
    <a:masterClrMapping/>
  </p:clrMapOvr>
</p:sld>
</file>

<file path=ppt/theme/theme1.xml><?xml version="1.0" encoding="utf-8"?>
<a:theme xmlns:a="http://schemas.openxmlformats.org/drawingml/2006/main" name="9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8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테마1">
  <a:themeElements>
    <a:clrScheme name="134TGp_report_diagram 2">
      <a:dk1>
        <a:srgbClr val="23387D"/>
      </a:dk1>
      <a:lt1>
        <a:srgbClr val="FFFFFF"/>
      </a:lt1>
      <a:dk2>
        <a:srgbClr val="1A3D97"/>
      </a:dk2>
      <a:lt2>
        <a:srgbClr val="DDDDDD"/>
      </a:lt2>
      <a:accent1>
        <a:srgbClr val="4972BB"/>
      </a:accent1>
      <a:accent2>
        <a:srgbClr val="6A99D8"/>
      </a:accent2>
      <a:accent3>
        <a:srgbClr val="FFFFFF"/>
      </a:accent3>
      <a:accent4>
        <a:srgbClr val="1C2E6A"/>
      </a:accent4>
      <a:accent5>
        <a:srgbClr val="B1BCDA"/>
      </a:accent5>
      <a:accent6>
        <a:srgbClr val="5F8AC4"/>
      </a:accent6>
      <a:hlink>
        <a:srgbClr val="96B1E6"/>
      </a:hlink>
      <a:folHlink>
        <a:srgbClr val="99C25C"/>
      </a:folHlink>
    </a:clrScheme>
    <a:fontScheme name="134TGp_report_diagram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134TGp_report_diagram 1">
        <a:dk1>
          <a:srgbClr val="1D4940"/>
        </a:dk1>
        <a:lt1>
          <a:srgbClr val="FFFFFF"/>
        </a:lt1>
        <a:dk2>
          <a:srgbClr val="3F716F"/>
        </a:dk2>
        <a:lt2>
          <a:srgbClr val="DDDDDD"/>
        </a:lt2>
        <a:accent1>
          <a:srgbClr val="669E86"/>
        </a:accent1>
        <a:accent2>
          <a:srgbClr val="A2CAB4"/>
        </a:accent2>
        <a:accent3>
          <a:srgbClr val="FFFFFF"/>
        </a:accent3>
        <a:accent4>
          <a:srgbClr val="173D35"/>
        </a:accent4>
        <a:accent5>
          <a:srgbClr val="B8CCC3"/>
        </a:accent5>
        <a:accent6>
          <a:srgbClr val="92B7A3"/>
        </a:accent6>
        <a:hlink>
          <a:srgbClr val="8CA35F"/>
        </a:hlink>
        <a:folHlink>
          <a:srgbClr val="C1B05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4TGp_report_diagram 2">
        <a:dk1>
          <a:srgbClr val="23387D"/>
        </a:dk1>
        <a:lt1>
          <a:srgbClr val="FFFFFF"/>
        </a:lt1>
        <a:dk2>
          <a:srgbClr val="1A3D97"/>
        </a:dk2>
        <a:lt2>
          <a:srgbClr val="DDDDDD"/>
        </a:lt2>
        <a:accent1>
          <a:srgbClr val="4972BB"/>
        </a:accent1>
        <a:accent2>
          <a:srgbClr val="6A99D8"/>
        </a:accent2>
        <a:accent3>
          <a:srgbClr val="FFFFFF"/>
        </a:accent3>
        <a:accent4>
          <a:srgbClr val="1C2E6A"/>
        </a:accent4>
        <a:accent5>
          <a:srgbClr val="B1BCDA"/>
        </a:accent5>
        <a:accent6>
          <a:srgbClr val="5F8AC4"/>
        </a:accent6>
        <a:hlink>
          <a:srgbClr val="96B1E6"/>
        </a:hlink>
        <a:folHlink>
          <a:srgbClr val="99C25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4TGp_report_diagram 3">
        <a:dk1>
          <a:srgbClr val="23387D"/>
        </a:dk1>
        <a:lt1>
          <a:srgbClr val="FFFFFF"/>
        </a:lt1>
        <a:dk2>
          <a:srgbClr val="1A3D97"/>
        </a:dk2>
        <a:lt2>
          <a:srgbClr val="DDDDDD"/>
        </a:lt2>
        <a:accent1>
          <a:srgbClr val="6E51A7"/>
        </a:accent1>
        <a:accent2>
          <a:srgbClr val="8C8EE0"/>
        </a:accent2>
        <a:accent3>
          <a:srgbClr val="FFFFFF"/>
        </a:accent3>
        <a:accent4>
          <a:srgbClr val="1C2E6A"/>
        </a:accent4>
        <a:accent5>
          <a:srgbClr val="BAB3D0"/>
        </a:accent5>
        <a:accent6>
          <a:srgbClr val="7E80CB"/>
        </a:accent6>
        <a:hlink>
          <a:srgbClr val="96B1E6"/>
        </a:hlink>
        <a:folHlink>
          <a:srgbClr val="7BB32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11176</TotalTime>
  <Words>299</Words>
  <Application>Microsoft Office PowerPoint</Application>
  <PresentationFormat>화면 슬라이드 쇼(4:3)</PresentationFormat>
  <Paragraphs>102</Paragraphs>
  <Slides>18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5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32" baseType="lpstr">
      <vt:lpstr>HY견고딕</vt:lpstr>
      <vt:lpstr>굴림</vt:lpstr>
      <vt:lpstr>나눔고딕</vt:lpstr>
      <vt:lpstr>맑은 고딕</vt:lpstr>
      <vt:lpstr>Arial</vt:lpstr>
      <vt:lpstr>Times New Roman</vt:lpstr>
      <vt:lpstr>Verdana</vt:lpstr>
      <vt:lpstr>Wingdings</vt:lpstr>
      <vt:lpstr>9_디자인 사용자 지정</vt:lpstr>
      <vt:lpstr>8_디자인 사용자 지정</vt:lpstr>
      <vt:lpstr>3_디자인 사용자 지정</vt:lpstr>
      <vt:lpstr>2_디자인 사용자 지정</vt:lpstr>
      <vt:lpstr>테마1</vt:lpstr>
      <vt:lpstr>Image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FINAL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금호동해성빌딩매각제안서</dc:title>
  <dc:creator>블랙에디션</dc:creator>
  <cp:lastModifiedBy>USER</cp:lastModifiedBy>
  <cp:revision>578</cp:revision>
  <dcterms:created xsi:type="dcterms:W3CDTF">2011-11-21T10:36:10Z</dcterms:created>
  <dcterms:modified xsi:type="dcterms:W3CDTF">2026-04-15T01:56:03Z</dcterms:modified>
</cp:coreProperties>
</file>