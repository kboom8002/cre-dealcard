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haansoftxlsx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94" r:id="rId2"/>
    <p:sldId id="473" r:id="rId3"/>
    <p:sldId id="505" r:id="rId4"/>
    <p:sldId id="436" r:id="rId5"/>
    <p:sldId id="475" r:id="rId6"/>
    <p:sldId id="499" r:id="rId7"/>
    <p:sldId id="527" r:id="rId8"/>
    <p:sldId id="528" r:id="rId9"/>
    <p:sldId id="476" r:id="rId10"/>
    <p:sldId id="478" r:id="rId11"/>
    <p:sldId id="513" r:id="rId12"/>
    <p:sldId id="493" r:id="rId13"/>
    <p:sldId id="425" r:id="rId14"/>
    <p:sldId id="492" r:id="rId15"/>
    <p:sldId id="530" r:id="rId16"/>
    <p:sldId id="531" r:id="rId17"/>
    <p:sldId id="532" r:id="rId18"/>
    <p:sldId id="533" r:id="rId19"/>
    <p:sldId id="511" r:id="rId2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EF4"/>
    <a:srgbClr val="9D2B5F"/>
    <a:srgbClr val="AE3069"/>
    <a:srgbClr val="932959"/>
    <a:srgbClr val="D6EEDC"/>
    <a:srgbClr val="7F234D"/>
    <a:srgbClr val="B1316B"/>
    <a:srgbClr val="2A6D7F"/>
    <a:srgbClr val="8B0B54"/>
    <a:srgbClr val="96D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2" autoAdjust="0"/>
    <p:restoredTop sz="92973" autoAdjust="0"/>
  </p:normalViewPr>
  <p:slideViewPr>
    <p:cSldViewPr>
      <p:cViewPr>
        <p:scale>
          <a:sx n="64" d="100"/>
          <a:sy n="64" d="100"/>
        </p:scale>
        <p:origin x="-1752" y="-17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760" y="-7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1111111111111111111111111111111111111111111111111111111111111111111111111111111111111111111111111111111111111111111111111111111111111111111111111111111111111111111111111111111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0C4-4161-8460-F60E4A5870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열2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0C4-4161-8460-F60E4A5870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열3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0C4-4161-8460-F60E4A587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6118656"/>
        <c:axId val="266120192"/>
      </c:barChart>
      <c:catAx>
        <c:axId val="266118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6120192"/>
        <c:crosses val="autoZero"/>
        <c:auto val="1"/>
        <c:lblAlgn val="ctr"/>
        <c:lblOffset val="100"/>
        <c:noMultiLvlLbl val="0"/>
      </c:catAx>
      <c:valAx>
        <c:axId val="2661201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61186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3203AD-83C4-4EE6-AB65-A57711047BFA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8C14AB3F-FBB5-4DC8-A884-AF614F010836}">
      <dgm:prSet phldrT="[텍스트]"/>
      <dgm:spPr>
        <a:solidFill>
          <a:srgbClr val="3C8E51">
            <a:alpha val="85000"/>
          </a:srgbClr>
        </a:solidFill>
        <a:ln>
          <a:noFill/>
        </a:ln>
      </dgm:spPr>
      <dgm:t>
        <a:bodyPr/>
        <a:lstStyle/>
        <a:p>
          <a:pPr latinLnBrk="1"/>
          <a:r>
            <a:rPr lang="ko-KR" altLang="en-US" dirty="0" smtClean="0"/>
            <a:t> 고 효율</a:t>
          </a:r>
          <a:r>
            <a:rPr lang="en-US" altLang="ko-KR" dirty="0" smtClean="0"/>
            <a:t>+</a:t>
          </a:r>
          <a:r>
            <a:rPr lang="ko-KR" altLang="en-US" dirty="0" smtClean="0"/>
            <a:t>고 잠재적 기초자산</a:t>
          </a:r>
          <a:endParaRPr lang="ko-KR" altLang="en-US" dirty="0"/>
        </a:p>
      </dgm:t>
    </dgm:pt>
    <dgm:pt modelId="{BAC5AC11-0844-451A-A0FF-7FE819C17725}" type="parTrans" cxnId="{91DE22F1-1DBE-4919-A5E9-D617F7FF1CD4}">
      <dgm:prSet/>
      <dgm:spPr/>
      <dgm:t>
        <a:bodyPr/>
        <a:lstStyle/>
        <a:p>
          <a:pPr latinLnBrk="1"/>
          <a:endParaRPr lang="ko-KR" altLang="en-US"/>
        </a:p>
      </dgm:t>
    </dgm:pt>
    <dgm:pt modelId="{AE7B95C1-42C7-4F01-A56C-248874221960}" type="sibTrans" cxnId="{91DE22F1-1DBE-4919-A5E9-D617F7FF1CD4}">
      <dgm:prSet/>
      <dgm:spPr>
        <a:solidFill>
          <a:schemeClr val="tx2">
            <a:lumMod val="75000"/>
            <a:alpha val="68000"/>
          </a:schemeClr>
        </a:solidFill>
      </dgm:spPr>
      <dgm:t>
        <a:bodyPr/>
        <a:lstStyle/>
        <a:p>
          <a:pPr latinLnBrk="1"/>
          <a:endParaRPr lang="ko-KR" altLang="en-US" dirty="0"/>
        </a:p>
      </dgm:t>
    </dgm:pt>
    <dgm:pt modelId="{0EF24FAA-739C-4CAA-AF88-A6C256C792C0}">
      <dgm:prSet phldrT="[텍스트]"/>
      <dgm:spPr>
        <a:solidFill>
          <a:srgbClr val="B20E6C">
            <a:alpha val="84706"/>
          </a:srgbClr>
        </a:solidFill>
        <a:ln>
          <a:noFill/>
        </a:ln>
      </dgm:spPr>
      <dgm:t>
        <a:bodyPr/>
        <a:lstStyle/>
        <a:p>
          <a:pPr latinLnBrk="1"/>
          <a:r>
            <a:rPr lang="ko-KR" altLang="en-US" dirty="0" smtClean="0"/>
            <a:t>창조적</a:t>
          </a:r>
          <a:endParaRPr lang="en-US" altLang="ko-KR" dirty="0" smtClean="0"/>
        </a:p>
        <a:p>
          <a:pPr latinLnBrk="1"/>
          <a:r>
            <a:rPr lang="ko-KR" altLang="en-US" dirty="0" smtClean="0"/>
            <a:t>밸류애드</a:t>
          </a:r>
          <a:endParaRPr lang="ko-KR" altLang="en-US" dirty="0"/>
        </a:p>
      </dgm:t>
    </dgm:pt>
    <dgm:pt modelId="{D6833FCB-309C-44E7-96D9-6673A3FE67A5}" type="parTrans" cxnId="{7617E1D5-6F16-46C8-986F-63C458E970F4}">
      <dgm:prSet/>
      <dgm:spPr/>
      <dgm:t>
        <a:bodyPr/>
        <a:lstStyle/>
        <a:p>
          <a:pPr latinLnBrk="1"/>
          <a:endParaRPr lang="ko-KR" altLang="en-US"/>
        </a:p>
      </dgm:t>
    </dgm:pt>
    <dgm:pt modelId="{64ADE5D2-00EE-49A5-8CCD-0B7BDCDED564}" type="sibTrans" cxnId="{7617E1D5-6F16-46C8-986F-63C458E970F4}">
      <dgm:prSet/>
      <dgm:spPr>
        <a:solidFill>
          <a:srgbClr val="EEB500">
            <a:alpha val="88000"/>
          </a:srgbClr>
        </a:solidFill>
      </dgm:spPr>
      <dgm:t>
        <a:bodyPr/>
        <a:lstStyle/>
        <a:p>
          <a:pPr latinLnBrk="1"/>
          <a:endParaRPr lang="ko-KR" altLang="en-US" dirty="0"/>
        </a:p>
      </dgm:t>
    </dgm:pt>
    <dgm:pt modelId="{6FE24A2D-B4FF-442C-9861-3440834AC33F}">
      <dgm:prSet phldrT="[텍스트]"/>
      <dgm:spPr>
        <a:solidFill>
          <a:schemeClr val="accent1">
            <a:lumMod val="50000"/>
            <a:alpha val="85000"/>
          </a:schemeClr>
        </a:solidFill>
        <a:ln>
          <a:noFill/>
        </a:ln>
      </dgm:spPr>
      <dgm:t>
        <a:bodyPr/>
        <a:lstStyle/>
        <a:p>
          <a:pPr latinLnBrk="1"/>
          <a:r>
            <a:rPr lang="ko-KR" altLang="en-US" dirty="0" smtClean="0"/>
            <a:t>완성형</a:t>
          </a:r>
          <a:endParaRPr lang="en-US" altLang="ko-KR" dirty="0" smtClean="0"/>
        </a:p>
        <a:p>
          <a:pPr latinLnBrk="1"/>
          <a:r>
            <a:rPr lang="ko-KR" altLang="en-US" b="0" dirty="0" smtClean="0"/>
            <a:t>高</a:t>
          </a:r>
          <a:r>
            <a:rPr lang="ko-KR" altLang="en-US" dirty="0" smtClean="0"/>
            <a:t>우량 자산</a:t>
          </a:r>
          <a:endParaRPr lang="en-US" altLang="ko-KR" dirty="0" smtClean="0"/>
        </a:p>
      </dgm:t>
    </dgm:pt>
    <dgm:pt modelId="{1C1B11F2-CB71-4473-A07A-E310087C8086}" type="parTrans" cxnId="{4476C2DC-1960-4C31-9A09-A8DB8F558F81}">
      <dgm:prSet/>
      <dgm:spPr/>
      <dgm:t>
        <a:bodyPr/>
        <a:lstStyle/>
        <a:p>
          <a:pPr latinLnBrk="1"/>
          <a:endParaRPr lang="ko-KR" altLang="en-US"/>
        </a:p>
      </dgm:t>
    </dgm:pt>
    <dgm:pt modelId="{899BA467-00A1-43FD-83EC-6BC316BFD660}" type="sibTrans" cxnId="{4476C2DC-1960-4C31-9A09-A8DB8F558F81}">
      <dgm:prSet/>
      <dgm:spPr/>
      <dgm:t>
        <a:bodyPr/>
        <a:lstStyle/>
        <a:p>
          <a:pPr latinLnBrk="1"/>
          <a:endParaRPr lang="ko-KR" altLang="en-US"/>
        </a:p>
      </dgm:t>
    </dgm:pt>
    <dgm:pt modelId="{222C11E5-6AC4-42C2-9D2A-88AECC0E934A}" type="pres">
      <dgm:prSet presAssocID="{773203AD-83C4-4EE6-AB65-A57711047BFA}" presName="Name0" presStyleCnt="0">
        <dgm:presLayoutVars>
          <dgm:dir/>
          <dgm:resizeHandles val="exact"/>
        </dgm:presLayoutVars>
      </dgm:prSet>
      <dgm:spPr/>
    </dgm:pt>
    <dgm:pt modelId="{A6F06862-914F-49FD-B30C-354697A585A9}" type="pres">
      <dgm:prSet presAssocID="{773203AD-83C4-4EE6-AB65-A57711047BFA}" presName="vNodes" presStyleCnt="0"/>
      <dgm:spPr/>
    </dgm:pt>
    <dgm:pt modelId="{763EC945-6055-445E-B360-E0373FDAB1F2}" type="pres">
      <dgm:prSet presAssocID="{8C14AB3F-FBB5-4DC8-A884-AF614F01083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535506B-7186-4C95-8DBE-C27AD1A4FFCA}" type="pres">
      <dgm:prSet presAssocID="{AE7B95C1-42C7-4F01-A56C-248874221960}" presName="spacerT" presStyleCnt="0"/>
      <dgm:spPr/>
    </dgm:pt>
    <dgm:pt modelId="{017ED921-8AB0-4D32-AEFA-9CEF06ABEEB7}" type="pres">
      <dgm:prSet presAssocID="{AE7B95C1-42C7-4F01-A56C-248874221960}" presName="sibTrans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2405FD2D-5787-40CF-8ABF-BBEED8F42BE3}" type="pres">
      <dgm:prSet presAssocID="{AE7B95C1-42C7-4F01-A56C-248874221960}" presName="spacerB" presStyleCnt="0"/>
      <dgm:spPr/>
    </dgm:pt>
    <dgm:pt modelId="{89D49D38-7E7C-4D92-BAE2-7B4F374B0516}" type="pres">
      <dgm:prSet presAssocID="{0EF24FAA-739C-4CAA-AF88-A6C256C792C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7AA1448-2433-44F4-A21A-AFDFAC1594E5}" type="pres">
      <dgm:prSet presAssocID="{773203AD-83C4-4EE6-AB65-A57711047BFA}" presName="sibTransLas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DFC553BA-E44D-4845-8625-50EC1BE5A4E2}" type="pres">
      <dgm:prSet presAssocID="{773203AD-83C4-4EE6-AB65-A57711047BFA}" presName="connectorTex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5A4D9C78-DB60-4638-9E64-8A9AE194B6CC}" type="pres">
      <dgm:prSet presAssocID="{773203AD-83C4-4EE6-AB65-A57711047BFA}" presName="lastNode" presStyleLbl="node1" presStyleIdx="2" presStyleCnt="3" custScaleX="82886" custScaleY="842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E56AD72-9596-4AC7-AB75-62D52F8B10DC}" type="presOf" srcId="{64ADE5D2-00EE-49A5-8CCD-0B7BDCDED564}" destId="{57AA1448-2433-44F4-A21A-AFDFAC1594E5}" srcOrd="0" destOrd="0" presId="urn:microsoft.com/office/officeart/2005/8/layout/equation2"/>
    <dgm:cxn modelId="{A1A1CBC5-BC5A-4E87-8E8E-121F1EFCF919}" type="presOf" srcId="{AE7B95C1-42C7-4F01-A56C-248874221960}" destId="{017ED921-8AB0-4D32-AEFA-9CEF06ABEEB7}" srcOrd="0" destOrd="0" presId="urn:microsoft.com/office/officeart/2005/8/layout/equation2"/>
    <dgm:cxn modelId="{4F0AB544-3F85-467B-8797-A6411611378F}" type="presOf" srcId="{64ADE5D2-00EE-49A5-8CCD-0B7BDCDED564}" destId="{DFC553BA-E44D-4845-8625-50EC1BE5A4E2}" srcOrd="1" destOrd="0" presId="urn:microsoft.com/office/officeart/2005/8/layout/equation2"/>
    <dgm:cxn modelId="{9C8FD4D6-E45A-4742-9D5C-289C30856806}" type="presOf" srcId="{8C14AB3F-FBB5-4DC8-A884-AF614F010836}" destId="{763EC945-6055-445E-B360-E0373FDAB1F2}" srcOrd="0" destOrd="0" presId="urn:microsoft.com/office/officeart/2005/8/layout/equation2"/>
    <dgm:cxn modelId="{D838553A-8219-4351-B508-AB0F0F1B492A}" type="presOf" srcId="{6FE24A2D-B4FF-442C-9861-3440834AC33F}" destId="{5A4D9C78-DB60-4638-9E64-8A9AE194B6CC}" srcOrd="0" destOrd="0" presId="urn:microsoft.com/office/officeart/2005/8/layout/equation2"/>
    <dgm:cxn modelId="{4476C2DC-1960-4C31-9A09-A8DB8F558F81}" srcId="{773203AD-83C4-4EE6-AB65-A57711047BFA}" destId="{6FE24A2D-B4FF-442C-9861-3440834AC33F}" srcOrd="2" destOrd="0" parTransId="{1C1B11F2-CB71-4473-A07A-E310087C8086}" sibTransId="{899BA467-00A1-43FD-83EC-6BC316BFD660}"/>
    <dgm:cxn modelId="{0F57E01D-31E6-418A-BB6D-1120AF75F91D}" type="presOf" srcId="{0EF24FAA-739C-4CAA-AF88-A6C256C792C0}" destId="{89D49D38-7E7C-4D92-BAE2-7B4F374B0516}" srcOrd="0" destOrd="0" presId="urn:microsoft.com/office/officeart/2005/8/layout/equation2"/>
    <dgm:cxn modelId="{7617E1D5-6F16-46C8-986F-63C458E970F4}" srcId="{773203AD-83C4-4EE6-AB65-A57711047BFA}" destId="{0EF24FAA-739C-4CAA-AF88-A6C256C792C0}" srcOrd="1" destOrd="0" parTransId="{D6833FCB-309C-44E7-96D9-6673A3FE67A5}" sibTransId="{64ADE5D2-00EE-49A5-8CCD-0B7BDCDED564}"/>
    <dgm:cxn modelId="{91DE22F1-1DBE-4919-A5E9-D617F7FF1CD4}" srcId="{773203AD-83C4-4EE6-AB65-A57711047BFA}" destId="{8C14AB3F-FBB5-4DC8-A884-AF614F010836}" srcOrd="0" destOrd="0" parTransId="{BAC5AC11-0844-451A-A0FF-7FE819C17725}" sibTransId="{AE7B95C1-42C7-4F01-A56C-248874221960}"/>
    <dgm:cxn modelId="{FD529BF2-803F-4A56-840D-2CE878EA86F3}" type="presOf" srcId="{773203AD-83C4-4EE6-AB65-A57711047BFA}" destId="{222C11E5-6AC4-42C2-9D2A-88AECC0E934A}" srcOrd="0" destOrd="0" presId="urn:microsoft.com/office/officeart/2005/8/layout/equation2"/>
    <dgm:cxn modelId="{5E663182-71FB-4294-A876-FF86786C185C}" type="presParOf" srcId="{222C11E5-6AC4-42C2-9D2A-88AECC0E934A}" destId="{A6F06862-914F-49FD-B30C-354697A585A9}" srcOrd="0" destOrd="0" presId="urn:microsoft.com/office/officeart/2005/8/layout/equation2"/>
    <dgm:cxn modelId="{FE7F882A-83D7-45DE-8FDE-AD657F90552B}" type="presParOf" srcId="{A6F06862-914F-49FD-B30C-354697A585A9}" destId="{763EC945-6055-445E-B360-E0373FDAB1F2}" srcOrd="0" destOrd="0" presId="urn:microsoft.com/office/officeart/2005/8/layout/equation2"/>
    <dgm:cxn modelId="{4BE70AF1-6BE7-4BEA-8275-F44DE6770C2E}" type="presParOf" srcId="{A6F06862-914F-49FD-B30C-354697A585A9}" destId="{3535506B-7186-4C95-8DBE-C27AD1A4FFCA}" srcOrd="1" destOrd="0" presId="urn:microsoft.com/office/officeart/2005/8/layout/equation2"/>
    <dgm:cxn modelId="{FD0085F4-00A4-4EB5-A0B7-01D0C51C7242}" type="presParOf" srcId="{A6F06862-914F-49FD-B30C-354697A585A9}" destId="{017ED921-8AB0-4D32-AEFA-9CEF06ABEEB7}" srcOrd="2" destOrd="0" presId="urn:microsoft.com/office/officeart/2005/8/layout/equation2"/>
    <dgm:cxn modelId="{A16A19F9-5A0A-4E7C-96FB-81BA5C9D34A5}" type="presParOf" srcId="{A6F06862-914F-49FD-B30C-354697A585A9}" destId="{2405FD2D-5787-40CF-8ABF-BBEED8F42BE3}" srcOrd="3" destOrd="0" presId="urn:microsoft.com/office/officeart/2005/8/layout/equation2"/>
    <dgm:cxn modelId="{1F04F9DE-3222-4409-8CB0-86CA1AEF1898}" type="presParOf" srcId="{A6F06862-914F-49FD-B30C-354697A585A9}" destId="{89D49D38-7E7C-4D92-BAE2-7B4F374B0516}" srcOrd="4" destOrd="0" presId="urn:microsoft.com/office/officeart/2005/8/layout/equation2"/>
    <dgm:cxn modelId="{7FB2B698-84CD-43C4-835B-E13883250146}" type="presParOf" srcId="{222C11E5-6AC4-42C2-9D2A-88AECC0E934A}" destId="{57AA1448-2433-44F4-A21A-AFDFAC1594E5}" srcOrd="1" destOrd="0" presId="urn:microsoft.com/office/officeart/2005/8/layout/equation2"/>
    <dgm:cxn modelId="{BA9DF1C7-6DDA-46FF-AB84-0DED7D037A00}" type="presParOf" srcId="{57AA1448-2433-44F4-A21A-AFDFAC1594E5}" destId="{DFC553BA-E44D-4845-8625-50EC1BE5A4E2}" srcOrd="0" destOrd="0" presId="urn:microsoft.com/office/officeart/2005/8/layout/equation2"/>
    <dgm:cxn modelId="{69E80806-BF72-4E16-AB75-C8DEAA10B8BC}" type="presParOf" srcId="{222C11E5-6AC4-42C2-9D2A-88AECC0E934A}" destId="{5A4D9C78-DB60-4638-9E64-8A9AE194B6CC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D6E5D9-E8B2-44AA-BF03-2CA5E80F6DD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6E6E8772-B3AC-4DF5-8CEB-90561B2B56F5}">
      <dgm:prSet phldrT="[텍스트]" custT="1"/>
      <dgm:spPr>
        <a:solidFill>
          <a:srgbClr val="F0F0F0">
            <a:alpha val="88000"/>
          </a:srgbClr>
        </a:solidFill>
        <a:ln w="3175">
          <a:noFill/>
        </a:ln>
        <a:effectLst/>
      </dgm:spPr>
      <dgm:t>
        <a:bodyPr/>
        <a:lstStyle/>
        <a:p>
          <a:pPr algn="ctr" latinLnBrk="1"/>
          <a:r>
            <a:rPr lang="ko-KR" altLang="en-US" sz="1200" b="1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고객 눈높이에서</a:t>
          </a:r>
          <a:endParaRPr lang="en-US" altLang="ko-KR" sz="1200" b="1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algn="ctr" latinLnBrk="1"/>
          <a:r>
            <a:rPr lang="ko-KR" altLang="en-US" sz="1200" b="1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고민하고 최선을</a:t>
          </a:r>
          <a:endParaRPr lang="en-US" altLang="ko-KR" sz="1200" b="1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algn="ctr" latinLnBrk="1"/>
          <a:r>
            <a:rPr lang="ko-KR" altLang="en-US" sz="1200" b="1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 다하는 부동산</a:t>
          </a:r>
          <a:endParaRPr lang="en-US" altLang="ko-KR" sz="1200" b="1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algn="ctr" latinLnBrk="1"/>
          <a:r>
            <a:rPr lang="ko-KR" altLang="en-US" sz="1200" b="1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전문 회사</a:t>
          </a:r>
          <a:endParaRPr lang="ko-KR" altLang="en-US" sz="1200" b="1" dirty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9D126972-F5B2-4BE9-93D5-55B2ABFB152A}" type="parTrans" cxnId="{ABC85FD1-24E1-4673-8DB3-2976F07E3C0E}">
      <dgm:prSet/>
      <dgm:spPr/>
      <dgm:t>
        <a:bodyPr/>
        <a:lstStyle/>
        <a:p>
          <a:pPr algn="ctr" latinLnBrk="1"/>
          <a:endParaRPr lang="ko-KR" altLang="en-US"/>
        </a:p>
      </dgm:t>
    </dgm:pt>
    <dgm:pt modelId="{B13D1575-9A89-4884-BFE9-F1419ACF733E}" type="sibTrans" cxnId="{ABC85FD1-24E1-4673-8DB3-2976F07E3C0E}">
      <dgm:prSet/>
      <dgm:spPr/>
      <dgm:t>
        <a:bodyPr/>
        <a:lstStyle/>
        <a:p>
          <a:pPr algn="ctr" latinLnBrk="1"/>
          <a:endParaRPr lang="ko-KR" altLang="en-US"/>
        </a:p>
      </dgm:t>
    </dgm:pt>
    <dgm:pt modelId="{836C5624-B002-4C1E-9482-A07969043AEE}">
      <dgm:prSet phldrT="[텍스트]" custT="1"/>
      <dgm:spPr>
        <a:solidFill>
          <a:srgbClr val="BD4A47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600" b="1" dirty="0" smtClean="0"/>
            <a:t>고객</a:t>
          </a:r>
          <a:endParaRPr lang="ko-KR" altLang="en-US" sz="1600" b="1" dirty="0"/>
        </a:p>
      </dgm:t>
    </dgm:pt>
    <dgm:pt modelId="{42AB1AB7-A2AF-4057-B9E4-BAE84008F7AE}" type="parTrans" cxnId="{3506C875-117B-4250-8186-F5C98F5130F4}">
      <dgm:prSet/>
      <dgm:spPr/>
      <dgm:t>
        <a:bodyPr/>
        <a:lstStyle/>
        <a:p>
          <a:pPr algn="ctr" latinLnBrk="1"/>
          <a:endParaRPr lang="ko-KR" altLang="en-US"/>
        </a:p>
      </dgm:t>
    </dgm:pt>
    <dgm:pt modelId="{C8974AB3-2DC6-4858-9123-60210DBFA0F0}" type="sibTrans" cxnId="{3506C875-117B-4250-8186-F5C98F5130F4}">
      <dgm:prSet/>
      <dgm:spPr>
        <a:solidFill>
          <a:srgbClr val="678034"/>
        </a:solidFill>
      </dgm:spPr>
      <dgm:t>
        <a:bodyPr/>
        <a:lstStyle/>
        <a:p>
          <a:pPr algn="ctr" latinLnBrk="1"/>
          <a:endParaRPr lang="ko-KR" altLang="en-US"/>
        </a:p>
      </dgm:t>
    </dgm:pt>
    <dgm:pt modelId="{08CF8A14-B66F-4C0B-A79A-D16E1B0C7406}">
      <dgm:prSet phldrT="[텍스트]" custT="1"/>
      <dgm:spPr>
        <a:solidFill>
          <a:srgbClr val="B20E6C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600" b="1" dirty="0" smtClean="0"/>
            <a:t>구성원</a:t>
          </a:r>
          <a:endParaRPr lang="ko-KR" altLang="en-US" sz="1600" b="1" dirty="0"/>
        </a:p>
      </dgm:t>
    </dgm:pt>
    <dgm:pt modelId="{9D8372AD-69D7-497B-962C-4098AF68ED34}" type="parTrans" cxnId="{8E3087FB-3C3C-46F0-9129-0A379503C8E4}">
      <dgm:prSet/>
      <dgm:spPr/>
      <dgm:t>
        <a:bodyPr/>
        <a:lstStyle/>
        <a:p>
          <a:pPr algn="ctr" latinLnBrk="1"/>
          <a:endParaRPr lang="ko-KR" altLang="en-US"/>
        </a:p>
      </dgm:t>
    </dgm:pt>
    <dgm:pt modelId="{F795510C-1E11-4B37-9EEC-0552130F74D4}" type="sibTrans" cxnId="{8E3087FB-3C3C-46F0-9129-0A379503C8E4}">
      <dgm:prSet/>
      <dgm:spPr>
        <a:solidFill>
          <a:srgbClr val="BD4A47"/>
        </a:solidFill>
      </dgm:spPr>
      <dgm:t>
        <a:bodyPr/>
        <a:lstStyle/>
        <a:p>
          <a:pPr algn="ctr" latinLnBrk="1"/>
          <a:endParaRPr lang="ko-KR" altLang="en-US"/>
        </a:p>
      </dgm:t>
    </dgm:pt>
    <dgm:pt modelId="{F6AA635C-9A85-4CDD-B3C4-338625388321}">
      <dgm:prSet phldrT="[텍스트]" custT="1"/>
      <dgm:spPr>
        <a:solidFill>
          <a:srgbClr val="0FB173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500" b="1" dirty="0" smtClean="0">
              <a:solidFill>
                <a:schemeClr val="bg1"/>
              </a:solidFill>
            </a:rPr>
            <a:t>히트</a:t>
          </a:r>
          <a:r>
            <a:rPr lang="en-US" altLang="ko-KR" sz="1500" b="1" dirty="0" smtClean="0">
              <a:solidFill>
                <a:schemeClr val="bg1"/>
              </a:solidFill>
            </a:rPr>
            <a:t/>
          </a:r>
          <a:br>
            <a:rPr lang="en-US" altLang="ko-KR" sz="1500" b="1" dirty="0" smtClean="0">
              <a:solidFill>
                <a:schemeClr val="bg1"/>
              </a:solidFill>
            </a:rPr>
          </a:br>
          <a:r>
            <a:rPr lang="ko-KR" altLang="en-US" sz="1500" b="1" dirty="0" smtClean="0">
              <a:solidFill>
                <a:schemeClr val="bg1"/>
              </a:solidFill>
            </a:rPr>
            <a:t>리얼티</a:t>
          </a:r>
          <a:endParaRPr lang="ko-KR" altLang="en-US" sz="1500" b="1" dirty="0">
            <a:solidFill>
              <a:schemeClr val="bg1"/>
            </a:solidFill>
          </a:endParaRPr>
        </a:p>
      </dgm:t>
    </dgm:pt>
    <dgm:pt modelId="{18E4246A-7071-46A9-A233-B1CE9B480C8A}" type="parTrans" cxnId="{23DB3D3D-54E5-439F-B376-30DA0576F661}">
      <dgm:prSet/>
      <dgm:spPr/>
      <dgm:t>
        <a:bodyPr/>
        <a:lstStyle/>
        <a:p>
          <a:pPr algn="ctr" latinLnBrk="1"/>
          <a:endParaRPr lang="ko-KR" altLang="en-US"/>
        </a:p>
      </dgm:t>
    </dgm:pt>
    <dgm:pt modelId="{22BEAA7C-27DB-4D27-BA70-97DD558AF998}" type="sibTrans" cxnId="{23DB3D3D-54E5-439F-B376-30DA0576F661}">
      <dgm:prSet/>
      <dgm:spPr>
        <a:solidFill>
          <a:srgbClr val="B20E6C"/>
        </a:solidFill>
      </dgm:spPr>
      <dgm:t>
        <a:bodyPr/>
        <a:lstStyle/>
        <a:p>
          <a:pPr algn="ctr" latinLnBrk="1"/>
          <a:endParaRPr lang="ko-KR" altLang="en-US"/>
        </a:p>
      </dgm:t>
    </dgm:pt>
    <dgm:pt modelId="{9D277C79-3505-44E7-8470-0A8C10E54FA5}">
      <dgm:prSet phldrT="[텍스트]" custT="1"/>
      <dgm:spPr>
        <a:solidFill>
          <a:srgbClr val="678034"/>
        </a:solidFill>
        <a:ln>
          <a:noFill/>
        </a:ln>
      </dgm:spPr>
      <dgm:t>
        <a:bodyPr/>
        <a:lstStyle/>
        <a:p>
          <a:pPr algn="ctr" latinLnBrk="1"/>
          <a:r>
            <a:rPr lang="ko-KR" altLang="en-US" sz="1600" b="1" dirty="0" smtClean="0"/>
            <a:t>사회</a:t>
          </a:r>
          <a:endParaRPr lang="ko-KR" altLang="en-US" sz="1600" b="1" dirty="0"/>
        </a:p>
      </dgm:t>
    </dgm:pt>
    <dgm:pt modelId="{9C5FC20E-A54C-4955-A3F0-E41CE0AF3BD7}" type="parTrans" cxnId="{DFEE8A04-A026-43D6-B851-35C274DF2918}">
      <dgm:prSet/>
      <dgm:spPr/>
      <dgm:t>
        <a:bodyPr/>
        <a:lstStyle/>
        <a:p>
          <a:pPr algn="ctr" latinLnBrk="1"/>
          <a:endParaRPr lang="ko-KR" altLang="en-US"/>
        </a:p>
      </dgm:t>
    </dgm:pt>
    <dgm:pt modelId="{B817FB4D-4E63-4A22-BBDA-B68845630486}" type="sibTrans" cxnId="{DFEE8A04-A026-43D6-B851-35C274DF2918}">
      <dgm:prSet/>
      <dgm:spPr>
        <a:solidFill>
          <a:srgbClr val="96D4B4"/>
        </a:solidFill>
      </dgm:spPr>
      <dgm:t>
        <a:bodyPr/>
        <a:lstStyle/>
        <a:p>
          <a:pPr algn="ctr" latinLnBrk="1"/>
          <a:endParaRPr lang="ko-KR" altLang="en-US"/>
        </a:p>
      </dgm:t>
    </dgm:pt>
    <dgm:pt modelId="{671BAFF9-4919-48CD-AC7A-37DFC28EE36A}" type="pres">
      <dgm:prSet presAssocID="{65D6E5D9-E8B2-44AA-BF03-2CA5E80F6DD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4237A12-73E5-4507-BE18-75AE8A2724AE}" type="pres">
      <dgm:prSet presAssocID="{6E6E8772-B3AC-4DF5-8CEB-90561B2B56F5}" presName="centerShape" presStyleLbl="node0" presStyleIdx="0" presStyleCnt="1" custScaleX="133915" custScaleY="125939"/>
      <dgm:spPr/>
      <dgm:t>
        <a:bodyPr/>
        <a:lstStyle/>
        <a:p>
          <a:pPr latinLnBrk="1"/>
          <a:endParaRPr lang="ko-KR" altLang="en-US"/>
        </a:p>
      </dgm:t>
    </dgm:pt>
    <dgm:pt modelId="{68E9B4A3-8C0C-4264-8596-013ED64C4197}" type="pres">
      <dgm:prSet presAssocID="{836C5624-B002-4C1E-9482-A07969043AE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A3C74E-A5E1-43B0-A688-E1E2F2ED7A6C}" type="pres">
      <dgm:prSet presAssocID="{836C5624-B002-4C1E-9482-A07969043AEE}" presName="dummy" presStyleCnt="0"/>
      <dgm:spPr/>
    </dgm:pt>
    <dgm:pt modelId="{352AEC99-9610-458D-B835-00B312B697DB}" type="pres">
      <dgm:prSet presAssocID="{C8974AB3-2DC6-4858-9123-60210DBFA0F0}" presName="sibTrans" presStyleLbl="sibTrans2D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90B4F170-3921-420D-BA54-A059FEC68C63}" type="pres">
      <dgm:prSet presAssocID="{08CF8A14-B66F-4C0B-A79A-D16E1B0C740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7EC3A8E-DEC1-4DC3-A7B0-D104532FA1F4}" type="pres">
      <dgm:prSet presAssocID="{08CF8A14-B66F-4C0B-A79A-D16E1B0C7406}" presName="dummy" presStyleCnt="0"/>
      <dgm:spPr/>
    </dgm:pt>
    <dgm:pt modelId="{ED1C5455-A07A-4CE8-B6E0-0CE39CC4F796}" type="pres">
      <dgm:prSet presAssocID="{F795510C-1E11-4B37-9EEC-0552130F74D4}" presName="sibTrans" presStyleLbl="sibTrans2D1" presStyleIdx="1" presStyleCnt="4" custLinFactNeighborX="733"/>
      <dgm:spPr/>
      <dgm:t>
        <a:bodyPr/>
        <a:lstStyle/>
        <a:p>
          <a:pPr latinLnBrk="1"/>
          <a:endParaRPr lang="ko-KR" altLang="en-US"/>
        </a:p>
      </dgm:t>
    </dgm:pt>
    <dgm:pt modelId="{AAD64087-9947-4AEB-B6D9-9D12812E72E3}" type="pres">
      <dgm:prSet presAssocID="{F6AA635C-9A85-4CDD-B3C4-338625388321}" presName="node" presStyleLbl="node1" presStyleIdx="2" presStyleCnt="4" custRadScaleRad="100099" custRadScaleInc="847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9C95E99-C051-47B1-95B9-69CFFD883B73}" type="pres">
      <dgm:prSet presAssocID="{F6AA635C-9A85-4CDD-B3C4-338625388321}" presName="dummy" presStyleCnt="0"/>
      <dgm:spPr/>
    </dgm:pt>
    <dgm:pt modelId="{5095242B-05F5-4625-9C60-C0FC07A83CE8}" type="pres">
      <dgm:prSet presAssocID="{22BEAA7C-27DB-4D27-BA70-97DD558AF998}" presName="sibTrans" presStyleLbl="sibTrans2D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B493FF34-067E-4D2E-8977-A179C3EFDE2A}" type="pres">
      <dgm:prSet presAssocID="{9D277C79-3505-44E7-8470-0A8C10E54FA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D92CD5-4F02-41D2-A2D4-7DF7BC85260B}" type="pres">
      <dgm:prSet presAssocID="{9D277C79-3505-44E7-8470-0A8C10E54FA5}" presName="dummy" presStyleCnt="0"/>
      <dgm:spPr/>
    </dgm:pt>
    <dgm:pt modelId="{3E7FD14B-5EA3-4AB4-8615-1708001AA0BB}" type="pres">
      <dgm:prSet presAssocID="{B817FB4D-4E63-4A22-BBDA-B68845630486}" presName="sibTrans" presStyleLbl="sibTrans2D1" presStyleIdx="3" presStyleCnt="4"/>
      <dgm:spPr/>
      <dgm:t>
        <a:bodyPr/>
        <a:lstStyle/>
        <a:p>
          <a:pPr latinLnBrk="1"/>
          <a:endParaRPr lang="ko-KR" altLang="en-US"/>
        </a:p>
      </dgm:t>
    </dgm:pt>
  </dgm:ptLst>
  <dgm:cxnLst>
    <dgm:cxn modelId="{A8D47178-2F43-4D99-B8BE-ACAD8815D626}" type="presOf" srcId="{F6AA635C-9A85-4CDD-B3C4-338625388321}" destId="{AAD64087-9947-4AEB-B6D9-9D12812E72E3}" srcOrd="0" destOrd="0" presId="urn:microsoft.com/office/officeart/2005/8/layout/radial6"/>
    <dgm:cxn modelId="{3506C875-117B-4250-8186-F5C98F5130F4}" srcId="{6E6E8772-B3AC-4DF5-8CEB-90561B2B56F5}" destId="{836C5624-B002-4C1E-9482-A07969043AEE}" srcOrd="0" destOrd="0" parTransId="{42AB1AB7-A2AF-4057-B9E4-BAE84008F7AE}" sibTransId="{C8974AB3-2DC6-4858-9123-60210DBFA0F0}"/>
    <dgm:cxn modelId="{ABC85FD1-24E1-4673-8DB3-2976F07E3C0E}" srcId="{65D6E5D9-E8B2-44AA-BF03-2CA5E80F6DD6}" destId="{6E6E8772-B3AC-4DF5-8CEB-90561B2B56F5}" srcOrd="0" destOrd="0" parTransId="{9D126972-F5B2-4BE9-93D5-55B2ABFB152A}" sibTransId="{B13D1575-9A89-4884-BFE9-F1419ACF733E}"/>
    <dgm:cxn modelId="{56A79E2D-5F4C-4E9B-BB60-4EC5DB75D7CD}" type="presOf" srcId="{9D277C79-3505-44E7-8470-0A8C10E54FA5}" destId="{B493FF34-067E-4D2E-8977-A179C3EFDE2A}" srcOrd="0" destOrd="0" presId="urn:microsoft.com/office/officeart/2005/8/layout/radial6"/>
    <dgm:cxn modelId="{DFEE8A04-A026-43D6-B851-35C274DF2918}" srcId="{6E6E8772-B3AC-4DF5-8CEB-90561B2B56F5}" destId="{9D277C79-3505-44E7-8470-0A8C10E54FA5}" srcOrd="3" destOrd="0" parTransId="{9C5FC20E-A54C-4955-A3F0-E41CE0AF3BD7}" sibTransId="{B817FB4D-4E63-4A22-BBDA-B68845630486}"/>
    <dgm:cxn modelId="{D22645DB-E441-4A01-BFCE-708E78309782}" type="presOf" srcId="{08CF8A14-B66F-4C0B-A79A-D16E1B0C7406}" destId="{90B4F170-3921-420D-BA54-A059FEC68C63}" srcOrd="0" destOrd="0" presId="urn:microsoft.com/office/officeart/2005/8/layout/radial6"/>
    <dgm:cxn modelId="{23DB3D3D-54E5-439F-B376-30DA0576F661}" srcId="{6E6E8772-B3AC-4DF5-8CEB-90561B2B56F5}" destId="{F6AA635C-9A85-4CDD-B3C4-338625388321}" srcOrd="2" destOrd="0" parTransId="{18E4246A-7071-46A9-A233-B1CE9B480C8A}" sibTransId="{22BEAA7C-27DB-4D27-BA70-97DD558AF998}"/>
    <dgm:cxn modelId="{770F3E85-B5C9-4C33-84DD-95126CCE6F74}" type="presOf" srcId="{22BEAA7C-27DB-4D27-BA70-97DD558AF998}" destId="{5095242B-05F5-4625-9C60-C0FC07A83CE8}" srcOrd="0" destOrd="0" presId="urn:microsoft.com/office/officeart/2005/8/layout/radial6"/>
    <dgm:cxn modelId="{DCCC8444-41E8-425A-89B8-2D43EB9A601E}" type="presOf" srcId="{F795510C-1E11-4B37-9EEC-0552130F74D4}" destId="{ED1C5455-A07A-4CE8-B6E0-0CE39CC4F796}" srcOrd="0" destOrd="0" presId="urn:microsoft.com/office/officeart/2005/8/layout/radial6"/>
    <dgm:cxn modelId="{C9FA3735-6993-4113-ABAD-D396FF10AB59}" type="presOf" srcId="{C8974AB3-2DC6-4858-9123-60210DBFA0F0}" destId="{352AEC99-9610-458D-B835-00B312B697DB}" srcOrd="0" destOrd="0" presId="urn:microsoft.com/office/officeart/2005/8/layout/radial6"/>
    <dgm:cxn modelId="{2A0CA279-86EE-4241-A45F-C0A7CF68FF8B}" type="presOf" srcId="{B817FB4D-4E63-4A22-BBDA-B68845630486}" destId="{3E7FD14B-5EA3-4AB4-8615-1708001AA0BB}" srcOrd="0" destOrd="0" presId="urn:microsoft.com/office/officeart/2005/8/layout/radial6"/>
    <dgm:cxn modelId="{8E3087FB-3C3C-46F0-9129-0A379503C8E4}" srcId="{6E6E8772-B3AC-4DF5-8CEB-90561B2B56F5}" destId="{08CF8A14-B66F-4C0B-A79A-D16E1B0C7406}" srcOrd="1" destOrd="0" parTransId="{9D8372AD-69D7-497B-962C-4098AF68ED34}" sibTransId="{F795510C-1E11-4B37-9EEC-0552130F74D4}"/>
    <dgm:cxn modelId="{C691F46B-D4C9-4257-B399-1FBAD5292966}" type="presOf" srcId="{836C5624-B002-4C1E-9482-A07969043AEE}" destId="{68E9B4A3-8C0C-4264-8596-013ED64C4197}" srcOrd="0" destOrd="0" presId="urn:microsoft.com/office/officeart/2005/8/layout/radial6"/>
    <dgm:cxn modelId="{BE336F44-215B-4974-B7BA-E38433371C73}" type="presOf" srcId="{65D6E5D9-E8B2-44AA-BF03-2CA5E80F6DD6}" destId="{671BAFF9-4919-48CD-AC7A-37DFC28EE36A}" srcOrd="0" destOrd="0" presId="urn:microsoft.com/office/officeart/2005/8/layout/radial6"/>
    <dgm:cxn modelId="{64A29CF6-86D8-4025-BBB5-CE19D01076C6}" type="presOf" srcId="{6E6E8772-B3AC-4DF5-8CEB-90561B2B56F5}" destId="{34237A12-73E5-4507-BE18-75AE8A2724AE}" srcOrd="0" destOrd="0" presId="urn:microsoft.com/office/officeart/2005/8/layout/radial6"/>
    <dgm:cxn modelId="{C8AD82B8-C2ED-4DF5-9B51-375E4A24EFC9}" type="presParOf" srcId="{671BAFF9-4919-48CD-AC7A-37DFC28EE36A}" destId="{34237A12-73E5-4507-BE18-75AE8A2724AE}" srcOrd="0" destOrd="0" presId="urn:microsoft.com/office/officeart/2005/8/layout/radial6"/>
    <dgm:cxn modelId="{3609611E-D22B-4475-9FCD-53993758DA78}" type="presParOf" srcId="{671BAFF9-4919-48CD-AC7A-37DFC28EE36A}" destId="{68E9B4A3-8C0C-4264-8596-013ED64C4197}" srcOrd="1" destOrd="0" presId="urn:microsoft.com/office/officeart/2005/8/layout/radial6"/>
    <dgm:cxn modelId="{867B02DD-4680-4ADB-B493-D8E4496D7315}" type="presParOf" srcId="{671BAFF9-4919-48CD-AC7A-37DFC28EE36A}" destId="{29A3C74E-A5E1-43B0-A688-E1E2F2ED7A6C}" srcOrd="2" destOrd="0" presId="urn:microsoft.com/office/officeart/2005/8/layout/radial6"/>
    <dgm:cxn modelId="{D2A9E25A-FFBD-4E75-9D67-A170B52A6F04}" type="presParOf" srcId="{671BAFF9-4919-48CD-AC7A-37DFC28EE36A}" destId="{352AEC99-9610-458D-B835-00B312B697DB}" srcOrd="3" destOrd="0" presId="urn:microsoft.com/office/officeart/2005/8/layout/radial6"/>
    <dgm:cxn modelId="{EBE2DBE1-2ADB-4266-905A-7C42F42157FE}" type="presParOf" srcId="{671BAFF9-4919-48CD-AC7A-37DFC28EE36A}" destId="{90B4F170-3921-420D-BA54-A059FEC68C63}" srcOrd="4" destOrd="0" presId="urn:microsoft.com/office/officeart/2005/8/layout/radial6"/>
    <dgm:cxn modelId="{961A7314-8498-4D59-BF24-7086C6C50B51}" type="presParOf" srcId="{671BAFF9-4919-48CD-AC7A-37DFC28EE36A}" destId="{77EC3A8E-DEC1-4DC3-A7B0-D104532FA1F4}" srcOrd="5" destOrd="0" presId="urn:microsoft.com/office/officeart/2005/8/layout/radial6"/>
    <dgm:cxn modelId="{D4A24FA5-4FBC-48C5-A214-9964C39D7F69}" type="presParOf" srcId="{671BAFF9-4919-48CD-AC7A-37DFC28EE36A}" destId="{ED1C5455-A07A-4CE8-B6E0-0CE39CC4F796}" srcOrd="6" destOrd="0" presId="urn:microsoft.com/office/officeart/2005/8/layout/radial6"/>
    <dgm:cxn modelId="{0E65487B-20B3-4E26-8E95-FBA658229067}" type="presParOf" srcId="{671BAFF9-4919-48CD-AC7A-37DFC28EE36A}" destId="{AAD64087-9947-4AEB-B6D9-9D12812E72E3}" srcOrd="7" destOrd="0" presId="urn:microsoft.com/office/officeart/2005/8/layout/radial6"/>
    <dgm:cxn modelId="{5E733110-5583-472B-9010-F1F7E886425F}" type="presParOf" srcId="{671BAFF9-4919-48CD-AC7A-37DFC28EE36A}" destId="{49C95E99-C051-47B1-95B9-69CFFD883B73}" srcOrd="8" destOrd="0" presId="urn:microsoft.com/office/officeart/2005/8/layout/radial6"/>
    <dgm:cxn modelId="{9A128083-E3DE-4B40-B464-C9B2091CB33B}" type="presParOf" srcId="{671BAFF9-4919-48CD-AC7A-37DFC28EE36A}" destId="{5095242B-05F5-4625-9C60-C0FC07A83CE8}" srcOrd="9" destOrd="0" presId="urn:microsoft.com/office/officeart/2005/8/layout/radial6"/>
    <dgm:cxn modelId="{85EBF993-C4C6-4280-A116-33ACA6EBE5C8}" type="presParOf" srcId="{671BAFF9-4919-48CD-AC7A-37DFC28EE36A}" destId="{B493FF34-067E-4D2E-8977-A179C3EFDE2A}" srcOrd="10" destOrd="0" presId="urn:microsoft.com/office/officeart/2005/8/layout/radial6"/>
    <dgm:cxn modelId="{BDE27EB2-F2A4-488C-814E-0A7154BD705A}" type="presParOf" srcId="{671BAFF9-4919-48CD-AC7A-37DFC28EE36A}" destId="{E6D92CD5-4F02-41D2-A2D4-7DF7BC85260B}" srcOrd="11" destOrd="0" presId="urn:microsoft.com/office/officeart/2005/8/layout/radial6"/>
    <dgm:cxn modelId="{F331E3A3-0DCB-4778-B8D7-0447613E4789}" type="presParOf" srcId="{671BAFF9-4919-48CD-AC7A-37DFC28EE36A}" destId="{3E7FD14B-5EA3-4AB4-8615-1708001AA0BB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EC945-6055-445E-B360-E0373FDAB1F2}">
      <dsp:nvSpPr>
        <dsp:cNvPr id="0" name=""/>
        <dsp:cNvSpPr/>
      </dsp:nvSpPr>
      <dsp:spPr>
        <a:xfrm>
          <a:off x="741408" y="1760"/>
          <a:ext cx="1221536" cy="1221536"/>
        </a:xfrm>
        <a:prstGeom prst="ellipse">
          <a:avLst/>
        </a:prstGeom>
        <a:solidFill>
          <a:srgbClr val="3C8E51">
            <a:alpha val="85000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/>
            <a:t> 고 효율</a:t>
          </a:r>
          <a:r>
            <a:rPr lang="en-US" altLang="ko-KR" sz="1300" kern="1200" dirty="0" smtClean="0"/>
            <a:t>+</a:t>
          </a:r>
          <a:r>
            <a:rPr lang="ko-KR" altLang="en-US" sz="1300" kern="1200" dirty="0" smtClean="0"/>
            <a:t>고 잠재적 기초자산</a:t>
          </a:r>
          <a:endParaRPr lang="ko-KR" altLang="en-US" sz="1300" kern="1200" dirty="0"/>
        </a:p>
      </dsp:txBody>
      <dsp:txXfrm>
        <a:off x="920298" y="180650"/>
        <a:ext cx="863756" cy="863756"/>
      </dsp:txXfrm>
    </dsp:sp>
    <dsp:sp modelId="{017ED921-8AB0-4D32-AEFA-9CEF06ABEEB7}">
      <dsp:nvSpPr>
        <dsp:cNvPr id="0" name=""/>
        <dsp:cNvSpPr/>
      </dsp:nvSpPr>
      <dsp:spPr>
        <a:xfrm>
          <a:off x="997931" y="1322485"/>
          <a:ext cx="708490" cy="708490"/>
        </a:xfrm>
        <a:prstGeom prst="mathPlus">
          <a:avLst/>
        </a:prstGeom>
        <a:solidFill>
          <a:schemeClr val="tx2">
            <a:lumMod val="75000"/>
            <a:alpha val="68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800" kern="1200" dirty="0"/>
        </a:p>
      </dsp:txBody>
      <dsp:txXfrm>
        <a:off x="1091841" y="1593412"/>
        <a:ext cx="520670" cy="166636"/>
      </dsp:txXfrm>
    </dsp:sp>
    <dsp:sp modelId="{89D49D38-7E7C-4D92-BAE2-7B4F374B0516}">
      <dsp:nvSpPr>
        <dsp:cNvPr id="0" name=""/>
        <dsp:cNvSpPr/>
      </dsp:nvSpPr>
      <dsp:spPr>
        <a:xfrm>
          <a:off x="741408" y="2130164"/>
          <a:ext cx="1221536" cy="1221536"/>
        </a:xfrm>
        <a:prstGeom prst="ellipse">
          <a:avLst/>
        </a:prstGeom>
        <a:solidFill>
          <a:srgbClr val="B20E6C">
            <a:alpha val="84706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/>
            <a:t>창조적</a:t>
          </a:r>
          <a:endParaRPr lang="en-US" altLang="ko-KR" sz="1300" kern="1200" dirty="0" smtClean="0"/>
        </a:p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/>
            <a:t>밸류애드</a:t>
          </a:r>
          <a:endParaRPr lang="ko-KR" altLang="en-US" sz="1300" kern="1200" dirty="0"/>
        </a:p>
      </dsp:txBody>
      <dsp:txXfrm>
        <a:off x="920298" y="2309054"/>
        <a:ext cx="863756" cy="863756"/>
      </dsp:txXfrm>
    </dsp:sp>
    <dsp:sp modelId="{57AA1448-2433-44F4-A21A-AFDFAC1594E5}">
      <dsp:nvSpPr>
        <dsp:cNvPr id="0" name=""/>
        <dsp:cNvSpPr/>
      </dsp:nvSpPr>
      <dsp:spPr>
        <a:xfrm>
          <a:off x="2146175" y="1449524"/>
          <a:ext cx="388448" cy="454411"/>
        </a:xfrm>
        <a:prstGeom prst="rightArrow">
          <a:avLst>
            <a:gd name="adj1" fmla="val 60000"/>
            <a:gd name="adj2" fmla="val 50000"/>
          </a:avLst>
        </a:prstGeom>
        <a:solidFill>
          <a:srgbClr val="EEB500">
            <a:alpha val="88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kern="1200" dirty="0"/>
        </a:p>
      </dsp:txBody>
      <dsp:txXfrm>
        <a:off x="2146175" y="1540406"/>
        <a:ext cx="271914" cy="272647"/>
      </dsp:txXfrm>
    </dsp:sp>
    <dsp:sp modelId="{5A4D9C78-DB60-4638-9E64-8A9AE194B6CC}">
      <dsp:nvSpPr>
        <dsp:cNvPr id="0" name=""/>
        <dsp:cNvSpPr/>
      </dsp:nvSpPr>
      <dsp:spPr>
        <a:xfrm>
          <a:off x="2695866" y="648074"/>
          <a:ext cx="2024964" cy="2057311"/>
        </a:xfrm>
        <a:prstGeom prst="ellipse">
          <a:avLst/>
        </a:prstGeom>
        <a:solidFill>
          <a:schemeClr val="accent1">
            <a:lumMod val="50000"/>
            <a:alpha val="8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/>
            <a:t>완성형</a:t>
          </a:r>
          <a:endParaRPr lang="en-US" altLang="ko-KR" sz="2000" kern="1200" dirty="0" smtClean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b="0" kern="1200" dirty="0" smtClean="0"/>
            <a:t>高</a:t>
          </a:r>
          <a:r>
            <a:rPr lang="ko-KR" altLang="en-US" sz="2000" kern="1200" dirty="0" smtClean="0"/>
            <a:t>우량 자산</a:t>
          </a:r>
          <a:endParaRPr lang="en-US" altLang="ko-KR" sz="2000" kern="1200" dirty="0" smtClean="0"/>
        </a:p>
      </dsp:txBody>
      <dsp:txXfrm>
        <a:off x="2992415" y="949360"/>
        <a:ext cx="1431866" cy="14547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FD14B-5EA3-4AB4-8615-1708001AA0BB}">
      <dsp:nvSpPr>
        <dsp:cNvPr id="0" name=""/>
        <dsp:cNvSpPr/>
      </dsp:nvSpPr>
      <dsp:spPr>
        <a:xfrm>
          <a:off x="986032" y="431858"/>
          <a:ext cx="2880699" cy="2880699"/>
        </a:xfrm>
        <a:prstGeom prst="blockArc">
          <a:avLst>
            <a:gd name="adj1" fmla="val 10800000"/>
            <a:gd name="adj2" fmla="val 16200000"/>
            <a:gd name="adj3" fmla="val 4643"/>
          </a:avLst>
        </a:prstGeom>
        <a:solidFill>
          <a:srgbClr val="96D4B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5242B-05F5-4625-9C60-C0FC07A83CE8}">
      <dsp:nvSpPr>
        <dsp:cNvPr id="0" name=""/>
        <dsp:cNvSpPr/>
      </dsp:nvSpPr>
      <dsp:spPr>
        <a:xfrm>
          <a:off x="986031" y="433252"/>
          <a:ext cx="2880699" cy="2880699"/>
        </a:xfrm>
        <a:prstGeom prst="blockArc">
          <a:avLst>
            <a:gd name="adj1" fmla="val 5552753"/>
            <a:gd name="adj2" fmla="val 10803407"/>
            <a:gd name="adj3" fmla="val 4643"/>
          </a:avLst>
        </a:prstGeom>
        <a:solidFill>
          <a:srgbClr val="B20E6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C5455-A07A-4CE8-B6E0-0CE39CC4F796}">
      <dsp:nvSpPr>
        <dsp:cNvPr id="0" name=""/>
        <dsp:cNvSpPr/>
      </dsp:nvSpPr>
      <dsp:spPr>
        <a:xfrm>
          <a:off x="1007148" y="433252"/>
          <a:ext cx="2880699" cy="2880699"/>
        </a:xfrm>
        <a:prstGeom prst="blockArc">
          <a:avLst>
            <a:gd name="adj1" fmla="val 21596593"/>
            <a:gd name="adj2" fmla="val 5552757"/>
            <a:gd name="adj3" fmla="val 4643"/>
          </a:avLst>
        </a:prstGeom>
        <a:solidFill>
          <a:srgbClr val="BD4A4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AEC99-9610-458D-B835-00B312B697DB}">
      <dsp:nvSpPr>
        <dsp:cNvPr id="0" name=""/>
        <dsp:cNvSpPr/>
      </dsp:nvSpPr>
      <dsp:spPr>
        <a:xfrm>
          <a:off x="986032" y="431858"/>
          <a:ext cx="2880699" cy="2880699"/>
        </a:xfrm>
        <a:prstGeom prst="blockArc">
          <a:avLst>
            <a:gd name="adj1" fmla="val 16200000"/>
            <a:gd name="adj2" fmla="val 0"/>
            <a:gd name="adj3" fmla="val 4643"/>
          </a:avLst>
        </a:prstGeom>
        <a:solidFill>
          <a:srgbClr val="67803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37A12-73E5-4507-BE18-75AE8A2724AE}">
      <dsp:nvSpPr>
        <dsp:cNvPr id="0" name=""/>
        <dsp:cNvSpPr/>
      </dsp:nvSpPr>
      <dsp:spPr>
        <a:xfrm>
          <a:off x="1537904" y="1036648"/>
          <a:ext cx="1776955" cy="1671119"/>
        </a:xfrm>
        <a:prstGeom prst="ellipse">
          <a:avLst/>
        </a:prstGeom>
        <a:solidFill>
          <a:srgbClr val="F0F0F0">
            <a:alpha val="88000"/>
          </a:srgbClr>
        </a:solidFill>
        <a:ln w="31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고객 눈높이에서</a:t>
          </a:r>
          <a:endParaRPr lang="en-US" altLang="ko-KR" sz="1200" b="1" kern="1200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고민하고 최선을</a:t>
          </a:r>
          <a:endParaRPr lang="en-US" altLang="ko-KR" sz="1200" b="1" kern="1200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 다하는 부동산</a:t>
          </a:r>
          <a:endParaRPr lang="en-US" altLang="ko-KR" sz="1200" b="1" kern="1200" dirty="0" smtClean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1" kern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전문 회사</a:t>
          </a:r>
          <a:endParaRPr lang="ko-KR" altLang="en-US" sz="1200" b="1" kern="1200" dirty="0">
            <a:solidFill>
              <a:schemeClr val="bg2">
                <a:lumMod val="1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</dsp:txBody>
      <dsp:txXfrm>
        <a:off x="1798133" y="1281378"/>
        <a:ext cx="1256497" cy="1181659"/>
      </dsp:txXfrm>
    </dsp:sp>
    <dsp:sp modelId="{68E9B4A3-8C0C-4264-8596-013ED64C4197}">
      <dsp:nvSpPr>
        <dsp:cNvPr id="0" name=""/>
        <dsp:cNvSpPr/>
      </dsp:nvSpPr>
      <dsp:spPr>
        <a:xfrm>
          <a:off x="1961957" y="872"/>
          <a:ext cx="928849" cy="928849"/>
        </a:xfrm>
        <a:prstGeom prst="ellipse">
          <a:avLst/>
        </a:prstGeom>
        <a:solidFill>
          <a:srgbClr val="BD4A47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고객</a:t>
          </a:r>
          <a:endParaRPr lang="ko-KR" altLang="en-US" sz="1600" b="1" kern="1200" dirty="0"/>
        </a:p>
      </dsp:txBody>
      <dsp:txXfrm>
        <a:off x="2097984" y="136899"/>
        <a:ext cx="656795" cy="656795"/>
      </dsp:txXfrm>
    </dsp:sp>
    <dsp:sp modelId="{90B4F170-3921-420D-BA54-A059FEC68C63}">
      <dsp:nvSpPr>
        <dsp:cNvPr id="0" name=""/>
        <dsp:cNvSpPr/>
      </dsp:nvSpPr>
      <dsp:spPr>
        <a:xfrm>
          <a:off x="3368868" y="1407783"/>
          <a:ext cx="928849" cy="928849"/>
        </a:xfrm>
        <a:prstGeom prst="ellipse">
          <a:avLst/>
        </a:prstGeom>
        <a:solidFill>
          <a:srgbClr val="B20E6C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구성원</a:t>
          </a:r>
          <a:endParaRPr lang="ko-KR" altLang="en-US" sz="1600" b="1" kern="1200" dirty="0"/>
        </a:p>
      </dsp:txBody>
      <dsp:txXfrm>
        <a:off x="3504895" y="1543810"/>
        <a:ext cx="656795" cy="656795"/>
      </dsp:txXfrm>
    </dsp:sp>
    <dsp:sp modelId="{AAD64087-9947-4AEB-B6D9-9D12812E72E3}">
      <dsp:nvSpPr>
        <dsp:cNvPr id="0" name=""/>
        <dsp:cNvSpPr/>
      </dsp:nvSpPr>
      <dsp:spPr>
        <a:xfrm>
          <a:off x="1899462" y="2814699"/>
          <a:ext cx="928849" cy="928849"/>
        </a:xfrm>
        <a:prstGeom prst="ellipse">
          <a:avLst/>
        </a:prstGeom>
        <a:solidFill>
          <a:srgbClr val="0FB17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bg1"/>
              </a:solidFill>
            </a:rPr>
            <a:t>히트</a:t>
          </a:r>
          <a:r>
            <a:rPr lang="en-US" altLang="ko-KR" sz="1500" b="1" kern="1200" dirty="0" smtClean="0">
              <a:solidFill>
                <a:schemeClr val="bg1"/>
              </a:solidFill>
            </a:rPr>
            <a:t/>
          </a:r>
          <a:br>
            <a:rPr lang="en-US" altLang="ko-KR" sz="1500" b="1" kern="1200" dirty="0" smtClean="0">
              <a:solidFill>
                <a:schemeClr val="bg1"/>
              </a:solidFill>
            </a:rPr>
          </a:br>
          <a:r>
            <a:rPr lang="ko-KR" altLang="en-US" sz="1500" b="1" kern="1200" dirty="0" smtClean="0">
              <a:solidFill>
                <a:schemeClr val="bg1"/>
              </a:solidFill>
            </a:rPr>
            <a:t>리얼티</a:t>
          </a:r>
          <a:endParaRPr lang="ko-KR" altLang="en-US" sz="1500" b="1" kern="1200" dirty="0">
            <a:solidFill>
              <a:schemeClr val="bg1"/>
            </a:solidFill>
          </a:endParaRPr>
        </a:p>
      </dsp:txBody>
      <dsp:txXfrm>
        <a:off x="2035489" y="2950726"/>
        <a:ext cx="656795" cy="656795"/>
      </dsp:txXfrm>
    </dsp:sp>
    <dsp:sp modelId="{B493FF34-067E-4D2E-8977-A179C3EFDE2A}">
      <dsp:nvSpPr>
        <dsp:cNvPr id="0" name=""/>
        <dsp:cNvSpPr/>
      </dsp:nvSpPr>
      <dsp:spPr>
        <a:xfrm>
          <a:off x="555046" y="1407783"/>
          <a:ext cx="928849" cy="928849"/>
        </a:xfrm>
        <a:prstGeom prst="ellipse">
          <a:avLst/>
        </a:prstGeom>
        <a:solidFill>
          <a:srgbClr val="67803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1" kern="1200" dirty="0" smtClean="0"/>
            <a:t>사회</a:t>
          </a:r>
          <a:endParaRPr lang="ko-KR" altLang="en-US" sz="1600" b="1" kern="1200" dirty="0"/>
        </a:p>
      </dsp:txBody>
      <dsp:txXfrm>
        <a:off x="691073" y="1543810"/>
        <a:ext cx="656795" cy="656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54ABD073-50FF-4C63-9042-39AC6A65020C}" type="datetimeFigureOut">
              <a:rPr lang="ko-KR" altLang="en-US" smtClean="0"/>
              <a:pPr/>
              <a:t>2026-05-29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5D61FB94-30FE-4C26-8AB4-960A42FB827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0595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397768B7-36E6-4804-BC90-B29CA6A54C37}" type="datetimeFigureOut">
              <a:rPr lang="ko-KR" altLang="en-US" smtClean="0"/>
              <a:pPr/>
              <a:t>2026-05-29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4" tIns="45717" rIns="91434" bIns="45717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82C20FDB-0B93-470E-9982-52E981DBC8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57655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C2DE0-8119-4DD0-B343-223F63ABF0BF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83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C2DE0-8119-4DD0-B343-223F63ABF0BF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831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68144-7287-4D47-92E8-D768FD5340D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776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235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235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235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891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20FDB-0B93-470E-9982-52E981DBC8F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3144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C2DE0-8119-4DD0-B343-223F63ABF0BF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83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371269" y="6381331"/>
            <a:ext cx="23114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1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10">
            <a:extLst>
              <a:ext uri="{FF2B5EF4-FFF2-40B4-BE49-F238E27FC236}">
                <a16:creationId xmlns:a16="http://schemas.microsoft.com/office/drawing/2014/main" xmlns="" id="{4A9E349E-326E-647B-C3DF-6E07CFF256EF}"/>
              </a:ext>
            </a:extLst>
          </p:cNvPr>
          <p:cNvCxnSpPr>
            <a:cxnSpLocks/>
          </p:cNvCxnSpPr>
          <p:nvPr userDrawn="1"/>
        </p:nvCxnSpPr>
        <p:spPr>
          <a:xfrm>
            <a:off x="200472" y="593676"/>
            <a:ext cx="9642688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D8BE30A-EC4B-E658-22FE-B7C74A80A233}"/>
              </a:ext>
            </a:extLst>
          </p:cNvPr>
          <p:cNvSpPr txBox="1"/>
          <p:nvPr userDrawn="1"/>
        </p:nvSpPr>
        <p:spPr>
          <a:xfrm>
            <a:off x="416496" y="44624"/>
            <a:ext cx="1728192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Information Memorandum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014" y="121568"/>
            <a:ext cx="705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40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 A L</a:t>
            </a:r>
            <a:r>
              <a:rPr lang="en-US" altLang="ko-KR" sz="1400" baseline="0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</a:t>
            </a:r>
            <a:endParaRPr lang="ko-KR" altLang="en-US" sz="14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1" name="날짜 개체 틀 3">
            <a:extLst>
              <a:ext uri="{FF2B5EF4-FFF2-40B4-BE49-F238E27FC236}">
                <a16:creationId xmlns:a16="http://schemas.microsoft.com/office/drawing/2014/main" xmlns="" id="{6612D814-90E0-47A0-AC87-54727DC5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0512" y="6520259"/>
            <a:ext cx="222885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xmlns="" id="{A9CA19A7-6982-497A-8CC6-29ADB563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917" y="6165304"/>
            <a:ext cx="3343275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xmlns="" id="{5930C7EB-B3D2-4B9B-8BAB-F3B32E37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32662" y="6520259"/>
            <a:ext cx="2228850" cy="365125"/>
          </a:xfrm>
        </p:spPr>
        <p:txBody>
          <a:bodyPr/>
          <a:lstStyle/>
          <a:p>
            <a:fld id="{D4A85FBC-2750-4EB2-BEE8-FADFF901BC27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849A37FE-026F-95D7-62A6-58A29C6A2B9B}"/>
              </a:ext>
            </a:extLst>
          </p:cNvPr>
          <p:cNvCxnSpPr>
            <a:cxnSpLocks/>
          </p:cNvCxnSpPr>
          <p:nvPr userDrawn="1"/>
        </p:nvCxnSpPr>
        <p:spPr>
          <a:xfrm>
            <a:off x="454525" y="6597352"/>
            <a:ext cx="9007200" cy="0"/>
          </a:xfrm>
          <a:prstGeom prst="line">
            <a:avLst/>
          </a:prstGeom>
          <a:ln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B83B27A-C94E-A0D3-5D15-0EF8E7D0D481}"/>
              </a:ext>
            </a:extLst>
          </p:cNvPr>
          <p:cNvSpPr txBox="1"/>
          <p:nvPr userDrawn="1"/>
        </p:nvSpPr>
        <p:spPr>
          <a:xfrm>
            <a:off x="3440832" y="6669360"/>
            <a:ext cx="3024336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Copyright©                 All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Rights Reserved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16" name="Picture 2" descr="C:\Users\User\Desktop\js로고,명함,약도,광고시안\Capture_2025_1211_14252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787" y="6692727"/>
            <a:ext cx="607916" cy="9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6131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fld id="{98A7BF53-A8A2-4F39-AACC-8922103543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cover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chart" Target="../charts/chart1.xml"/><Relationship Id="rId7" Type="http://schemas.openxmlformats.org/officeDocument/2006/relationships/diagramColors" Target="../diagrams/colors1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7776" y="0"/>
            <a:ext cx="992932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각 삼각형 4"/>
          <p:cNvSpPr/>
          <p:nvPr/>
        </p:nvSpPr>
        <p:spPr>
          <a:xfrm>
            <a:off x="-15552" y="-1"/>
            <a:ext cx="9921555" cy="6858001"/>
          </a:xfrm>
          <a:prstGeom prst="rtTriangle">
            <a:avLst/>
          </a:prstGeom>
          <a:solidFill>
            <a:srgbClr val="BF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각 삼각형 3"/>
          <p:cNvSpPr/>
          <p:nvPr/>
        </p:nvSpPr>
        <p:spPr>
          <a:xfrm rot="10800000" flipV="1">
            <a:off x="5063325" y="4293096"/>
            <a:ext cx="4858227" cy="2564904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40046" y="620688"/>
            <a:ext cx="542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u="sng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NaviUpdaterHyundai Regular"/>
                <a:cs typeface="Pretendard" panose="02000503000000020004" pitchFamily="2" charset="-127"/>
              </a:rPr>
              <a:t>Information </a:t>
            </a:r>
            <a:r>
              <a:rPr lang="en-US" altLang="ko-KR" sz="3200" b="1" u="sng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NaviUpdaterHyundai Regular"/>
                <a:cs typeface="Pretendard" panose="02000503000000020004" pitchFamily="2" charset="-127"/>
              </a:rPr>
              <a:t>Memorandum</a:t>
            </a:r>
            <a:endParaRPr lang="en-US" altLang="ko-KR" sz="3200" b="1" u="sng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NaviUpdaterHyundai Regular"/>
              <a:cs typeface="Pretendard" panose="02000503000000020004" pitchFamily="2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261762" y="1778620"/>
            <a:ext cx="5382476" cy="12903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35324" y="1799818"/>
            <a:ext cx="50353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두</a:t>
            </a:r>
            <a:r>
              <a:rPr lang="ko-KR" altLang="en-US" sz="2800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원</a:t>
            </a:r>
            <a:r>
              <a:rPr lang="ko-KR" altLang="en-US" sz="28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빌딩</a:t>
            </a:r>
            <a:r>
              <a:rPr lang="en-US" altLang="ko-KR" sz="28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_</a:t>
            </a:r>
            <a:r>
              <a:rPr lang="ko-KR" altLang="en-US" sz="28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매각 </a:t>
            </a:r>
            <a:r>
              <a:rPr lang="en-US" altLang="ko-KR" sz="28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IM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서울특별시 서초구 잠원동 </a:t>
            </a:r>
            <a:r>
              <a:rPr lang="en-US" altLang="ko-KR" sz="20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26-14, 16</a:t>
            </a:r>
            <a:r>
              <a:rPr lang="ko-KR" altLang="en-US" sz="2000" b="1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번지 </a:t>
            </a:r>
            <a:endParaRPr lang="en-US" altLang="ko-KR" sz="2000" b="1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17" name="순서도: 문서 16"/>
          <p:cNvSpPr/>
          <p:nvPr/>
        </p:nvSpPr>
        <p:spPr>
          <a:xfrm rot="10800000" flipH="1">
            <a:off x="-15552" y="6237312"/>
            <a:ext cx="9937104" cy="620690"/>
          </a:xfrm>
          <a:prstGeom prst="flowChartDocumen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7BBCFC5-C4D6-A37F-5533-376D43C50D40}"/>
              </a:ext>
            </a:extLst>
          </p:cNvPr>
          <p:cNvSpPr txBox="1"/>
          <p:nvPr/>
        </p:nvSpPr>
        <p:spPr>
          <a:xfrm>
            <a:off x="1280592" y="3954105"/>
            <a:ext cx="7344816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『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히트리얼티 부동산중개는 위 소재</a:t>
            </a:r>
            <a:r>
              <a:rPr lang="en-US" altLang="ko-KR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부동산의 </a:t>
            </a:r>
            <a:r>
              <a:rPr lang="en-US" altLang="ko-KR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</a:t>
            </a:r>
            <a:r>
              <a:rPr lang="ko-KR" altLang="en-US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매각 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정보</a:t>
            </a:r>
            <a:r>
              <a:rPr lang="ko-KR" altLang="en-US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를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</a:t>
            </a:r>
            <a:endParaRPr lang="en-US" altLang="ko-KR" sz="1500" dirty="0">
              <a:solidFill>
                <a:schemeClr val="bg1"/>
              </a:solidFill>
              <a:latin typeface="맑은 고딕" panose="020B0503020000020004" pitchFamily="50" charset="-127"/>
              <a:ea typeface="NaviUpdaterHyundai Regular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 잠재적 투자자께 투자 </a:t>
            </a:r>
            <a:r>
              <a:rPr lang="ko-KR" altLang="en-US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검토를 위한 기초 자료로 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제공합니다 </a:t>
            </a:r>
            <a:endParaRPr lang="en-US" altLang="ko-KR" sz="1500" dirty="0">
              <a:solidFill>
                <a:schemeClr val="bg1"/>
              </a:solidFill>
              <a:latin typeface="맑은 고딕" panose="020B0503020000020004" pitchFamily="50" charset="-127"/>
              <a:ea typeface="NaviUpdaterHyundai Regular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 본 </a:t>
            </a:r>
            <a:r>
              <a:rPr lang="ko-KR" altLang="en-US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자산의 매각에 관련한 문의 사항은 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본</a:t>
            </a:r>
            <a:r>
              <a:rPr lang="en-US" altLang="ko-KR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IM</a:t>
            </a:r>
            <a:r>
              <a:rPr lang="ko-KR" altLang="en-US" sz="1500" dirty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의 담당자에게 문의 주시기 </a:t>
            </a:r>
            <a:r>
              <a:rPr lang="ko-KR" altLang="en-US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바랍니다</a:t>
            </a:r>
            <a:r>
              <a:rPr lang="en-US" altLang="ko-KR" sz="1500" dirty="0" smtClean="0">
                <a:solidFill>
                  <a:schemeClr val="bg1"/>
                </a:solidFill>
                <a:latin typeface="맑은 고딕" panose="020B0503020000020004" pitchFamily="50" charset="-127"/>
                <a:ea typeface="NaviUpdaterHyundai Regular"/>
                <a:cs typeface="Arial" panose="020B0604020202020204" pitchFamily="34" charset="0"/>
              </a:rPr>
              <a:t>』</a:t>
            </a:r>
            <a:endParaRPr lang="en-US" altLang="ko-KR" sz="1500" dirty="0">
              <a:solidFill>
                <a:schemeClr val="bg1"/>
              </a:solidFill>
              <a:latin typeface="맑은 고딕" panose="020B0503020000020004" pitchFamily="50" charset="-127"/>
              <a:ea typeface="NaviUpdaterHyundai Regular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21875" y="6381328"/>
            <a:ext cx="6899677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대표</a:t>
            </a:r>
            <a:r>
              <a:rPr lang="en-US" altLang="ko-KR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: </a:t>
            </a:r>
            <a:r>
              <a:rPr lang="ko-KR" altLang="en-US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이 석  </a:t>
            </a:r>
            <a:r>
              <a:rPr lang="en-US" altLang="ko-KR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M: 010 6654 6657  T: 02 590 6031  </a:t>
            </a:r>
            <a:r>
              <a:rPr lang="ko-KR" altLang="en-US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ⓔ</a:t>
            </a:r>
            <a:r>
              <a:rPr lang="en-US" altLang="ko-KR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: khan5614@naver.com</a:t>
            </a:r>
          </a:p>
        </p:txBody>
      </p:sp>
      <p:pic>
        <p:nvPicPr>
          <p:cNvPr id="16" name="Picture 2" descr="C:\Users\User\Desktop\js로고,명함,약도,광고시안\Capture_2025_1211_13441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632" y="6406237"/>
            <a:ext cx="270740" cy="35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A7253195-CC98-0F3B-9BFF-4C9A868671BD}"/>
              </a:ext>
            </a:extLst>
          </p:cNvPr>
          <p:cNvSpPr txBox="1"/>
          <p:nvPr/>
        </p:nvSpPr>
        <p:spPr>
          <a:xfrm>
            <a:off x="6511696" y="3132269"/>
            <a:ext cx="980741" cy="2031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28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defTabSz="914400" latinLnBrk="1"/>
            <a:r>
              <a:rPr lang="en-US" altLang="ko-KR" sz="1200" b="1" spc="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Thin" panose="02000203000000020004" pitchFamily="2" charset="-127"/>
              </a:rPr>
              <a:t>Apr. 2026</a:t>
            </a:r>
            <a:endParaRPr lang="en-US" altLang="ko-KR" sz="1200" b="1" spc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Thin" panose="020002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2640" y="6382489"/>
            <a:ext cx="156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93295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HIT REALTY</a:t>
            </a:r>
            <a:endParaRPr lang="ko-KR" altLang="en-US" sz="2000" b="1" dirty="0">
              <a:solidFill>
                <a:srgbClr val="93295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23845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332662" y="6520259"/>
            <a:ext cx="2228850" cy="365125"/>
          </a:xfrm>
        </p:spPr>
        <p:txBody>
          <a:bodyPr/>
          <a:lstStyle/>
          <a:p>
            <a:fld id="{D4A85FBC-2750-4EB2-BEE8-FADFF901BC27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2997DF7-E8D5-ED33-9D7B-5D688E88412D}"/>
              </a:ext>
            </a:extLst>
          </p:cNvPr>
          <p:cNvSpPr/>
          <p:nvPr/>
        </p:nvSpPr>
        <p:spPr>
          <a:xfrm>
            <a:off x="403512" y="4303396"/>
            <a:ext cx="3018235" cy="59055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82766C63-D7F1-E9E8-032C-57CB839CD783}"/>
              </a:ext>
            </a:extLst>
          </p:cNvPr>
          <p:cNvSpPr/>
          <p:nvPr/>
        </p:nvSpPr>
        <p:spPr>
          <a:xfrm>
            <a:off x="378692" y="2832356"/>
            <a:ext cx="3049191" cy="60960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079A1907-35D8-0776-806D-E8B1DB25D924}"/>
              </a:ext>
            </a:extLst>
          </p:cNvPr>
          <p:cNvSpPr/>
          <p:nvPr/>
        </p:nvSpPr>
        <p:spPr>
          <a:xfrm>
            <a:off x="396918" y="5690195"/>
            <a:ext cx="3049190" cy="619125"/>
          </a:xfrm>
          <a:prstGeom prst="rect">
            <a:avLst/>
          </a:prstGeom>
          <a:solidFill>
            <a:srgbClr val="D6EED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21411001-9DB4-73D3-6965-8C16CDF61754}"/>
              </a:ext>
            </a:extLst>
          </p:cNvPr>
          <p:cNvSpPr/>
          <p:nvPr/>
        </p:nvSpPr>
        <p:spPr>
          <a:xfrm>
            <a:off x="378693" y="2564904"/>
            <a:ext cx="2963839" cy="70560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교통 환경</a:t>
            </a:r>
            <a:endParaRPr lang="en-US" altLang="ko-KR" sz="1600" b="1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06AA2434-68E7-B6AF-A304-DE5B9072C1F9}"/>
              </a:ext>
            </a:extLst>
          </p:cNvPr>
          <p:cNvCxnSpPr>
            <a:cxnSpLocks/>
          </p:cNvCxnSpPr>
          <p:nvPr/>
        </p:nvCxnSpPr>
        <p:spPr>
          <a:xfrm>
            <a:off x="378693" y="3441074"/>
            <a:ext cx="9209595" cy="0"/>
          </a:xfrm>
          <a:prstGeom prst="line">
            <a:avLst/>
          </a:prstGeom>
          <a:ln w="38100">
            <a:solidFill>
              <a:srgbClr val="8B0B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870809A7-0E41-4A95-A37F-7D2A6905E002}"/>
              </a:ext>
            </a:extLst>
          </p:cNvPr>
          <p:cNvSpPr/>
          <p:nvPr/>
        </p:nvSpPr>
        <p:spPr>
          <a:xfrm>
            <a:off x="396918" y="4005064"/>
            <a:ext cx="2940622" cy="69925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자산의 경쟁</a:t>
            </a:r>
            <a:r>
              <a:rPr lang="ko-KR" altLang="en-US" sz="1600" b="1" dirty="0">
                <a:solidFill>
                  <a:schemeClr val="bg1"/>
                </a:solidFill>
              </a:rPr>
              <a:t>력</a:t>
            </a:r>
            <a:endParaRPr lang="en-US" altLang="ko-KR" sz="1600" b="1" dirty="0" smtClean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F0A94EA2-7FDD-6C76-A228-39EE8F589582}"/>
              </a:ext>
            </a:extLst>
          </p:cNvPr>
          <p:cNvCxnSpPr>
            <a:cxnSpLocks/>
          </p:cNvCxnSpPr>
          <p:nvPr/>
        </p:nvCxnSpPr>
        <p:spPr>
          <a:xfrm>
            <a:off x="396918" y="4874412"/>
            <a:ext cx="9191370" cy="0"/>
          </a:xfrm>
          <a:prstGeom prst="line">
            <a:avLst/>
          </a:prstGeom>
          <a:ln w="38100">
            <a:solidFill>
              <a:srgbClr val="8B0B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8BF24DE5-1D13-378D-62F9-A3CBF9ADD1C6}"/>
              </a:ext>
            </a:extLst>
          </p:cNvPr>
          <p:cNvSpPr/>
          <p:nvPr/>
        </p:nvSpPr>
        <p:spPr>
          <a:xfrm>
            <a:off x="396918" y="5445224"/>
            <a:ext cx="2963839" cy="6944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투자 포인트</a:t>
            </a:r>
            <a:endParaRPr lang="ko-KR" altLang="en-US" sz="1600" b="1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9BEE96D5-734F-D918-BBDF-7C9E58A2DC52}"/>
              </a:ext>
            </a:extLst>
          </p:cNvPr>
          <p:cNvCxnSpPr>
            <a:cxnSpLocks/>
          </p:cNvCxnSpPr>
          <p:nvPr/>
        </p:nvCxnSpPr>
        <p:spPr>
          <a:xfrm>
            <a:off x="396918" y="6309320"/>
            <a:ext cx="9191370" cy="0"/>
          </a:xfrm>
          <a:prstGeom prst="line">
            <a:avLst/>
          </a:prstGeom>
          <a:ln w="38100">
            <a:solidFill>
              <a:srgbClr val="8B0B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27389" y="240903"/>
            <a:ext cx="465064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u="sng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INVESTMENT HIGHLIGHT</a:t>
            </a:r>
            <a:endParaRPr kumimoji="0" lang="en-US" altLang="ko-KR" sz="2800" b="1" i="0" u="sng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82766C63-D7F1-E9E8-032C-57CB839CD783}"/>
              </a:ext>
            </a:extLst>
          </p:cNvPr>
          <p:cNvSpPr/>
          <p:nvPr/>
        </p:nvSpPr>
        <p:spPr>
          <a:xfrm>
            <a:off x="378692" y="1392196"/>
            <a:ext cx="3049191" cy="60960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21411001-9DB4-73D3-6965-8C16CDF61754}"/>
              </a:ext>
            </a:extLst>
          </p:cNvPr>
          <p:cNvSpPr/>
          <p:nvPr/>
        </p:nvSpPr>
        <p:spPr>
          <a:xfrm>
            <a:off x="378693" y="1124744"/>
            <a:ext cx="2963839" cy="70560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/>
              <a:t>상환경</a:t>
            </a:r>
            <a:endParaRPr lang="en-US" altLang="ko-KR" sz="1600" b="1" dirty="0" smtClean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06AA2434-68E7-B6AF-A304-DE5B9072C1F9}"/>
              </a:ext>
            </a:extLst>
          </p:cNvPr>
          <p:cNvCxnSpPr>
            <a:cxnSpLocks/>
          </p:cNvCxnSpPr>
          <p:nvPr/>
        </p:nvCxnSpPr>
        <p:spPr>
          <a:xfrm>
            <a:off x="378693" y="2000914"/>
            <a:ext cx="9209595" cy="0"/>
          </a:xfrm>
          <a:prstGeom prst="line">
            <a:avLst/>
          </a:prstGeom>
          <a:ln w="38100">
            <a:solidFill>
              <a:srgbClr val="8B0B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338C7863-4B75-44B5-A85A-1B4763DC8FC6}"/>
              </a:ext>
            </a:extLst>
          </p:cNvPr>
          <p:cNvSpPr txBox="1"/>
          <p:nvPr/>
        </p:nvSpPr>
        <p:spPr>
          <a:xfrm>
            <a:off x="3584848" y="927011"/>
            <a:ext cx="628890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강남대로 바로 이면 배후로 다양한 업무시설과 상업시설이 혼재한</a:t>
            </a:r>
            <a:r>
              <a:rPr lang="en-US" altLang="ko-KR" sz="1400" b="1" dirty="0" smtClean="0"/>
              <a:t/>
            </a:r>
            <a:br>
              <a:rPr lang="en-US" altLang="ko-KR" sz="1400" b="1" dirty="0" smtClean="0"/>
            </a:br>
            <a:r>
              <a:rPr lang="ko-KR" altLang="en-US" sz="1400" b="1" dirty="0" smtClean="0"/>
              <a:t>상권으로 안쪽 중심부의 풍부한 주거기반까지 더해 주</a:t>
            </a:r>
            <a:r>
              <a:rPr lang="en-US" altLang="ko-KR" sz="1400" b="1" dirty="0"/>
              <a:t>7</a:t>
            </a:r>
            <a:r>
              <a:rPr lang="ko-KR" altLang="en-US" sz="1400" b="1" dirty="0" smtClean="0"/>
              <a:t>일 상권에 해당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간장게장골목이 인접한 다양한 외식</a:t>
            </a:r>
            <a:r>
              <a:rPr lang="en-US" altLang="ko-KR" sz="1400" b="1" dirty="0" smtClean="0"/>
              <a:t>,</a:t>
            </a:r>
            <a:r>
              <a:rPr lang="ko-KR" altLang="en-US" sz="1400" b="1" dirty="0" smtClean="0"/>
              <a:t> 카페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주점 등이 복합 조밀된 상</a:t>
            </a:r>
            <a:r>
              <a:rPr lang="ko-KR" altLang="en-US" sz="1400" b="1" dirty="0"/>
              <a:t>권</a:t>
            </a:r>
            <a:endParaRPr lang="en-US" altLang="ko-KR" sz="1400" b="1" dirty="0" smtClean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38C7863-4B75-44B5-A85A-1B4763DC8FC6}"/>
              </a:ext>
            </a:extLst>
          </p:cNvPr>
          <p:cNvSpPr txBox="1"/>
          <p:nvPr/>
        </p:nvSpPr>
        <p:spPr>
          <a:xfrm>
            <a:off x="3584848" y="2367171"/>
            <a:ext cx="598112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트리플 역세권으로 신사역 도보 </a:t>
            </a:r>
            <a:r>
              <a:rPr lang="en-US" altLang="ko-KR" sz="1400" b="1" dirty="0" smtClean="0"/>
              <a:t>4</a:t>
            </a:r>
            <a:r>
              <a:rPr lang="ko-KR" altLang="en-US" sz="1400" b="1" dirty="0" smtClean="0"/>
              <a:t>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논현역 도보</a:t>
            </a:r>
            <a:r>
              <a:rPr lang="en-US" altLang="ko-KR" sz="1400" b="1" dirty="0"/>
              <a:t> </a:t>
            </a:r>
            <a:r>
              <a:rPr lang="en-US" altLang="ko-KR" sz="1400" b="1" dirty="0" smtClean="0"/>
              <a:t>7</a:t>
            </a:r>
            <a:r>
              <a:rPr lang="ko-KR" altLang="en-US" sz="1400" b="1" dirty="0" smtClean="0"/>
              <a:t>분 거리에</a:t>
            </a:r>
            <a:r>
              <a:rPr lang="en-US" altLang="ko-KR" sz="1400" b="1" dirty="0" smtClean="0"/>
              <a:t/>
            </a:r>
            <a:br>
              <a:rPr lang="en-US" altLang="ko-KR" sz="1400" b="1" dirty="0" smtClean="0"/>
            </a:br>
            <a:r>
              <a:rPr lang="ko-KR" altLang="en-US" sz="1400" b="1" dirty="0" smtClean="0"/>
              <a:t>인근 다양한 버스 노선이 위치</a:t>
            </a:r>
            <a:r>
              <a:rPr lang="ko-KR" altLang="en-US" sz="1400" b="1" dirty="0"/>
              <a:t>한</a:t>
            </a:r>
            <a:r>
              <a:rPr lang="ko-KR" altLang="en-US" sz="1400" b="1" dirty="0" smtClean="0"/>
              <a:t> 최상급의 대중교통 환경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올림픽대로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강변북로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한남</a:t>
            </a:r>
            <a:r>
              <a:rPr lang="en-US" altLang="ko-KR" sz="1400" b="1" dirty="0" smtClean="0"/>
              <a:t>ic , </a:t>
            </a:r>
            <a:r>
              <a:rPr lang="ko-KR" altLang="en-US" sz="1400" b="1" dirty="0" smtClean="0"/>
              <a:t>한남대교 등 광역 진출입 여건이 좋음</a:t>
            </a:r>
            <a:endParaRPr lang="en-US" altLang="ko-KR" sz="1400" b="1" dirty="0" smtClean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38C7863-4B75-44B5-A85A-1B4763DC8FC6}"/>
              </a:ext>
            </a:extLst>
          </p:cNvPr>
          <p:cNvSpPr txBox="1"/>
          <p:nvPr/>
        </p:nvSpPr>
        <p:spPr>
          <a:xfrm>
            <a:off x="3584848" y="3807331"/>
            <a:ext cx="612539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상권내 핵심 입지의 우월한 토지 형상으로 시인성이 높음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이면 교차 골목 코너부로 바로 앞 소공원이 있어 인지성과 집객력 높음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다수 임차인임에도 매도인 명도 조건으로 매각 진행 가능</a:t>
            </a:r>
            <a:endParaRPr lang="en-US" altLang="ko-KR" sz="1400" b="1" dirty="0" smtClean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38C7863-4B75-44B5-A85A-1B4763DC8FC6}"/>
              </a:ext>
            </a:extLst>
          </p:cNvPr>
          <p:cNvSpPr txBox="1"/>
          <p:nvPr/>
        </p:nvSpPr>
        <p:spPr>
          <a:xfrm>
            <a:off x="3584848" y="5247491"/>
            <a:ext cx="60195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본 자산 강점에 비해 주변 기타 매물 대비 </a:t>
            </a:r>
            <a:r>
              <a:rPr lang="ko-KR" altLang="en-US" sz="1400" b="1" u="sng" dirty="0" smtClean="0"/>
              <a:t>최저 가격선의 매가</a:t>
            </a:r>
            <a:r>
              <a:rPr lang="ko-KR" altLang="en-US" sz="1400" b="1" dirty="0" smtClean="0"/>
              <a:t> 책정</a:t>
            </a:r>
            <a:endParaRPr lang="en-US" altLang="ko-KR" sz="1400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/>
              <a:t>업무시설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각종 근생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사옥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클리닉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등 임대차 대상군이 다양하며</a:t>
            </a:r>
            <a:r>
              <a:rPr lang="en-US" altLang="ko-KR" sz="1400" b="1" dirty="0" smtClean="0"/>
              <a:t/>
            </a:r>
            <a:br>
              <a:rPr lang="en-US" altLang="ko-KR" sz="1400" b="1" dirty="0" smtClean="0"/>
            </a:br>
            <a:r>
              <a:rPr lang="ko-KR" altLang="en-US" sz="1400" b="1" dirty="0" smtClean="0"/>
              <a:t>소구력도 높음</a:t>
            </a:r>
            <a:r>
              <a:rPr lang="en-US" altLang="ko-KR" sz="1400" b="1" dirty="0" smtClean="0"/>
              <a:t> /</a:t>
            </a:r>
            <a:r>
              <a:rPr lang="ko-KR" altLang="en-US" sz="1400" b="1" dirty="0" smtClean="0"/>
              <a:t>그외 위례</a:t>
            </a:r>
            <a:r>
              <a:rPr lang="en-US" altLang="ko-KR" sz="1400" b="1" dirty="0" smtClean="0"/>
              <a:t>-</a:t>
            </a:r>
            <a:r>
              <a:rPr lang="ko-KR" altLang="en-US" sz="1400" b="1" dirty="0" smtClean="0"/>
              <a:t>신사선 확정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경부고속도로 지하화 이슈 등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13136452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27390" y="240903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PROPERTY OVERVIEW</a:t>
            </a:r>
            <a:endParaRPr kumimoji="0" lang="en-US" altLang="ko-KR" sz="20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="" xmlns:a16="http://schemas.microsoft.com/office/drawing/2014/main" id="{2F4A56DF-0500-52C8-D4AD-37E986EA2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49842"/>
              </p:ext>
            </p:extLst>
          </p:nvPr>
        </p:nvGraphicFramePr>
        <p:xfrm>
          <a:off x="465529" y="692696"/>
          <a:ext cx="4415463" cy="5764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80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99015">
                  <a:extLst>
                    <a:ext uri="{9D8B030D-6E8A-4147-A177-3AD203B41FA5}">
                      <a16:colId xmlns="" xmlns:a16="http://schemas.microsoft.com/office/drawing/2014/main" val="2347645195"/>
                    </a:ext>
                  </a:extLst>
                </a:gridCol>
                <a:gridCol w="2781668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소재지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 서초구</a:t>
                      </a:r>
                      <a:r>
                        <a:rPr lang="en-US" altLang="ko-KR" sz="1200" b="0" baseline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1200" b="0" baseline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26-14, 16</a:t>
                      </a:r>
                      <a:r>
                        <a:rPr lang="ko-KR" altLang="en-US" sz="1200" b="0" baseline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번지</a:t>
                      </a:r>
                      <a:endParaRPr lang="en-US" altLang="ko-KR" sz="1200" b="0" dirty="0" smtClean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6550547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용도지역</a:t>
                      </a:r>
                      <a:r>
                        <a:rPr lang="en-US" altLang="ko-KR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지구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종일반주거지역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9857128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대지면적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186.36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616.1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㎡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9888347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연면적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614.86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2032.59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㎡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ko-KR" altLang="en-US" sz="1200" b="0" dirty="0" smtClean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69394316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옹적률상 연면적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606.87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2006.1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㎡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ko-KR" altLang="en-US" sz="1200" b="0" dirty="0" smtClean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 모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지하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지상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7525946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준공 연도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1990-11-08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근린생활시설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38113654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조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철근콘크리트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53649478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 로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10M x 9M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9860560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차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E/V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층부터 운행하는 소형 </a:t>
                      </a:r>
                      <a:r>
                        <a:rPr lang="en-US" altLang="ko-KR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E/V)</a:t>
                      </a:r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7826772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코너부의 남동향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3696783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건폐율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D7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49.76%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7080379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용적률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D7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실질 용적률 약 </a:t>
                      </a:r>
                      <a:r>
                        <a:rPr lang="en-US" altLang="ko-KR" sz="1200" b="1" u="non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247%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65451740"/>
                  </a:ext>
                </a:extLst>
              </a:tr>
              <a:tr h="335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baseline="0" dirty="0" smtClean="0">
                          <a:solidFill>
                            <a:srgbClr val="FFC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매매가</a:t>
                      </a:r>
                      <a:endParaRPr lang="ko-KR" altLang="en-US" sz="1200" b="1" dirty="0">
                        <a:solidFill>
                          <a:srgbClr val="FFC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24,226,800,000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105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585968"/>
                  </a:ext>
                </a:extLst>
              </a:tr>
              <a:tr h="3420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 평단가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130,000,000</a:t>
                      </a:r>
                      <a:r>
                        <a:rPr lang="ko-KR" altLang="en-US" sz="12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ko-KR" altLang="en-US" sz="12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9" name="표 13">
            <a:extLst>
              <a:ext uri="{FF2B5EF4-FFF2-40B4-BE49-F238E27FC236}">
                <a16:creationId xmlns="" xmlns:a16="http://schemas.microsoft.com/office/drawing/2014/main" id="{6DC665EE-294D-3AB8-0C7F-6196B80C1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49067"/>
              </p:ext>
            </p:extLst>
          </p:nvPr>
        </p:nvGraphicFramePr>
        <p:xfrm>
          <a:off x="5141985" y="692696"/>
          <a:ext cx="4330411" cy="324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3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532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155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982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240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 치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강남대로 이면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 통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트리플 역세권</a:t>
                      </a: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83" y="1027959"/>
            <a:ext cx="4330414" cy="34091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124876" y="4149080"/>
            <a:ext cx="4347521" cy="2308324"/>
          </a:xfrm>
          <a:prstGeom prst="rect">
            <a:avLst/>
          </a:prstGeom>
          <a:solidFill>
            <a:schemeClr val="bg1"/>
          </a:solidFill>
          <a:ln>
            <a:solidFill>
              <a:srgbClr val="632523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강남대로 이면으로 트리플 역세권의 우수 교통환경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이면 메인의 핵심 입지로 업무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상업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주거생활권 등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</a:b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주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7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일에 가까운 복합 조밀된 상권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코너부에 넓은 전면 보유로 가시성과 인지성이 탁월함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건물 노후도와 공간 비효율성 대비해 신축 추천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다수 임차인이 있으나 매도자 명도 조건으로 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</a:b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매각 가능한 신축 부담이 없는 자산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</a:rPr>
              <a:t>주변부 매가와 시세 대비 고합리적인 매가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48156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101" y="922736"/>
            <a:ext cx="4140580" cy="3881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44" y="1809999"/>
            <a:ext cx="1944216" cy="178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자유형 36"/>
          <p:cNvSpPr/>
          <p:nvPr/>
        </p:nvSpPr>
        <p:spPr>
          <a:xfrm rot="21322603">
            <a:off x="6674456" y="1844824"/>
            <a:ext cx="990744" cy="1337930"/>
          </a:xfrm>
          <a:custGeom>
            <a:avLst/>
            <a:gdLst>
              <a:gd name="connsiteX0" fmla="*/ 0 w 572168"/>
              <a:gd name="connsiteY0" fmla="*/ 192505 h 893010"/>
              <a:gd name="connsiteX1" fmla="*/ 470568 w 572168"/>
              <a:gd name="connsiteY1" fmla="*/ 0 h 893010"/>
              <a:gd name="connsiteX2" fmla="*/ 572168 w 572168"/>
              <a:gd name="connsiteY2" fmla="*/ 251326 h 893010"/>
              <a:gd name="connsiteX3" fmla="*/ 342232 w 572168"/>
              <a:gd name="connsiteY3" fmla="*/ 850231 h 893010"/>
              <a:gd name="connsiteX4" fmla="*/ 176463 w 572168"/>
              <a:gd name="connsiteY4" fmla="*/ 893010 h 893010"/>
              <a:gd name="connsiteX5" fmla="*/ 106947 w 572168"/>
              <a:gd name="connsiteY5" fmla="*/ 614947 h 893010"/>
              <a:gd name="connsiteX6" fmla="*/ 0 w 572168"/>
              <a:gd name="connsiteY6" fmla="*/ 192505 h 89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168" h="893010">
                <a:moveTo>
                  <a:pt x="0" y="192505"/>
                </a:moveTo>
                <a:lnTo>
                  <a:pt x="470568" y="0"/>
                </a:lnTo>
                <a:lnTo>
                  <a:pt x="572168" y="251326"/>
                </a:lnTo>
                <a:lnTo>
                  <a:pt x="342232" y="850231"/>
                </a:lnTo>
                <a:lnTo>
                  <a:pt x="176463" y="893010"/>
                </a:lnTo>
                <a:lnTo>
                  <a:pt x="106947" y="614947"/>
                </a:lnTo>
                <a:lnTo>
                  <a:pt x="0" y="192505"/>
                </a:lnTo>
                <a:close/>
              </a:path>
            </a:pathLst>
          </a:custGeom>
          <a:solidFill>
            <a:srgbClr val="FF0000">
              <a:alpha val="3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83" y="937090"/>
            <a:ext cx="4680520" cy="184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DE72238-2518-775A-85AD-D713961E16CC}"/>
              </a:ext>
            </a:extLst>
          </p:cNvPr>
          <p:cNvSpPr txBox="1"/>
          <p:nvPr/>
        </p:nvSpPr>
        <p:spPr>
          <a:xfrm>
            <a:off x="427390" y="260648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LAND INFORMATION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A5CD19EC-DA1C-C4E7-6B40-6F6D9F7A009C}"/>
              </a:ext>
            </a:extLst>
          </p:cNvPr>
          <p:cNvSpPr txBox="1"/>
          <p:nvPr/>
        </p:nvSpPr>
        <p:spPr>
          <a:xfrm>
            <a:off x="415792" y="2780928"/>
            <a:ext cx="2816419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토지 기본 </a:t>
            </a:r>
            <a:r>
              <a:rPr lang="ko-KR" altLang="en-US" sz="1200" b="1" spc="-20" dirty="0" smtClean="0">
                <a:ln>
                  <a:solidFill>
                    <a:srgbClr val="0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정보 </a:t>
            </a:r>
            <a:endParaRPr kumimoji="0" lang="id-ID" altLang="ko-KR" sz="1100" i="0" u="none" strike="noStrike" kern="1200" cap="none" spc="-2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xmlns="" id="{0664370D-FC26-185F-3987-8B60885CD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95528"/>
              </p:ext>
            </p:extLst>
          </p:nvPr>
        </p:nvGraphicFramePr>
        <p:xfrm>
          <a:off x="442534" y="3042664"/>
          <a:ext cx="4711928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106">
                  <a:extLst>
                    <a:ext uri="{9D8B030D-6E8A-4147-A177-3AD203B41FA5}">
                      <a16:colId xmlns:a16="http://schemas.microsoft.com/office/drawing/2014/main" xmlns="" val="74315530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384729746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xmlns="" val="3403721833"/>
                    </a:ext>
                  </a:extLst>
                </a:gridCol>
                <a:gridCol w="1353590">
                  <a:extLst>
                    <a:ext uri="{9D8B030D-6E8A-4147-A177-3AD203B41FA5}">
                      <a16:colId xmlns:a16="http://schemas.microsoft.com/office/drawing/2014/main" xmlns="" val="297048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지번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지목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면적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공시지가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463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26-14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511.7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 </a:t>
                      </a: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(154.79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</a:t>
                      </a:r>
                      <a:r>
                        <a:rPr lang="en-US" altLang="ko-KR" sz="1100" b="0" dirty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48,561,982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r>
                        <a:rPr lang="en-US" altLang="ko-KR" sz="1100" b="0" dirty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489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26-16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104.4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㎡ </a:t>
                      </a:r>
                      <a:r>
                        <a:rPr lang="ko-KR" altLang="en-US" sz="1100" b="0" baseline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(31.58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</a:t>
                      </a: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b="0" dirty="0" smtClean="0">
                        <a:solidFill>
                          <a:srgbClr val="252526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48,561,982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  <a:r>
                        <a:rPr lang="en-US" altLang="ko-KR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100" b="0" dirty="0" smtClean="0">
                          <a:solidFill>
                            <a:srgbClr val="252526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</a:t>
                      </a:r>
                      <a:endParaRPr lang="ko-KR" altLang="en-US" sz="1100" b="0" dirty="0">
                        <a:solidFill>
                          <a:srgbClr val="252526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xmlns="" id="{436C233C-DB6A-F4D7-1E94-611397F21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82315"/>
              </p:ext>
            </p:extLst>
          </p:nvPr>
        </p:nvGraphicFramePr>
        <p:xfrm>
          <a:off x="442533" y="4123962"/>
          <a:ext cx="4687170" cy="241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473">
                  <a:extLst>
                    <a:ext uri="{9D8B030D-6E8A-4147-A177-3AD203B41FA5}">
                      <a16:colId xmlns:a16="http://schemas.microsoft.com/office/drawing/2014/main" xmlns="" val="743155305"/>
                    </a:ext>
                  </a:extLst>
                </a:gridCol>
                <a:gridCol w="2733697">
                  <a:extLst>
                    <a:ext uri="{9D8B030D-6E8A-4147-A177-3AD203B41FA5}">
                      <a16:colId xmlns:a16="http://schemas.microsoft.com/office/drawing/2014/main" xmlns="" val="297048736"/>
                    </a:ext>
                  </a:extLst>
                </a:gridCol>
              </a:tblGrid>
              <a:tr h="3526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463558"/>
                  </a:ext>
                </a:extLst>
              </a:tr>
              <a:tr h="617186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baseline="7000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┌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국토의 계획 및 이용에 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관한</a:t>
                      </a:r>
                      <a:endParaRPr lang="en-US" altLang="ko-KR" sz="1200" b="0" spc="-80" dirty="0" smtClean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법률</a:t>
                      </a:r>
                      <a:r>
                        <a:rPr lang="ko-KR" altLang="en-US" sz="1200" b="0" spc="-80" baseline="-6000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┘</a:t>
                      </a:r>
                      <a:r>
                        <a:rPr lang="ko-KR" altLang="en-US" sz="1200" b="0" spc="-80" baseline="-7000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따른 지역</a:t>
                      </a:r>
                      <a:r>
                        <a:rPr lang="en-US" altLang="ko-KR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지구 등</a:t>
                      </a:r>
                    </a:p>
                  </a:txBody>
                  <a:tcPr marL="36000" marR="360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도시지역</a:t>
                      </a:r>
                      <a:r>
                        <a:rPr lang="en-US" altLang="ko-KR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종일반주거지역</a:t>
                      </a:r>
                      <a:endParaRPr lang="en-US" altLang="ko-KR" sz="1200" b="0" spc="-8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360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4891696"/>
                  </a:ext>
                </a:extLst>
              </a:tr>
              <a:tr h="69229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법령 등에 따른 </a:t>
                      </a:r>
                      <a:endParaRPr lang="en-US" altLang="ko-KR" sz="1200" b="0" spc="-80" dirty="0" smtClean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lang="en-US" altLang="ko-KR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지구 등</a:t>
                      </a:r>
                    </a:p>
                  </a:txBody>
                  <a:tcPr marL="36000" marR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대공방어협조구역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과밀억제권역</a:t>
                      </a:r>
                      <a:r>
                        <a:rPr lang="en-US" altLang="ko-KR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수도권정비계획법</a:t>
                      </a:r>
                      <a:r>
                        <a:rPr lang="en-US" altLang="ko-KR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b="0" spc="-8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360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4015776"/>
                  </a:ext>
                </a:extLst>
              </a:tr>
              <a:tr h="714109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spc="-80" baseline="7000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┌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토지이용규제 기본법 시행령</a:t>
                      </a:r>
                      <a:r>
                        <a:rPr kumimoji="0" lang="ko-KR" altLang="en-US" sz="1200" b="0" i="0" u="none" strike="noStrike" kern="1200" cap="none" spc="-80" normalizeH="0" baseline="-60000" noProof="0" dirty="0">
                          <a:ln>
                            <a:noFill/>
                          </a:ln>
                          <a:solidFill>
                            <a:srgbClr val="252526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┘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 제</a:t>
                      </a:r>
                      <a:r>
                        <a:rPr lang="en-US" altLang="ko-KR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b="0" spc="-80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 </a:t>
                      </a:r>
                      <a:r>
                        <a:rPr lang="ko-KR" altLang="en-US" sz="1200" b="0" spc="-80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해당사항</a:t>
                      </a:r>
                      <a:endParaRPr lang="ko-KR" altLang="en-US" sz="1200" b="0" spc="-8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토지거래계약에관한허가구역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주거 관련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세부 조례 별도 확인</a:t>
                      </a:r>
                      <a:r>
                        <a:rPr lang="en-US" altLang="ko-KR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200" b="0" spc="-80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36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368214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DE11B864-282B-A72F-04F7-400A53D75239}"/>
              </a:ext>
            </a:extLst>
          </p:cNvPr>
          <p:cNvSpPr txBox="1"/>
          <p:nvPr/>
        </p:nvSpPr>
        <p:spPr>
          <a:xfrm>
            <a:off x="366823" y="692696"/>
            <a:ext cx="985777" cy="278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지적 현황</a:t>
            </a:r>
            <a:endParaRPr kumimoji="0" lang="id-ID" altLang="ko-KR" sz="1100" b="1" i="0" u="none" strike="noStrike" kern="1200" cap="none" spc="-2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3950BFD2-2F36-60CD-FE6A-8BE7C0A4A561}"/>
              </a:ext>
            </a:extLst>
          </p:cNvPr>
          <p:cNvSpPr txBox="1"/>
          <p:nvPr/>
        </p:nvSpPr>
        <p:spPr>
          <a:xfrm>
            <a:off x="5250960" y="692696"/>
            <a:ext cx="998184" cy="278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스카이뷰</a:t>
            </a:r>
            <a:endParaRPr kumimoji="0" lang="id-ID" altLang="ko-KR" sz="1100" b="1" i="0" u="none" strike="noStrike" kern="1200" cap="none" spc="-2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3EFAF9E5-AACF-3A21-EE5A-079F4BBB6E8E}"/>
              </a:ext>
            </a:extLst>
          </p:cNvPr>
          <p:cNvSpPr txBox="1"/>
          <p:nvPr/>
        </p:nvSpPr>
        <p:spPr>
          <a:xfrm>
            <a:off x="5329101" y="4771018"/>
            <a:ext cx="4140580" cy="175432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1200" b="1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자산 관련 사</a:t>
            </a:r>
            <a:r>
              <a:rPr lang="ko-KR" altLang="en-US" sz="1200" b="1" dirty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endParaRPr lang="en-US" altLang="ko-KR" sz="1200" b="1" dirty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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본 자산 단독개발 가능</a:t>
            </a:r>
            <a:endParaRPr lang="en-US" altLang="ko-KR" sz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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본 자산 서울시 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“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소규모 건축물 한시적 용적률 상향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”</a:t>
            </a:r>
            <a:b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</a:b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대상으로 용적률 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250%</a:t>
            </a:r>
            <a:r>
              <a:rPr lang="ko-KR" altLang="en-US" sz="1200" dirty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미만으로 신축 가능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본 자산 </a:t>
            </a: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“</a:t>
            </a:r>
            <a:r>
              <a:rPr lang="ko-KR" altLang="en-US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토지거래계약에 관한 허가구역 지정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아파트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주거에 관한 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(26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년 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12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31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일까지</a:t>
            </a:r>
            <a:r>
              <a:rPr lang="en-US" altLang="ko-KR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100" dirty="0" smtClean="0">
                <a:solidFill>
                  <a:schemeClr val="bg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지역이나 해당사항 없음</a:t>
            </a:r>
            <a:endParaRPr lang="en-US" altLang="ko-KR" sz="1200" dirty="0" smtClean="0">
              <a:solidFill>
                <a:schemeClr val="bg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46268C00-A740-0591-604F-9DC6113ECA0E}"/>
              </a:ext>
            </a:extLst>
          </p:cNvPr>
          <p:cNvSpPr txBox="1"/>
          <p:nvPr/>
        </p:nvSpPr>
        <p:spPr>
          <a:xfrm>
            <a:off x="821473" y="1887493"/>
            <a:ext cx="1037093" cy="13849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C00000"/>
                </a:solidFill>
                <a:effectLst>
                  <a:glow rad="127000">
                    <a:schemeClr val="bg1">
                      <a:alpha val="61000"/>
                    </a:schemeClr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제</a:t>
            </a:r>
            <a:r>
              <a:rPr lang="en-US" altLang="ko-KR" sz="900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C00000"/>
                </a:solidFill>
                <a:effectLst>
                  <a:glow rad="127000">
                    <a:schemeClr val="bg1">
                      <a:alpha val="61000"/>
                    </a:schemeClr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</a:t>
            </a:r>
            <a:r>
              <a:rPr lang="ko-KR" altLang="en-US" sz="900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C00000"/>
                </a:solidFill>
                <a:effectLst>
                  <a:glow rad="127000">
                    <a:schemeClr val="bg1">
                      <a:alpha val="61000"/>
                    </a:schemeClr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종일반주거지역</a:t>
            </a:r>
            <a:endParaRPr kumimoji="0" lang="en-US" altLang="ko-KR" sz="900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C00000"/>
              </a:solidFill>
              <a:effectLst>
                <a:glow rad="127000">
                  <a:schemeClr val="bg1">
                    <a:alpha val="61000"/>
                  </a:schemeClr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C378BF9C-128D-CBE8-45FC-1ACDA065BB05}"/>
              </a:ext>
            </a:extLst>
          </p:cNvPr>
          <p:cNvSpPr txBox="1"/>
          <p:nvPr/>
        </p:nvSpPr>
        <p:spPr>
          <a:xfrm>
            <a:off x="2628173" y="1225612"/>
            <a:ext cx="496637" cy="27699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10</a:t>
            </a:r>
            <a:r>
              <a:rPr kumimoji="0" lang="en-US" altLang="ko-KR" sz="900" i="0" u="none" strike="noStrike" kern="1200" cap="none" spc="-30" normalizeH="0" baseline="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M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30" normalizeH="0" baseline="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도로</a:t>
            </a:r>
            <a:endParaRPr kumimoji="0" lang="en-US" altLang="ko-KR" sz="900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effectLst>
                <a:glow rad="76200">
                  <a:schemeClr val="tx1">
                    <a:alpha val="56000"/>
                  </a:schemeClr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8CD5EAD3-CB64-CC9F-6A3B-D37FE51FCACA}"/>
              </a:ext>
            </a:extLst>
          </p:cNvPr>
          <p:cNvSpPr txBox="1"/>
          <p:nvPr/>
        </p:nvSpPr>
        <p:spPr>
          <a:xfrm>
            <a:off x="405273" y="3861048"/>
            <a:ext cx="112927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토지이용계획</a:t>
            </a:r>
            <a:endParaRPr kumimoji="0" lang="id-ID" altLang="ko-KR" sz="1200" b="1" i="0" u="none" strike="noStrike" kern="1200" cap="none" spc="-2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378BF9C-128D-CBE8-45FC-1ACDA065BB05}"/>
              </a:ext>
            </a:extLst>
          </p:cNvPr>
          <p:cNvSpPr txBox="1"/>
          <p:nvPr/>
        </p:nvSpPr>
        <p:spPr>
          <a:xfrm>
            <a:off x="1752012" y="2402342"/>
            <a:ext cx="496637" cy="27699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9</a:t>
            </a:r>
            <a:r>
              <a:rPr kumimoji="0" lang="en-US" altLang="ko-KR" sz="900" i="0" u="none" strike="noStrike" kern="1200" cap="none" spc="-30" normalizeH="0" baseline="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M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30" normalizeH="0" baseline="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glow rad="76200">
                    <a:schemeClr val="tx1">
                      <a:alpha val="56000"/>
                    </a:scheme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도로</a:t>
            </a:r>
            <a:endParaRPr kumimoji="0" lang="en-US" altLang="ko-KR" sz="900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effectLst>
                <a:glow rad="76200">
                  <a:schemeClr val="tx1">
                    <a:alpha val="56000"/>
                  </a:schemeClr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3" name="자유형 2"/>
          <p:cNvSpPr/>
          <p:nvPr/>
        </p:nvSpPr>
        <p:spPr>
          <a:xfrm>
            <a:off x="2074779" y="1502611"/>
            <a:ext cx="572168" cy="893010"/>
          </a:xfrm>
          <a:custGeom>
            <a:avLst/>
            <a:gdLst>
              <a:gd name="connsiteX0" fmla="*/ 0 w 572168"/>
              <a:gd name="connsiteY0" fmla="*/ 192505 h 893010"/>
              <a:gd name="connsiteX1" fmla="*/ 470568 w 572168"/>
              <a:gd name="connsiteY1" fmla="*/ 0 h 893010"/>
              <a:gd name="connsiteX2" fmla="*/ 572168 w 572168"/>
              <a:gd name="connsiteY2" fmla="*/ 251326 h 893010"/>
              <a:gd name="connsiteX3" fmla="*/ 342232 w 572168"/>
              <a:gd name="connsiteY3" fmla="*/ 850231 h 893010"/>
              <a:gd name="connsiteX4" fmla="*/ 176463 w 572168"/>
              <a:gd name="connsiteY4" fmla="*/ 893010 h 893010"/>
              <a:gd name="connsiteX5" fmla="*/ 106947 w 572168"/>
              <a:gd name="connsiteY5" fmla="*/ 614947 h 893010"/>
              <a:gd name="connsiteX6" fmla="*/ 0 w 572168"/>
              <a:gd name="connsiteY6" fmla="*/ 192505 h 89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168" h="893010">
                <a:moveTo>
                  <a:pt x="0" y="192505"/>
                </a:moveTo>
                <a:lnTo>
                  <a:pt x="470568" y="0"/>
                </a:lnTo>
                <a:lnTo>
                  <a:pt x="572168" y="251326"/>
                </a:lnTo>
                <a:lnTo>
                  <a:pt x="342232" y="850231"/>
                </a:lnTo>
                <a:lnTo>
                  <a:pt x="176463" y="893010"/>
                </a:lnTo>
                <a:lnTo>
                  <a:pt x="106947" y="614947"/>
                </a:lnTo>
                <a:lnTo>
                  <a:pt x="0" y="192505"/>
                </a:lnTo>
                <a:close/>
              </a:path>
            </a:pathLst>
          </a:custGeom>
          <a:solidFill>
            <a:srgbClr val="FF0000">
              <a:alpha val="3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xmlns="" id="{5283DD13-34CF-7C16-D7A7-DC5DB57210E4}"/>
              </a:ext>
            </a:extLst>
          </p:cNvPr>
          <p:cNvSpPr/>
          <p:nvPr/>
        </p:nvSpPr>
        <p:spPr>
          <a:xfrm>
            <a:off x="463541" y="937090"/>
            <a:ext cx="4680520" cy="18581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64B2DC8C-4BCD-A12B-7E02-8E7B727445C2}"/>
              </a:ext>
            </a:extLst>
          </p:cNvPr>
          <p:cNvSpPr txBox="1"/>
          <p:nvPr/>
        </p:nvSpPr>
        <p:spPr>
          <a:xfrm>
            <a:off x="2131343" y="1748444"/>
            <a:ext cx="526545" cy="123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u="sng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26-14</a:t>
            </a:r>
            <a:r>
              <a:rPr lang="ko-KR" altLang="en-US" sz="8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대</a:t>
            </a:r>
            <a:endParaRPr kumimoji="0" lang="en-US" altLang="ko-KR" sz="8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64B2DC8C-4BCD-A12B-7E02-8E7B727445C2}"/>
              </a:ext>
            </a:extLst>
          </p:cNvPr>
          <p:cNvSpPr txBox="1"/>
          <p:nvPr/>
        </p:nvSpPr>
        <p:spPr>
          <a:xfrm>
            <a:off x="2123276" y="2148037"/>
            <a:ext cx="526545" cy="123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u="sng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26-16</a:t>
            </a:r>
            <a:r>
              <a:rPr lang="ko-KR" altLang="en-US" sz="8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대</a:t>
            </a:r>
            <a:endParaRPr kumimoji="0" lang="en-US" altLang="ko-KR" sz="8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5283DD13-34CF-7C16-D7A7-DC5DB57210E4}"/>
              </a:ext>
            </a:extLst>
          </p:cNvPr>
          <p:cNvSpPr/>
          <p:nvPr/>
        </p:nvSpPr>
        <p:spPr>
          <a:xfrm>
            <a:off x="5329101" y="922736"/>
            <a:ext cx="4140581" cy="4162448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64B2DC8C-4BCD-A12B-7E02-8E7B727445C2}"/>
              </a:ext>
            </a:extLst>
          </p:cNvPr>
          <p:cNvSpPr txBox="1"/>
          <p:nvPr/>
        </p:nvSpPr>
        <p:spPr>
          <a:xfrm>
            <a:off x="6969224" y="2369785"/>
            <a:ext cx="526545" cy="123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u="sng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26-14</a:t>
            </a:r>
            <a:r>
              <a:rPr lang="ko-KR" altLang="en-US" sz="8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대</a:t>
            </a:r>
            <a:endParaRPr kumimoji="0" lang="en-US" altLang="ko-KR" sz="8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64B2DC8C-4BCD-A12B-7E02-8E7B727445C2}"/>
              </a:ext>
            </a:extLst>
          </p:cNvPr>
          <p:cNvSpPr txBox="1"/>
          <p:nvPr/>
        </p:nvSpPr>
        <p:spPr>
          <a:xfrm>
            <a:off x="6946735" y="2873841"/>
            <a:ext cx="526545" cy="123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u="sng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26-16</a:t>
            </a:r>
            <a:r>
              <a:rPr lang="ko-KR" altLang="en-US" sz="8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대</a:t>
            </a:r>
            <a:endParaRPr kumimoji="0" lang="en-US" altLang="ko-KR" sz="8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986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692696"/>
            <a:ext cx="7364413" cy="5324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LOCATION 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OVERVIEW</a:t>
            </a:r>
            <a:endParaRPr lang="en-US" altLang="ko-KR" sz="20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7152C444-41B1-F0B2-A6E1-63820BF25FF6}"/>
              </a:ext>
            </a:extLst>
          </p:cNvPr>
          <p:cNvSpPr/>
          <p:nvPr/>
        </p:nvSpPr>
        <p:spPr>
          <a:xfrm>
            <a:off x="366823" y="1521798"/>
            <a:ext cx="8484964" cy="31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39C96C3B-277A-24F7-7EE8-8222B178AA97}"/>
              </a:ext>
            </a:extLst>
          </p:cNvPr>
          <p:cNvSpPr txBox="1"/>
          <p:nvPr/>
        </p:nvSpPr>
        <p:spPr>
          <a:xfrm>
            <a:off x="3814998" y="1062608"/>
            <a:ext cx="638810" cy="15388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나루</a:t>
            </a:r>
            <a:r>
              <a:rPr lang="ko-KR" altLang="en-US" sz="1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터</a:t>
            </a:r>
            <a:r>
              <a:rPr lang="ko-KR" altLang="en-US" sz="10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로</a:t>
            </a:r>
            <a:endParaRPr lang="en-US" altLang="ko-KR" sz="1000" b="1" spc="-30" noProof="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39C96C3B-277A-24F7-7EE8-8222B178AA97}"/>
              </a:ext>
            </a:extLst>
          </p:cNvPr>
          <p:cNvSpPr txBox="1"/>
          <p:nvPr/>
        </p:nvSpPr>
        <p:spPr>
          <a:xfrm>
            <a:off x="5143851" y="908720"/>
            <a:ext cx="804583" cy="15388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신사</a:t>
            </a:r>
            <a:r>
              <a:rPr lang="ko-KR" altLang="en-US" sz="1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역</a:t>
            </a:r>
            <a:endParaRPr lang="en-US" altLang="ko-KR" sz="1000" b="1" spc="-30" noProof="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70219" y="1735063"/>
            <a:ext cx="1557793" cy="461665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간장게장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아구찜 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골목 </a:t>
            </a:r>
            <a:endParaRPr lang="ko-KR" altLang="en-US" sz="1200" b="1" dirty="0"/>
          </a:p>
        </p:txBody>
      </p:sp>
      <p:sp>
        <p:nvSpPr>
          <p:cNvPr id="10" name="자유형 9"/>
          <p:cNvSpPr/>
          <p:nvPr/>
        </p:nvSpPr>
        <p:spPr>
          <a:xfrm rot="2383830">
            <a:off x="4473209" y="2826317"/>
            <a:ext cx="297709" cy="386518"/>
          </a:xfrm>
          <a:custGeom>
            <a:avLst/>
            <a:gdLst>
              <a:gd name="connsiteX0" fmla="*/ 142103 w 240957"/>
              <a:gd name="connsiteY0" fmla="*/ 0 h 308919"/>
              <a:gd name="connsiteX1" fmla="*/ 240957 w 240957"/>
              <a:gd name="connsiteY1" fmla="*/ 259492 h 308919"/>
              <a:gd name="connsiteX2" fmla="*/ 105032 w 240957"/>
              <a:gd name="connsiteY2" fmla="*/ 308919 h 308919"/>
              <a:gd name="connsiteX3" fmla="*/ 0 w 240957"/>
              <a:gd name="connsiteY3" fmla="*/ 49427 h 308919"/>
              <a:gd name="connsiteX4" fmla="*/ 142103 w 240957"/>
              <a:gd name="connsiteY4" fmla="*/ 0 h 30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957" h="308919">
                <a:moveTo>
                  <a:pt x="142103" y="0"/>
                </a:moveTo>
                <a:lnTo>
                  <a:pt x="240957" y="259492"/>
                </a:lnTo>
                <a:lnTo>
                  <a:pt x="105032" y="308919"/>
                </a:lnTo>
                <a:lnTo>
                  <a:pt x="0" y="49427"/>
                </a:lnTo>
                <a:lnTo>
                  <a:pt x="142103" y="0"/>
                </a:lnTo>
                <a:close/>
              </a:path>
            </a:pathLst>
          </a:custGeom>
          <a:solidFill>
            <a:srgbClr val="FF0000">
              <a:alpha val="5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1989481" y="620688"/>
            <a:ext cx="4619703" cy="4608512"/>
          </a:xfrm>
          <a:prstGeom prst="ellipse">
            <a:avLst/>
          </a:prstGeom>
          <a:noFill/>
          <a:ln w="158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4" name="그룹 63">
            <a:extLst>
              <a:ext uri="{FF2B5EF4-FFF2-40B4-BE49-F238E27FC236}">
                <a16:creationId xmlns="" xmlns:a16="http://schemas.microsoft.com/office/drawing/2014/main" id="{13B41CA7-5F54-30E3-B9CD-613EB5B23EB0}"/>
              </a:ext>
            </a:extLst>
          </p:cNvPr>
          <p:cNvGrpSpPr/>
          <p:nvPr/>
        </p:nvGrpSpPr>
        <p:grpSpPr>
          <a:xfrm>
            <a:off x="4520952" y="2650695"/>
            <a:ext cx="253472" cy="346257"/>
            <a:chOff x="5188598" y="3007944"/>
            <a:chExt cx="253472" cy="346257"/>
          </a:xfrm>
        </p:grpSpPr>
        <p:sp>
          <p:nvSpPr>
            <p:cNvPr id="71" name="자유형: 도형 29">
              <a:extLst>
                <a:ext uri="{FF2B5EF4-FFF2-40B4-BE49-F238E27FC236}">
                  <a16:creationId xmlns="" xmlns:a16="http://schemas.microsoft.com/office/drawing/2014/main" id="{CCA84F28-442B-4870-E8DB-AED473EA3FAE}"/>
                </a:ext>
              </a:extLst>
            </p:cNvPr>
            <p:cNvSpPr/>
            <p:nvPr/>
          </p:nvSpPr>
          <p:spPr>
            <a:xfrm rot="21010245">
              <a:off x="5347638" y="3260628"/>
              <a:ext cx="8521" cy="93573"/>
            </a:xfrm>
            <a:custGeom>
              <a:avLst/>
              <a:gdLst>
                <a:gd name="connsiteX0" fmla="*/ 26209 w 26209"/>
                <a:gd name="connsiteY0" fmla="*/ 0 h 287820"/>
                <a:gd name="connsiteX1" fmla="*/ 17153 w 26209"/>
                <a:gd name="connsiteY1" fmla="*/ 280063 h 287820"/>
                <a:gd name="connsiteX2" fmla="*/ 0 w 26209"/>
                <a:gd name="connsiteY2" fmla="*/ 287820 h 287820"/>
                <a:gd name="connsiteX3" fmla="*/ 0 w 26209"/>
                <a:gd name="connsiteY3" fmla="*/ 0 h 28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09" h="287820">
                  <a:moveTo>
                    <a:pt x="26209" y="0"/>
                  </a:moveTo>
                  <a:lnTo>
                    <a:pt x="17153" y="280063"/>
                  </a:lnTo>
                  <a:lnTo>
                    <a:pt x="0" y="28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="" xmlns:a16="http://schemas.microsoft.com/office/drawing/2014/main" id="{25FE9D7E-EF28-3E4E-C525-D8DEEC3589D9}"/>
                </a:ext>
              </a:extLst>
            </p:cNvPr>
            <p:cNvGrpSpPr/>
            <p:nvPr/>
          </p:nvGrpSpPr>
          <p:grpSpPr>
            <a:xfrm>
              <a:off x="5188598" y="3007944"/>
              <a:ext cx="253472" cy="253472"/>
              <a:chOff x="4229105" y="3055931"/>
              <a:chExt cx="324000" cy="324000"/>
            </a:xfrm>
          </p:grpSpPr>
          <p:sp>
            <p:nvSpPr>
              <p:cNvPr id="68" name="눈물 방울 67">
                <a:extLst>
                  <a:ext uri="{FF2B5EF4-FFF2-40B4-BE49-F238E27FC236}">
                    <a16:creationId xmlns="" xmlns:a16="http://schemas.microsoft.com/office/drawing/2014/main" id="{CEAE7DDE-23D1-49F8-249E-54A89CBB5C53}"/>
                  </a:ext>
                </a:extLst>
              </p:cNvPr>
              <p:cNvSpPr/>
              <p:nvPr/>
            </p:nvSpPr>
            <p:spPr>
              <a:xfrm rot="8045446">
                <a:off x="4229105" y="3055931"/>
                <a:ext cx="324000" cy="324000"/>
              </a:xfrm>
              <a:prstGeom prst="teardrop">
                <a:avLst>
                  <a:gd name="adj" fmla="val 14615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38100" dist="38100" dir="5400000" algn="t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="" xmlns:a16="http://schemas.microsoft.com/office/drawing/2014/main" id="{DCA57A73-39BE-39D3-B5E3-605E597B7976}"/>
                  </a:ext>
                </a:extLst>
              </p:cNvPr>
              <p:cNvSpPr/>
              <p:nvPr/>
            </p:nvSpPr>
            <p:spPr>
              <a:xfrm>
                <a:off x="4265105" y="3091931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B2C7D32C-6081-1967-ADBE-B9ADAACC2468}"/>
                </a:ext>
              </a:extLst>
            </p:cNvPr>
            <p:cNvSpPr txBox="1"/>
            <p:nvPr/>
          </p:nvSpPr>
          <p:spPr>
            <a:xfrm>
              <a:off x="5228276" y="3035204"/>
              <a:ext cx="151688" cy="18466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-15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C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9C96C3B-277A-24F7-7EE8-8222B178AA97}"/>
              </a:ext>
            </a:extLst>
          </p:cNvPr>
          <p:cNvSpPr txBox="1"/>
          <p:nvPr/>
        </p:nvSpPr>
        <p:spPr>
          <a:xfrm>
            <a:off x="6549620" y="5613618"/>
            <a:ext cx="700342" cy="15388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논현</a:t>
            </a:r>
            <a:r>
              <a:rPr lang="ko-KR" altLang="en-US" sz="1000" b="1" spc="-30" noProof="0" dirty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역</a:t>
            </a:r>
            <a:endParaRPr lang="en-US" altLang="ko-KR" sz="1000" b="1" spc="-30" noProof="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EE32336E-8B9C-272C-8C1B-EB52130848B0}"/>
              </a:ext>
            </a:extLst>
          </p:cNvPr>
          <p:cNvSpPr txBox="1"/>
          <p:nvPr/>
        </p:nvSpPr>
        <p:spPr>
          <a:xfrm>
            <a:off x="5905635" y="2775804"/>
            <a:ext cx="347184" cy="61555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강</a:t>
            </a:r>
            <a:endParaRPr lang="en-US" altLang="ko-KR" sz="1000" b="1" spc="-3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남</a:t>
            </a:r>
            <a:endParaRPr lang="en-US" altLang="ko-KR" sz="1000" b="1" spc="-30" noProof="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대</a:t>
            </a:r>
            <a:endParaRPr lang="en-US" altLang="ko-KR" sz="1000" b="1" spc="-3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noProof="0" dirty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로</a:t>
            </a:r>
            <a:endParaRPr lang="en-US" altLang="ko-KR" sz="1000" b="1" spc="-30" noProof="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EE32336E-8B9C-272C-8C1B-EB52130848B0}"/>
              </a:ext>
            </a:extLst>
          </p:cNvPr>
          <p:cNvSpPr txBox="1"/>
          <p:nvPr/>
        </p:nvSpPr>
        <p:spPr>
          <a:xfrm>
            <a:off x="1723285" y="4398307"/>
            <a:ext cx="347184" cy="46166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경부</a:t>
            </a:r>
            <a:endParaRPr lang="en-US" altLang="ko-KR" sz="1000" b="1" spc="-3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고속</a:t>
            </a:r>
            <a:endParaRPr lang="en-US" altLang="ko-KR" sz="1000" b="1" spc="-3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도</a:t>
            </a:r>
            <a:r>
              <a:rPr lang="ko-KR" altLang="en-US" sz="1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로</a:t>
            </a:r>
            <a:endParaRPr lang="en-US" altLang="ko-KR" sz="1000" b="1" spc="-30" dirty="0" smtClean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B34CDD7-5B46-1594-E645-8AB5C67F9B4D}"/>
              </a:ext>
            </a:extLst>
          </p:cNvPr>
          <p:cNvSpPr txBox="1"/>
          <p:nvPr/>
        </p:nvSpPr>
        <p:spPr>
          <a:xfrm>
            <a:off x="2860908" y="3019576"/>
            <a:ext cx="1699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tx1">
                    <a:alpha val="21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잠원동</a:t>
            </a:r>
            <a:endParaRPr lang="ko-KR" altLang="en-US" sz="3200" b="1" dirty="0">
              <a:solidFill>
                <a:schemeClr val="tx1">
                  <a:alpha val="21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462" y="692696"/>
            <a:ext cx="1547951" cy="1813557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B34CDD7-5B46-1594-E645-8AB5C67F9B4D}"/>
              </a:ext>
            </a:extLst>
          </p:cNvPr>
          <p:cNvSpPr txBox="1"/>
          <p:nvPr/>
        </p:nvSpPr>
        <p:spPr>
          <a:xfrm>
            <a:off x="6855000" y="3864687"/>
            <a:ext cx="1309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tx1">
                    <a:alpha val="21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</a:t>
            </a:r>
            <a:r>
              <a:rPr lang="ko-KR" altLang="en-US" sz="2800" b="1" dirty="0">
                <a:solidFill>
                  <a:schemeClr val="tx1">
                    <a:alpha val="21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</a:t>
            </a:r>
            <a:r>
              <a:rPr lang="ko-KR" altLang="en-US" sz="2800" b="1" dirty="0" smtClean="0">
                <a:solidFill>
                  <a:schemeClr val="tx1">
                    <a:alpha val="21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</a:t>
            </a:r>
            <a:endParaRPr lang="ko-KR" altLang="en-US" sz="2800" b="1" dirty="0">
              <a:solidFill>
                <a:schemeClr val="tx1">
                  <a:alpha val="21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B592B5BC-B174-4612-60CD-A6F512977346}"/>
              </a:ext>
            </a:extLst>
          </p:cNvPr>
          <p:cNvSpPr txBox="1"/>
          <p:nvPr/>
        </p:nvSpPr>
        <p:spPr>
          <a:xfrm>
            <a:off x="2444631" y="1054913"/>
            <a:ext cx="754729" cy="16927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[</a:t>
            </a:r>
            <a:r>
              <a:rPr lang="ko-KR" altLang="en-US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반경 </a:t>
            </a:r>
            <a:r>
              <a:rPr lang="en-US" altLang="ko-KR" sz="11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25</a:t>
            </a:r>
            <a:r>
              <a:rPr lang="en-US" altLang="ko-KR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0m]</a:t>
            </a:r>
            <a:endParaRPr kumimoji="0" lang="en-US" altLang="ko-KR" sz="11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40888" y="5949280"/>
            <a:ext cx="7393525" cy="6001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/>
              <a:t>※ </a:t>
            </a:r>
            <a:r>
              <a:rPr lang="ko-KR" altLang="en-US" sz="1100" dirty="0" smtClean="0"/>
              <a:t>한남대교 바로 남단의 블록으로 올릭픽대로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강변북로 접근성이 수월하며</a:t>
            </a:r>
            <a:r>
              <a:rPr lang="en-US" altLang="ko-KR" sz="1100" dirty="0" smtClean="0"/>
              <a:t>,</a:t>
            </a:r>
            <a:r>
              <a:rPr lang="ko-KR" altLang="en-US" sz="1100" dirty="0" smtClean="0"/>
              <a:t> 신사역 초역세권</a:t>
            </a:r>
            <a:r>
              <a:rPr lang="en-US" altLang="ko-KR" sz="1100" dirty="0" smtClean="0"/>
              <a:t>-</a:t>
            </a:r>
            <a:r>
              <a:rPr lang="ko-KR" altLang="en-US" sz="1100" dirty="0" smtClean="0"/>
              <a:t>논현역 일반역세권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   </a:t>
            </a:r>
            <a:r>
              <a:rPr lang="ko-KR" altLang="en-US" sz="1100" dirty="0" smtClean="0"/>
              <a:t>반경 거리에 다양한 버스 노선까지 근거리에 포진한 최고 수준의 교통 환경을 지니고 있습니다</a:t>
            </a:r>
            <a:endParaRPr lang="ko-KR" altLang="en-US" sz="1100" dirty="0"/>
          </a:p>
        </p:txBody>
      </p:sp>
      <p:sp>
        <p:nvSpPr>
          <p:cNvPr id="3" name="오른쪽으로 구부러진 화살표 2"/>
          <p:cNvSpPr/>
          <p:nvPr/>
        </p:nvSpPr>
        <p:spPr>
          <a:xfrm rot="12102808">
            <a:off x="5136964" y="1257760"/>
            <a:ext cx="469845" cy="1863141"/>
          </a:xfrm>
          <a:prstGeom prst="curvedRightArrow">
            <a:avLst/>
          </a:prstGeom>
          <a:solidFill>
            <a:srgbClr val="9D2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오른쪽으로 구부러진 화살표 28"/>
          <p:cNvSpPr/>
          <p:nvPr/>
        </p:nvSpPr>
        <p:spPr>
          <a:xfrm rot="19569216" flipH="1">
            <a:off x="5591487" y="2404617"/>
            <a:ext cx="712472" cy="3026643"/>
          </a:xfrm>
          <a:prstGeom prst="curvedRightArrow">
            <a:avLst/>
          </a:prstGeom>
          <a:solidFill>
            <a:srgbClr val="9D2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26898" y="2050021"/>
            <a:ext cx="1368151" cy="29341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 smtClean="0"/>
              <a:t>신사역 도보 </a:t>
            </a:r>
            <a:r>
              <a:rPr lang="en-US" altLang="ko-KR" sz="1000" dirty="0" smtClean="0"/>
              <a:t>4</a:t>
            </a:r>
            <a:r>
              <a:rPr lang="ko-KR" altLang="en-US" sz="1000" dirty="0"/>
              <a:t>분</a:t>
            </a:r>
            <a:r>
              <a:rPr lang="ko-KR" altLang="en-US" sz="1000" dirty="0" smtClean="0"/>
              <a:t> </a:t>
            </a:r>
            <a:endParaRPr lang="ko-KR" alt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3373" y="4059813"/>
            <a:ext cx="1368151" cy="3231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 smtClean="0"/>
              <a:t>논</a:t>
            </a:r>
            <a:r>
              <a:rPr lang="ko-KR" altLang="en-US" sz="1000" dirty="0"/>
              <a:t>현</a:t>
            </a:r>
            <a:r>
              <a:rPr lang="ko-KR" altLang="en-US" sz="1000" dirty="0" smtClean="0"/>
              <a:t>역 도보 </a:t>
            </a:r>
            <a:r>
              <a:rPr lang="en-US" altLang="ko-KR" sz="1000" dirty="0"/>
              <a:t>7</a:t>
            </a:r>
            <a:r>
              <a:rPr lang="ko-KR" altLang="en-US" sz="1000" dirty="0" smtClean="0"/>
              <a:t>분 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592B5BC-B174-4612-60CD-A6F512977346}"/>
              </a:ext>
            </a:extLst>
          </p:cNvPr>
          <p:cNvSpPr txBox="1"/>
          <p:nvPr/>
        </p:nvSpPr>
        <p:spPr>
          <a:xfrm>
            <a:off x="4826898" y="4941168"/>
            <a:ext cx="754729" cy="16927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[</a:t>
            </a:r>
            <a:r>
              <a:rPr lang="ko-KR" altLang="en-US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반경 </a:t>
            </a:r>
            <a:r>
              <a:rPr lang="en-US" altLang="ko-KR" sz="11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25</a:t>
            </a:r>
            <a:r>
              <a:rPr lang="en-US" altLang="ko-KR" sz="1100" b="1" spc="-3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effectLst>
                  <a:glow rad="127000"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0m]</a:t>
            </a:r>
            <a:endParaRPr kumimoji="0" lang="en-US" altLang="ko-KR" sz="1100" b="1" i="0" u="none" strike="noStrike" kern="120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effectLst>
                <a:glow rad="127000">
                  <a:schemeClr val="bg1"/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44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1355725"/>
            <a:ext cx="8002587" cy="5067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60" y="260648"/>
            <a:ext cx="450923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거래 </a:t>
            </a: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동향 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(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본 자산 최대 반경 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150m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 이</a:t>
            </a:r>
            <a:r>
              <a:rPr lang="ko-KR" altLang="en-US" sz="16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내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)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BF9D0311-CF88-8BFC-BE4D-90988D86A040}"/>
              </a:ext>
            </a:extLst>
          </p:cNvPr>
          <p:cNvSpPr txBox="1"/>
          <p:nvPr/>
        </p:nvSpPr>
        <p:spPr>
          <a:xfrm>
            <a:off x="7045177" y="3371997"/>
            <a:ext cx="601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300m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자유형: 도형 74">
            <a:extLst>
              <a:ext uri="{FF2B5EF4-FFF2-40B4-BE49-F238E27FC236}">
                <a16:creationId xmlns="" xmlns:a16="http://schemas.microsoft.com/office/drawing/2014/main" id="{A2433178-7D22-9286-D131-16DB4CBBB2F9}"/>
              </a:ext>
            </a:extLst>
          </p:cNvPr>
          <p:cNvSpPr/>
          <p:nvPr/>
        </p:nvSpPr>
        <p:spPr>
          <a:xfrm>
            <a:off x="1526933" y="1555442"/>
            <a:ext cx="6886694" cy="4818622"/>
          </a:xfrm>
          <a:custGeom>
            <a:avLst/>
            <a:gdLst>
              <a:gd name="connsiteX0" fmla="*/ 251765 w 6536760"/>
              <a:gd name="connsiteY0" fmla="*/ 0 h 4189392"/>
              <a:gd name="connsiteX1" fmla="*/ 6284996 w 6536760"/>
              <a:gd name="connsiteY1" fmla="*/ 0 h 4189392"/>
              <a:gd name="connsiteX2" fmla="*/ 6389820 w 6536760"/>
              <a:gd name="connsiteY2" fmla="*/ 286402 h 4189392"/>
              <a:gd name="connsiteX3" fmla="*/ 6536760 w 6536760"/>
              <a:gd name="connsiteY3" fmla="*/ 1258318 h 4189392"/>
              <a:gd name="connsiteX4" fmla="*/ 4826284 w 6536760"/>
              <a:gd name="connsiteY4" fmla="*/ 4132222 h 4189392"/>
              <a:gd name="connsiteX5" fmla="*/ 4707607 w 6536760"/>
              <a:gd name="connsiteY5" fmla="*/ 4189392 h 4189392"/>
              <a:gd name="connsiteX6" fmla="*/ 1829154 w 6536760"/>
              <a:gd name="connsiteY6" fmla="*/ 4189392 h 4189392"/>
              <a:gd name="connsiteX7" fmla="*/ 1710476 w 6536760"/>
              <a:gd name="connsiteY7" fmla="*/ 4132222 h 4189392"/>
              <a:gd name="connsiteX8" fmla="*/ 0 w 6536760"/>
              <a:gd name="connsiteY8" fmla="*/ 1258318 h 4189392"/>
              <a:gd name="connsiteX9" fmla="*/ 146940 w 6536760"/>
              <a:gd name="connsiteY9" fmla="*/ 286402 h 418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36760" h="4189392">
                <a:moveTo>
                  <a:pt x="251765" y="0"/>
                </a:moveTo>
                <a:lnTo>
                  <a:pt x="6284996" y="0"/>
                </a:lnTo>
                <a:lnTo>
                  <a:pt x="6389820" y="286402"/>
                </a:lnTo>
                <a:cubicBezTo>
                  <a:pt x="6485316" y="593430"/>
                  <a:pt x="6536760" y="919866"/>
                  <a:pt x="6536760" y="1258318"/>
                </a:cubicBezTo>
                <a:cubicBezTo>
                  <a:pt x="6536760" y="2499308"/>
                  <a:pt x="5845120" y="3578757"/>
                  <a:pt x="4826284" y="4132222"/>
                </a:cubicBezTo>
                <a:lnTo>
                  <a:pt x="4707607" y="4189392"/>
                </a:lnTo>
                <a:lnTo>
                  <a:pt x="1829154" y="4189392"/>
                </a:lnTo>
                <a:lnTo>
                  <a:pt x="1710476" y="4132222"/>
                </a:lnTo>
                <a:cubicBezTo>
                  <a:pt x="691640" y="3578757"/>
                  <a:pt x="0" y="2499308"/>
                  <a:pt x="0" y="1258318"/>
                </a:cubicBezTo>
                <a:cubicBezTo>
                  <a:pt x="0" y="919866"/>
                  <a:pt x="51444" y="593430"/>
                  <a:pt x="146940" y="286402"/>
                </a:cubicBezTo>
                <a:close/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7D48A090-1CF3-258D-BA26-E8B16BEC9C24}"/>
              </a:ext>
            </a:extLst>
          </p:cNvPr>
          <p:cNvSpPr txBox="1"/>
          <p:nvPr/>
        </p:nvSpPr>
        <p:spPr>
          <a:xfrm>
            <a:off x="1768236" y="3371997"/>
            <a:ext cx="601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500m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650023F1-BBC5-14A7-89D6-FE5F6CB217B6}"/>
              </a:ext>
            </a:extLst>
          </p:cNvPr>
          <p:cNvSpPr txBox="1"/>
          <p:nvPr/>
        </p:nvSpPr>
        <p:spPr>
          <a:xfrm>
            <a:off x="3017069" y="3371997"/>
            <a:ext cx="601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300m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4" name="연결선: 꺾임 28">
            <a:extLst>
              <a:ext uri="{FF2B5EF4-FFF2-40B4-BE49-F238E27FC236}">
                <a16:creationId xmlns="" xmlns:a16="http://schemas.microsoft.com/office/drawing/2014/main" id="{C66E02B8-5590-F438-F89C-CC539A16860D}"/>
              </a:ext>
            </a:extLst>
          </p:cNvPr>
          <p:cNvCxnSpPr>
            <a:cxnSpLocks/>
          </p:cNvCxnSpPr>
          <p:nvPr/>
        </p:nvCxnSpPr>
        <p:spPr>
          <a:xfrm flipV="1">
            <a:off x="3017069" y="4629344"/>
            <a:ext cx="1751766" cy="1189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42">
            <a:extLst>
              <a:ext uri="{FF2B5EF4-FFF2-40B4-BE49-F238E27FC236}">
                <a16:creationId xmlns="" xmlns:a16="http://schemas.microsoft.com/office/drawing/2014/main" id="{426EF14F-81D6-87CC-9A9C-9B548FDCB36E}"/>
              </a:ext>
            </a:extLst>
          </p:cNvPr>
          <p:cNvCxnSpPr>
            <a:cxnSpLocks/>
          </p:cNvCxnSpPr>
          <p:nvPr/>
        </p:nvCxnSpPr>
        <p:spPr>
          <a:xfrm rot="10800000">
            <a:off x="1928667" y="2176816"/>
            <a:ext cx="769712" cy="1557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46">
            <a:extLst>
              <a:ext uri="{FF2B5EF4-FFF2-40B4-BE49-F238E27FC236}">
                <a16:creationId xmlns="" xmlns:a16="http://schemas.microsoft.com/office/drawing/2014/main" id="{FC1CFEC1-1346-9966-DECF-E56901B10B7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33121" y="2636912"/>
            <a:ext cx="1613062" cy="14401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56">
            <a:extLst>
              <a:ext uri="{FF2B5EF4-FFF2-40B4-BE49-F238E27FC236}">
                <a16:creationId xmlns="" xmlns:a16="http://schemas.microsoft.com/office/drawing/2014/main" id="{3C46653A-DA9F-42DE-81EB-3D9078EA2EF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76936" y="5819328"/>
            <a:ext cx="2016224" cy="417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6</a:t>
            </a:fld>
            <a:endParaRPr lang="ko-KR" altLang="en-US" dirty="0"/>
          </a:p>
        </p:txBody>
      </p:sp>
      <p:graphicFrame>
        <p:nvGraphicFramePr>
          <p:cNvPr id="69" name="표 68">
            <a:extLst>
              <a:ext uri="{FF2B5EF4-FFF2-40B4-BE49-F238E27FC236}">
                <a16:creationId xmlns="" xmlns:a16="http://schemas.microsoft.com/office/drawing/2014/main" id="{6552B279-7709-3C69-7320-1E910B3E5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14310"/>
              </p:ext>
            </p:extLst>
          </p:nvPr>
        </p:nvGraphicFramePr>
        <p:xfrm>
          <a:off x="1001984" y="5157192"/>
          <a:ext cx="2654872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3479">
                  <a:extLst>
                    <a:ext uri="{9D8B030D-6E8A-4147-A177-3AD203B41FA5}">
                      <a16:colId xmlns="" xmlns:a16="http://schemas.microsoft.com/office/drawing/2014/main" val="435798529"/>
                    </a:ext>
                  </a:extLst>
                </a:gridCol>
                <a:gridCol w="727393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1044000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137546">
                <a:tc rowSpan="4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25-23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65505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용도지역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종주거지역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98571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2025-12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9888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매매금액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6939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층구조로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신축용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토지평단가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136,656,472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="" xmlns:a16="http://schemas.microsoft.com/office/drawing/2014/main" id="{8AB6E5E0-8F64-4E20-7397-2C09F0832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120677"/>
              </p:ext>
            </p:extLst>
          </p:nvPr>
        </p:nvGraphicFramePr>
        <p:xfrm>
          <a:off x="6249144" y="1643416"/>
          <a:ext cx="2618944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71523">
                  <a:extLst>
                    <a:ext uri="{9D8B030D-6E8A-4147-A177-3AD203B41FA5}">
                      <a16:colId xmlns="" xmlns:a16="http://schemas.microsoft.com/office/drawing/2014/main" val="435798529"/>
                    </a:ext>
                  </a:extLst>
                </a:gridCol>
                <a:gridCol w="717549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1029872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27-10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65505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용도지역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종일반주거지역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98571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9888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매매금액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6939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경사로에 위치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토지형상 길쭉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토지평단가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209,846,707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</a:tbl>
          </a:graphicData>
        </a:graphic>
      </p:graphicFrame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7D48A090-1CF3-258D-BA26-E8B16BEC9C24}"/>
              </a:ext>
            </a:extLst>
          </p:cNvPr>
          <p:cNvSpPr txBox="1"/>
          <p:nvPr/>
        </p:nvSpPr>
        <p:spPr>
          <a:xfrm>
            <a:off x="7977336" y="3655080"/>
            <a:ext cx="784016" cy="4001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반경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150m]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자유형 34"/>
          <p:cNvSpPr/>
          <p:nvPr/>
        </p:nvSpPr>
        <p:spPr>
          <a:xfrm rot="21089585">
            <a:off x="5278931" y="3576473"/>
            <a:ext cx="500160" cy="690266"/>
          </a:xfrm>
          <a:custGeom>
            <a:avLst/>
            <a:gdLst>
              <a:gd name="connsiteX0" fmla="*/ 0 w 572168"/>
              <a:gd name="connsiteY0" fmla="*/ 192505 h 893010"/>
              <a:gd name="connsiteX1" fmla="*/ 470568 w 572168"/>
              <a:gd name="connsiteY1" fmla="*/ 0 h 893010"/>
              <a:gd name="connsiteX2" fmla="*/ 572168 w 572168"/>
              <a:gd name="connsiteY2" fmla="*/ 251326 h 893010"/>
              <a:gd name="connsiteX3" fmla="*/ 342232 w 572168"/>
              <a:gd name="connsiteY3" fmla="*/ 850231 h 893010"/>
              <a:gd name="connsiteX4" fmla="*/ 176463 w 572168"/>
              <a:gd name="connsiteY4" fmla="*/ 893010 h 893010"/>
              <a:gd name="connsiteX5" fmla="*/ 106947 w 572168"/>
              <a:gd name="connsiteY5" fmla="*/ 614947 h 893010"/>
              <a:gd name="connsiteX6" fmla="*/ 0 w 572168"/>
              <a:gd name="connsiteY6" fmla="*/ 192505 h 89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168" h="893010">
                <a:moveTo>
                  <a:pt x="0" y="192505"/>
                </a:moveTo>
                <a:lnTo>
                  <a:pt x="470568" y="0"/>
                </a:lnTo>
                <a:lnTo>
                  <a:pt x="572168" y="251326"/>
                </a:lnTo>
                <a:lnTo>
                  <a:pt x="342232" y="850231"/>
                </a:lnTo>
                <a:lnTo>
                  <a:pt x="176463" y="893010"/>
                </a:lnTo>
                <a:lnTo>
                  <a:pt x="106947" y="614947"/>
                </a:lnTo>
                <a:lnTo>
                  <a:pt x="0" y="192505"/>
                </a:lnTo>
                <a:close/>
              </a:path>
            </a:pathLst>
          </a:custGeom>
          <a:solidFill>
            <a:srgbClr val="FF0000">
              <a:alpha val="3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="" xmlns:a16="http://schemas.microsoft.com/office/drawing/2014/main" id="{13B41CA7-5F54-30E3-B9CD-613EB5B23EB0}"/>
              </a:ext>
            </a:extLst>
          </p:cNvPr>
          <p:cNvGrpSpPr/>
          <p:nvPr/>
        </p:nvGrpSpPr>
        <p:grpSpPr>
          <a:xfrm>
            <a:off x="5385048" y="3573016"/>
            <a:ext cx="253472" cy="346257"/>
            <a:chOff x="5188598" y="3007944"/>
            <a:chExt cx="253472" cy="346257"/>
          </a:xfrm>
        </p:grpSpPr>
        <p:sp>
          <p:nvSpPr>
            <p:cNvPr id="46" name="자유형: 도형 29">
              <a:extLst>
                <a:ext uri="{FF2B5EF4-FFF2-40B4-BE49-F238E27FC236}">
                  <a16:creationId xmlns="" xmlns:a16="http://schemas.microsoft.com/office/drawing/2014/main" id="{CCA84F28-442B-4870-E8DB-AED473EA3FAE}"/>
                </a:ext>
              </a:extLst>
            </p:cNvPr>
            <p:cNvSpPr/>
            <p:nvPr/>
          </p:nvSpPr>
          <p:spPr>
            <a:xfrm rot="21010245">
              <a:off x="5347638" y="3260628"/>
              <a:ext cx="8521" cy="93573"/>
            </a:xfrm>
            <a:custGeom>
              <a:avLst/>
              <a:gdLst>
                <a:gd name="connsiteX0" fmla="*/ 26209 w 26209"/>
                <a:gd name="connsiteY0" fmla="*/ 0 h 287820"/>
                <a:gd name="connsiteX1" fmla="*/ 17153 w 26209"/>
                <a:gd name="connsiteY1" fmla="*/ 280063 h 287820"/>
                <a:gd name="connsiteX2" fmla="*/ 0 w 26209"/>
                <a:gd name="connsiteY2" fmla="*/ 287820 h 287820"/>
                <a:gd name="connsiteX3" fmla="*/ 0 w 26209"/>
                <a:gd name="connsiteY3" fmla="*/ 0 h 28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09" h="287820">
                  <a:moveTo>
                    <a:pt x="26209" y="0"/>
                  </a:moveTo>
                  <a:lnTo>
                    <a:pt x="17153" y="280063"/>
                  </a:lnTo>
                  <a:lnTo>
                    <a:pt x="0" y="28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="" xmlns:a16="http://schemas.microsoft.com/office/drawing/2014/main" id="{25FE9D7E-EF28-3E4E-C525-D8DEEC3589D9}"/>
                </a:ext>
              </a:extLst>
            </p:cNvPr>
            <p:cNvGrpSpPr/>
            <p:nvPr/>
          </p:nvGrpSpPr>
          <p:grpSpPr>
            <a:xfrm>
              <a:off x="5188598" y="3007944"/>
              <a:ext cx="253472" cy="253472"/>
              <a:chOff x="4229105" y="3055931"/>
              <a:chExt cx="324000" cy="324000"/>
            </a:xfrm>
          </p:grpSpPr>
          <p:sp>
            <p:nvSpPr>
              <p:cNvPr id="49" name="눈물 방울 48">
                <a:extLst>
                  <a:ext uri="{FF2B5EF4-FFF2-40B4-BE49-F238E27FC236}">
                    <a16:creationId xmlns="" xmlns:a16="http://schemas.microsoft.com/office/drawing/2014/main" id="{CEAE7DDE-23D1-49F8-249E-54A89CBB5C53}"/>
                  </a:ext>
                </a:extLst>
              </p:cNvPr>
              <p:cNvSpPr/>
              <p:nvPr/>
            </p:nvSpPr>
            <p:spPr>
              <a:xfrm rot="8045446">
                <a:off x="4229105" y="3055931"/>
                <a:ext cx="324000" cy="324000"/>
              </a:xfrm>
              <a:prstGeom prst="teardrop">
                <a:avLst>
                  <a:gd name="adj" fmla="val 146152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38100" dist="38100" dir="5400000" algn="t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="" xmlns:a16="http://schemas.microsoft.com/office/drawing/2014/main" id="{DCA57A73-39BE-39D3-B5E3-605E597B7976}"/>
                  </a:ext>
                </a:extLst>
              </p:cNvPr>
              <p:cNvSpPr/>
              <p:nvPr/>
            </p:nvSpPr>
            <p:spPr>
              <a:xfrm>
                <a:off x="4265105" y="3091931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B2C7D32C-6081-1967-ADBE-B9ADAACC2468}"/>
                </a:ext>
              </a:extLst>
            </p:cNvPr>
            <p:cNvSpPr txBox="1"/>
            <p:nvPr/>
          </p:nvSpPr>
          <p:spPr>
            <a:xfrm>
              <a:off x="5228276" y="3035204"/>
              <a:ext cx="151688" cy="18466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-15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C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S</a:t>
              </a:r>
            </a:p>
          </p:txBody>
        </p:sp>
      </p:grpSp>
      <p:graphicFrame>
        <p:nvGraphicFramePr>
          <p:cNvPr id="86" name="표 85">
            <a:extLst>
              <a:ext uri="{FF2B5EF4-FFF2-40B4-BE49-F238E27FC236}">
                <a16:creationId xmlns="" xmlns:a16="http://schemas.microsoft.com/office/drawing/2014/main" id="{8966525C-C6F7-9253-56E4-D01D47BD3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56160"/>
              </p:ext>
            </p:extLst>
          </p:nvPr>
        </p:nvGraphicFramePr>
        <p:xfrm>
          <a:off x="1110433" y="764704"/>
          <a:ext cx="7685135" cy="777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24495">
                  <a:extLst>
                    <a:ext uri="{9D8B030D-6E8A-4147-A177-3AD203B41FA5}">
                      <a16:colId xmlns="" xmlns:a16="http://schemas.microsoft.com/office/drawing/2014/main" val="4009294002"/>
                    </a:ext>
                  </a:extLst>
                </a:gridCol>
                <a:gridCol w="2160240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3600400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 자산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강남대로 배후 일면부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Range: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 평당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강남대로 안쪽 이면부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Range: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1.6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 평당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(S)</a:t>
                      </a:r>
                      <a:r>
                        <a:rPr lang="ko-KR" altLang="en-US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자산</a:t>
                      </a:r>
                      <a:endParaRPr lang="ko-KR" altLang="en-US" sz="11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강남대로 배후 일면부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확정가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</a:t>
                      </a:r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 평당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명도비 포함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표 75">
            <a:extLst>
              <a:ext uri="{FF2B5EF4-FFF2-40B4-BE49-F238E27FC236}">
                <a16:creationId xmlns="" xmlns:a16="http://schemas.microsoft.com/office/drawing/2014/main" id="{8653B201-C3DC-AEC2-03AB-C57F24CFB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784841"/>
              </p:ext>
            </p:extLst>
          </p:nvPr>
        </p:nvGraphicFramePr>
        <p:xfrm>
          <a:off x="6249144" y="5162057"/>
          <a:ext cx="2654872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3479">
                  <a:extLst>
                    <a:ext uri="{9D8B030D-6E8A-4147-A177-3AD203B41FA5}">
                      <a16:colId xmlns="" xmlns:a16="http://schemas.microsoft.com/office/drawing/2014/main" val="435798529"/>
                    </a:ext>
                  </a:extLst>
                </a:gridCol>
                <a:gridCol w="727393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1044000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35-8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65505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용도지역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종일반주거지역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98571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9888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매매금액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6939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1998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건축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주택 있음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토지평단가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164,920,032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="" xmlns:a16="http://schemas.microsoft.com/office/drawing/2014/main" id="{95551103-0915-504E-C89C-6DF598852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019820"/>
              </p:ext>
            </p:extLst>
          </p:nvPr>
        </p:nvGraphicFramePr>
        <p:xfrm>
          <a:off x="1001984" y="1642120"/>
          <a:ext cx="2654872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3479">
                  <a:extLst>
                    <a:ext uri="{9D8B030D-6E8A-4147-A177-3AD203B41FA5}">
                      <a16:colId xmlns="" xmlns:a16="http://schemas.microsoft.com/office/drawing/2014/main" val="435798529"/>
                    </a:ext>
                  </a:extLst>
                </a:gridCol>
                <a:gridCol w="727393">
                  <a:extLst>
                    <a:ext uri="{9D8B030D-6E8A-4147-A177-3AD203B41FA5}">
                      <a16:colId xmlns="" xmlns:a16="http://schemas.microsoft.com/office/drawing/2014/main" val="1256885017"/>
                    </a:ext>
                  </a:extLst>
                </a:gridCol>
                <a:gridCol w="1044000">
                  <a:extLst>
                    <a:ext uri="{9D8B030D-6E8A-4147-A177-3AD203B41FA5}">
                      <a16:colId xmlns="" xmlns:a16="http://schemas.microsoft.com/office/drawing/2014/main" val="3700403220"/>
                    </a:ext>
                  </a:extLst>
                </a:gridCol>
              </a:tblGrid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잠원동 </a:t>
                      </a: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23-22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65505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용도지역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종주거지역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98571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등록일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</a:t>
                      </a:r>
                      <a:r>
                        <a:rPr lang="ko-KR" altLang="en-US" sz="800" b="1" dirty="0" smtClean="0">
                          <a:solidFill>
                            <a:srgbClr val="252526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월월</a:t>
                      </a:r>
                      <a:endParaRPr lang="ko-KR" altLang="en-US" sz="800" b="1" dirty="0">
                        <a:solidFill>
                          <a:srgbClr val="252526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9888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매매금액</a:t>
                      </a: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6939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이면부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경사로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1989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건축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토지평단가</a:t>
                      </a: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142,327,144</a:t>
                      </a:r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8001252"/>
                  </a:ext>
                </a:extLst>
              </a:tr>
            </a:tbl>
          </a:graphicData>
        </a:graphic>
      </p:graphicFrame>
      <p:cxnSp>
        <p:nvCxnSpPr>
          <p:cNvPr id="70" name="연결선: 꺾임 28">
            <a:extLst>
              <a:ext uri="{FF2B5EF4-FFF2-40B4-BE49-F238E27FC236}">
                <a16:creationId xmlns="" xmlns:a16="http://schemas.microsoft.com/office/drawing/2014/main" id="{C66E02B8-5590-F438-F89C-CC539A16860D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3656856" y="2236480"/>
            <a:ext cx="360040" cy="472440"/>
          </a:xfrm>
          <a:prstGeom prst="bentConnector2">
            <a:avLst/>
          </a:prstGeom>
          <a:ln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51" y="1645142"/>
            <a:ext cx="889712" cy="8623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519" y="1654624"/>
            <a:ext cx="847721" cy="8528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51" y="5157192"/>
            <a:ext cx="889712" cy="864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926" y="5157192"/>
            <a:ext cx="607725" cy="7023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49915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60" y="260648"/>
            <a:ext cx="537333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본 자산 관련 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ISSUE</a:t>
            </a: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 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경부고속도로 지하화 논</a:t>
            </a:r>
            <a:r>
              <a:rPr lang="ko-KR" altLang="en-US" sz="16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의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 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6" y="779567"/>
            <a:ext cx="3744416" cy="1133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6" y="2019370"/>
            <a:ext cx="3734420" cy="136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6" y="3429001"/>
            <a:ext cx="4084340" cy="2654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944" y="969580"/>
            <a:ext cx="5210175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39481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59" y="260648"/>
            <a:ext cx="588012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본 자산 관련 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ISSUE</a:t>
            </a: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 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_8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호선 연장 위례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-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신사선 예타 통과 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332" y="2258271"/>
            <a:ext cx="5475337" cy="40510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68" y="836712"/>
            <a:ext cx="7412037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6825208" y="1052736"/>
            <a:ext cx="1835397" cy="50405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4788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593" y="849666"/>
            <a:ext cx="3111959" cy="2333253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2536937"/>
            <a:ext cx="4712219" cy="3602304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27" y="3155643"/>
            <a:ext cx="3104626" cy="2983598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User\Desktop\Capture_2026_0325_13045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26" y="853267"/>
            <a:ext cx="4729168" cy="3372222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6768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VIEW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2864768" y="2357244"/>
            <a:ext cx="936104" cy="351676"/>
          </a:xfrm>
          <a:prstGeom prst="wedgeRoundRectCallou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13B41CA7-5F54-30E3-B9CD-613EB5B23EB0}"/>
              </a:ext>
            </a:extLst>
          </p:cNvPr>
          <p:cNvGrpSpPr/>
          <p:nvPr/>
        </p:nvGrpSpPr>
        <p:grpSpPr>
          <a:xfrm>
            <a:off x="2944158" y="2390831"/>
            <a:ext cx="777324" cy="271308"/>
            <a:chOff x="5216761" y="3036112"/>
            <a:chExt cx="836252" cy="271308"/>
          </a:xfrm>
        </p:grpSpPr>
        <p:sp>
          <p:nvSpPr>
            <p:cNvPr id="24" name="타원 23">
              <a:extLst>
                <a:ext uri="{FF2B5EF4-FFF2-40B4-BE49-F238E27FC236}">
                  <a16:creationId xmlns="" xmlns:a16="http://schemas.microsoft.com/office/drawing/2014/main" id="{DCA57A73-39BE-39D3-B5E3-605E597B7976}"/>
                </a:ext>
              </a:extLst>
            </p:cNvPr>
            <p:cNvSpPr/>
            <p:nvPr/>
          </p:nvSpPr>
          <p:spPr>
            <a:xfrm>
              <a:off x="5216761" y="3036112"/>
              <a:ext cx="836252" cy="2713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B2C7D32C-6081-1967-ADBE-B9ADAACC2468}"/>
                </a:ext>
              </a:extLst>
            </p:cNvPr>
            <p:cNvSpPr txBox="1"/>
            <p:nvPr/>
          </p:nvSpPr>
          <p:spPr>
            <a:xfrm>
              <a:off x="5302568" y="3077202"/>
              <a:ext cx="664638" cy="18466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spc="-150" dirty="0" smtClean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본 자산</a:t>
              </a:r>
              <a:endParaRPr kumimoji="0" lang="en-US" altLang="ko-KR" sz="1200" b="1" i="0" u="none" strike="noStrike" kern="1200" cap="none" spc="-15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14074" y="849665"/>
            <a:ext cx="1135801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전면</a:t>
            </a:r>
            <a:r>
              <a:rPr lang="ko-KR" altLang="en-US" sz="1200" b="1" dirty="0"/>
              <a:t>부</a:t>
            </a:r>
            <a:r>
              <a:rPr lang="ko-KR" altLang="en-US" sz="1200" b="1" dirty="0" smtClean="0"/>
              <a:t> </a:t>
            </a:r>
            <a:r>
              <a:rPr lang="en-US" altLang="ko-KR" sz="1200" b="1" dirty="0" smtClean="0"/>
              <a:t>view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41375" y="5888304"/>
            <a:ext cx="1361416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자주식 주차장 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540203" y="849666"/>
            <a:ext cx="1135801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배</a:t>
            </a:r>
            <a:r>
              <a:rPr lang="ko-KR" altLang="en-US" sz="1200" b="1" dirty="0" smtClean="0"/>
              <a:t>면부 </a:t>
            </a:r>
            <a:r>
              <a:rPr lang="en-US" altLang="ko-KR" sz="1200" b="1" dirty="0" smtClean="0"/>
              <a:t>view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401272" y="5888305"/>
            <a:ext cx="1264281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측전면부 </a:t>
            </a:r>
            <a:r>
              <a:rPr lang="en-US" altLang="ko-KR" sz="1200" b="1" dirty="0" smtClean="0"/>
              <a:t>view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734979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66" y="3067677"/>
            <a:ext cx="2780978" cy="2248814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245" y="1064137"/>
            <a:ext cx="2568799" cy="1975629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018" y="3039766"/>
            <a:ext cx="3299920" cy="227672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934" y="1067545"/>
            <a:ext cx="3292963" cy="1972221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067546"/>
            <a:ext cx="3331086" cy="197222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9" y="3048894"/>
            <a:ext cx="3096344" cy="2267597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344487" y="260648"/>
            <a:ext cx="30963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내외부 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&amp; </a:t>
            </a: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주차 관련 시설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72480" y="1064137"/>
            <a:ext cx="1152128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지상 주차장 </a:t>
            </a:r>
            <a:endParaRPr lang="ko-KR" alt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114491" y="1052736"/>
            <a:ext cx="1427550" cy="4616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주차리프트</a:t>
            </a:r>
            <a:r>
              <a:rPr lang="en-US" altLang="ko-KR" sz="1200" b="1" dirty="0" smtClean="0"/>
              <a:t/>
            </a:r>
            <a:br>
              <a:rPr lang="en-US" altLang="ko-KR" sz="1200" b="1" dirty="0" smtClean="0"/>
            </a:br>
            <a:r>
              <a:rPr lang="en-US" altLang="ko-KR" sz="1200" b="1" dirty="0" smtClean="0"/>
              <a:t>(</a:t>
            </a:r>
            <a:r>
              <a:rPr lang="ko-KR" altLang="en-US" sz="1200" b="1" dirty="0" smtClean="0"/>
              <a:t>용량 </a:t>
            </a:r>
            <a:r>
              <a:rPr lang="en-US" altLang="ko-KR" sz="1200" b="1" dirty="0" smtClean="0"/>
              <a:t>2,000kg)</a:t>
            </a:r>
            <a:endParaRPr lang="ko-KR" altLang="en-US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736976" y="1064137"/>
            <a:ext cx="1152128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지상 주차장 </a:t>
            </a:r>
            <a:endParaRPr lang="ko-KR" alt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8913439" y="5024578"/>
            <a:ext cx="606605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옥</a:t>
            </a:r>
            <a:r>
              <a:rPr lang="ko-KR" altLang="en-US" sz="1200" b="1" dirty="0"/>
              <a:t>상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376936" y="5024577"/>
            <a:ext cx="1396455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지하 </a:t>
            </a:r>
            <a:r>
              <a:rPr lang="en-US" altLang="ko-KR" sz="1200" b="1" dirty="0" smtClean="0"/>
              <a:t>1</a:t>
            </a:r>
            <a:r>
              <a:rPr lang="ko-KR" altLang="en-US" sz="1200" b="1" dirty="0" smtClean="0"/>
              <a:t>층 주차장 </a:t>
            </a:r>
            <a:endParaRPr lang="ko-KR" alt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44488" y="5039492"/>
            <a:ext cx="1152128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내부</a:t>
            </a:r>
            <a:r>
              <a:rPr lang="en-US" altLang="ko-KR" sz="1200" b="1" dirty="0" smtClean="0"/>
              <a:t>_3</a:t>
            </a:r>
            <a:r>
              <a:rPr lang="ko-KR" altLang="en-US" sz="1200" b="1" dirty="0" smtClean="0"/>
              <a:t>층 </a:t>
            </a:r>
            <a:r>
              <a:rPr lang="en-US" altLang="ko-KR" sz="1200" b="1" dirty="0" smtClean="0"/>
              <a:t>2</a:t>
            </a:r>
            <a:r>
              <a:rPr lang="ko-KR" altLang="en-US" sz="1200" b="1" dirty="0" smtClean="0"/>
              <a:t>호 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02378" y="5545183"/>
            <a:ext cx="8101244" cy="415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주차리프트는 현재 미사용 중으로 가동할 경우 용량과 크기 증설이 현실적으로 필요합니다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5670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10081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내</a:t>
            </a:r>
            <a:r>
              <a:rPr lang="ko-KR" altLang="en-US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부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4099" name="Picture 3" descr="C:\Users\User\Desktop\26.03.25_잠원동 두원빌딩\KakaoTalk_20260325_15503348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19" y="1072090"/>
            <a:ext cx="3196831" cy="4263449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705" y="1056197"/>
            <a:ext cx="5283767" cy="4279342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7316034" y="1052736"/>
            <a:ext cx="1902748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화장실 </a:t>
            </a:r>
            <a:r>
              <a:rPr lang="en-US" altLang="ko-KR" sz="1200" b="1" dirty="0" smtClean="0"/>
              <a:t>(</a:t>
            </a:r>
            <a:r>
              <a:rPr lang="ko-KR" altLang="en-US" sz="1200" b="1" dirty="0" smtClean="0"/>
              <a:t>성</a:t>
            </a:r>
            <a:r>
              <a:rPr lang="ko-KR" altLang="en-US" sz="1200" b="1" dirty="0"/>
              <a:t>별</a:t>
            </a:r>
            <a:r>
              <a:rPr lang="ko-KR" altLang="en-US" sz="1200" b="1" dirty="0" smtClean="0"/>
              <a:t> 복층 구분</a:t>
            </a:r>
            <a:r>
              <a:rPr lang="en-US" altLang="ko-KR" sz="1200" b="1" dirty="0"/>
              <a:t>)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72720" y="1072090"/>
            <a:ext cx="1902748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화장실 </a:t>
            </a:r>
            <a:r>
              <a:rPr lang="en-US" altLang="ko-KR" sz="1200" b="1" dirty="0" smtClean="0"/>
              <a:t>/ </a:t>
            </a:r>
            <a:r>
              <a:rPr lang="ko-KR" altLang="en-US" sz="1200" b="1" dirty="0" smtClean="0"/>
              <a:t>승강기 </a:t>
            </a:r>
            <a:endParaRPr lang="ko-KR" altLang="en-US" sz="12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72721" y="4920040"/>
            <a:ext cx="3244984" cy="43088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100" dirty="0" smtClean="0"/>
              <a:t>기존 남자화장실 공간에 소형 승강기 설치</a:t>
            </a:r>
            <a:endParaRPr lang="en-US" altLang="ko-KR" sz="1100" dirty="0" smtClean="0"/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100" dirty="0" smtClean="0"/>
              <a:t>2</a:t>
            </a:r>
            <a:r>
              <a:rPr lang="ko-KR" altLang="en-US" sz="1100" dirty="0" smtClean="0"/>
              <a:t>층</a:t>
            </a:r>
            <a:r>
              <a:rPr lang="en-US" altLang="ko-KR" sz="1100" dirty="0" smtClean="0"/>
              <a:t>~5</a:t>
            </a:r>
            <a:r>
              <a:rPr lang="ko-KR" altLang="en-US" sz="1100" dirty="0" smtClean="0"/>
              <a:t>층 운행이 가능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실제 </a:t>
            </a:r>
            <a:r>
              <a:rPr lang="en-US" altLang="ko-KR" sz="1100" dirty="0" smtClean="0"/>
              <a:t>4~5</a:t>
            </a:r>
            <a:r>
              <a:rPr lang="ko-KR" altLang="en-US" sz="1100" dirty="0" smtClean="0"/>
              <a:t>인 탑승 가능 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902378" y="5609251"/>
            <a:ext cx="8101244" cy="415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승강기는 소형으로 실제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인</a:t>
            </a:r>
            <a:r>
              <a:rPr lang="en-US" altLang="ko-KR" sz="1400" dirty="0" smtClean="0"/>
              <a:t>~5</a:t>
            </a:r>
            <a:r>
              <a:rPr lang="ko-KR" altLang="en-US" sz="1400" dirty="0" smtClean="0"/>
              <a:t>인정도 탑승이 가능하며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층부터</a:t>
            </a:r>
            <a:r>
              <a:rPr lang="en-US" altLang="ko-KR" sz="1400" dirty="0" smtClean="0"/>
              <a:t>~5</a:t>
            </a:r>
            <a:r>
              <a:rPr lang="ko-KR" altLang="en-US" sz="1400" dirty="0" smtClean="0"/>
              <a:t>층까지 운행이 가능합니다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473" y="3057368"/>
            <a:ext cx="836254" cy="276999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화장</a:t>
            </a:r>
            <a:r>
              <a:rPr lang="ko-KR" altLang="en-US" sz="1200" b="1" dirty="0"/>
              <a:t>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4633" y="2918869"/>
            <a:ext cx="418127" cy="646331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승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강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/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val="3696313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471" y="907801"/>
            <a:ext cx="3972547" cy="5249642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6465168" y="4243148"/>
            <a:ext cx="1067576" cy="44970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52" y="3444135"/>
            <a:ext cx="3220919" cy="26767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98" y="907800"/>
            <a:ext cx="1984673" cy="2543991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60" y="907801"/>
            <a:ext cx="3158434" cy="2841749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59" y="3749551"/>
            <a:ext cx="1921729" cy="2374422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6768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본 자산의 주변부 전경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4488" y="903203"/>
            <a:ext cx="1593932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신사역 방형 </a:t>
            </a:r>
            <a:endParaRPr lang="ko-KR" alt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769162" y="907801"/>
            <a:ext cx="1569944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이면의 논현역 방향 </a:t>
            </a:r>
            <a:endParaRPr lang="ko-KR" altLang="en-US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080792" y="5843184"/>
            <a:ext cx="1715676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배면부 주거배후 방향 </a:t>
            </a:r>
            <a:endParaRPr lang="ko-KR" alt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8337376" y="903202"/>
            <a:ext cx="1200286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싸리재 소공원 </a:t>
            </a:r>
            <a:endParaRPr lang="ko-KR" altLang="en-US" sz="1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58342" y="5876258"/>
            <a:ext cx="1390312" cy="276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강남대로 방향 </a:t>
            </a:r>
            <a:endParaRPr lang="ko-KR" altLang="en-US" sz="1200" b="1" dirty="0"/>
          </a:p>
        </p:txBody>
      </p:sp>
      <p:sp>
        <p:nvSpPr>
          <p:cNvPr id="23" name="모서리가 둥근 사각형 설명선 22"/>
          <p:cNvSpPr/>
          <p:nvPr/>
        </p:nvSpPr>
        <p:spPr>
          <a:xfrm>
            <a:off x="8481392" y="3509372"/>
            <a:ext cx="936104" cy="351676"/>
          </a:xfrm>
          <a:prstGeom prst="wedgeRoundRectCallou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13B41CA7-5F54-30E3-B9CD-613EB5B23EB0}"/>
              </a:ext>
            </a:extLst>
          </p:cNvPr>
          <p:cNvGrpSpPr/>
          <p:nvPr/>
        </p:nvGrpSpPr>
        <p:grpSpPr>
          <a:xfrm>
            <a:off x="8560782" y="3542959"/>
            <a:ext cx="777324" cy="271308"/>
            <a:chOff x="5216761" y="3036112"/>
            <a:chExt cx="836252" cy="271308"/>
          </a:xfrm>
        </p:grpSpPr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CA57A73-39BE-39D3-B5E3-605E597B7976}"/>
                </a:ext>
              </a:extLst>
            </p:cNvPr>
            <p:cNvSpPr/>
            <p:nvPr/>
          </p:nvSpPr>
          <p:spPr>
            <a:xfrm>
              <a:off x="5216761" y="3036112"/>
              <a:ext cx="836252" cy="2713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B2C7D32C-6081-1967-ADBE-B9ADAACC2468}"/>
                </a:ext>
              </a:extLst>
            </p:cNvPr>
            <p:cNvSpPr txBox="1"/>
            <p:nvPr/>
          </p:nvSpPr>
          <p:spPr>
            <a:xfrm>
              <a:off x="5302568" y="3077202"/>
              <a:ext cx="664638" cy="18466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spc="-150" dirty="0" smtClean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본 자산</a:t>
              </a:r>
              <a:endParaRPr kumimoji="0" lang="en-US" altLang="ko-KR" sz="1200" b="1" i="0" u="none" strike="noStrike" kern="1200" cap="none" spc="-15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B2C7D32C-6081-1967-ADBE-B9ADAACC2468}"/>
              </a:ext>
            </a:extLst>
          </p:cNvPr>
          <p:cNvSpPr txBox="1"/>
          <p:nvPr/>
        </p:nvSpPr>
        <p:spPr>
          <a:xfrm>
            <a:off x="6537176" y="4293096"/>
            <a:ext cx="957084" cy="3693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15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공원 면적 </a:t>
            </a:r>
            <a:endParaRPr lang="en-US" altLang="ko-KR" sz="1200" b="1" spc="-150" noProof="0" dirty="0" smtClean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15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약</a:t>
            </a:r>
            <a:r>
              <a:rPr lang="en-US" altLang="ko-KR" sz="1200" b="1" spc="-15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  377</a:t>
            </a:r>
            <a:r>
              <a:rPr lang="ko-KR" altLang="en-US" sz="1200" b="1" spc="-150" noProof="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평</a:t>
            </a:r>
            <a:endParaRPr kumimoji="0" lang="en-US" altLang="ko-KR" sz="1200" b="1" i="0" u="none" strike="noStrike" kern="1200" cap="none" spc="-15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FFC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01077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92" y="918593"/>
            <a:ext cx="7233608" cy="207835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건축물 현황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현재 기준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276943"/>
              </p:ext>
            </p:extLst>
          </p:nvPr>
        </p:nvGraphicFramePr>
        <p:xfrm>
          <a:off x="488504" y="3356992"/>
          <a:ext cx="4248472" cy="2952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849">
                  <a:extLst>
                    <a:ext uri="{9D8B030D-6E8A-4147-A177-3AD203B41FA5}">
                      <a16:colId xmlns="" xmlns:a16="http://schemas.microsoft.com/office/drawing/2014/main" val="3791409878"/>
                    </a:ext>
                  </a:extLst>
                </a:gridCol>
                <a:gridCol w="1727685">
                  <a:extLst>
                    <a:ext uri="{9D8B030D-6E8A-4147-A177-3AD203B41FA5}">
                      <a16:colId xmlns="" xmlns:a16="http://schemas.microsoft.com/office/drawing/2014/main" val="1603318210"/>
                    </a:ext>
                  </a:extLst>
                </a:gridCol>
                <a:gridCol w="1561938">
                  <a:extLst>
                    <a:ext uri="{9D8B030D-6E8A-4147-A177-3AD203B41FA5}">
                      <a16:colId xmlns="" xmlns:a16="http://schemas.microsoft.com/office/drawing/2014/main" val="1546924764"/>
                    </a:ext>
                  </a:extLst>
                </a:gridCol>
              </a:tblGrid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공부상 용도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면적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36451068"/>
                  </a:ext>
                </a:extLst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학원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41.06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1719544"/>
                  </a:ext>
                </a:extLst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학원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39.52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12.16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사무소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80.58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12.16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사무소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41.02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의원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39.55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12.16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일반음식점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80.58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35142"/>
              </p:ext>
            </p:extLst>
          </p:nvPr>
        </p:nvGraphicFramePr>
        <p:xfrm>
          <a:off x="4961731" y="3356992"/>
          <a:ext cx="4239741" cy="302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878">
                  <a:extLst>
                    <a:ext uri="{9D8B030D-6E8A-4147-A177-3AD203B41FA5}">
                      <a16:colId xmlns="" xmlns:a16="http://schemas.microsoft.com/office/drawing/2014/main" val="3791409878"/>
                    </a:ext>
                  </a:extLst>
                </a:gridCol>
                <a:gridCol w="1724134">
                  <a:extLst>
                    <a:ext uri="{9D8B030D-6E8A-4147-A177-3AD203B41FA5}">
                      <a16:colId xmlns="" xmlns:a16="http://schemas.microsoft.com/office/drawing/2014/main" val="1603318210"/>
                    </a:ext>
                  </a:extLst>
                </a:gridCol>
                <a:gridCol w="1558729">
                  <a:extLst>
                    <a:ext uri="{9D8B030D-6E8A-4147-A177-3AD203B41FA5}">
                      <a16:colId xmlns="" xmlns:a16="http://schemas.microsoft.com/office/drawing/2014/main" val="1546924764"/>
                    </a:ext>
                  </a:extLst>
                </a:gridCol>
              </a:tblGrid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공부상 용도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면적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36451068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12.16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1719544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소매점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31.37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휴게음식점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28.15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12.16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부동산중개업소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9.68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지상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주차장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7.99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지하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96.43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지하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44.10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지하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종근린생활시설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14.02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5008" y="1819272"/>
            <a:ext cx="3534942" cy="276999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※ 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실질 용적률은 공부상과 다른 약 </a:t>
            </a:r>
            <a:r>
              <a:rPr lang="en-US" altLang="ko-KR" sz="1200" dirty="0" smtClean="0"/>
              <a:t>247%</a:t>
            </a:r>
            <a:r>
              <a:rPr lang="ko-KR" altLang="en-US" sz="1200" dirty="0" smtClean="0"/>
              <a:t>입니다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301494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1289273"/>
            <a:ext cx="8202613" cy="4371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E72238-2518-775A-85AD-D713961E16CC}"/>
              </a:ext>
            </a:extLst>
          </p:cNvPr>
          <p:cNvSpPr txBox="1"/>
          <p:nvPr/>
        </p:nvSpPr>
        <p:spPr>
          <a:xfrm>
            <a:off x="344488" y="260648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건축물 현황 도면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배치</a:t>
            </a:r>
            <a:r>
              <a:rPr lang="ko-KR" altLang="en-US" sz="16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도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2560" y="4581128"/>
            <a:ext cx="873808" cy="276999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9</a:t>
            </a:r>
            <a:r>
              <a:rPr lang="en-US" altLang="ko-KR" sz="1200" b="1" dirty="0" smtClean="0"/>
              <a:t>M </a:t>
            </a:r>
            <a:r>
              <a:rPr lang="ko-KR" altLang="en-US" sz="1200" b="1" dirty="0" smtClean="0"/>
              <a:t>도로</a:t>
            </a:r>
            <a:endParaRPr lang="ko-KR" alt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224808" y="5384249"/>
            <a:ext cx="995703" cy="276999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/>
              <a:t>10M </a:t>
            </a:r>
            <a:r>
              <a:rPr lang="ko-KR" altLang="en-US" sz="1200" b="1" dirty="0" smtClean="0"/>
              <a:t>도로</a:t>
            </a:r>
            <a:endParaRPr lang="ko-KR" alt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825208" y="4422883"/>
            <a:ext cx="1081448" cy="461665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지상 주차장 입출구</a:t>
            </a:r>
            <a:endParaRPr lang="ko-KR" altLang="en-US" sz="1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481082" y="4938092"/>
            <a:ext cx="836254" cy="276999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/>
              <a:t>주출입구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299411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03" y="774577"/>
            <a:ext cx="7899143" cy="4801315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3407461880"/>
              </p:ext>
            </p:extLst>
          </p:nvPr>
        </p:nvGraphicFramePr>
        <p:xfrm>
          <a:off x="1795016" y="778424"/>
          <a:ext cx="7334448" cy="4793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 rot="16200000">
            <a:off x="4788756" y="1449521"/>
            <a:ext cx="400110" cy="78834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Value add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요소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&amp;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방안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&amp;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목표 등 제언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갈매기형 수장 16"/>
          <p:cNvSpPr/>
          <p:nvPr/>
        </p:nvSpPr>
        <p:spPr>
          <a:xfrm rot="5400000">
            <a:off x="4663468" y="5647487"/>
            <a:ext cx="579065" cy="648072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갈매기형 수장 20"/>
          <p:cNvSpPr/>
          <p:nvPr/>
        </p:nvSpPr>
        <p:spPr>
          <a:xfrm rot="5400000">
            <a:off x="4664969" y="5945089"/>
            <a:ext cx="576062" cy="872481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826625372"/>
              </p:ext>
            </p:extLst>
          </p:nvPr>
        </p:nvGraphicFramePr>
        <p:xfrm>
          <a:off x="2824462" y="1700808"/>
          <a:ext cx="5462240" cy="3353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타원 4"/>
          <p:cNvSpPr/>
          <p:nvPr/>
        </p:nvSpPr>
        <p:spPr>
          <a:xfrm>
            <a:off x="2216696" y="332656"/>
            <a:ext cx="5760640" cy="8640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40832" y="188640"/>
            <a:ext cx="3057141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 smtClean="0">
                <a:solidFill>
                  <a:schemeClr val="bg2">
                    <a:lumMod val="10000"/>
                  </a:schemeClr>
                </a:solidFill>
              </a:rPr>
              <a:t>Value-add</a:t>
            </a:r>
          </a:p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bg2">
                    <a:lumMod val="10000"/>
                  </a:schemeClr>
                </a:solidFill>
              </a:rPr>
              <a:t>신축 제언</a:t>
            </a:r>
            <a:endParaRPr lang="ko-KR" altLang="en-US" sz="20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6018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3">
            <a:extLst>
              <a:ext uri="{FF2B5EF4-FFF2-40B4-BE49-F238E27FC236}">
                <a16:creationId xmlns="" xmlns:a16="http://schemas.microsoft.com/office/drawing/2014/main" id="{6DC665EE-294D-3AB8-0C7F-6196B80C1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96268"/>
              </p:ext>
            </p:extLst>
          </p:nvPr>
        </p:nvGraphicFramePr>
        <p:xfrm>
          <a:off x="5241032" y="1007446"/>
          <a:ext cx="4032448" cy="3861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5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36937">
                  <a:extLst>
                    <a:ext uri="{9D8B030D-6E8A-4147-A177-3AD203B41FA5}">
                      <a16:colId xmlns="" xmlns:a16="http://schemas.microsoft.com/office/drawing/2014/main" val="696360088"/>
                    </a:ext>
                  </a:extLst>
                </a:gridCol>
              </a:tblGrid>
              <a:tr h="4297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용  도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근생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의원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업무시설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18424834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규  모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지하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층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~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지상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6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층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66510049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구  조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</a:rPr>
                        <a:t>철근콘크리</a:t>
                      </a:r>
                      <a:r>
                        <a:rPr lang="ko-KR" altLang="en-US" sz="14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ea typeface="+mn-ea"/>
                        </a:rPr>
                        <a:t>트</a:t>
                      </a: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30739862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 용적률상 연면적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1,534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㎡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464.03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연면적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2,030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㎡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614.03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평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산정 건폐율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50%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산정 용적률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249%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승강기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대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82118719"/>
                  </a:ext>
                </a:extLst>
              </a:tr>
              <a:tr h="428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</a:rPr>
                        <a:t>주 차 대 수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약 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14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대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자주식 외 주차타워</a:t>
                      </a:r>
                      <a:r>
                        <a:rPr lang="en-US" altLang="ko-KR" sz="1400" b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74295" marR="7429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61" y="260648"/>
            <a:ext cx="3661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1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. Value add_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신축시 </a:t>
            </a:r>
            <a:r>
              <a:rPr lang="ko-KR" altLang="en-US" sz="16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예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상 규모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32BD52C-1701-49D7-6E1A-0EEFEEA39A42}"/>
              </a:ext>
            </a:extLst>
          </p:cNvPr>
          <p:cNvSpPr txBox="1"/>
          <p:nvPr/>
        </p:nvSpPr>
        <p:spPr>
          <a:xfrm>
            <a:off x="622892" y="750160"/>
            <a:ext cx="1464445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2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조감도 예시</a:t>
            </a:r>
            <a:endParaRPr lang="en-US" altLang="ko-KR" sz="1200" b="1" spc="-2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32BD52C-1701-49D7-6E1A-0EEFEEA39A42}"/>
              </a:ext>
            </a:extLst>
          </p:cNvPr>
          <p:cNvSpPr txBox="1"/>
          <p:nvPr/>
        </p:nvSpPr>
        <p:spPr>
          <a:xfrm flipH="1">
            <a:off x="5250267" y="735549"/>
            <a:ext cx="1008112" cy="278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2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규모 검토</a:t>
            </a:r>
            <a:endParaRPr lang="en-US" altLang="ko-KR" sz="1200" b="1" spc="-2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22" y="1045626"/>
            <a:ext cx="4204724" cy="3826297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33089"/>
              </p:ext>
            </p:extLst>
          </p:nvPr>
        </p:nvGraphicFramePr>
        <p:xfrm>
          <a:off x="1393788" y="5288049"/>
          <a:ext cx="7118424" cy="10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606"/>
                <a:gridCol w="1779606"/>
                <a:gridCol w="1779606"/>
                <a:gridCol w="177960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① 매입비용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② 평당 건축비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③예비</a:t>
                      </a:r>
                      <a:r>
                        <a:rPr lang="ko-KR" altLang="en-US" sz="1400" baseline="0" dirty="0" smtClean="0"/>
                        <a:t> 비용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① ② ③ 합계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400" u="sng" dirty="0" smtClean="0"/>
                        <a:t>24,226,800,000</a:t>
                      </a:r>
                      <a:r>
                        <a:rPr lang="ko-KR" altLang="en-US" sz="1400" u="sng" dirty="0" smtClean="0"/>
                        <a:t>원</a:t>
                      </a:r>
                      <a:endParaRPr lang="en-US" altLang="ko-KR" sz="1400" u="sng" dirty="0" smtClean="0"/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세금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금융비용 제외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400" u="sng" dirty="0" smtClean="0"/>
                        <a:t>7,368,360,000</a:t>
                      </a:r>
                      <a:r>
                        <a:rPr lang="ko-KR" altLang="en-US" sz="1400" u="sng" dirty="0" smtClean="0"/>
                        <a:t>원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평당 </a:t>
                      </a:r>
                      <a:r>
                        <a:rPr lang="en-US" altLang="ko-KR" sz="1200" dirty="0" smtClean="0"/>
                        <a:t>1,200</a:t>
                      </a:r>
                      <a:r>
                        <a:rPr lang="ko-KR" altLang="en-US" sz="1200" dirty="0" smtClean="0"/>
                        <a:t>만원</a:t>
                      </a:r>
                      <a:r>
                        <a:rPr lang="en-US" altLang="ko-KR" sz="1200" dirty="0" smtClean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400" u="sng" dirty="0" smtClean="0"/>
                        <a:t>500,000,000</a:t>
                      </a:r>
                      <a:r>
                        <a:rPr lang="ko-KR" altLang="en-US" sz="1400" u="sng" dirty="0" smtClean="0"/>
                        <a:t>원</a:t>
                      </a:r>
                      <a:endParaRPr lang="ko-KR" altLang="en-US" sz="14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400" u="sng" dirty="0" smtClean="0"/>
                        <a:t>32,095,160,000</a:t>
                      </a:r>
                      <a:r>
                        <a:rPr lang="ko-KR" altLang="en-US" sz="1400" u="sng" dirty="0" smtClean="0"/>
                        <a:t>원</a:t>
                      </a:r>
                      <a:endParaRPr lang="ko-KR" altLang="en-US" sz="14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32BD52C-1701-49D7-6E1A-0EEFEEA39A42}"/>
              </a:ext>
            </a:extLst>
          </p:cNvPr>
          <p:cNvSpPr txBox="1"/>
          <p:nvPr/>
        </p:nvSpPr>
        <p:spPr>
          <a:xfrm flipH="1">
            <a:off x="1424608" y="5013176"/>
            <a:ext cx="1566557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2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투입 비용 검토</a:t>
            </a:r>
            <a:endParaRPr lang="en-US" altLang="ko-KR" sz="1200" b="1" spc="-2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93055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12249"/>
              </p:ext>
            </p:extLst>
          </p:nvPr>
        </p:nvGraphicFramePr>
        <p:xfrm>
          <a:off x="1208583" y="3789040"/>
          <a:ext cx="7560841" cy="1584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266">
                  <a:extLst>
                    <a:ext uri="{9D8B030D-6E8A-4147-A177-3AD203B41FA5}">
                      <a16:colId xmlns:a16="http://schemas.microsoft.com/office/drawing/2014/main" xmlns="" val="3791409878"/>
                    </a:ext>
                  </a:extLst>
                </a:gridCol>
                <a:gridCol w="2201255">
                  <a:extLst>
                    <a:ext uri="{9D8B030D-6E8A-4147-A177-3AD203B41FA5}">
                      <a16:colId xmlns:a16="http://schemas.microsoft.com/office/drawing/2014/main" xmlns="" val="1603318210"/>
                    </a:ext>
                  </a:extLst>
                </a:gridCol>
                <a:gridCol w="2116591">
                  <a:extLst>
                    <a:ext uri="{9D8B030D-6E8A-4147-A177-3AD203B41FA5}">
                      <a16:colId xmlns:a16="http://schemas.microsoft.com/office/drawing/2014/main" xmlns="" val="1546924764"/>
                    </a:ext>
                  </a:extLst>
                </a:gridCol>
                <a:gridCol w="1947729">
                  <a:extLst>
                    <a:ext uri="{9D8B030D-6E8A-4147-A177-3AD203B41FA5}">
                      <a16:colId xmlns:a16="http://schemas.microsoft.com/office/drawing/2014/main" xmlns="" val="152072478"/>
                    </a:ext>
                  </a:extLst>
                </a:gridCol>
              </a:tblGrid>
              <a:tr h="316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해당 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산정 임대료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산정 임대보증금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산정 일반관리비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6451068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~6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임대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x 180,000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임대료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x 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배수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평당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15,000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1719544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임대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x 200,000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임대료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12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배수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</a:tr>
              <a:tr h="316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층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임대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x 220,000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임대료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x 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배수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29680355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임대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평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x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</a:rPr>
                        <a:t> 60,000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임대료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x 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배수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60" y="260648"/>
            <a:ext cx="55893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2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. Value add_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기준시점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: 28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년상반기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stacking plan 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17</a:t>
            </a:fld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-447600" y="6858000"/>
            <a:ext cx="856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854874"/>
              </p:ext>
            </p:extLst>
          </p:nvPr>
        </p:nvGraphicFramePr>
        <p:xfrm>
          <a:off x="1208584" y="764705"/>
          <a:ext cx="7560840" cy="290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504"/>
                <a:gridCol w="951709"/>
                <a:gridCol w="2385959"/>
                <a:gridCol w="1634776"/>
                <a:gridCol w="1702892"/>
              </a:tblGrid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층수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면적 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평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용도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임대 보증금 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월 임대료 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50.00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오피스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의원 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108,000,000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9,000,000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5F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60.00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오피스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의원 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129,600,000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10,800,000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4F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94.67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오피스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의원 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204,487,200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17,040,600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3F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94.67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오피스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의원 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204,487,200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17,040,600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2F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94.67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오피스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의원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or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식음료 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226,728,000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18,894,000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1F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70.00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식음료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리테일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약국 등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184,800,000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15,400,000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지하 </a:t>
                      </a:r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층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150.00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운동시설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주점 등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108,000,000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9,000,000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614.03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그</a:t>
                      </a:r>
                      <a:r>
                        <a:rPr lang="ko-KR" altLang="en-US" sz="1200" b="1" baseline="0" dirty="0" smtClean="0">
                          <a:solidFill>
                            <a:schemeClr val="bg1"/>
                          </a:solidFill>
                        </a:rPr>
                        <a:t> 외 사옥 통임대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1,166,102,400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97,175,200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2B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67073"/>
              </p:ext>
            </p:extLst>
          </p:nvPr>
        </p:nvGraphicFramePr>
        <p:xfrm>
          <a:off x="1208584" y="5517232"/>
          <a:ext cx="7560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xmlns="" val="2412288240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xmlns="" val="4204821391"/>
                    </a:ext>
                  </a:extLst>
                </a:gridCol>
              </a:tblGrid>
              <a:tr h="8658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산정 요인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①신축 빌딩  ②트리플 초역세권의 우수한 교통환경  ③발달된 상환경  ④탁월한 가시성과 접근성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⑤소공원광장 전망 ⑥오피스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근생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수요 등을 감안하면서도 합리적인 출발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임대가로 빠른 만실 추구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239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2975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DE72238-2518-775A-85AD-D713961E16CC}"/>
              </a:ext>
            </a:extLst>
          </p:cNvPr>
          <p:cNvSpPr txBox="1"/>
          <p:nvPr/>
        </p:nvSpPr>
        <p:spPr>
          <a:xfrm>
            <a:off x="443760" y="260648"/>
            <a:ext cx="465325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20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3</a:t>
            </a:r>
            <a:r>
              <a:rPr lang="en-US" altLang="ko-KR" sz="20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. Value add_</a:t>
            </a:r>
            <a:r>
              <a:rPr lang="ko-KR" altLang="en-US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준공 전 </a:t>
            </a:r>
            <a:r>
              <a:rPr lang="en-US" altLang="ko-KR" sz="1600" b="1" spc="-30" dirty="0" smtClean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23D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Marketing plan</a:t>
            </a:r>
            <a:endParaRPr lang="en-US" altLang="ko-KR" sz="16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23D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B256668A-D346-D072-94B6-FE636C170A45}"/>
              </a:ext>
            </a:extLst>
          </p:cNvPr>
          <p:cNvSpPr/>
          <p:nvPr/>
        </p:nvSpPr>
        <p:spPr>
          <a:xfrm>
            <a:off x="5424703" y="1134540"/>
            <a:ext cx="4197898" cy="234469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  <a:gs pos="71000">
                <a:schemeClr val="accent1">
                  <a:lumMod val="45000"/>
                  <a:lumOff val="55000"/>
                </a:schemeClr>
              </a:gs>
              <a:gs pos="43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1CD4C716-CBF6-0A06-221C-A5A221D8AB05}"/>
              </a:ext>
            </a:extLst>
          </p:cNvPr>
          <p:cNvSpPr/>
          <p:nvPr/>
        </p:nvSpPr>
        <p:spPr>
          <a:xfrm>
            <a:off x="6470335" y="1618777"/>
            <a:ext cx="2155073" cy="1630583"/>
          </a:xfrm>
          <a:prstGeom prst="rect">
            <a:avLst/>
          </a:prstGeom>
          <a:gradFill flip="none" rotWithShape="1">
            <a:gsLst>
              <a:gs pos="46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  <a:gs pos="8800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0FF983B1-2A4A-D160-8D16-FA5D55593E1F}"/>
              </a:ext>
            </a:extLst>
          </p:cNvPr>
          <p:cNvSpPr txBox="1"/>
          <p:nvPr/>
        </p:nvSpPr>
        <p:spPr>
          <a:xfrm>
            <a:off x="6854730" y="1228780"/>
            <a:ext cx="1345116" cy="2923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7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schemeClr val="bg1"/>
                </a:solidFill>
              </a:rPr>
              <a:t>1</a:t>
            </a:r>
            <a:r>
              <a:rPr lang="ko-KR" altLang="en-US" sz="1300" b="1" dirty="0">
                <a:solidFill>
                  <a:schemeClr val="bg1"/>
                </a:solidFill>
              </a:rPr>
              <a:t>차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타겟 </a:t>
            </a:r>
            <a:r>
              <a:rPr lang="en-US" altLang="ko-KR" sz="1300" b="1" dirty="0">
                <a:solidFill>
                  <a:schemeClr val="bg1"/>
                </a:solidFill>
              </a:rPr>
              <a:t>5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0</a:t>
            </a:r>
            <a:r>
              <a:rPr lang="en-US" altLang="ko-KR" sz="1300" b="1" dirty="0">
                <a:solidFill>
                  <a:schemeClr val="bg1"/>
                </a:solidFill>
              </a:rPr>
              <a:t>%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1450297-7C0E-6D53-E162-AE38F858D523}"/>
              </a:ext>
            </a:extLst>
          </p:cNvPr>
          <p:cNvSpPr txBox="1"/>
          <p:nvPr/>
        </p:nvSpPr>
        <p:spPr>
          <a:xfrm>
            <a:off x="272480" y="1124744"/>
            <a:ext cx="4824535" cy="2354491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차 </a:t>
            </a:r>
            <a:r>
              <a:rPr lang="en-US" altLang="ko-KR" sz="1400" b="1" dirty="0" smtClean="0">
                <a:solidFill>
                  <a:schemeClr val="accent1">
                    <a:lumMod val="75000"/>
                  </a:schemeClr>
                </a:solidFill>
              </a:rPr>
              <a:t>TARGET (50%): </a:t>
            </a:r>
            <a:endParaRPr lang="en-US" altLang="ko-KR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상권 수요도가 높은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F&amp;B,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업무시설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스튜디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오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시설 등 外 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메디컬을 과목별로 세분화 하여 층별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임대 유치를 하거나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상호 호환성이 높은 미용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운동 등의 업체와 병행 유치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연층 임차가 가능한 시술형 메디컬 수요군도 병행 타깃</a:t>
            </a:r>
            <a:endParaRPr lang="en-US" altLang="ko-K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지리적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교통 환경 잇점으로 사옥 수요자를 병행하여 컨택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0AB62755-1B57-09C5-9B8C-258869B639A0}"/>
              </a:ext>
            </a:extLst>
          </p:cNvPr>
          <p:cNvSpPr txBox="1"/>
          <p:nvPr/>
        </p:nvSpPr>
        <p:spPr>
          <a:xfrm>
            <a:off x="278623" y="3919205"/>
            <a:ext cx="4818393" cy="2077492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</a:rPr>
              <a:t>차 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</a:rPr>
              <a:t>TARGET (30</a:t>
            </a:r>
            <a:r>
              <a:rPr lang="en-US" altLang="ko-KR" sz="1400" b="1" dirty="0" smtClean="0">
                <a:solidFill>
                  <a:schemeClr val="accent1">
                    <a:lumMod val="50000"/>
                  </a:schemeClr>
                </a:solidFill>
              </a:rPr>
              <a:t>%):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지역 거점형 개설 검토가 가능한 테넌트군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선정하여 마케팅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지사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지점 등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주요 계열 본사 외에 보험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생명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화재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상조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부동산   </a:t>
            </a:r>
            <a:endParaRPr lang="en-US" altLang="ko-K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업체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로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펌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통신사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세무 회계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법인 등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저층부는 식음과 판매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중층부는 미용과 운동시설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메디컬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b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상층부는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오피스로 임대 마켓팅을 하여 전형적인 복합 근생타워로    </a:t>
            </a:r>
            <a:endParaRPr lang="en-US" altLang="ko-K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셋팅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DB9A8BB-54F6-DF83-DD2F-356FF0D4E250}"/>
              </a:ext>
            </a:extLst>
          </p:cNvPr>
          <p:cNvSpPr txBox="1"/>
          <p:nvPr/>
        </p:nvSpPr>
        <p:spPr>
          <a:xfrm>
            <a:off x="5424702" y="3919205"/>
            <a:ext cx="4197899" cy="207749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차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TARGET </a:t>
            </a:r>
            <a:r>
              <a:rPr lang="en-US" altLang="ko-KR" sz="1400" b="1" dirty="0" smtClean="0">
                <a:solidFill>
                  <a:schemeClr val="tx2">
                    <a:lumMod val="50000"/>
                  </a:schemeClr>
                </a:solidFill>
              </a:rPr>
              <a:t>(20%): 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1) GBD, CBD, YBD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등 진출입이 용이한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교통의 요지로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오피스의 수요도에도 주목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2)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오피스 임대료 상승률이 가파른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GBD,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GBC, CBD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의 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대체제로 사옥이나 공유오피스 유치나 구성에도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대안이 가능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2288704" y="1340768"/>
            <a:ext cx="4562995" cy="0"/>
          </a:xfrm>
          <a:prstGeom prst="straightConnector1">
            <a:avLst/>
          </a:prstGeom>
          <a:ln w="158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2288704" y="1862363"/>
            <a:ext cx="4680521" cy="2267372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7527290" y="2472592"/>
            <a:ext cx="17998" cy="174849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85FBC-2750-4EB2-BEE8-FADFF901BC27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0BA06249-8F30-2B86-0A35-2058253648C0}"/>
              </a:ext>
            </a:extLst>
          </p:cNvPr>
          <p:cNvSpPr/>
          <p:nvPr/>
        </p:nvSpPr>
        <p:spPr>
          <a:xfrm>
            <a:off x="6969224" y="2129091"/>
            <a:ext cx="1176470" cy="651837"/>
          </a:xfrm>
          <a:prstGeom prst="rect">
            <a:avLst/>
          </a:prstGeom>
          <a:gradFill>
            <a:gsLst>
              <a:gs pos="58000">
                <a:srgbClr val="29486D"/>
              </a:gs>
              <a:gs pos="82000">
                <a:schemeClr val="accent1">
                  <a:lumMod val="50000"/>
                </a:schemeClr>
              </a:gs>
              <a:gs pos="47000">
                <a:schemeClr val="accent1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smtClean="0">
                <a:solidFill>
                  <a:schemeClr val="bg1"/>
                </a:solidFill>
              </a:rPr>
              <a:t>3</a:t>
            </a:r>
            <a:r>
              <a:rPr lang="ko-KR" altLang="en-US" sz="1300" b="1" dirty="0">
                <a:solidFill>
                  <a:schemeClr val="bg1"/>
                </a:solidFill>
              </a:rPr>
              <a:t>차 타겟 </a:t>
            </a:r>
            <a:endParaRPr lang="en-US" altLang="ko-KR" sz="13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C2A3DCFF-0D0A-6671-6055-9100DB69B32E}"/>
              </a:ext>
            </a:extLst>
          </p:cNvPr>
          <p:cNvSpPr txBox="1"/>
          <p:nvPr/>
        </p:nvSpPr>
        <p:spPr>
          <a:xfrm>
            <a:off x="6851699" y="1716169"/>
            <a:ext cx="1392343" cy="2923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4000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schemeClr val="bg1"/>
                </a:solidFill>
              </a:rPr>
              <a:t>2</a:t>
            </a:r>
            <a:r>
              <a:rPr lang="ko-KR" altLang="en-US" sz="1300" b="1" dirty="0">
                <a:solidFill>
                  <a:schemeClr val="bg1"/>
                </a:solidFill>
              </a:rPr>
              <a:t>차 타겟 </a:t>
            </a:r>
            <a:r>
              <a:rPr lang="en-US" altLang="ko-KR" sz="1300" b="1" dirty="0">
                <a:solidFill>
                  <a:schemeClr val="bg1"/>
                </a:solidFill>
              </a:rPr>
              <a:t>30%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7669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4938288" y="-1"/>
            <a:ext cx="4983264" cy="60636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0" y="7248"/>
            <a:ext cx="4953000" cy="6056430"/>
          </a:xfrm>
          <a:prstGeom prst="rect">
            <a:avLst/>
          </a:prstGeom>
          <a:solidFill>
            <a:srgbClr val="BF504D"/>
          </a:solidFill>
          <a:ln>
            <a:solidFill>
              <a:srgbClr val="BF50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3" name="다이어그램 12"/>
          <p:cNvGraphicFramePr/>
          <p:nvPr>
            <p:extLst>
              <p:ext uri="{D42A27DB-BD31-4B8C-83A1-F6EECF244321}">
                <p14:modId xmlns:p14="http://schemas.microsoft.com/office/powerpoint/2010/main" val="4020855092"/>
              </p:ext>
            </p:extLst>
          </p:nvPr>
        </p:nvGraphicFramePr>
        <p:xfrm>
          <a:off x="2548508" y="1556792"/>
          <a:ext cx="4852764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55633" y="3814984"/>
            <a:ext cx="27333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>
                <a:solidFill>
                  <a:srgbClr val="D95396"/>
                </a:solidFill>
                <a:latin typeface="AmeriGarmnd BT" pitchFamily="2" charset="0"/>
                <a:cs typeface="Microsoft Sans Serif" panose="020B0604020202020204" pitchFamily="34" charset="0"/>
              </a:rPr>
              <a:t>H</a:t>
            </a:r>
            <a:r>
              <a:rPr lang="en-US" altLang="ko-KR" sz="4400" b="1" dirty="0" smtClean="0">
                <a:solidFill>
                  <a:srgbClr val="FF8601"/>
                </a:solidFill>
                <a:latin typeface="AmeriGarmnd BT" pitchFamily="2" charset="0"/>
                <a:cs typeface="Microsoft Sans Serif" panose="020B0604020202020204" pitchFamily="34" charset="0"/>
              </a:rPr>
              <a:t>I</a:t>
            </a:r>
            <a:r>
              <a:rPr lang="en-US" altLang="ko-KR" sz="4400" b="1" dirty="0" smtClean="0">
                <a:solidFill>
                  <a:srgbClr val="11CD85"/>
                </a:solidFill>
                <a:latin typeface="AmeriGarmnd BT" pitchFamily="2" charset="0"/>
                <a:cs typeface="Microsoft Sans Serif" panose="020B0604020202020204" pitchFamily="34" charset="0"/>
              </a:rPr>
              <a:t>T</a:t>
            </a:r>
            <a:r>
              <a:rPr lang="en-US" altLang="ko-KR" sz="4400" dirty="0" smtClean="0">
                <a:latin typeface="AmeriGarmnd BT" pitchFamily="2" charset="0"/>
                <a:cs typeface="Microsoft Sans Serif" panose="020B0604020202020204" pitchFamily="34" charset="0"/>
              </a:rPr>
              <a:t> </a:t>
            </a:r>
          </a:p>
          <a:p>
            <a:r>
              <a:rPr lang="en-US" altLang="ko-KR" sz="4400" dirty="0" smtClean="0">
                <a:solidFill>
                  <a:schemeClr val="bg1"/>
                </a:solidFill>
                <a:latin typeface="AmeriGarmnd BT" pitchFamily="2" charset="0"/>
                <a:cs typeface="Microsoft Sans Serif" panose="020B0604020202020204" pitchFamily="34" charset="0"/>
              </a:rPr>
              <a:t>REALTY</a:t>
            </a:r>
            <a:endParaRPr lang="ko-KR" altLang="en-US" sz="4400" dirty="0">
              <a:solidFill>
                <a:schemeClr val="bg1"/>
              </a:solidFill>
              <a:latin typeface="AmeriGarmnd BT" pitchFamily="2" charset="0"/>
              <a:cs typeface="Microsoft Sans Serif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57256" y="4430312"/>
            <a:ext cx="2518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DB5397"/>
                </a:solidFill>
                <a:latin typeface="+mn-ea"/>
                <a:cs typeface="Microsoft Sans Serif" panose="020B0604020202020204" pitchFamily="34" charset="0"/>
              </a:rPr>
              <a:t>H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  <a:cs typeface="Microsoft Sans Serif" panose="020B0604020202020204" pitchFamily="34" charset="0"/>
              </a:rPr>
              <a:t>ighly</a:t>
            </a:r>
            <a:r>
              <a:rPr lang="en-US" altLang="ko-KR" dirty="0" smtClean="0">
                <a:latin typeface="+mn-ea"/>
                <a:cs typeface="Microsoft Sans Serif" panose="020B0604020202020204" pitchFamily="34" charset="0"/>
              </a:rPr>
              <a:t> </a:t>
            </a:r>
          </a:p>
          <a:p>
            <a:r>
              <a:rPr lang="en-US" altLang="ko-KR" dirty="0" smtClean="0">
                <a:solidFill>
                  <a:srgbClr val="FF8601"/>
                </a:solidFill>
                <a:latin typeface="+mn-ea"/>
                <a:cs typeface="Microsoft Sans Serif" panose="020B0604020202020204" pitchFamily="34" charset="0"/>
              </a:rPr>
              <a:t>I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  <a:cs typeface="Microsoft Sans Serif" panose="020B0604020202020204" pitchFamily="34" charset="0"/>
              </a:rPr>
              <a:t>nformation-</a:t>
            </a:r>
            <a:r>
              <a:rPr lang="en-US" altLang="ko-KR" dirty="0" smtClean="0">
                <a:solidFill>
                  <a:srgbClr val="FF8601"/>
                </a:solidFill>
                <a:latin typeface="+mn-ea"/>
                <a:cs typeface="Microsoft Sans Serif" panose="020B0604020202020204" pitchFamily="34" charset="0"/>
              </a:rPr>
              <a:t>I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  <a:cs typeface="Microsoft Sans Serif" panose="020B0604020202020204" pitchFamily="34" charset="0"/>
              </a:rPr>
              <a:t>ntensive</a:t>
            </a:r>
            <a:r>
              <a:rPr lang="en-US" altLang="ko-KR" dirty="0" smtClean="0">
                <a:latin typeface="+mn-ea"/>
                <a:cs typeface="Microsoft Sans Serif" panose="020B0604020202020204" pitchFamily="34" charset="0"/>
              </a:rPr>
              <a:t> </a:t>
            </a:r>
          </a:p>
          <a:p>
            <a:r>
              <a:rPr lang="en-US" altLang="ko-KR" dirty="0" smtClean="0">
                <a:solidFill>
                  <a:srgbClr val="12D088"/>
                </a:solidFill>
                <a:latin typeface="+mn-ea"/>
                <a:cs typeface="Microsoft Sans Serif" panose="020B0604020202020204" pitchFamily="34" charset="0"/>
              </a:rPr>
              <a:t>T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  <a:cs typeface="Microsoft Sans Serif" panose="020B0604020202020204" pitchFamily="34" charset="0"/>
              </a:rPr>
              <a:t>argeting</a:t>
            </a:r>
            <a:endParaRPr lang="ko-KR" altLang="en-US" dirty="0">
              <a:solidFill>
                <a:schemeClr val="bg1"/>
              </a:solidFill>
              <a:latin typeface="+mn-ea"/>
              <a:cs typeface="Microsoft Sans Serif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290" y="6426901"/>
            <a:ext cx="7429500" cy="3310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서울특별시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서초구 강남대로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85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길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5, 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대유빌딩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6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층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/ 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신논현역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번출구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250M, 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논현역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4</a:t>
            </a:r>
            <a:r>
              <a:rPr lang="ko-KR" altLang="en-US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번출구 </a:t>
            </a:r>
            <a:r>
              <a:rPr lang="en-US" altLang="ko-KR" sz="12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300M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158" y="5106637"/>
            <a:ext cx="344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+mj-lt"/>
                <a:ea typeface="HY수평선M" panose="02030600000101010101" pitchFamily="18" charset="-127"/>
              </a:rPr>
              <a:t>Real Estate develop &amp; Asset management</a:t>
            </a:r>
            <a:endParaRPr lang="ko-KR" altLang="en-US" sz="1200" dirty="0">
              <a:solidFill>
                <a:schemeClr val="bg1"/>
              </a:solidFill>
              <a:latin typeface="+mj-lt"/>
              <a:ea typeface="HY수평선M" panose="02030600000101010101" pitchFamily="18" charset="-127"/>
            </a:endParaRPr>
          </a:p>
        </p:txBody>
      </p:sp>
      <p:pic>
        <p:nvPicPr>
          <p:cNvPr id="2050" name="Picture 2" descr="C:\Users\User\Desktop\js로고,명함,약도,광고시안\Capture_2025_1210_140948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48" y="6234740"/>
            <a:ext cx="188692" cy="25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6656" y="397113"/>
            <a:ext cx="5623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 smtClean="0">
                <a:solidFill>
                  <a:schemeClr val="bg1"/>
                </a:solidFill>
              </a:rPr>
              <a:t>THANK YOU!!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0202" y="6110927"/>
            <a:ext cx="943135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/>
                <a:cs typeface="Tahoma" panose="020B0604030504040204" pitchFamily="34" charset="0"/>
              </a:rPr>
              <a:t>히트리얼티 부동산중개  대표</a:t>
            </a:r>
            <a:r>
              <a:rPr lang="en-US" altLang="ko-KR" sz="1400" b="1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/>
                <a:cs typeface="Tahoma" panose="020B0604030504040204" pitchFamily="34" charset="0"/>
              </a:rPr>
              <a:t>: </a:t>
            </a:r>
            <a:r>
              <a:rPr lang="ko-KR" altLang="en-US" sz="1400" b="1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/>
                <a:cs typeface="Tahoma" panose="020B0604030504040204" pitchFamily="34" charset="0"/>
              </a:rPr>
              <a:t>이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/>
                <a:cs typeface="Tahoma" panose="020B0604030504040204" pitchFamily="34" charset="0"/>
              </a:rPr>
              <a:t>석  </a:t>
            </a:r>
            <a:r>
              <a:rPr lang="en-US" altLang="ko-KR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M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: 010 6654 6657 </a:t>
            </a:r>
            <a:r>
              <a:rPr lang="en-US" altLang="ko-KR" sz="1400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 T: 02 590 6031 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ⓔ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 panose="020B0600000101010101" pitchFamily="50" charset="-127"/>
                <a:cs typeface="Tahoma" panose="020B0604030504040204" pitchFamily="34" charset="0"/>
              </a:rPr>
              <a:t>: khan5614@naver.com</a:t>
            </a:r>
            <a:r>
              <a:rPr lang="ko-KR" altLang="en-US" sz="1400" b="1" dirty="0" smtClean="0">
                <a:solidFill>
                  <a:schemeClr val="tx2">
                    <a:lumMod val="50000"/>
                  </a:schemeClr>
                </a:solidFill>
                <a:latin typeface="NaviUpdaterHyundai Regular" panose="020B0600000101010101" pitchFamily="50" charset="-127"/>
                <a:ea typeface="NaviUpdaterHyundai Regular"/>
                <a:cs typeface="Tahoma" panose="020B0604030504040204" pitchFamily="34" charset="0"/>
              </a:rPr>
              <a:t>  </a:t>
            </a:r>
            <a:endParaRPr lang="en-US" altLang="ko-KR" sz="1400" b="1" dirty="0" smtClean="0">
              <a:solidFill>
                <a:schemeClr val="tx2">
                  <a:lumMod val="50000"/>
                </a:schemeClr>
              </a:solidFill>
              <a:latin typeface="NaviUpdaterHyundai Regular" panose="020B0600000101010101" pitchFamily="50" charset="-127"/>
              <a:ea typeface="NaviUpdaterHyundai Regular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2938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14863</TotalTime>
  <Words>1441</Words>
  <Application>Microsoft Office PowerPoint</Application>
  <PresentationFormat>A4 용지(210x297mm)</PresentationFormat>
  <Paragraphs>469</Paragraphs>
  <Slides>19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 석(seok lee)</dc:creator>
  <cp:lastModifiedBy>lee seok</cp:lastModifiedBy>
  <cp:revision>1702</cp:revision>
  <cp:lastPrinted>2025-11-25T05:17:58Z</cp:lastPrinted>
  <dcterms:created xsi:type="dcterms:W3CDTF">2015-08-21T07:23:47Z</dcterms:created>
  <dcterms:modified xsi:type="dcterms:W3CDTF">2026-05-29T03:27:09Z</dcterms:modified>
</cp:coreProperties>
</file>