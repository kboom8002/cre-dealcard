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2A2118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731520"/>
            <a:ext cx="2926080" cy="2377440"/>
          </a:xfrm>
          <a:prstGeom prst="rect">
            <a:avLst/>
          </a:prstGeom>
          <a:solidFill>
            <a:srgbClr val="3D2E1A"/>
          </a:solidFill>
          <a:ln/>
        </p:spPr>
      </p:sp>
      <p:sp>
        <p:nvSpPr>
          <p:cNvPr id="4" name="Shape 2"/>
          <p:cNvSpPr/>
          <p:nvPr/>
        </p:nvSpPr>
        <p:spPr>
          <a:xfrm>
            <a:off x="8138160" y="3657600"/>
            <a:ext cx="3474720" cy="2560320"/>
          </a:xfrm>
          <a:prstGeom prst="rect">
            <a:avLst/>
          </a:prstGeom>
          <a:solidFill>
            <a:srgbClr val="33271A"/>
          </a:solidFill>
          <a:ln/>
        </p:spPr>
      </p:sp>
      <p:sp>
        <p:nvSpPr>
          <p:cNvPr id="5" name="Shape 3"/>
          <p:cNvSpPr/>
          <p:nvPr/>
        </p:nvSpPr>
        <p:spPr>
          <a:xfrm>
            <a:off x="8503920" y="365760"/>
            <a:ext cx="0" cy="6126480"/>
          </a:xfrm>
          <a:prstGeom prst="line">
            <a:avLst/>
          </a:prstGeom>
          <a:noFill/>
          <a:ln w="1016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0"/>
            <a:ext cx="4419295" cy="685800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 rot="120000">
            <a:off x="8412480" y="548640"/>
            <a:ext cx="3291840" cy="5760720"/>
          </a:xfrm>
          <a:prstGeom prst="rect">
            <a:avLst/>
          </a:prstGeom>
          <a:solidFill>
            <a:srgbClr val="0F172A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강남구 역삼동 근생빌딩 (임대수익형)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빌딩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150억원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4F6A00"/>
          </a:solidFill>
          <a:ln w="12700">
            <a:solidFill>
              <a:srgbClr val="6B8E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150억원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66928" y="786384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김태호 수석전문위원  |  CREDEAL 프라임 파트너스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188720"/>
            <a:ext cx="1105783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강남구 역삼동 123-45 역삼프라임타워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169164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 희망가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150억원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37710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4170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실투자금(내 돈)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54170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약 65억 원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87288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1880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순수익률(Cap Rate)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1880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5.27%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997467" y="196596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62059" y="209397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자기자본수익률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62059" y="227685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7.15%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66928" y="35021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3831336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941064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3941064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07008" y="3904488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원금 안전판: 핵심권역 핵심 입지 및 우량 대지 지분 가치로 하방 경직성 확보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4526280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636008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6656" y="4636008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207008" y="4599432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 안정성: 매매 시장 적정가 수준 대비 안정적 월 임대수익 창출 기반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22122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76656" y="533095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8F5CC"/>
          </a:solidFill>
          <a:ln w="6350">
            <a:solidFill>
              <a:srgbClr val="A3D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533095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07008" y="529437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미래 가치: 향후 권역 지가 상승 및 공법상 밸류업을 통한 자본이득 실현 가능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상권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권역 핵심 입지 및 대중교통 접근성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교통 접근성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지하철역 도보 5분 이내 초역세권 입지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도로망 조건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간선도로 직결로 차량 진출입 및 가시성 우수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배후 수요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업무지구 및 상업지구 유동인구 풍부한 핵심 상권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매물정보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개요 및 물리 스펙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서울시 강남구 역삼동 123-45 역삼프라임타워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150억원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520㎡ (약 157평)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3,200㎡ (약 968평)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58.2% / 용적률: 385.5%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층수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지하1층 ~ 지상8층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2015년 3월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일반상업지역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66928" y="486460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486460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주구조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172968" y="486460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6B8E0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84287" y="1645920"/>
            <a:ext cx="3840480" cy="1645920"/>
          </a:xfrm>
          <a:prstGeom prst="roundRect">
            <a:avLst>
              <a:gd name="adj" fmla="val 3333"/>
            </a:avLst>
          </a:prstGeom>
          <a:solidFill>
            <a:srgbClr val="E8F5CC"/>
          </a:solidFill>
          <a:ln/>
        </p:spPr>
      </p:sp>
      <p:sp>
        <p:nvSpPr>
          <p:cNvPr id="34" name="Shape 32"/>
          <p:cNvSpPr/>
          <p:nvPr/>
        </p:nvSpPr>
        <p:spPr>
          <a:xfrm>
            <a:off x="7784287" y="1700784"/>
            <a:ext cx="36576" cy="1536192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35" name="Text 33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67167" y="1975104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물건: 서울시 강남구 역삼동 123-45 역삼프라임타워</a:t>
            </a:r>
            <a:endParaRPr lang="en-US" sz="930" dirty="0"/>
          </a:p>
        </p:txBody>
      </p:sp>
      <p:sp>
        <p:nvSpPr>
          <p:cNvPr id="37" name="Text 3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64592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- 1F 스타벅스코리아주식회사강남역삼로점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68907" y="164592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5억, 월세 2,200만, 만기 2028.06 (잔여 WALE 안정)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04825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04825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- 2F 한국프랜차이즈산업협회서울지회사무소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8907" y="204825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3억, 월세 1,100만, 만기 2027.12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245059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45059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- 3-4F (주)디지털솔루션파트너스코리아남부지사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68907" y="245059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4억, 월세 1,800만, 만기 2029.03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2852928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852928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- 5F 법무법인(유한)정의와공정서울제2사무소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68907" y="2852928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2억, 월세 950만, 만기 2027.08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3255264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255264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- 6F 하나생명보험주식회사강남영업본부지점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68907" y="3255264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2.5억, 월세 1,050만, 만기 2028.09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66928" y="3657600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57600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7F 현재 공실 (전 임차인 원상복구 완료)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8907" y="3657600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66928" y="4059936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059936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- 8F (주)에이아이테크놀로지코리아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68907" y="4059936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보증금 1.5억, 월세 800만, 만기 2028.11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66928" y="4462272"/>
            <a:ext cx="110578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462272"/>
            <a:ext cx="420197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 주차장 (자주식 25대)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768907" y="4462272"/>
            <a:ext cx="68558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수익분석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11057839" cy="0"/>
          </a:xfrm>
          <a:prstGeom prst="line">
            <a:avLst/>
          </a:prstGeom>
          <a:noFill/>
          <a:ln w="19050">
            <a:solidFill>
              <a:srgbClr val="6B8E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645920"/>
            <a:ext cx="11057839" cy="1280160"/>
          </a:xfrm>
          <a:prstGeom prst="roundRect">
            <a:avLst>
              <a:gd name="adj" fmla="val 4286"/>
            </a:avLst>
          </a:prstGeom>
          <a:solidFill>
            <a:srgbClr val="DBEAFE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700784"/>
            <a:ext cx="36576" cy="117043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1755648"/>
            <a:ext cx="1072865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투자 가치 제안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1975104"/>
            <a:ext cx="10728655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입지 경쟁력과 견고한 펀더멘털을 바탕으로 안정적인 현금흐름 창출과 중장기 자산 가치 상승을 동시에 실현할 수 있는 우량 투자 기회입니다.</a:t>
            </a:r>
            <a:endParaRPr lang="en-US" sz="930" dirty="0"/>
          </a:p>
        </p:txBody>
      </p:sp>
      <p:sp>
        <p:nvSpPr>
          <p:cNvPr id="10" name="Text 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리스크체크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1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95528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안전: 정밀안전진단 A등급,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 안전: 정밀안전진단 A등급, 내진설계 적용 (1등급)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833360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3360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2833360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Text 12"/>
          <p:cNvSpPr/>
          <p:nvPr/>
        </p:nvSpPr>
        <p:spPr>
          <a:xfrm>
            <a:off x="3061960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061960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안정: 주요 임차인 신용등급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061960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안정: 주요 임차인 신용등급 AA급, WALE 2.8년으로 양호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99792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99792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5099792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0" name="Text 18"/>
          <p:cNvSpPr/>
          <p:nvPr/>
        </p:nvSpPr>
        <p:spPr>
          <a:xfrm>
            <a:off x="5328392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328392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권리관계: 근저당 설정액 50억 (K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328392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권리관계: 근저당 설정액 50억 (KB국민은행), 가압류/가처분 없음, 권리관계 투명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66224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366224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7366224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6" name="Text 24"/>
          <p:cNvSpPr/>
          <p:nvPr/>
        </p:nvSpPr>
        <p:spPr>
          <a:xfrm>
            <a:off x="7594824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4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594824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7F 공실 이미 원상복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594824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명도 리스크: 7F 공실 이미 원상복구 완료, 현재 임차인 전원 명도 분쟁 이력 없음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9632655" y="1417320"/>
            <a:ext cx="1992112" cy="361188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632655" y="1417320"/>
            <a:ext cx="1992112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1" name="Shape 29"/>
          <p:cNvSpPr/>
          <p:nvPr/>
        </p:nvSpPr>
        <p:spPr>
          <a:xfrm>
            <a:off x="9632655" y="1417320"/>
            <a:ext cx="1992112" cy="4572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2" name="Text 30"/>
          <p:cNvSpPr/>
          <p:nvPr/>
        </p:nvSpPr>
        <p:spPr>
          <a:xfrm>
            <a:off x="9861255" y="1618488"/>
            <a:ext cx="1534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영역 5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861255" y="1911096"/>
            <a:ext cx="1534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리스크: 승강기 2기 2024년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861255" y="2377440"/>
            <a:ext cx="15349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설비 리스크: 승강기 2기 2024년 점검 완료, 냉난방 EHP 2022년 교체, 설비 양호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포인트 및 벤치마크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2588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32588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9552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[교통] 강남역 도보 5분 프라임 입지, 테헤란로 접근성 우수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5528" y="185623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[교통] 강남역 도보 5분 프라임 입지, 테헤란로 접근성 우수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55868" y="132588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55868" y="132588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84468" y="150876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14" name="Text 12"/>
          <p:cNvSpPr/>
          <p:nvPr/>
        </p:nvSpPr>
        <p:spPr>
          <a:xfrm>
            <a:off x="6484468" y="150876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87388" y="149047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신논현역세권 개발 호재로 중장기 시세 상승 기대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84468" y="185623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[성장] 신논현역세권 개발 호재로 중장기 시세 상승 기대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" y="272034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72034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9" name="Shape 17"/>
          <p:cNvSpPr/>
          <p:nvPr/>
        </p:nvSpPr>
        <p:spPr>
          <a:xfrm>
            <a:off x="795528" y="29032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" y="29032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98448" y="28849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연 순수익률 5.27% — 인근 유사매물 대비 약 40bp 우위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95528" y="325069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[수익] 연 순수익률 5.27% — 인근 유사매물 대비 약 40bp 우위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55868" y="2720340"/>
            <a:ext cx="5368900" cy="1165860"/>
          </a:xfrm>
          <a:prstGeom prst="roundRect">
            <a:avLst>
              <a:gd name="adj" fmla="val 6275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55868" y="2720340"/>
            <a:ext cx="54864" cy="1165860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5" name="Shape 23"/>
          <p:cNvSpPr/>
          <p:nvPr/>
        </p:nvSpPr>
        <p:spPr>
          <a:xfrm>
            <a:off x="6484468" y="290322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A3D900"/>
          </a:solidFill>
          <a:ln/>
        </p:spPr>
      </p:sp>
      <p:sp>
        <p:nvSpPr>
          <p:cNvPr id="26" name="Text 24"/>
          <p:cNvSpPr/>
          <p:nvPr/>
        </p:nvSpPr>
        <p:spPr>
          <a:xfrm>
            <a:off x="6484468" y="2903220"/>
            <a:ext cx="4206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F6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87388" y="2884932"/>
            <a:ext cx="44087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[임대] 주요 임차인 WALE 2.8년으로 안정적 현금흐름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484468" y="3250692"/>
            <a:ext cx="491170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[임대] 주요 임차인 WALE 2.8년으로 안정적 현금흐름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23360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211568"/>
                <a:gridCol w="2211568"/>
                <a:gridCol w="2211568"/>
                <a:gridCol w="2211568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매물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인근A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인근B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평가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Cap </a:t>
                      </a:r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Rate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5.27%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4.85%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5.10%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공실률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12.5%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15%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8%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WALE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2.8년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2.1년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3.5년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★★★★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566928" y="5522976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8F5CC"/>
          </a:solidFill>
          <a:ln w="10160">
            <a:solidFill>
              <a:srgbClr val="A3D90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49808" y="563270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F6A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2487168" y="5596128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자산은 우수한 권역 입지 경쟁력과 견고한 펀더멘털을 기반으로 중장기 자산 가치 상승 및 안정적인 현금흐름을 동시에 실현할 수 있는 전략적 투자 기회입니다.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매각절차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비밀유지약정(NDA) 체결 및 자료 열람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485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228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28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14" name="Shape 12"/>
          <p:cNvSpPr/>
          <p:nvPr/>
        </p:nvSpPr>
        <p:spPr>
          <a:xfrm>
            <a:off x="36422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422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422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의향서(LOI) 제출 및 매도자 검토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6422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04408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78728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728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8184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98184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98184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실사(Due Diligence) 진행 — 법률·물리·환경·재무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98184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860307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34627" y="1572768"/>
            <a:ext cx="2490140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34627" y="1572768"/>
            <a:ext cx="2490140" cy="36576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28" name="Shape 26"/>
          <p:cNvSpPr/>
          <p:nvPr/>
        </p:nvSpPr>
        <p:spPr>
          <a:xfrm>
            <a:off x="9354083" y="1792224"/>
            <a:ext cx="384048" cy="384048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29" name="Text 27"/>
          <p:cNvSpPr/>
          <p:nvPr/>
        </p:nvSpPr>
        <p:spPr>
          <a:xfrm>
            <a:off x="9354083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354083" y="2304288"/>
            <a:ext cx="20512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매매계약(SPA) 체결 및 잔금 정산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354083" y="2761488"/>
            <a:ext cx="205122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6B8E00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8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Disclaimer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8E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6B8E00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4F6A00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F5C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CREDEAL 프라임 파트너스 · 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6B8E0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2026-08-23T00:37:32Z</dcterms:created>
  <dcterms:modified xsi:type="dcterms:W3CDTF">2026-08-23T00:37:32Z</dcterms:modified>
</cp:coreProperties>
</file>