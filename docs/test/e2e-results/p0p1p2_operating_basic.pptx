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중구 을지로 비즈니스호텔 (운영형)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320억원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320억원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김태호 수석전문위원  |  CREDEAL 프라임 파트너스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중구 을지로3가 을지로비즈니스호텔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320억원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실질 GOP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7.9억 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320억원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680㎡ (약 206평)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5,800㎡ (약 1,754평)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37710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170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객실수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4170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148실 (스탠다드 98실, 디럭스 38실, 스위트 12실)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" y="49011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523036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534009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53400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530352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원금 안전판: 핵심권역 핵심 입지 및 우량 대지 지분 가치로 하방 경직성 확보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핵심 입지 및 대중교통 접근성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지하철역 도보 5분 이내 초역세권 입지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 조건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간선도로 직결로 차량 진출입 및 가시성 우수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업무지구 및 상업지구 유동인구 풍부한 핵심 상권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매물정보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중구 을지로3가 을지로비즈니스호텔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320억원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680㎡ (약 206평)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5,800㎡ (약 1,754평)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148실 (스탠다드 98실, 디럭스 38실, 스위트 12실)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6월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숙박시설 (관광호텔업)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8F5CC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중구 을지로3가 을지로비즈니스호텔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KPI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운영현황 (KPI)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가동률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103474" y="1417320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78.5% (2025년 실적)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837944"/>
            <a:ext cx="667512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37944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ADR (평균객실단가)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03474" y="1837944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14.2만원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258568"/>
            <a:ext cx="667512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58568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RevPAR (객실당수익)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03474" y="2258568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11.1만원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2679192"/>
            <a:ext cx="667512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679192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객실매출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03474" y="2679192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60억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099816"/>
            <a:ext cx="667512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99816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F&amp;B 매출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03474" y="3099816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8.2억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3520440"/>
            <a:ext cx="667512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520440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기타매출(부대시설)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103474" y="3520440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3.1억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3941064"/>
            <a:ext cx="667512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941064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총매출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103474" y="3941064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71.3억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4754880"/>
            <a:ext cx="6675120" cy="1234440"/>
          </a:xfrm>
          <a:prstGeom prst="roundRect">
            <a:avLst>
              <a:gd name="adj" fmla="val 4444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4809744"/>
            <a:ext cx="36576" cy="11247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864608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안정성 진단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" y="508406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대기업 장기 책임임차(Master Lease) 및 첨단 설비 스펙을 바탕으로 공실 리스크 없는 안정적인 운영 성과를 확보하고 있습니다.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42492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07808" y="1536192"/>
            <a:ext cx="4016959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1664208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가동률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72400" y="1847088"/>
            <a:ext cx="36877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78.5% (2025년 실적)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07808" y="3044952"/>
            <a:ext cx="4016959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3172968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ADR (평균객실단가)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72400" y="3355848"/>
            <a:ext cx="36877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14.2만원</a:t>
            </a:r>
            <a:endParaRPr lang="en-US" sz="2500" dirty="0"/>
          </a:p>
        </p:txBody>
      </p:sp>
      <p:sp>
        <p:nvSpPr>
          <p:cNvPr id="36" name="Shape 34"/>
          <p:cNvSpPr/>
          <p:nvPr/>
        </p:nvSpPr>
        <p:spPr>
          <a:xfrm>
            <a:off x="7607808" y="4553712"/>
            <a:ext cx="4016959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4681728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RevPAR (객실당수익)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72400" y="4864608"/>
            <a:ext cx="36877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11.1만원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Revenue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GOP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리스크체크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인력 리스크: 호텔 서비스 인력 수급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인력 리스크: 호텔 서비스 인력 수급 경쟁 심화, 최저임금 연 5%+ 상승 추세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3360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3360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3360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3061960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1960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리스크: 을지로권 신규 호텔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1960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리스크: 을지로권 신규 호텔 2건 2027년 개장 예정, 공급 과잉 주의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99792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9792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099792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28392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28392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리스크: 객실 인테리어 리노베이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28392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리스크: 객실 인테리어 리노베이션 주기 7년 (2025년 예정), 약 15억 소요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6224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6224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66224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Text 24"/>
          <p:cNvSpPr/>
          <p:nvPr/>
        </p:nvSpPr>
        <p:spPr>
          <a:xfrm>
            <a:off x="7594824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94824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계절성 리스크: 여름(7-8월) 성수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94824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계절성 리스크: 여름(7-8월) 성수기 가동률 92% vs 겨울(1-2월) 비수기 58%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32655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2655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632655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2" name="Text 30"/>
          <p:cNvSpPr/>
          <p:nvPr/>
        </p:nvSpPr>
        <p:spPr>
          <a:xfrm>
            <a:off x="9861255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61255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리스크: 현 위탁운영사 계약 2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61255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리스크: 현 위탁운영사 계약 2027년 만료, 재계약 조건 협상 필요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및 벤치마크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2588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844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[건물] 명동·을지로 핵심 관광특구 내 148실 비즈니스 호텔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" y="185623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[건물] 명동·을지로 핵심 관광특구 내 148실 비즈니스 호텔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5868" y="132588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5868" y="132588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8446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8446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8738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[수익] 연간 실질 영업이익 (GOP) 28.1억 원, GOP 마진 39.4%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84468" y="185623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[수익] 연간 실질 영업이익 (GOP) 28.1억 원, GOP 마진 39.4%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17754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17754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" y="33604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33604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98448" y="33421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[성장] 연간 가동률 78.5%, RevPAR 11.1만 원 우수한 운영 지표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" y="370789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[성장] 연간 가동률 78.5%, RevPAR 11.1만 원 우수한 운영 지표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55868" y="317754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5868" y="317754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4468" y="33604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84468" y="33604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87388" y="33421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[전략] 전문 위탁운영사 승계로 매입 직후 무중단 수익 창출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84468" y="370789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[전략] 전문 위탁운영사 승계로 매입 직후 무중단 수익 창출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98348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0932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87168" y="505663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권역 입지 경쟁력과 견고한 펀더멘털을 기반으로 중장기 자산 가치 상승 및 안정적인 현금흐름을 동시에 실현할 수 있는 전략적 투자 기회입니다.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매각절차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 및 운영 실적 자료 열람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22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422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LOI 제출 (운영 계획 포함)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81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81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— 재무/운영/시설/법률/환경 실사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627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4627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54083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083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(운영권 양수도 포함)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2026-08-23T00:37:32Z</dcterms:created>
  <dcterms:modified xsi:type="dcterms:W3CDTF">2026-08-23T00:37:32Z</dcterms:modified>
</cp:coreProperties>
</file>