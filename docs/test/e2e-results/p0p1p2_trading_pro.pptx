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6B8E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 rot="120000">
            <a:off x="8412480" y="548640"/>
            <a:ext cx="3291840" cy="5760720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성동구 성수동 밸류업 오피스 (단기매매형)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빌딩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3584448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584448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빌딩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20240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1920240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95억원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4F6A00"/>
          </a:solidFill>
          <a:ln w="12700">
            <a:solidFill>
              <a:srgbClr val="6B8E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F5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95억원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66928" y="7863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프라임 파트너스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김태호 수석전문위원  |  CREDEAL 프라임 파트너스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물건: 서울시 성동구 성수동2가 성수밸류스퀘어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6B8E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95억원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7710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170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매매가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4170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95억원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18728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188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5188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380㎡ (약 115평)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997467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62059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62059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1,520㎡ (약 460평)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66928" y="34290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5570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층수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31520" y="37398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지하1층~지상5층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66928" y="49011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66928" y="5230368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6656" y="5340096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8F5C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" y="534009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07008" y="5303520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원금 안전판: 핵심권역 핵심 입지 및 우량 대지 지분 가치로 하방 경직성 확보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2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상권 분석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권역 핵심 입지 및 대중교통 접근성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53328" y="180136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 접근성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70475" y="180136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지하철역 도보 5분 이내 초역세권 입지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53328" y="229514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도로망 조건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170475" y="229514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간선도로 직결로 차량 진출입 및 가시성 우수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53328" y="278892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53328" y="2788920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배후 수요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170475" y="2788920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업무지구 및 상업지구 유동인구 풍부한 핵심 상권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3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Land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6858000" cy="1828800"/>
          </a:xfrm>
          <a:prstGeom prst="roundRect">
            <a:avLst>
              <a:gd name="adj" fmla="val 3000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700784"/>
            <a:ext cx="36576" cy="171907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75564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물리 스펙 요약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1975104"/>
            <a:ext cx="652881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제원은 실사 자료를 참조하시기 바랍니다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현황 및 규모는 첨부 대장을 기준으로 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상태 및 설비 현황은 실사 보고서를 참조하십시오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및 건물 분석 포인트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및 교통 여건은 현장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제원은 실사 자료를 참조하시기 바랍니다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현황 및 규모는 첨부 대장을 기준으로 합니다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DBE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실사 및 관리 상태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상태 및 설비 현황은 실사 보고서를 참조하십시오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자금 조달 및 대출 조건은 금융 자문 후 확정됩니다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실사 단계에서 구체적인 계약 조건 및 세무 검토가 진행됩니다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4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Building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매물정보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서울시 성동구 성수동2가 성수밸류스퀘어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95억원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380㎡ (약 115평)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1,520㎡ (약 460평)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층수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지하1층~지상5층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365760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6576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72968" y="365760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2008년 (리모델링: 2023년)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66928" y="405993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05993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172968" y="405993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근린생활시설+업무시설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66928" y="446227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446227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172968" y="446227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준공업지역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84287" y="1645920"/>
            <a:ext cx="3840480" cy="1645920"/>
          </a:xfrm>
          <a:prstGeom prst="roundRect">
            <a:avLst>
              <a:gd name="adj" fmla="val 3333"/>
            </a:avLst>
          </a:prstGeom>
          <a:solidFill>
            <a:srgbClr val="E8F5CC"/>
          </a:solidFill>
          <a:ln/>
        </p:spPr>
      </p:sp>
      <p:sp>
        <p:nvSpPr>
          <p:cNvPr id="31" name="Shape 29"/>
          <p:cNvSpPr/>
          <p:nvPr/>
        </p:nvSpPr>
        <p:spPr>
          <a:xfrm>
            <a:off x="7784287" y="1700784"/>
            <a:ext cx="36576" cy="1536192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32" name="Text 30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967167" y="1975104"/>
            <a:ext cx="351129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물건: 서울시 성동구 성수동2가 성수밸류스퀘어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5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Comps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비교매물 분석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1842973"/>
                <a:gridCol w="1842973"/>
                <a:gridCol w="1842973"/>
                <a:gridCol w="1842973"/>
                <a:gridCol w="1842973"/>
                <a:gridCol w="1842973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물건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연면적(평)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평당가(만)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Cap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Rate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본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성수동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460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2,065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6.8%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리모델링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완료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성수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A오피스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성수동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380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3,100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4.2%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신축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성수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B빌딩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성수동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520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2,450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5.5%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뚝섬역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C빌딩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성수동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410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2,800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4.8%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리모델링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서울숲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D오피스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성수동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350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3,300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3.9%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신축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Trend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거래동향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25880"/>
            <a:ext cx="11057839" cy="0"/>
          </a:xfrm>
          <a:prstGeom prst="line">
            <a:avLst/>
          </a:prstGeom>
          <a:noFill/>
          <a:ln w="19050">
            <a:solidFill>
              <a:srgbClr val="6B8E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5448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8249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매물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1865376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성수동 2가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2231136"/>
            <a:ext cx="3247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460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307738" y="155448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2330" y="168249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성수 A오피스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72330" y="1865376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성수동 1가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72330" y="2231136"/>
            <a:ext cx="3247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380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8048549" y="155448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13141" y="168249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성수 B빌딩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13141" y="1865376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성수동 2가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213141" y="2231136"/>
            <a:ext cx="3247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520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566928" y="2907792"/>
            <a:ext cx="3576218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03580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뚝섬역 C빌딩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31520" y="3218688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성수동 1가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1520" y="3584448"/>
            <a:ext cx="3247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410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4307738" y="2907792"/>
            <a:ext cx="3576218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72330" y="303580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서울숲 D오피스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472330" y="3218688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성수동 2가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472330" y="3584448"/>
            <a:ext cx="3247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350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566928" y="4215384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27" name="Shape 25"/>
          <p:cNvSpPr/>
          <p:nvPr/>
        </p:nvSpPr>
        <p:spPr>
          <a:xfrm>
            <a:off x="566928" y="4270248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" y="4325112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가치 제안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49808" y="4544568"/>
            <a:ext cx="1072865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우수한 입지 경쟁력과 견고한 펀더멘털을 바탕으로 안정적인 현금흐름 창출과 중장기 자산 가치 상승을 동시에 실현할 수 있는 우량 투자 기회입니다.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7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Turnover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권역 회전율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성수동 오피스 평균 시세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평당 2,800만~3,200만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매물 평당가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2,065만 (연면적 기준)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리모델링 후 공실률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0% (만실)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신축 대비 약 25% 할인 → 캡레이트 갭 존재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신축 대비 약 25% 할인 → 캡레이트 갭 존재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19" name="Shape 17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0" name="Text 18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및 건물 분석 포인트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및 교통 여건은 현장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제원은 실사 자료를 참조하시기 바랍니다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현황 및 규모는 첨부 대장을 기준으로 합니다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DBEAFE"/>
          </a:solidFill>
          <a:ln/>
        </p:spPr>
      </p:sp>
      <p:sp>
        <p:nvSpPr>
          <p:cNvPr id="23" name="Shape 21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4" name="Text 22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실사 및 관리 상태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상태 및 설비 현황은 실사 보고서를 참조하십시오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자금 조달 및 대출 조건은 금융 자문 후 확정됩니다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실사 단계에서 구체적인 계약 조건 및 세무 검토가 진행됩니다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8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Price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적정 가격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매물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성수동 2가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성수 A오피스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성수동 1가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성수 B빌딩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성수동 2가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뚝섬역 C빌딩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성수동 1가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서울숲 D오피스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성수동 2가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22" name="Shape 20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3" name="Text 21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및 건물 분석 포인트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및 교통 여건은 현장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제원은 실사 자료를 참조하시기 바랍니다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현황 및 규모는 첨부 대장을 기준으로 합니다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DBEAFE"/>
          </a:solidFill>
          <a:ln/>
        </p:spPr>
      </p:sp>
      <p:sp>
        <p:nvSpPr>
          <p:cNvPr id="26" name="Shape 24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7" name="Text 25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실사 및 관리 상태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상태 및 설비 현황은 실사 보고서를 참조하십시오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자금 조달 및 대출 조건은 금융 자문 후 확정됩니다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실사 단계에서 구체적인 계약 조건 및 세무 검토가 진행됩니다</a:t>
            </a:r>
            <a:endParaRPr lang="en-US" sz="930" dirty="0"/>
          </a:p>
        </p:txBody>
      </p:sp>
      <p:sp>
        <p:nvSpPr>
          <p:cNvPr id="29" name="Text 27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9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Thesis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포인트 및 벤치마크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25880"/>
            <a:ext cx="5368900" cy="1165860"/>
          </a:xfrm>
          <a:prstGeom prst="roundRect">
            <a:avLst>
              <a:gd name="adj" fmla="val 6275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25880"/>
            <a:ext cx="54864" cy="11658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0876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50876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98448" y="1490472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성수 핵심 상권 리모델링 완료 자산 — 밸류업 프리미엄 미반영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95528" y="1856232"/>
            <a:ext cx="491170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성수 핵심 상권 리모델링 완료 자산 — 밸류업 프리미엄 미반영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55868" y="1325880"/>
            <a:ext cx="5368900" cy="1165860"/>
          </a:xfrm>
          <a:prstGeom prst="roundRect">
            <a:avLst>
              <a:gd name="adj" fmla="val 6275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55868" y="1325880"/>
            <a:ext cx="54864" cy="11658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484468" y="150876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14" name="Text 12"/>
          <p:cNvSpPr/>
          <p:nvPr/>
        </p:nvSpPr>
        <p:spPr>
          <a:xfrm>
            <a:off x="6484468" y="150876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87388" y="1490472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평당 2,065만 vs 인근 신축 3,100만 → 약 33% 가격 갭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84468" y="1856232"/>
            <a:ext cx="491170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평당 2,065만 vs 인근 신축 3,100만 → 약 33% 가격 갭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2720340"/>
            <a:ext cx="5368900" cy="1165860"/>
          </a:xfrm>
          <a:prstGeom prst="roundRect">
            <a:avLst>
              <a:gd name="adj" fmla="val 6275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2720340"/>
            <a:ext cx="54864" cy="11658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9" name="Shape 17"/>
          <p:cNvSpPr/>
          <p:nvPr/>
        </p:nvSpPr>
        <p:spPr>
          <a:xfrm>
            <a:off x="795528" y="290322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20" name="Text 18"/>
          <p:cNvSpPr/>
          <p:nvPr/>
        </p:nvSpPr>
        <p:spPr>
          <a:xfrm>
            <a:off x="795528" y="290322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98448" y="2884932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만실 운영 중, 연 수익률 6.8% (인근 평균 4.5% 대비 +230bp)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95528" y="3250692"/>
            <a:ext cx="491170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만실 운영 중, 연 수익률 6.8% (인근 평균 4.5% 대비 +230bp)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55868" y="2720340"/>
            <a:ext cx="5368900" cy="1165860"/>
          </a:xfrm>
          <a:prstGeom prst="roundRect">
            <a:avLst>
              <a:gd name="adj" fmla="val 6275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55868" y="2720340"/>
            <a:ext cx="54864" cy="11658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484468" y="290322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26" name="Text 24"/>
          <p:cNvSpPr/>
          <p:nvPr/>
        </p:nvSpPr>
        <p:spPr>
          <a:xfrm>
            <a:off x="6484468" y="290322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87388" y="2884932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성수 전략정비지구 지정 기대 → 중장기 토지가치 상승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84468" y="3250692"/>
            <a:ext cx="491170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성수 전략정비지구 지정 기대 → 중장기 토지가치 상승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023360"/>
          <a:ext cx="11057839" cy="914400"/>
        </p:xfrm>
        <a:graphic>
          <a:graphicData uri="http://schemas.openxmlformats.org/drawingml/2006/table">
            <a:tbl>
              <a:tblPr/>
              <a:tblGrid>
                <a:gridCol w="2764460"/>
                <a:gridCol w="2764460"/>
                <a:gridCol w="2764460"/>
                <a:gridCol w="27644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본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매물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권역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평균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평가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가격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매력도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★★★★★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최우수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수익성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★★★★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★★★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우수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입지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★★★★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★★★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우수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566928" y="5522976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E8F5CC"/>
          </a:solidFill>
          <a:ln w="10160">
            <a:solidFill>
              <a:srgbClr val="A3D90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49808" y="563270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2487168" y="5596128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우수한 권역 입지 경쟁력과 견고한 펀더멘털을 기반으로 중장기 자산 가치 상승 및 안정적인 현금흐름을 동시에 실현할 수 있는 전략적 투자 기회입니다.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10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리스크체크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1992112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17320"/>
            <a:ext cx="1992112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417320"/>
            <a:ext cx="1992112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153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영역 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95528" y="1911096"/>
            <a:ext cx="153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리스크: 성수동 공급 물량 증가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15349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리스크: 성수동 공급 물량 증가 추세, 2027년 대형 오피스 준공 예정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833360" y="1417320"/>
            <a:ext cx="1992112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33360" y="1417320"/>
            <a:ext cx="1992112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3" name="Shape 11"/>
          <p:cNvSpPr/>
          <p:nvPr/>
        </p:nvSpPr>
        <p:spPr>
          <a:xfrm>
            <a:off x="2833360" y="1417320"/>
            <a:ext cx="1992112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4" name="Text 12"/>
          <p:cNvSpPr/>
          <p:nvPr/>
        </p:nvSpPr>
        <p:spPr>
          <a:xfrm>
            <a:off x="3061960" y="1618488"/>
            <a:ext cx="153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영역 2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061960" y="1911096"/>
            <a:ext cx="153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유동성 리스크: 중소형 빌딩 매각 소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061960" y="2377440"/>
            <a:ext cx="15349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유동성 리스크: 중소형 빌딩 매각 소요기간 평균 6-12개월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99792" y="1417320"/>
            <a:ext cx="1992112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99792" y="1417320"/>
            <a:ext cx="1992112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9" name="Shape 17"/>
          <p:cNvSpPr/>
          <p:nvPr/>
        </p:nvSpPr>
        <p:spPr>
          <a:xfrm>
            <a:off x="5099792" y="1417320"/>
            <a:ext cx="1992112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0" name="Text 18"/>
          <p:cNvSpPr/>
          <p:nvPr/>
        </p:nvSpPr>
        <p:spPr>
          <a:xfrm>
            <a:off x="5328392" y="1618488"/>
            <a:ext cx="153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영역 3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328392" y="1911096"/>
            <a:ext cx="153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리스크: 리모델링 후 신규 임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328392" y="2377440"/>
            <a:ext cx="15349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리스크: 리모델링 후 신규 임차인 계약기간 평균 2년, 갱신율 미확인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66224" y="1417320"/>
            <a:ext cx="1992112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66224" y="1417320"/>
            <a:ext cx="1992112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5" name="Shape 23"/>
          <p:cNvSpPr/>
          <p:nvPr/>
        </p:nvSpPr>
        <p:spPr>
          <a:xfrm>
            <a:off x="7366224" y="1417320"/>
            <a:ext cx="1992112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6" name="Text 24"/>
          <p:cNvSpPr/>
          <p:nvPr/>
        </p:nvSpPr>
        <p:spPr>
          <a:xfrm>
            <a:off x="7594824" y="1618488"/>
            <a:ext cx="153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영역 4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594824" y="1911096"/>
            <a:ext cx="153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담보 리스크: 근저당 설정 45억 (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594824" y="2377440"/>
            <a:ext cx="15349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담보 리스크: 근저당 설정 45억 (기관대출), 담보비율 47.4%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632655" y="1417320"/>
            <a:ext cx="1992112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32655" y="1417320"/>
            <a:ext cx="1992112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1" name="Shape 29"/>
          <p:cNvSpPr/>
          <p:nvPr/>
        </p:nvSpPr>
        <p:spPr>
          <a:xfrm>
            <a:off x="9632655" y="1417320"/>
            <a:ext cx="1992112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2" name="Text 30"/>
          <p:cNvSpPr/>
          <p:nvPr/>
        </p:nvSpPr>
        <p:spPr>
          <a:xfrm>
            <a:off x="9861255" y="1618488"/>
            <a:ext cx="153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영역 5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861255" y="1911096"/>
            <a:ext cx="153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 리스크: 2008년 원구조물 기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861255" y="2377440"/>
            <a:ext cx="15349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 리스크: 2008년 원구조물 기반 리모델링 — 주요 구조부 점검 필요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11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Process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매각절차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2490140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249014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1792224"/>
            <a:ext cx="384048" cy="384048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 및 운영자료/리모델링 도면 열람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48508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2828" y="1572768"/>
            <a:ext cx="2490140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2828" y="1572768"/>
            <a:ext cx="249014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4" name="Shape 12"/>
          <p:cNvSpPr/>
          <p:nvPr/>
        </p:nvSpPr>
        <p:spPr>
          <a:xfrm>
            <a:off x="3642284" y="1792224"/>
            <a:ext cx="384048" cy="384048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5" name="Text 13"/>
          <p:cNvSpPr/>
          <p:nvPr/>
        </p:nvSpPr>
        <p:spPr>
          <a:xfrm>
            <a:off x="3642284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42284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LOI 제출 및 매도자 가격 협의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42284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04408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8728" y="1572768"/>
            <a:ext cx="2490140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78728" y="1572768"/>
            <a:ext cx="249014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1" name="Shape 19"/>
          <p:cNvSpPr/>
          <p:nvPr/>
        </p:nvSpPr>
        <p:spPr>
          <a:xfrm>
            <a:off x="6498184" y="1792224"/>
            <a:ext cx="384048" cy="384048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22" name="Text 20"/>
          <p:cNvSpPr/>
          <p:nvPr/>
        </p:nvSpPr>
        <p:spPr>
          <a:xfrm>
            <a:off x="6498184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8184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— 구조안전/법률/환경/재무 정밀 실사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98184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860307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34627" y="1572768"/>
            <a:ext cx="2490140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34627" y="1572768"/>
            <a:ext cx="249014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8" name="Shape 26"/>
          <p:cNvSpPr/>
          <p:nvPr/>
        </p:nvSpPr>
        <p:spPr>
          <a:xfrm>
            <a:off x="9354083" y="1792224"/>
            <a:ext cx="384048" cy="384048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29" name="Text 27"/>
          <p:cNvSpPr/>
          <p:nvPr/>
        </p:nvSpPr>
        <p:spPr>
          <a:xfrm>
            <a:off x="9354083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354083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매매계약 체결 및 잔금 지급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354083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12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Closing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E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2" name="Shape 10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3" name="Text 11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E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8" name="Shape 16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9" name="Text 17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92240" y="2724912"/>
            <a:ext cx="5129784" cy="1645920"/>
          </a:xfrm>
          <a:prstGeom prst="roundRect">
            <a:avLst>
              <a:gd name="adj" fmla="val 2222"/>
            </a:avLst>
          </a:pr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6675120" y="2834640"/>
            <a:ext cx="47640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42" name="Text 40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5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프라임 파트너스 · 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13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2026-08-23T00:37:32Z</dcterms:created>
  <dcterms:modified xsi:type="dcterms:W3CDTF">2026-08-23T00:37:32Z</dcterms:modified>
</cp:coreProperties>
</file>