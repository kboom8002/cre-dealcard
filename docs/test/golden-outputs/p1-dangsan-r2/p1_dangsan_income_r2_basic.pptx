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image" Target="../media/image-8-4.jpeg"/><Relationship Id="rId5" Type="http://schemas.openxmlformats.org/officeDocument/2006/relationships/image" Target="../media/image-8-5.jpeg"/><Relationship Id="rId6" Type="http://schemas.openxmlformats.org/officeDocument/2006/relationships/image" Target="../media/image-8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 투자설명서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 (메디컬빌딩)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37947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215384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421538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 (메디컬빌딩)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670048" y="421538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2670048" y="421538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6928" y="465429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76402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115억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2026.10.05  |  정현우 수석팀장  |  제이에스부동산중개법인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영등포/당산 준공업지역에 위치한 2002년 준공, 지하 1층·지상 5층 규모의 임대수익형 근린생활시설 (메디컬빌딩)입니다.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153.3평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345.2평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31520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B1/F5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307738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72330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 (NOI 기준)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472330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1.56%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472330" y="3529203"/>
            <a:ext cx="3247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운영비·공실충당 차감 후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8048549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13141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13141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288155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4361371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" y="4361371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207008" y="4324731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역세권 입지 — 당산역(9호선) 도보 1분(약 51m) 거리, 8m 도로 2면 접면 (코너) 도로에 접해 있습니다.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4882642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6656" y="495585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656" y="495585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207008" y="4919218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 현황 — 전 8개 호실 임차 중, 월 임대료 1,946만 원·보증금 2억 9,000만 원의 임대 수익이 발생하고 있습니다.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66928" y="5477129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6656" y="555034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555034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207008" y="5513705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— 준공업지역 대지 506.8㎡ 규모입니다.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487168" y="1645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920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487168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506.8㎡ (153.3평)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1945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487168" y="21945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1141.15㎡ (345.2평)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24688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건축면적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487168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256.12㎡ (77.5평, 건폐율 50.54%)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27432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건물구조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487168" y="2743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철근콘크리트조 / 개별냉난방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301752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487168" y="3017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291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487168" y="3291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2002년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35661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3566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487168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B1~5F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38404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3840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 / 승강기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487168" y="38404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8대 / 승강기 1대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41148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1148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487168" y="4114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438912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6928" y="4389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 / 용적률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487168" y="43891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50.54% / 225.14%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3333" b="3333"/>
          <a:stretch/>
        </p:blipFill>
        <p:spPr>
          <a:xfrm>
            <a:off x="7784287" y="1645920"/>
            <a:ext cx="3840480" cy="2688336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7784287" y="4471416"/>
            <a:ext cx="3840480" cy="1307592"/>
          </a:xfrm>
          <a:prstGeom prst="roundRect">
            <a:avLst>
              <a:gd name="adj" fmla="val 3497"/>
            </a:avLst>
          </a:prstGeom>
          <a:solidFill>
            <a:srgbClr val="F6F1E4"/>
          </a:solidFill>
          <a:ln w="9525">
            <a:solidFill>
              <a:srgbClr val="D4C89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784287" y="4544568"/>
            <a:ext cx="45720" cy="116128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967167" y="4581144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7985455" y="4997196"/>
            <a:ext cx="54864" cy="5486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113471" y="4892040"/>
            <a:ext cx="33832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당산역(9호선) 도보 1분 역세권 · 8m 도로 2면 접면 (코너) 접면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7985455" y="5262372"/>
            <a:ext cx="54864" cy="5486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8113471" y="5157216"/>
            <a:ext cx="33832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임차 8/8개 호실(100%) · 월 임대료 1,946만 원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7985455" y="5527548"/>
            <a:ext cx="54864" cy="54864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113471" y="5422392"/>
            <a:ext cx="33832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 506.8㎡ · 준공업지역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566928" y="4773168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749808" y="4773168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3476549" y="4773168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 원 (VAT 별도)</a:t>
            </a:r>
            <a:endParaRPr lang="en-US" sz="1600" dirty="0"/>
          </a:p>
        </p:txBody>
      </p:sp>
      <p:sp>
        <p:nvSpPr>
          <p:cNvPr id="52" name="Shape 49"/>
          <p:cNvSpPr/>
          <p:nvPr/>
        </p:nvSpPr>
        <p:spPr>
          <a:xfrm>
            <a:off x="704088" y="5276088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749808" y="5276088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3476549" y="5276088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7,501만 원/평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889504" y="2953512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132A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rot="10800000">
            <a:off x="3072384" y="3163824"/>
            <a:ext cx="109728" cy="64008"/>
          </a:xfrm>
          <a:prstGeom prst="triangle">
            <a:avLst/>
          </a:prstGeom>
          <a:solidFill>
            <a:srgbClr val="132A3A"/>
          </a:solidFill>
          <a:ln w="12700">
            <a:solidFill>
              <a:srgbClr val="13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889504" y="295351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본건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66928" y="5673852"/>
            <a:ext cx="155448" cy="155448"/>
          </a:xfrm>
          <a:prstGeom prst="ellipse">
            <a:avLst/>
          </a:prstGeom>
          <a:solidFill>
            <a:srgbClr val="1D4ED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5673852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768096" y="5650992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당산역(9호선) 도보 1분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127248" y="5673852"/>
            <a:ext cx="155448" cy="155448"/>
          </a:xfrm>
          <a:prstGeom prst="ellipse">
            <a:avLst/>
          </a:prstGeom>
          <a:solidFill>
            <a:srgbClr val="132A3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127248" y="5673852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3328416" y="5650992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부띠끄호텔K 도보 2분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66928" y="5875020"/>
            <a:ext cx="155448" cy="155448"/>
          </a:xfrm>
          <a:prstGeom prst="ellipse">
            <a:avLst/>
          </a:prstGeom>
          <a:solidFill>
            <a:srgbClr val="132A3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5875020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768096" y="5852160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창작플랫폼 경험과상상 도보 6분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3127248" y="5875020"/>
            <a:ext cx="155448" cy="155448"/>
          </a:xfrm>
          <a:prstGeom prst="ellipse">
            <a:avLst/>
          </a:prstGeom>
          <a:solidFill>
            <a:srgbClr val="132A3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127248" y="5875020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3328416" y="5852160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롯데마트 맥스 영등포점 남 0.7km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6928" y="6076188"/>
            <a:ext cx="155448" cy="155448"/>
          </a:xfrm>
          <a:prstGeom prst="ellipse">
            <a:avLst/>
          </a:prstGeom>
          <a:solidFill>
            <a:srgbClr val="132A3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66928" y="6076188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768096" y="6053328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선유도역골목형상점가 북서 0.8km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3127248" y="6053328"/>
            <a:ext cx="155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╌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328416" y="6053328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도보 3분 반경 (약 240m)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교통 접근성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053328" y="1801368"/>
            <a:ext cx="156000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613331" y="1801368"/>
            <a:ext cx="40114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053328" y="22037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053328" y="2203704"/>
            <a:ext cx="156000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7613331" y="2203704"/>
            <a:ext cx="40114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당산역 9호선 도보 1분 (약 51m)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053328" y="26060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053328" y="2606040"/>
            <a:ext cx="156000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7613331" y="2606040"/>
            <a:ext cx="40114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053328" y="300837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053328" y="3008376"/>
            <a:ext cx="156000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613331" y="3008376"/>
            <a:ext cx="40114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영등포/당산 주요 상업·업무 권역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053328" y="3520440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39" name="Shape 36"/>
          <p:cNvSpPr/>
          <p:nvPr/>
        </p:nvSpPr>
        <p:spPr>
          <a:xfrm>
            <a:off x="6053328" y="3575304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0" name="Text 37"/>
          <p:cNvSpPr/>
          <p:nvPr/>
        </p:nvSpPr>
        <p:spPr>
          <a:xfrm>
            <a:off x="6199632" y="36118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6199632" y="3813048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당산역 9호선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 접면 차량 진출입 양호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영등포/당산 배후 상권 기반 안정적 임대 수요</a:t>
            </a:r>
            <a:endParaRPr lang="en-US" sz="980" dirty="0"/>
          </a:p>
        </p:txBody>
      </p:sp>
      <p:sp>
        <p:nvSpPr>
          <p:cNvPr id="42" name="Text 3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973767" y="3180901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DC26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rot="10800000">
            <a:off x="3156647" y="3391213"/>
            <a:ext cx="109728" cy="64008"/>
          </a:xfrm>
          <a:prstGeom prst="triangl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973767" y="3180901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본건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053328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613331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506.8㎡ (153.3평)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053328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613331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53328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53328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7613331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50.54% (법정 상한 60%)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053328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53328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7613331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225.14% (법정 상한 400%)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053328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53328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7613331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053328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53328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7613331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053328" y="388620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053328" y="388620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7613331" y="388620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7,501만 원/평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053328" y="4343400"/>
            <a:ext cx="5571439" cy="1234440"/>
          </a:xfrm>
          <a:prstGeom prst="roundRect">
            <a:avLst>
              <a:gd name="adj" fmla="val 4444"/>
            </a:avLst>
          </a:prstGeom>
          <a:solidFill>
            <a:srgbClr val="E8F4F8"/>
          </a:solidFill>
          <a:ln/>
        </p:spPr>
      </p:sp>
      <p:sp>
        <p:nvSpPr>
          <p:cNvPr id="31" name="Shape 28"/>
          <p:cNvSpPr/>
          <p:nvPr/>
        </p:nvSpPr>
        <p:spPr>
          <a:xfrm>
            <a:off x="6053328" y="4398264"/>
            <a:ext cx="36576" cy="11247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2" name="Text 29"/>
          <p:cNvSpPr/>
          <p:nvPr/>
        </p:nvSpPr>
        <p:spPr>
          <a:xfrm>
            <a:off x="6199632" y="443484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6199632" y="4636008"/>
            <a:ext cx="5315407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 건폐율 50.54%, 용적률 225.14% (법정 상한: 건폐율 60%, 용적률 400%)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 기준 법정 상한 대비 용적률 상향 및 밸류애드 잠재력 보유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 접면으로 보행자 접근성 및 차량 진출입 동선 우수</a:t>
            </a:r>
            <a:endParaRPr lang="en-US" sz="980" dirty="0"/>
          </a:p>
        </p:txBody>
      </p:sp>
      <p:sp>
        <p:nvSpPr>
          <p:cNvPr id="34" name="Text 31"/>
          <p:cNvSpPr/>
          <p:nvPr/>
        </p:nvSpPr>
        <p:spPr>
          <a:xfrm>
            <a:off x="6053328" y="5715000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2011680" cy="329184"/>
          </a:xfrm>
          <a:prstGeom prst="rect">
            <a:avLst/>
          </a:prstGeom>
          <a:solidFill>
            <a:srgbClr val="132A3A"/>
          </a:solidFill>
          <a:ln w="6350">
            <a:solidFill>
              <a:srgbClr val="132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645920"/>
            <a:ext cx="20116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층별 스태킹 플랜 (㎡)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4169664"/>
            <a:ext cx="475488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115568" y="4201668"/>
            <a:ext cx="1444752" cy="374904"/>
          </a:xfrm>
          <a:prstGeom prst="rect">
            <a:avLst/>
          </a:prstGeom>
          <a:solidFill>
            <a:srgbClr val="E2E8F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4201668"/>
            <a:ext cx="1389888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 317.4㎡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66928" y="3730752"/>
            <a:ext cx="475488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419425" y="3762756"/>
            <a:ext cx="356584" cy="374904"/>
          </a:xfrm>
          <a:prstGeom prst="rect">
            <a:avLst/>
          </a:prstGeom>
          <a:solidFill>
            <a:srgbClr val="93B3A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6857" y="3762756"/>
            <a:ext cx="301720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약국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776009" y="3762756"/>
            <a:ext cx="480455" cy="374904"/>
          </a:xfrm>
          <a:prstGeom prst="rect">
            <a:avLst/>
          </a:prstGeom>
          <a:solidFill>
            <a:srgbClr val="93B3A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03441" y="3762756"/>
            <a:ext cx="425591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66928" y="3291840"/>
            <a:ext cx="475488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264630" y="3323844"/>
            <a:ext cx="1146629" cy="374904"/>
          </a:xfrm>
          <a:prstGeom prst="rect">
            <a:avLst/>
          </a:prstGeom>
          <a:solidFill>
            <a:srgbClr val="93B3A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92062" y="3323844"/>
            <a:ext cx="1091765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 252.2㎡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66928" y="2852928"/>
            <a:ext cx="475488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4630" y="2884932"/>
            <a:ext cx="1146629" cy="374904"/>
          </a:xfrm>
          <a:prstGeom prst="rect">
            <a:avLst/>
          </a:prstGeom>
          <a:solidFill>
            <a:srgbClr val="93B3A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2062" y="2884932"/>
            <a:ext cx="1091765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헬쓰장 252.2㎡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2414016"/>
            <a:ext cx="475488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264630" y="2446020"/>
            <a:ext cx="768819" cy="374904"/>
          </a:xfrm>
          <a:prstGeom prst="rect">
            <a:avLst/>
          </a:prstGeom>
          <a:solidFill>
            <a:srgbClr val="C9A9A6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92062" y="2446020"/>
            <a:ext cx="713955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와인매장 168.9㎡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033449" y="2446020"/>
            <a:ext cx="377809" cy="374904"/>
          </a:xfrm>
          <a:prstGeom prst="rect">
            <a:avLst/>
          </a:prstGeom>
          <a:solidFill>
            <a:srgbClr val="E2E8F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60881" y="2446020"/>
            <a:ext cx="322945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66928" y="1975104"/>
            <a:ext cx="475488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419425" y="2007108"/>
            <a:ext cx="837039" cy="374904"/>
          </a:xfrm>
          <a:prstGeom prst="rect">
            <a:avLst/>
          </a:prstGeom>
          <a:solidFill>
            <a:srgbClr val="93B3A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46857" y="2007108"/>
            <a:ext cx="782175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 183.8㎡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078992" y="4169664"/>
            <a:ext cx="1499616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566928" y="4096512"/>
            <a:ext cx="219456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603504" y="4608576"/>
            <a:ext cx="23266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872744" y="4718304"/>
            <a:ext cx="118872" cy="109728"/>
          </a:xfrm>
          <a:prstGeom prst="rect">
            <a:avLst/>
          </a:prstGeom>
          <a:solidFill>
            <a:srgbClr val="C9A9A6"/>
          </a:solidFill>
          <a:ln w="6350">
            <a:solidFill>
              <a:srgbClr val="5B6B7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28192" y="4608576"/>
            <a:ext cx="25044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315212" y="4718304"/>
            <a:ext cx="118872" cy="109728"/>
          </a:xfrm>
          <a:prstGeom prst="rect">
            <a:avLst/>
          </a:prstGeom>
          <a:solidFill>
            <a:srgbClr val="93B3A0"/>
          </a:solidFill>
          <a:ln w="6350">
            <a:solidFill>
              <a:srgbClr val="5B6B7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470660" y="4608576"/>
            <a:ext cx="25044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07208" y="1645920"/>
          <a:ext cx="8817559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749808"/>
                <a:gridCol w="768096"/>
                <a:gridCol w="1399032"/>
                <a:gridCol w="640080"/>
                <a:gridCol w="795528"/>
                <a:gridCol w="640080"/>
                <a:gridCol w="640080"/>
                <a:gridCol w="969264"/>
                <a:gridCol w="1709928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용도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임대면적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보증금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월임대료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관리비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월합계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만기일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카페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317.4 (96.0평)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자가사용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A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약국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78.3 (23.7평)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임대 11년 경과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B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105.5 (31.9평)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883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883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로뎀나무내과 통합계약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C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252.2 (76.3평)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로뎀나무내과 통합계약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D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헬쓰장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252.2 (76.3평)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2026-04-17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E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와인매장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168.9 (51.1평)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2025-04-30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83.0 (25.1평)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자가사용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G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183.8 (55.6평)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로뎀나무내과 통합계약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 호실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1,441.3 (436.0평)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1,946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1,946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3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2807208" y="1408176"/>
            <a:ext cx="88175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㎡ (평) · 금액 만원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5120640" cy="3822192"/>
          </a:xfrm>
          <a:prstGeom prst="roundRect">
            <a:avLst>
              <a:gd name="adj" fmla="val 1914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" y="1508760"/>
            <a:ext cx="4663440" cy="1115568"/>
          </a:xfrm>
          <a:prstGeom prst="roundRect">
            <a:avLst>
              <a:gd name="adj" fmla="val 6557"/>
            </a:avLst>
          </a:prstGeom>
          <a:solidFill>
            <a:srgbClr val="132A3A"/>
          </a:solidFill>
          <a:ln/>
        </p:spPr>
      </p:sp>
      <p:sp>
        <p:nvSpPr>
          <p:cNvPr id="7" name="Text 5"/>
          <p:cNvSpPr/>
          <p:nvPr/>
        </p:nvSpPr>
        <p:spPr>
          <a:xfrm>
            <a:off x="978408" y="158191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임대수익률 (Gross, 매매가−보증금 대비)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904488" y="158191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2.08%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78408" y="200253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 (NOI 기준)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04488" y="20025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1.56%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78408" y="227685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공실충당 5% 제외 기준 (참고)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904488" y="227685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2.19%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86968" y="273405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임대수입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27248" y="27340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" y="3081528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08152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27248" y="308152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5528" y="3429000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34290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27248" y="342900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5528" y="3776472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" y="377647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보증금 차감 매입가 (매매가−보증금)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27248" y="377647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112.1억원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5528" y="4123944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53328" y="1325880"/>
            <a:ext cx="5571439" cy="3822192"/>
          </a:xfrm>
          <a:prstGeom prst="roundRect">
            <a:avLst>
              <a:gd name="adj" fmla="val 1435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9360" y="1545336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F6F1E4"/>
          </a:solidFill>
          <a:ln w="6350">
            <a:solidFill>
              <a:srgbClr val="8B650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154533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공시지가 열람 안내 ]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309360" y="1837944"/>
            <a:ext cx="5059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개별공시지가 및 토지 가치 평가 안내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2148840"/>
            <a:ext cx="5059375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필지의 개별공시지가 연도별 이력 및 표준지 공시지가 대비 배율은 부동산 공시가격 알리미 및 감정평가 공적 자료를 통해 확인합니다.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09360" y="2585923"/>
            <a:ext cx="5059375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5936" y="2732227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2" name="Text 30"/>
          <p:cNvSpPr/>
          <p:nvPr/>
        </p:nvSpPr>
        <p:spPr>
          <a:xfrm>
            <a:off x="6473952" y="2677363"/>
            <a:ext cx="4839919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5~10개년 개별공시지가 변동 추이 및 연평균 상승률 분석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345936" y="3295040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2" y="3240176"/>
            <a:ext cx="4839919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인근 표준지 공시지가 대비 토지 특성(도로접면, 형상, 방위) 차이 분석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6345936" y="3857854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3802990"/>
            <a:ext cx="4839919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공시지가 대비 실거래가 매매 배율 및 평당 단가 프리미엄 검증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6345936" y="4420667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8" name="Text 36"/>
          <p:cNvSpPr/>
          <p:nvPr/>
        </p:nvSpPr>
        <p:spPr>
          <a:xfrm>
            <a:off x="6473952" y="4365803"/>
            <a:ext cx="4839919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보유세(재산세·종합부동산세) 과세표준 기준액 산출 및 세무 영향 점검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566928" y="5285232"/>
            <a:ext cx="11057839" cy="612648"/>
          </a:xfrm>
          <a:prstGeom prst="roundRect">
            <a:avLst>
              <a:gd name="adj" fmla="val 8955"/>
            </a:avLst>
          </a:prstGeom>
          <a:solidFill>
            <a:srgbClr val="E8F4F8"/>
          </a:solidFill>
          <a:ln/>
        </p:spPr>
      </p:sp>
      <p:sp>
        <p:nvSpPr>
          <p:cNvPr id="40" name="Shape 38"/>
          <p:cNvSpPr/>
          <p:nvPr/>
        </p:nvSpPr>
        <p:spPr>
          <a:xfrm>
            <a:off x="566928" y="5340096"/>
            <a:ext cx="36576" cy="50292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1" name="Text 39"/>
          <p:cNvSpPr/>
          <p:nvPr/>
        </p:nvSpPr>
        <p:spPr>
          <a:xfrm>
            <a:off x="713232" y="5376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산출 요약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3232" y="5577840"/>
            <a:ext cx="1080180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임대수익률 2.08% (운영비 차감 전), Cap Rate 1.56% (운영비·공실충당 차감 후)</a:t>
            </a:r>
            <a:endParaRPr lang="en-US" sz="980" dirty="0"/>
          </a:p>
        </p:txBody>
      </p:sp>
      <p:sp>
        <p:nvSpPr>
          <p:cNvPr id="43" name="Text 41"/>
          <p:cNvSpPr/>
          <p:nvPr/>
        </p:nvSpPr>
        <p:spPr>
          <a:xfrm>
            <a:off x="566928" y="595274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운영비율 18%(가정), 공실충당 5%, 보증금 승계 가정. 임대수익률은 운영비 차감 전, Cap Rate는 차감 후.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66344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181" y="1234440"/>
            <a:ext cx="3054096" cy="22905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676656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정면 외관 (B1~5F, 벽돌 구조)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95546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8800" y="1234440"/>
            <a:ext cx="3054096" cy="229057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295546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2" name="Text 8"/>
          <p:cNvSpPr/>
          <p:nvPr/>
        </p:nvSpPr>
        <p:spPr>
          <a:xfrm>
            <a:off x="4405274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측면 (자주식 주차장 진입로)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024165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7418" y="1234440"/>
            <a:ext cx="3054096" cy="229057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8097317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6" name="Text 11"/>
          <p:cNvSpPr/>
          <p:nvPr/>
        </p:nvSpPr>
        <p:spPr>
          <a:xfrm>
            <a:off x="8097317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56692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181" y="3653028"/>
            <a:ext cx="3054096" cy="2290572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66928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0" name="Text 14"/>
          <p:cNvSpPr/>
          <p:nvPr/>
        </p:nvSpPr>
        <p:spPr>
          <a:xfrm>
            <a:off x="676656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층별 공용 복도</a:t>
            </a:r>
            <a:endParaRPr lang="en-US" sz="900" dirty="0"/>
          </a:p>
        </p:txBody>
      </p:sp>
      <p:sp>
        <p:nvSpPr>
          <p:cNvPr id="21" name="Shape 15"/>
          <p:cNvSpPr/>
          <p:nvPr/>
        </p:nvSpPr>
        <p:spPr>
          <a:xfrm>
            <a:off x="4295546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8800" y="3653028"/>
            <a:ext cx="3054096" cy="2290572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4295546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4" name="Text 17"/>
          <p:cNvSpPr/>
          <p:nvPr/>
        </p:nvSpPr>
        <p:spPr>
          <a:xfrm>
            <a:off x="4405274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임차 전용 공간 (사무실 내부)</a:t>
            </a:r>
            <a:endParaRPr lang="en-US" sz="900" dirty="0"/>
          </a:p>
        </p:txBody>
      </p:sp>
      <p:sp>
        <p:nvSpPr>
          <p:cNvPr id="25" name="Shape 18"/>
          <p:cNvSpPr/>
          <p:nvPr/>
        </p:nvSpPr>
        <p:spPr>
          <a:xfrm>
            <a:off x="8024165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5733" y="3653028"/>
            <a:ext cx="1717466" cy="2290572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8097317" y="3726180"/>
            <a:ext cx="82296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8" name="Text 20"/>
          <p:cNvSpPr/>
          <p:nvPr/>
        </p:nvSpPr>
        <p:spPr>
          <a:xfrm>
            <a:off x="8097317" y="37261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38912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6" name="Shape 4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2" name="Shape 10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3" name="Text 11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9" name="Text 17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3" name="Text 31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6" name="Text 34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정현우 수석팀장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010-3344-5566    ✉ js-cre@credeal.kr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제이에스부동산중개법인    등록번호: 11680-2024-00156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5" name="Text 43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7" name="Text 45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 · 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2026-10-05T15:07:44Z</dcterms:created>
  <dcterms:modified xsi:type="dcterms:W3CDTF">2026-10-05T15:07:44Z</dcterms:modified>
</cp:coreProperties>
</file>