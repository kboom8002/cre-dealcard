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image" Target="../media/image-8-2.jpeg"/><Relationship Id="rId3" Type="http://schemas.openxmlformats.org/officeDocument/2006/relationships/image" Target="../media/image-8-3.jpeg"/><Relationship Id="rId4" Type="http://schemas.openxmlformats.org/officeDocument/2006/relationships/image" Target="../media/image-8-4.jpeg"/><Relationship Id="rId5" Type="http://schemas.openxmlformats.org/officeDocument/2006/relationships/image" Target="../media/image-8-5.jpeg"/><Relationship Id="rId6" Type="http://schemas.openxmlformats.org/officeDocument/2006/relationships/image" Target="../media/image-8-6.jpe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0D2233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1A3A4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8860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A3347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B4A5E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표지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02920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영등포구 당산동5가 11-47 투자설명서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502920" y="309067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근린생활시설 (메디컬빌딩)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02920" y="34747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영등포구 당산동5가 11-47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02920" y="3895344"/>
            <a:ext cx="2011680" cy="292608"/>
          </a:xfrm>
          <a:prstGeom prst="roundRect">
            <a:avLst>
              <a:gd name="adj" fmla="val 50000"/>
            </a:avLst>
          </a:prstGeom>
          <a:solidFill>
            <a:srgbClr val="132A3A"/>
          </a:solidFill>
          <a:ln/>
        </p:spPr>
      </p:sp>
      <p:sp>
        <p:nvSpPr>
          <p:cNvPr id="15" name="Text 13"/>
          <p:cNvSpPr/>
          <p:nvPr/>
        </p:nvSpPr>
        <p:spPr>
          <a:xfrm>
            <a:off x="502920" y="3895344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근린생활시설 (메디컬빌딩)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2606040" y="3895344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132A3A"/>
          </a:solidFill>
          <a:ln/>
        </p:spPr>
      </p:sp>
      <p:sp>
        <p:nvSpPr>
          <p:cNvPr id="17" name="Text 15"/>
          <p:cNvSpPr/>
          <p:nvPr/>
        </p:nvSpPr>
        <p:spPr>
          <a:xfrm>
            <a:off x="2606040" y="3895344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115억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02920" y="4334256"/>
            <a:ext cx="6858000" cy="1051560"/>
          </a:xfrm>
          <a:prstGeom prst="roundRect">
            <a:avLst>
              <a:gd name="adj" fmla="val 3478"/>
            </a:avLst>
          </a:prstGeom>
          <a:solidFill>
            <a:srgbClr val="8B6508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58952" y="4443984"/>
            <a:ext cx="634593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6F1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매각 희망가 115억 원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502920" y="17007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제이에스부동산중개법인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02920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2026.09.24  |  정현우 수석팀장  |  제이에스부동산중개법인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요약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로뎀나무내과·고은약국 장기 임차 만실 · 11년 미인상 임대료 정상화 시 47% 상승 여력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691640"/>
            <a:ext cx="11057839" cy="0"/>
          </a:xfrm>
          <a:prstGeom prst="line">
            <a:avLst/>
          </a:prstGeom>
          <a:noFill/>
          <a:ln w="19050">
            <a:solidFill>
              <a:srgbClr val="B8860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965960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" y="209397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67512" y="2313432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115억 원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4243730" y="1965960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08322" y="209397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408322" y="2313432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153.3평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984541" y="1965960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149133" y="209397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8149133" y="2313432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345.2평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502920" y="3090672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7512" y="321868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건축규모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667512" y="3438144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B1/F5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4243730" y="3090672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408322" y="321868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수익률(Cap Rate)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408322" y="3438144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1.56%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7984541" y="3090672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149133" y="321868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공실 현황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8149133" y="3438144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만실 운영 (공실 0%)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02920" y="430682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B650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502920" y="4636008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12648" y="4709160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6F1E4"/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12648" y="4709160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65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143000" y="4672584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가치: 당산역 도보 5분 역세권 및 8m 도로 2면 접면 (코너) 접면, 영등포/당산 업무·상업 중심지 배후 수요 확보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02920" y="5114544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2648" y="5187696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6F1E4"/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12648" y="5187696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65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1143000" y="5151120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자산 규모: 대지 153평·연면적 345평·평당 약 3,331만 원 규모 단독 빌딩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02920" y="5593080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12648" y="5666232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6F1E4"/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12648" y="5666232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65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1143000" y="5629656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 안정성: 연 순수익률(Cap Rate) 1.56% 기반 안정적 임대수익 자산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물건 개요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물건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기본 정보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소재지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영등포구 당산동5가 11-47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02920" y="192024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19202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대지면적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423160" y="192024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506.8㎡ (153.3평)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2920" y="219456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1945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연면적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423160" y="219456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1141.15㎡ (345.2평)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02920" y="246888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24688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건축면적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423160" y="246888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256.12㎡ (77.5평, 건폐율 50.54%)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02920" y="274320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920" y="274320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용적률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423160" y="27432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225.14% (준공업지역 법정 400% 대비 여력 보유)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02920" y="301752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2920" y="30175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건물구조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423160" y="30175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철근콘크리트조 / 개별냉난방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02920" y="329184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2920" y="32918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용도지역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2423160" y="329184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준공업지역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02920" y="356616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02920" y="35661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준공연도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2423160" y="356616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2002년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02920" y="4023360"/>
            <a:ext cx="6858000" cy="1005840"/>
          </a:xfrm>
          <a:prstGeom prst="rect">
            <a:avLst/>
          </a:prstGeom>
          <a:solidFill>
            <a:srgbClr val="F6F1E4"/>
          </a:solidFill>
          <a:ln w="15240">
            <a:solidFill>
              <a:srgbClr val="B8860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85800" y="4023360"/>
            <a:ext cx="272674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 희망가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3412541" y="4023360"/>
            <a:ext cx="376549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115억 원 (VAT 별도)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640080" y="4526280"/>
            <a:ext cx="6583680" cy="0"/>
          </a:xfrm>
          <a:prstGeom prst="line">
            <a:avLst/>
          </a:prstGeom>
          <a:noFill/>
          <a:ln w="6350">
            <a:solidFill>
              <a:srgbClr val="D4C89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5800" y="4526280"/>
            <a:ext cx="272674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토지평당가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3412541" y="4526280"/>
            <a:ext cx="376549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7,501만 원/평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8860B"/>
            </a:solidFill>
            <a:prstDash val="solid"/>
          </a:ln>
        </p:spPr>
      </p:sp>
      <p:pic>
        <p:nvPicPr>
          <p:cNvPr id="37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720279" y="1645920"/>
            <a:ext cx="3840480" cy="2926080"/>
          </a:xfrm>
          <a:prstGeom prst="rect">
            <a:avLst/>
          </a:prstGeom>
        </p:spPr>
      </p:pic>
      <p:sp>
        <p:nvSpPr>
          <p:cNvPr id="38" name="Shape 35"/>
          <p:cNvSpPr/>
          <p:nvPr/>
        </p:nvSpPr>
        <p:spPr>
          <a:xfrm>
            <a:off x="7720279" y="4681728"/>
            <a:ext cx="3840480" cy="1508760"/>
          </a:xfrm>
          <a:prstGeom prst="roundRect">
            <a:avLst>
              <a:gd name="adj" fmla="val 3636"/>
            </a:avLst>
          </a:prstGeom>
          <a:solidFill>
            <a:srgbClr val="E8F4F8"/>
          </a:solidFill>
          <a:ln/>
        </p:spPr>
      </p:sp>
      <p:sp>
        <p:nvSpPr>
          <p:cNvPr id="39" name="Shape 36"/>
          <p:cNvSpPr/>
          <p:nvPr/>
        </p:nvSpPr>
        <p:spPr>
          <a:xfrm>
            <a:off x="7720279" y="4736592"/>
            <a:ext cx="36576" cy="1399032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40" name="Text 37"/>
          <p:cNvSpPr/>
          <p:nvPr/>
        </p:nvSpPr>
        <p:spPr>
          <a:xfrm>
            <a:off x="7866583" y="4773168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자산 하이라이트</a:t>
            </a:r>
            <a:endParaRPr lang="en-US" sz="1050" dirty="0"/>
          </a:p>
        </p:txBody>
      </p:sp>
      <p:sp>
        <p:nvSpPr>
          <p:cNvPr id="41" name="Text 38"/>
          <p:cNvSpPr/>
          <p:nvPr/>
        </p:nvSpPr>
        <p:spPr>
          <a:xfrm>
            <a:off x="7866583" y="4974336"/>
            <a:ext cx="3584448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도심 비즈니스 권역 소재 핵심 입지 자산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안정적 임대수익 기반 투자 매물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대중교통 역세권 접근성 및 주변 상업 인프라 우수</a:t>
            </a:r>
            <a:endParaRPr lang="en-US" sz="980" dirty="0"/>
          </a:p>
        </p:txBody>
      </p:sp>
      <p:sp>
        <p:nvSpPr>
          <p:cNvPr id="42" name="Text 3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43" name="Text 4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입지 정보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정보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89320" y="1481328"/>
            <a:ext cx="55714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교통 접근성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989320" y="1801368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소재지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7549323" y="1801368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영등포구 당산동5가 11-47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989320" y="2148840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989320" y="2148840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대중교통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7549323" y="2148840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당산역 9호선 도보 1분 (약 51m)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989320" y="2496312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989320" y="2496312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도로접면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7549323" y="2496312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8m 도로 2면 접면 (코너)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989320" y="2843784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989320" y="2843784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상권권역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549323" y="2843784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영등포/당산 주요 상업·업무 권역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989320" y="3191256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989320" y="3191256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상업시설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7549323" y="3191256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영등포농협 하나로마트 당산역점 도보 1분 (약 98m)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5989320" y="3538728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989320" y="3538728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주요시설</a:t>
            </a:r>
            <a:endParaRPr lang="en-US" sz="1150" dirty="0"/>
          </a:p>
        </p:txBody>
      </p:sp>
      <p:sp>
        <p:nvSpPr>
          <p:cNvPr id="24" name="Text 21"/>
          <p:cNvSpPr/>
          <p:nvPr/>
        </p:nvSpPr>
        <p:spPr>
          <a:xfrm>
            <a:off x="7549323" y="3538728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커넥트인터내셔널 도보 2분 (약 122m)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989320" y="3995928"/>
            <a:ext cx="5571439" cy="1316736"/>
          </a:xfrm>
          <a:prstGeom prst="roundRect">
            <a:avLst>
              <a:gd name="adj" fmla="val 4167"/>
            </a:avLst>
          </a:prstGeom>
          <a:solidFill>
            <a:srgbClr val="E8F4F8"/>
          </a:solidFill>
          <a:ln/>
        </p:spPr>
      </p:sp>
      <p:sp>
        <p:nvSpPr>
          <p:cNvPr id="26" name="Shape 23"/>
          <p:cNvSpPr/>
          <p:nvPr/>
        </p:nvSpPr>
        <p:spPr>
          <a:xfrm>
            <a:off x="5989320" y="4050792"/>
            <a:ext cx="36576" cy="1207008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27" name="Text 24"/>
          <p:cNvSpPr/>
          <p:nvPr/>
        </p:nvSpPr>
        <p:spPr>
          <a:xfrm>
            <a:off x="6135624" y="4087368"/>
            <a:ext cx="53154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종합 분석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6135624" y="4288536"/>
            <a:ext cx="5315407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당산역 9호선 도보 역세권으로 양호한 대중교통 접근성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8m 도로 2면 접면 (코너) 접면 차량 진출입 양호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영등포/당산 배후 상권 기반 안정적 임대 수요</a:t>
            </a:r>
            <a:endParaRPr lang="en-US" sz="980" dirty="0"/>
          </a:p>
        </p:txBody>
      </p:sp>
      <p:sp>
        <p:nvSpPr>
          <p:cNvPr id="29" name="Text 26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30" name="Text 27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 &amp; Cadastral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 정보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89320" y="1481328"/>
            <a:ext cx="55714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토지이용계획 · 규제 분석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989320" y="1801368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대지면적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7549323" y="1801368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506.8㎡ (153.3평)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989320" y="2148840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989320" y="2148840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용도지역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7549323" y="2148840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준공업지역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989320" y="2496312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989320" y="2496312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건폐율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7549323" y="2496312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현행 50.54% (법정 상한 60%)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989320" y="2843784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989320" y="2843784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용적률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549323" y="2843784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현행 225.14% (법정 상한 400%)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989320" y="3191256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989320" y="3191256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도로접면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7549323" y="3191256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8m 도로 2면 접면 (코너)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5989320" y="3538728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989320" y="3538728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지목</a:t>
            </a:r>
            <a:endParaRPr lang="en-US" sz="1150" dirty="0"/>
          </a:p>
        </p:txBody>
      </p:sp>
      <p:sp>
        <p:nvSpPr>
          <p:cNvPr id="24" name="Text 21"/>
          <p:cNvSpPr/>
          <p:nvPr/>
        </p:nvSpPr>
        <p:spPr>
          <a:xfrm>
            <a:off x="7549323" y="3538728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989320" y="3886200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5989320" y="3886200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토지평당가</a:t>
            </a:r>
            <a:endParaRPr lang="en-US" sz="1150" dirty="0"/>
          </a:p>
        </p:txBody>
      </p:sp>
      <p:sp>
        <p:nvSpPr>
          <p:cNvPr id="27" name="Text 24"/>
          <p:cNvSpPr/>
          <p:nvPr/>
        </p:nvSpPr>
        <p:spPr>
          <a:xfrm>
            <a:off x="7549323" y="3886200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7,501만 원/평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5989320" y="4343400"/>
            <a:ext cx="5571439" cy="1234440"/>
          </a:xfrm>
          <a:prstGeom prst="roundRect">
            <a:avLst>
              <a:gd name="adj" fmla="val 4444"/>
            </a:avLst>
          </a:prstGeom>
          <a:solidFill>
            <a:srgbClr val="E8F4F8"/>
          </a:solidFill>
          <a:ln/>
        </p:spPr>
      </p:sp>
      <p:sp>
        <p:nvSpPr>
          <p:cNvPr id="29" name="Shape 26"/>
          <p:cNvSpPr/>
          <p:nvPr/>
        </p:nvSpPr>
        <p:spPr>
          <a:xfrm>
            <a:off x="5989320" y="4398264"/>
            <a:ext cx="36576" cy="1124712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30" name="Text 27"/>
          <p:cNvSpPr/>
          <p:nvPr/>
        </p:nvSpPr>
        <p:spPr>
          <a:xfrm>
            <a:off x="6135624" y="4434840"/>
            <a:ext cx="53154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 규제 및 공법 분석</a:t>
            </a:r>
            <a:endParaRPr lang="en-US" sz="1050" dirty="0"/>
          </a:p>
        </p:txBody>
      </p:sp>
      <p:sp>
        <p:nvSpPr>
          <p:cNvPr id="31" name="Text 28"/>
          <p:cNvSpPr/>
          <p:nvPr/>
        </p:nvSpPr>
        <p:spPr>
          <a:xfrm>
            <a:off x="6135624" y="4636008"/>
            <a:ext cx="5315407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 건폐율 50.54%, 용적률 225.14% (법정 상한: 건폐율 60%, 용적률 400%)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준공업지역 기준 법정 상한 대비 용적률 상향 및 밸류애드 잠재력 보유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8m 도로 2면 접면 (코너) 접면으로 보행자 접근성 및 차량 진출입 동선 우수</a:t>
            </a:r>
            <a:endParaRPr lang="en-US" sz="980" dirty="0"/>
          </a:p>
        </p:txBody>
      </p:sp>
      <p:sp>
        <p:nvSpPr>
          <p:cNvPr id="32" name="Text 29"/>
          <p:cNvSpPr/>
          <p:nvPr/>
        </p:nvSpPr>
        <p:spPr>
          <a:xfrm>
            <a:off x="5989320" y="5715000"/>
            <a:ext cx="557143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© V-World 국토교통부 | 2026</a:t>
            </a:r>
            <a:endParaRPr lang="en-US" sz="1100" dirty="0"/>
          </a:p>
        </p:txBody>
      </p:sp>
      <p:sp>
        <p:nvSpPr>
          <p:cNvPr id="33" name="Text 30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34" name="Text 31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렌트롤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렌트롤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645920"/>
            <a:ext cx="137160" cy="137160"/>
          </a:xfrm>
          <a:prstGeom prst="rect">
            <a:avLst/>
          </a:prstGeom>
          <a:solidFill>
            <a:srgbClr val="C9A9A6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645920"/>
            <a:ext cx="54864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234440" y="1645920"/>
            <a:ext cx="137160" cy="137160"/>
          </a:xfrm>
          <a:prstGeom prst="rect">
            <a:avLst/>
          </a:prstGeom>
          <a:solidFill>
            <a:srgbClr val="93B3A0"/>
          </a:solidFill>
          <a:ln/>
        </p:spPr>
      </p:sp>
      <p:sp>
        <p:nvSpPr>
          <p:cNvPr id="9" name="Text 7"/>
          <p:cNvSpPr/>
          <p:nvPr/>
        </p:nvSpPr>
        <p:spPr>
          <a:xfrm>
            <a:off x="1417320" y="1645920"/>
            <a:ext cx="54864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965960" y="1645920"/>
            <a:ext cx="137160" cy="137160"/>
          </a:xfrm>
          <a:prstGeom prst="rect">
            <a:avLst/>
          </a:prstGeom>
          <a:solidFill>
            <a:srgbClr val="FBEFE8"/>
          </a:solidFill>
          <a:ln w="12700">
            <a:solidFill>
              <a:srgbClr val="B05A2E"/>
            </a:solidFill>
            <a:prstDash val="dash"/>
          </a:ln>
        </p:spPr>
      </p:sp>
      <p:sp>
        <p:nvSpPr>
          <p:cNvPr id="11" name="Text 9"/>
          <p:cNvSpPr/>
          <p:nvPr/>
        </p:nvSpPr>
        <p:spPr>
          <a:xfrm>
            <a:off x="2148840" y="1645920"/>
            <a:ext cx="54864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5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공실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85800" y="5532120"/>
            <a:ext cx="2560320" cy="0"/>
          </a:xfrm>
          <a:prstGeom prst="line">
            <a:avLst/>
          </a:prstGeom>
          <a:noFill/>
          <a:ln w="19050">
            <a:solidFill>
              <a:srgbClr val="CBD5E0"/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685800" y="5349240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GL (지상/지하 경계)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502920" y="5532120"/>
            <a:ext cx="320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868680" y="5559552"/>
            <a:ext cx="2194560" cy="448056"/>
          </a:xfrm>
          <a:prstGeom prst="rect">
            <a:avLst/>
          </a:prstGeom>
          <a:solidFill>
            <a:srgbClr val="E2E8F0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41832" y="5559552"/>
            <a:ext cx="1316736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카페(자가)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185416" y="5559552"/>
            <a:ext cx="768096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317평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502920" y="5029200"/>
            <a:ext cx="320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1F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472184" y="5056632"/>
            <a:ext cx="987552" cy="448056"/>
          </a:xfrm>
          <a:prstGeom prst="rect">
            <a:avLst/>
          </a:prstGeom>
          <a:solidFill>
            <a:srgbClr val="93B3A0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517904" y="5056632"/>
            <a:ext cx="896112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약국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02920" y="4526280"/>
            <a:ext cx="320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1F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1472184" y="4553712"/>
            <a:ext cx="987552" cy="448056"/>
          </a:xfrm>
          <a:prstGeom prst="rect">
            <a:avLst/>
          </a:prstGeom>
          <a:solidFill>
            <a:srgbClr val="93B3A0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517904" y="4553712"/>
            <a:ext cx="896112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내과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502920" y="4023360"/>
            <a:ext cx="320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2F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099109" y="4050792"/>
            <a:ext cx="1733702" cy="448056"/>
          </a:xfrm>
          <a:prstGeom prst="rect">
            <a:avLst/>
          </a:prstGeom>
          <a:solidFill>
            <a:srgbClr val="93B3A0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172261" y="4050792"/>
            <a:ext cx="1040221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내과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2139330" y="4050792"/>
            <a:ext cx="606796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252평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502920" y="3520440"/>
            <a:ext cx="320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3F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099109" y="3547872"/>
            <a:ext cx="1733702" cy="448056"/>
          </a:xfrm>
          <a:prstGeom prst="rect">
            <a:avLst/>
          </a:prstGeom>
          <a:solidFill>
            <a:srgbClr val="93B3A0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172261" y="3547872"/>
            <a:ext cx="1040221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헬쓰장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2139330" y="3547872"/>
            <a:ext cx="606796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252평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502920" y="3017520"/>
            <a:ext cx="320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4F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1384402" y="3044952"/>
            <a:ext cx="1163117" cy="448056"/>
          </a:xfrm>
          <a:prstGeom prst="rect">
            <a:avLst/>
          </a:prstGeom>
          <a:solidFill>
            <a:srgbClr val="C9A9A6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430122" y="3044952"/>
            <a:ext cx="1071677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와인매장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502920" y="2514600"/>
            <a:ext cx="320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4F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1472184" y="2542032"/>
            <a:ext cx="987552" cy="448056"/>
          </a:xfrm>
          <a:prstGeom prst="rect">
            <a:avLst/>
          </a:prstGeom>
          <a:solidFill>
            <a:srgbClr val="E2E8F0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517904" y="2542032"/>
            <a:ext cx="896112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자가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502920" y="2011680"/>
            <a:ext cx="320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5F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1329538" y="2039112"/>
            <a:ext cx="1272845" cy="448056"/>
          </a:xfrm>
          <a:prstGeom prst="rect">
            <a:avLst/>
          </a:prstGeom>
          <a:solidFill>
            <a:srgbClr val="93B3A0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375258" y="2039112"/>
            <a:ext cx="1181405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내과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02920" y="608076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A8A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렌트롤 현황 기준 층별 공간 배치도</a:t>
            </a:r>
            <a:endParaRPr lang="en-US" sz="8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749040" y="1645920"/>
          <a:ext cx="6805879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457200"/>
                <a:gridCol w="868680"/>
                <a:gridCol w="1188720"/>
                <a:gridCol w="749808"/>
                <a:gridCol w="749808"/>
                <a:gridCol w="658368"/>
                <a:gridCol w="658368"/>
                <a:gridCol w="1161288"/>
              </a:tblGrid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층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호실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용도/업종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임차인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전용면적(㎡)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보증금(만원)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월세(만원)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계약종료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비고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B1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카페(자가)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카페(자가)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317.4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자가사용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약국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약국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78.3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6,000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183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2026-08-31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임대 11년 경과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내과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내과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105.5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14,000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883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2026-08-31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로뎀나무내과 통합계약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내과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내과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252.2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2026-08-31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로뎀나무내과 통합계약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헬쓰장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헬쓰장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252.2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5,000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455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2026-04-17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와인매장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와인매장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168.9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3,000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260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2025-04-30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자가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자가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83.0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자가사용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내과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내과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183.8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1,000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165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2026-08-31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로뎀나무내과 통합계약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8개 호실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1441.3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29,000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1,946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3" name="Text 40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44" name="Text 41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수익률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371600"/>
            <a:ext cx="11057839" cy="1188720"/>
          </a:xfrm>
          <a:prstGeom prst="roundRect">
            <a:avLst>
              <a:gd name="adj" fmla="val 6154"/>
            </a:avLst>
          </a:prstGeom>
          <a:solidFill>
            <a:srgbClr val="F7FAFC"/>
          </a:solidFill>
          <a:ln w="9525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508760"/>
            <a:ext cx="3200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표면 임대수익률  =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343400" y="15087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연간 임대료 합계 (관리비 제외)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26280" y="1920240"/>
            <a:ext cx="4206240" cy="0"/>
          </a:xfrm>
          <a:prstGeom prst="line">
            <a:avLst/>
          </a:prstGeom>
          <a:noFill/>
          <a:ln w="25400">
            <a:solidFill>
              <a:srgbClr val="B886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43400" y="19659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매매가  −  승계 보증금 합계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726119" y="1508760"/>
            <a:ext cx="2697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2.3억원</a:t>
            </a:r>
            <a:pPr algn="r"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÷ (115.0억원 − 2.9억원)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2920" y="2834640"/>
            <a:ext cx="11057839" cy="3063240"/>
          </a:xfrm>
          <a:prstGeom prst="roundRect">
            <a:avLst>
              <a:gd name="adj" fmla="val 2388"/>
            </a:avLst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5800" y="3017520"/>
            <a:ext cx="1280160" cy="329184"/>
          </a:xfrm>
          <a:prstGeom prst="roundRect">
            <a:avLst>
              <a:gd name="adj" fmla="val 11111"/>
            </a:avLst>
          </a:prstGeom>
          <a:solidFill>
            <a:srgbClr val="F3F6F7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3017520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As-Is (현재)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77240" y="3520440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연간 임대료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457639" y="3520440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2.3억원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77240" y="3922776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승계 보증금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9457639" y="3922776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2.9억원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77240" y="4325112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매매가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457639" y="4325112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115.0억원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85800" y="4837176"/>
            <a:ext cx="10692079" cy="594360"/>
          </a:xfrm>
          <a:prstGeom prst="roundRect">
            <a:avLst>
              <a:gd name="adj" fmla="val 9231"/>
            </a:avLst>
          </a:prstGeom>
          <a:solidFill>
            <a:srgbClr val="132A3A"/>
          </a:solidFill>
          <a:ln/>
        </p:spPr>
      </p:sp>
      <p:sp>
        <p:nvSpPr>
          <p:cNvPr id="22" name="Text 20"/>
          <p:cNvSpPr/>
          <p:nvPr/>
        </p:nvSpPr>
        <p:spPr>
          <a:xfrm>
            <a:off x="868680" y="4837176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Cap Rate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183319" y="4837176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2.08%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Gallery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사진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234440"/>
            <a:ext cx="3600602" cy="2290572"/>
          </a:xfrm>
          <a:prstGeom prst="roundRect">
            <a:avLst>
              <a:gd name="adj" fmla="val 2395"/>
            </a:avLst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234440"/>
            <a:ext cx="3600602" cy="2290572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76072" y="1307592"/>
            <a:ext cx="868680" cy="237744"/>
          </a:xfrm>
          <a:prstGeom prst="rect">
            <a:avLst/>
          </a:prstGeom>
          <a:solidFill>
            <a:srgbClr val="10161F">
              <a:alpha val="80000"/>
            </a:srgbClr>
          </a:solidFill>
          <a:ln/>
        </p:spPr>
      </p:sp>
      <p:sp>
        <p:nvSpPr>
          <p:cNvPr id="9" name="Text 6"/>
          <p:cNvSpPr/>
          <p:nvPr/>
        </p:nvSpPr>
        <p:spPr>
          <a:xfrm>
            <a:off x="576072" y="130759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외관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502920" y="3232404"/>
            <a:ext cx="3600602" cy="292608"/>
          </a:xfrm>
          <a:prstGeom prst="rect">
            <a:avLst/>
          </a:prstGeom>
          <a:solidFill>
            <a:srgbClr val="000000">
              <a:alpha val="60000"/>
            </a:srgbClr>
          </a:solidFill>
          <a:ln/>
        </p:spPr>
      </p:sp>
      <p:sp>
        <p:nvSpPr>
          <p:cNvPr id="11" name="Text 8"/>
          <p:cNvSpPr/>
          <p:nvPr/>
        </p:nvSpPr>
        <p:spPr>
          <a:xfrm>
            <a:off x="612648" y="3232404"/>
            <a:ext cx="33811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정면 외관 (B1~5F, 벽돌 구조)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4231538" y="1234440"/>
            <a:ext cx="3600602" cy="2290572"/>
          </a:xfrm>
          <a:prstGeom prst="roundRect">
            <a:avLst>
              <a:gd name="adj" fmla="val 2395"/>
            </a:avLst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231538" y="1234440"/>
            <a:ext cx="3600602" cy="2290572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4304690" y="1307592"/>
            <a:ext cx="868680" cy="237744"/>
          </a:xfrm>
          <a:prstGeom prst="rect">
            <a:avLst/>
          </a:prstGeom>
          <a:solidFill>
            <a:srgbClr val="10161F">
              <a:alpha val="80000"/>
            </a:srgbClr>
          </a:solidFill>
          <a:ln/>
        </p:spPr>
      </p:sp>
      <p:sp>
        <p:nvSpPr>
          <p:cNvPr id="15" name="Text 11"/>
          <p:cNvSpPr/>
          <p:nvPr/>
        </p:nvSpPr>
        <p:spPr>
          <a:xfrm>
            <a:off x="4304690" y="130759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외관</a:t>
            </a:r>
            <a:endParaRPr lang="en-US" sz="900" dirty="0"/>
          </a:p>
        </p:txBody>
      </p:sp>
      <p:sp>
        <p:nvSpPr>
          <p:cNvPr id="16" name="Shape 12"/>
          <p:cNvSpPr/>
          <p:nvPr/>
        </p:nvSpPr>
        <p:spPr>
          <a:xfrm>
            <a:off x="4231538" y="3232404"/>
            <a:ext cx="3600602" cy="292608"/>
          </a:xfrm>
          <a:prstGeom prst="rect">
            <a:avLst/>
          </a:prstGeom>
          <a:solidFill>
            <a:srgbClr val="000000">
              <a:alpha val="60000"/>
            </a:srgbClr>
          </a:solidFill>
          <a:ln/>
        </p:spPr>
      </p:sp>
      <p:sp>
        <p:nvSpPr>
          <p:cNvPr id="17" name="Text 13"/>
          <p:cNvSpPr/>
          <p:nvPr/>
        </p:nvSpPr>
        <p:spPr>
          <a:xfrm>
            <a:off x="4341266" y="3232404"/>
            <a:ext cx="33811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측면 (자주식 주차장 진입로)</a:t>
            </a:r>
            <a:endParaRPr lang="en-US" sz="900" dirty="0"/>
          </a:p>
        </p:txBody>
      </p:sp>
      <p:sp>
        <p:nvSpPr>
          <p:cNvPr id="18" name="Shape 14"/>
          <p:cNvSpPr/>
          <p:nvPr/>
        </p:nvSpPr>
        <p:spPr>
          <a:xfrm>
            <a:off x="7960157" y="1234440"/>
            <a:ext cx="3600602" cy="2290572"/>
          </a:xfrm>
          <a:prstGeom prst="roundRect">
            <a:avLst>
              <a:gd name="adj" fmla="val 2395"/>
            </a:avLst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960157" y="1234440"/>
            <a:ext cx="3600602" cy="2290572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8033309" y="1307592"/>
            <a:ext cx="868680" cy="237744"/>
          </a:xfrm>
          <a:prstGeom prst="rect">
            <a:avLst/>
          </a:prstGeom>
          <a:solidFill>
            <a:srgbClr val="10161F">
              <a:alpha val="80000"/>
            </a:srgbClr>
          </a:solidFill>
          <a:ln/>
        </p:spPr>
      </p:sp>
      <p:sp>
        <p:nvSpPr>
          <p:cNvPr id="21" name="Text 16"/>
          <p:cNvSpPr/>
          <p:nvPr/>
        </p:nvSpPr>
        <p:spPr>
          <a:xfrm>
            <a:off x="8033309" y="130759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 출입구</a:t>
            </a:r>
            <a:endParaRPr lang="en-US" sz="900" dirty="0"/>
          </a:p>
        </p:txBody>
      </p:sp>
      <p:sp>
        <p:nvSpPr>
          <p:cNvPr id="22" name="Shape 17"/>
          <p:cNvSpPr/>
          <p:nvPr/>
        </p:nvSpPr>
        <p:spPr>
          <a:xfrm>
            <a:off x="7960157" y="3232404"/>
            <a:ext cx="3600602" cy="292608"/>
          </a:xfrm>
          <a:prstGeom prst="rect">
            <a:avLst/>
          </a:prstGeom>
          <a:solidFill>
            <a:srgbClr val="000000">
              <a:alpha val="60000"/>
            </a:srgbClr>
          </a:solidFill>
          <a:ln/>
        </p:spPr>
      </p:sp>
      <p:sp>
        <p:nvSpPr>
          <p:cNvPr id="23" name="Text 18"/>
          <p:cNvSpPr/>
          <p:nvPr/>
        </p:nvSpPr>
        <p:spPr>
          <a:xfrm>
            <a:off x="8069885" y="3232404"/>
            <a:ext cx="33811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주출입구 및 1층 간판 (로뎀나무내과·고은약국)</a:t>
            </a:r>
            <a:endParaRPr lang="en-US" sz="900" dirty="0"/>
          </a:p>
        </p:txBody>
      </p:sp>
      <p:sp>
        <p:nvSpPr>
          <p:cNvPr id="24" name="Shape 19"/>
          <p:cNvSpPr/>
          <p:nvPr/>
        </p:nvSpPr>
        <p:spPr>
          <a:xfrm>
            <a:off x="502920" y="3653028"/>
            <a:ext cx="3600602" cy="2290572"/>
          </a:xfrm>
          <a:prstGeom prst="roundRect">
            <a:avLst>
              <a:gd name="adj" fmla="val 2395"/>
            </a:avLst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502920" y="3653028"/>
            <a:ext cx="3600602" cy="2290572"/>
          </a:xfrm>
          <a:prstGeom prst="rect">
            <a:avLst/>
          </a:prstGeom>
        </p:spPr>
      </p:pic>
      <p:sp>
        <p:nvSpPr>
          <p:cNvPr id="26" name="Shape 20"/>
          <p:cNvSpPr/>
          <p:nvPr/>
        </p:nvSpPr>
        <p:spPr>
          <a:xfrm>
            <a:off x="576072" y="3726180"/>
            <a:ext cx="868680" cy="237744"/>
          </a:xfrm>
          <a:prstGeom prst="rect">
            <a:avLst/>
          </a:prstGeom>
          <a:solidFill>
            <a:srgbClr val="10161F">
              <a:alpha val="80000"/>
            </a:srgbClr>
          </a:solidFill>
          <a:ln/>
        </p:spPr>
      </p:sp>
      <p:sp>
        <p:nvSpPr>
          <p:cNvPr id="27" name="Text 21"/>
          <p:cNvSpPr/>
          <p:nvPr/>
        </p:nvSpPr>
        <p:spPr>
          <a:xfrm>
            <a:off x="576072" y="3726180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실내 공간</a:t>
            </a:r>
            <a:endParaRPr lang="en-US" sz="900" dirty="0"/>
          </a:p>
        </p:txBody>
      </p:sp>
      <p:sp>
        <p:nvSpPr>
          <p:cNvPr id="28" name="Shape 22"/>
          <p:cNvSpPr/>
          <p:nvPr/>
        </p:nvSpPr>
        <p:spPr>
          <a:xfrm>
            <a:off x="502920" y="5650992"/>
            <a:ext cx="3600602" cy="292608"/>
          </a:xfrm>
          <a:prstGeom prst="rect">
            <a:avLst/>
          </a:prstGeom>
          <a:solidFill>
            <a:srgbClr val="000000">
              <a:alpha val="60000"/>
            </a:srgbClr>
          </a:solidFill>
          <a:ln/>
        </p:spPr>
      </p:sp>
      <p:sp>
        <p:nvSpPr>
          <p:cNvPr id="29" name="Text 23"/>
          <p:cNvSpPr/>
          <p:nvPr/>
        </p:nvSpPr>
        <p:spPr>
          <a:xfrm>
            <a:off x="612648" y="5650992"/>
            <a:ext cx="33811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내부 층별 공용 복도</a:t>
            </a:r>
            <a:endParaRPr lang="en-US" sz="900" dirty="0"/>
          </a:p>
        </p:txBody>
      </p:sp>
      <p:sp>
        <p:nvSpPr>
          <p:cNvPr id="30" name="Shape 24"/>
          <p:cNvSpPr/>
          <p:nvPr/>
        </p:nvSpPr>
        <p:spPr>
          <a:xfrm>
            <a:off x="4231538" y="3653028"/>
            <a:ext cx="3600602" cy="2290572"/>
          </a:xfrm>
          <a:prstGeom prst="roundRect">
            <a:avLst>
              <a:gd name="adj" fmla="val 2395"/>
            </a:avLst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pic>
        <p:nvPicPr>
          <p:cNvPr id="31" name="Image 4" descr="preencoded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4231538" y="3653028"/>
            <a:ext cx="3600602" cy="2290572"/>
          </a:xfrm>
          <a:prstGeom prst="rect">
            <a:avLst/>
          </a:prstGeom>
        </p:spPr>
      </p:pic>
      <p:sp>
        <p:nvSpPr>
          <p:cNvPr id="32" name="Shape 25"/>
          <p:cNvSpPr/>
          <p:nvPr/>
        </p:nvSpPr>
        <p:spPr>
          <a:xfrm>
            <a:off x="4304690" y="3726180"/>
            <a:ext cx="868680" cy="237744"/>
          </a:xfrm>
          <a:prstGeom prst="rect">
            <a:avLst/>
          </a:prstGeom>
          <a:solidFill>
            <a:srgbClr val="10161F">
              <a:alpha val="80000"/>
            </a:srgbClr>
          </a:solidFill>
          <a:ln/>
        </p:spPr>
      </p:sp>
      <p:sp>
        <p:nvSpPr>
          <p:cNvPr id="33" name="Text 26"/>
          <p:cNvSpPr/>
          <p:nvPr/>
        </p:nvSpPr>
        <p:spPr>
          <a:xfrm>
            <a:off x="4304690" y="3726180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실내 공간</a:t>
            </a:r>
            <a:endParaRPr lang="en-US" sz="900" dirty="0"/>
          </a:p>
        </p:txBody>
      </p:sp>
      <p:sp>
        <p:nvSpPr>
          <p:cNvPr id="34" name="Shape 27"/>
          <p:cNvSpPr/>
          <p:nvPr/>
        </p:nvSpPr>
        <p:spPr>
          <a:xfrm>
            <a:off x="4231538" y="5650992"/>
            <a:ext cx="3600602" cy="292608"/>
          </a:xfrm>
          <a:prstGeom prst="rect">
            <a:avLst/>
          </a:prstGeom>
          <a:solidFill>
            <a:srgbClr val="000000">
              <a:alpha val="60000"/>
            </a:srgbClr>
          </a:solidFill>
          <a:ln/>
        </p:spPr>
      </p:sp>
      <p:sp>
        <p:nvSpPr>
          <p:cNvPr id="35" name="Text 28"/>
          <p:cNvSpPr/>
          <p:nvPr/>
        </p:nvSpPr>
        <p:spPr>
          <a:xfrm>
            <a:off x="4341266" y="5650992"/>
            <a:ext cx="33811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임차 전용 공간 (사무실 내부)</a:t>
            </a:r>
            <a:endParaRPr lang="en-US" sz="900" dirty="0"/>
          </a:p>
        </p:txBody>
      </p:sp>
      <p:sp>
        <p:nvSpPr>
          <p:cNvPr id="36" name="Shape 29"/>
          <p:cNvSpPr/>
          <p:nvPr/>
        </p:nvSpPr>
        <p:spPr>
          <a:xfrm>
            <a:off x="7960157" y="3653028"/>
            <a:ext cx="3600602" cy="2290572"/>
          </a:xfrm>
          <a:prstGeom prst="roundRect">
            <a:avLst>
              <a:gd name="adj" fmla="val 2395"/>
            </a:avLst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pic>
        <p:nvPicPr>
          <p:cNvPr id="37" name="Image 5" descr="preencoded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7960157" y="3653028"/>
            <a:ext cx="3600602" cy="2290572"/>
          </a:xfrm>
          <a:prstGeom prst="rect">
            <a:avLst/>
          </a:prstGeom>
        </p:spPr>
      </p:pic>
      <p:sp>
        <p:nvSpPr>
          <p:cNvPr id="38" name="Shape 30"/>
          <p:cNvSpPr/>
          <p:nvPr/>
        </p:nvSpPr>
        <p:spPr>
          <a:xfrm>
            <a:off x="8033309" y="3726180"/>
            <a:ext cx="822960" cy="237744"/>
          </a:xfrm>
          <a:prstGeom prst="rect">
            <a:avLst/>
          </a:prstGeom>
          <a:solidFill>
            <a:srgbClr val="10161F">
              <a:alpha val="80000"/>
            </a:srgbClr>
          </a:solidFill>
          <a:ln/>
        </p:spPr>
      </p:sp>
      <p:sp>
        <p:nvSpPr>
          <p:cNvPr id="39" name="Text 31"/>
          <p:cNvSpPr/>
          <p:nvPr/>
        </p:nvSpPr>
        <p:spPr>
          <a:xfrm>
            <a:off x="8033309" y="372618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주차장</a:t>
            </a:r>
            <a:endParaRPr lang="en-US" sz="900" dirty="0"/>
          </a:p>
        </p:txBody>
      </p:sp>
      <p:sp>
        <p:nvSpPr>
          <p:cNvPr id="40" name="Shape 32"/>
          <p:cNvSpPr/>
          <p:nvPr/>
        </p:nvSpPr>
        <p:spPr>
          <a:xfrm>
            <a:off x="7960157" y="5650992"/>
            <a:ext cx="3600602" cy="292608"/>
          </a:xfrm>
          <a:prstGeom prst="rect">
            <a:avLst/>
          </a:prstGeom>
          <a:solidFill>
            <a:srgbClr val="000000">
              <a:alpha val="60000"/>
            </a:srgbClr>
          </a:solidFill>
          <a:ln/>
        </p:spPr>
      </p:sp>
      <p:sp>
        <p:nvSpPr>
          <p:cNvPr id="41" name="Text 33"/>
          <p:cNvSpPr/>
          <p:nvPr/>
        </p:nvSpPr>
        <p:spPr>
          <a:xfrm>
            <a:off x="8069885" y="5650992"/>
            <a:ext cx="33811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자주식 주차장 (8대)</a:t>
            </a:r>
            <a:endParaRPr lang="en-US" sz="900" dirty="0"/>
          </a:p>
        </p:txBody>
      </p:sp>
      <p:sp>
        <p:nvSpPr>
          <p:cNvPr id="42" name="Text 34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43" name="Text 35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3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문의/유의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및 유의사항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02920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132A3A"/>
          </a:solidFill>
          <a:ln/>
        </p:spPr>
      </p:sp>
      <p:sp>
        <p:nvSpPr>
          <p:cNvPr id="7" name="Shape 5"/>
          <p:cNvSpPr/>
          <p:nvPr/>
        </p:nvSpPr>
        <p:spPr>
          <a:xfrm>
            <a:off x="612648" y="1572768"/>
            <a:ext cx="438912" cy="43891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8" name="Text 6"/>
          <p:cNvSpPr/>
          <p:nvPr/>
        </p:nvSpPr>
        <p:spPr>
          <a:xfrm>
            <a:off x="612648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61288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61288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091330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237634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132A3A"/>
          </a:solidFill>
          <a:ln/>
        </p:spPr>
      </p:sp>
      <p:sp>
        <p:nvSpPr>
          <p:cNvPr id="13" name="Shape 11"/>
          <p:cNvSpPr/>
          <p:nvPr/>
        </p:nvSpPr>
        <p:spPr>
          <a:xfrm>
            <a:off x="4347362" y="1572768"/>
            <a:ext cx="438912" cy="43891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4" name="Text 12"/>
          <p:cNvSpPr/>
          <p:nvPr/>
        </p:nvSpPr>
        <p:spPr>
          <a:xfrm>
            <a:off x="4347362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896002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96002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26045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7972349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132A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082077" y="1572768"/>
            <a:ext cx="438912" cy="43891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20" name="Text 18"/>
          <p:cNvSpPr/>
          <p:nvPr/>
        </p:nvSpPr>
        <p:spPr>
          <a:xfrm>
            <a:off x="8082077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30717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30717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02920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02920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25" name="Text 23"/>
          <p:cNvSpPr/>
          <p:nvPr/>
        </p:nvSpPr>
        <p:spPr>
          <a:xfrm>
            <a:off x="502920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29384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02920" y="312724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28" name="Text 26"/>
          <p:cNvSpPr/>
          <p:nvPr/>
        </p:nvSpPr>
        <p:spPr>
          <a:xfrm>
            <a:off x="50292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29384" y="31089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02920" y="352958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31" name="Text 29"/>
          <p:cNvSpPr/>
          <p:nvPr/>
        </p:nvSpPr>
        <p:spPr>
          <a:xfrm>
            <a:off x="502920" y="352958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29384" y="351129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02920" y="393192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34" name="Text 32"/>
          <p:cNvSpPr/>
          <p:nvPr/>
        </p:nvSpPr>
        <p:spPr>
          <a:xfrm>
            <a:off x="502920" y="39319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29384" y="391363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02920" y="433425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37" name="Text 35"/>
          <p:cNvSpPr/>
          <p:nvPr/>
        </p:nvSpPr>
        <p:spPr>
          <a:xfrm>
            <a:off x="502920" y="433425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29384" y="431596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중개사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32A3A"/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675120" y="2798064"/>
            <a:ext cx="4764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📞  정현우 수석팀장  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6675120" y="3072384"/>
            <a:ext cx="4764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☎ 010-3344-5566    ✉ js-cre@credeal.kr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6675120" y="3310128"/>
            <a:ext cx="4764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🏢 제이에스부동산중개법인    등록번호: 11680-2024-00156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492240" y="3895344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492240" y="4206240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A3347"/>
          </a:solidFill>
          <a:ln/>
        </p:spPr>
      </p:sp>
      <p:sp>
        <p:nvSpPr>
          <p:cNvPr id="46" name="Text 44"/>
          <p:cNvSpPr/>
          <p:nvPr/>
        </p:nvSpPr>
        <p:spPr>
          <a:xfrm>
            <a:off x="6675120" y="4315968"/>
            <a:ext cx="47640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02920" y="5760720"/>
            <a:ext cx="11057839" cy="457200"/>
          </a:xfrm>
          <a:prstGeom prst="rect">
            <a:avLst/>
          </a:prstGeom>
          <a:solidFill>
            <a:srgbClr val="8B6508"/>
          </a:solidFill>
          <a:ln/>
        </p:spPr>
      </p:sp>
      <p:sp>
        <p:nvSpPr>
          <p:cNvPr id="48" name="Text 46"/>
          <p:cNvSpPr/>
          <p:nvPr/>
        </p:nvSpPr>
        <p:spPr>
          <a:xfrm>
            <a:off x="685800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6F1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제이에스부동산중개법인 · 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2026-09-24T11:45:18Z</dcterms:created>
  <dcterms:modified xsi:type="dcterms:W3CDTF">2026-09-24T11:45:18Z</dcterms:modified>
</cp:coreProperties>
</file>