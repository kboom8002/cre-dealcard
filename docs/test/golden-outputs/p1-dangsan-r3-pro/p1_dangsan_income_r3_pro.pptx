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당산동5가 근생빌딩 매각 제안서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02920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근린생활시설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" y="3685032"/>
            <a:ext cx="1243584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685032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근린생활시설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02920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파트너스 부동산중개법인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파트너스  |  크리딜 파트너스 부동산중개법인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 OF CONTENTS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목차 및 주요 검토 항목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1069848" y="1005840"/>
            <a:ext cx="1049091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투자설명서는 전문 투자자 실무 검토 기준에 부합하는 5대 핵심 챕터로 구성되어 있습니다.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481328"/>
            <a:ext cx="5368900" cy="1623060"/>
          </a:xfrm>
          <a:prstGeom prst="roundRect">
            <a:avLst>
              <a:gd name="adj" fmla="val 4507"/>
            </a:avLst>
          </a:prstGeom>
          <a:solidFill>
            <a:srgbClr val="F7FAFC"/>
          </a:solidFill>
          <a:ln w="10160">
            <a:solidFill>
              <a:srgbClr val="CBD5E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481328"/>
            <a:ext cx="54864" cy="162306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9" name="Shape 7"/>
          <p:cNvSpPr/>
          <p:nvPr/>
        </p:nvSpPr>
        <p:spPr>
          <a:xfrm>
            <a:off x="685800" y="1645920"/>
            <a:ext cx="438912" cy="274320"/>
          </a:xfrm>
          <a:prstGeom prst="roundRect">
            <a:avLst>
              <a:gd name="adj" fmla="val 13333"/>
            </a:avLst>
          </a:prstGeom>
          <a:solidFill>
            <a:srgbClr val="D9B668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1645920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234440" y="1645920"/>
            <a:ext cx="44087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개요 및 투자 논거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31520" y="2011680"/>
            <a:ext cx="4911700" cy="964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C24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개요, 6대 핵심 투자 지표 및 밸류애드 가치 제안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91860" y="1481328"/>
            <a:ext cx="5368900" cy="1623060"/>
          </a:xfrm>
          <a:prstGeom prst="roundRect">
            <a:avLst>
              <a:gd name="adj" fmla="val 4507"/>
            </a:avLst>
          </a:prstGeom>
          <a:solidFill>
            <a:srgbClr val="F7FAFC"/>
          </a:solidFill>
          <a:ln w="10160">
            <a:solidFill>
              <a:srgbClr val="CBD5E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91860" y="1481328"/>
            <a:ext cx="54864" cy="162306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5" name="Shape 13"/>
          <p:cNvSpPr/>
          <p:nvPr/>
        </p:nvSpPr>
        <p:spPr>
          <a:xfrm>
            <a:off x="6374740" y="1645920"/>
            <a:ext cx="438912" cy="274320"/>
          </a:xfrm>
          <a:prstGeom prst="roundRect">
            <a:avLst>
              <a:gd name="adj" fmla="val 13333"/>
            </a:avLst>
          </a:prstGeom>
          <a:solidFill>
            <a:srgbClr val="D9B668"/>
          </a:solidFill>
          <a:ln/>
        </p:spPr>
      </p:sp>
      <p:sp>
        <p:nvSpPr>
          <p:cNvPr id="16" name="Text 14"/>
          <p:cNvSpPr/>
          <p:nvPr/>
        </p:nvSpPr>
        <p:spPr>
          <a:xfrm>
            <a:off x="6374740" y="1645920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923380" y="1645920"/>
            <a:ext cx="44087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 제원 및 임대차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420460" y="2011680"/>
            <a:ext cx="4911700" cy="964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C24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스펙, 스태킹 플랜 및 층별 상세 임대차 렌트롤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02920" y="3332988"/>
            <a:ext cx="5368900" cy="1623060"/>
          </a:xfrm>
          <a:prstGeom prst="roundRect">
            <a:avLst>
              <a:gd name="adj" fmla="val 4507"/>
            </a:avLst>
          </a:prstGeom>
          <a:solidFill>
            <a:srgbClr val="F7FAFC"/>
          </a:solidFill>
          <a:ln w="10160">
            <a:solidFill>
              <a:srgbClr val="CBD5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2920" y="3332988"/>
            <a:ext cx="54864" cy="162306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21" name="Shape 19"/>
          <p:cNvSpPr/>
          <p:nvPr/>
        </p:nvSpPr>
        <p:spPr>
          <a:xfrm>
            <a:off x="685800" y="3497580"/>
            <a:ext cx="438912" cy="274320"/>
          </a:xfrm>
          <a:prstGeom prst="roundRect">
            <a:avLst>
              <a:gd name="adj" fmla="val 13333"/>
            </a:avLst>
          </a:prstGeom>
          <a:solidFill>
            <a:srgbClr val="D9B668"/>
          </a:solidFill>
          <a:ln/>
        </p:spPr>
      </p:sp>
      <p:sp>
        <p:nvSpPr>
          <p:cNvPr id="22" name="Text 20"/>
          <p:cNvSpPr/>
          <p:nvPr/>
        </p:nvSpPr>
        <p:spPr>
          <a:xfrm>
            <a:off x="685800" y="3497580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III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1234440" y="3497580"/>
            <a:ext cx="44087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정밀 재무 모델링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31520" y="3863340"/>
            <a:ext cx="4911700" cy="964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C24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10개년 DCF 현금흐름, OPEX 내역, 2D 민감도 및 차입 시뮬레이션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191860" y="3332988"/>
            <a:ext cx="5368900" cy="1623060"/>
          </a:xfrm>
          <a:prstGeom prst="roundRect">
            <a:avLst>
              <a:gd name="adj" fmla="val 4507"/>
            </a:avLst>
          </a:prstGeom>
          <a:solidFill>
            <a:srgbClr val="F7FAFC"/>
          </a:solidFill>
          <a:ln w="10160">
            <a:solidFill>
              <a:srgbClr val="CBD5E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191860" y="3332988"/>
            <a:ext cx="54864" cy="162306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27" name="Shape 25"/>
          <p:cNvSpPr/>
          <p:nvPr/>
        </p:nvSpPr>
        <p:spPr>
          <a:xfrm>
            <a:off x="6374740" y="3497580"/>
            <a:ext cx="438912" cy="274320"/>
          </a:xfrm>
          <a:prstGeom prst="roundRect">
            <a:avLst>
              <a:gd name="adj" fmla="val 13333"/>
            </a:avLst>
          </a:prstGeom>
          <a:solidFill>
            <a:srgbClr val="D9B668"/>
          </a:solidFill>
          <a:ln/>
        </p:spPr>
      </p:sp>
      <p:sp>
        <p:nvSpPr>
          <p:cNvPr id="28" name="Text 26"/>
          <p:cNvSpPr/>
          <p:nvPr/>
        </p:nvSpPr>
        <p:spPr>
          <a:xfrm>
            <a:off x="6374740" y="3497580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923380" y="3497580"/>
            <a:ext cx="44087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시장 분석 및 실거래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420460" y="3863340"/>
            <a:ext cx="4911700" cy="964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C24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권역 수급 동향, 인근 실거래 사례(Sales Comps) 및 평당가 비교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02920" y="5093208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85800" y="5202936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2423160" y="5166360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자산에 대한 상세 분석 및 투자 의사결정은 원본 임대차 계약서 및 공부상 권리관계 실사를 바탕으로 진행됩니다.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3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|  INSTITUTIONAL PRO IM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488375" y="4114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 ·  I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502920" y="1051560"/>
            <a:ext cx="54864" cy="489204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188720"/>
            <a:ext cx="107377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01  ·  PART I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14055" y="1005840"/>
            <a:ext cx="3474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11000" dirty="0"/>
          </a:p>
        </p:txBody>
      </p:sp>
      <p:sp>
        <p:nvSpPr>
          <p:cNvPr id="8" name="Text 6"/>
          <p:cNvSpPr/>
          <p:nvPr/>
        </p:nvSpPr>
        <p:spPr>
          <a:xfrm>
            <a:off x="822960" y="1508760"/>
            <a:ext cx="79945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Executive Summary &amp; Investment Thesis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822960" y="2606040"/>
            <a:ext cx="5029200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724912"/>
            <a:ext cx="84517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개요, 투자 하이라이트 및 핵심 가치 제안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22960" y="3337560"/>
            <a:ext cx="10737799" cy="2697480"/>
          </a:xfrm>
          <a:prstGeom prst="rect">
            <a:avLst/>
          </a:prstGeom>
          <a:solidFill>
            <a:srgbClr val="1A202C"/>
          </a:solidFill>
          <a:ln w="10160">
            <a:solidFill>
              <a:srgbClr val="4A55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3337560"/>
            <a:ext cx="10737799" cy="347472"/>
          </a:xfrm>
          <a:prstGeom prst="rect">
            <a:avLst/>
          </a:prstGeom>
          <a:solidFill>
            <a:srgbClr val="2D3748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3410712"/>
            <a:ext cx="102805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CONTENTS &amp; KEY DELIVERABLES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97280" y="3794760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01.01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783080" y="3794760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01.01  물건 프로필 및 핵심 지표 요약 (Key Facts)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097280" y="4215384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97280" y="4233672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01.02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783080" y="4233672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01.02  핵심 투자 논거 및 전략적 타당성 (Investment Thesis)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097280" y="4654296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97280" y="4672584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01.03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783080" y="4672584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01.03  매입 가격 구조 및 밸류애드 기회 (Value-Add Highlights)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329020" y="3794760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01.04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014820" y="3794760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01.04  광역 입지 접근성 및 핵심 교통망 (Location Connectivity)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329020" y="4215384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29020" y="4233672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01.05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14820" y="4233672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01.05  임대차 현황 및 운용 현금흐름 요약 (Cash Flow Snapshot)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329020" y="4654296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지표 및 물건 프로필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임차 포트폴리오 기반 현금흐름 분석 대상 상업용 자산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96596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67512" y="231343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115억 원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243730" y="196596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08322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필요 실투자금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408322" y="231343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118.4억 원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7984541" y="196596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149133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149133" y="231343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1.56%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502920" y="309067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7512" y="321868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자기자본수익률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67512" y="343814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1.6%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4243730" y="309067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408322" y="321868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408322" y="343814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153.3평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7984541" y="309067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149133" y="321868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149133" y="343814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345.2평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502920" y="43068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02920" y="4636008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12648" y="4709160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12648" y="4709160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143000" y="4672584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WALE 안정성: 임대료 기준 가중평균 잔여만기 0.0년(면적 기준 0.0년) 확보로 장기 현금흐름 안정성 견고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02920" y="5114544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2648" y="5187696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12648" y="5187696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1143000" y="5151120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순영업소득(NOI) 가치: 연간 실질 순영업소득 0.0억 원(Cap Rate 1.56%) 달성 및 우량 임차인 위주의 안정적 임대차 구성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02920" y="5593080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12648" y="5666232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12648" y="5666232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1143000" y="5629656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렌트롤 다단 리스크 관리: 12개월 내 만기도래 비중 0.0% 선제적 테넌트 리텐션 대응 가능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논거 및 전략적 가치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1069848" y="1005840"/>
            <a:ext cx="1049091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포인트 및 자산 개요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481328"/>
            <a:ext cx="11057839" cy="2560320"/>
          </a:xfrm>
          <a:prstGeom prst="roundRect">
            <a:avLst>
              <a:gd name="adj" fmla="val 2857"/>
            </a:avLst>
          </a:prstGeom>
          <a:solidFill>
            <a:srgbClr val="F7FAFC"/>
          </a:solidFill>
          <a:ln w="10160">
            <a:solidFill>
              <a:srgbClr val="CBD5E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481328"/>
            <a:ext cx="11057839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0" y="1755648"/>
            <a:ext cx="475488" cy="292608"/>
          </a:xfrm>
          <a:prstGeom prst="roundRect">
            <a:avLst>
              <a:gd name="adj" fmla="val 12500"/>
            </a:avLst>
          </a:prstGeom>
          <a:solidFill>
            <a:srgbClr val="D9B668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755648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2194560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밸류애드 잠재력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2624328"/>
            <a:ext cx="10600639" cy="0"/>
          </a:xfrm>
          <a:prstGeom prst="line">
            <a:avLst/>
          </a:prstGeom>
          <a:noFill/>
          <a:ln w="635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2779776"/>
            <a:ext cx="10600639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체계적인 임대 관리 및 자산 효율화를 통해 향후 중장기적인 자산 가치 상승을 기대할 수 있습니다. ### 밸류업 시나리오 (AI 추정)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4178808"/>
          <a:ext cx="11057839" cy="914400"/>
        </p:xfrm>
        <a:graphic>
          <a:graphicData uri="http://schemas.openxmlformats.org/drawingml/2006/table">
            <a:tbl>
              <a:tblPr/>
              <a:tblGrid>
                <a:gridCol w="2764460"/>
                <a:gridCol w="2764460"/>
                <a:gridCol w="2764460"/>
                <a:gridCol w="27644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시나리오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NOI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Cap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Rate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투자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비용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②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현실화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0.10억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1.81%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불필요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③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리모델링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상승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0.16억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(+8%)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1.86%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3.42억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15" name="Shape 12"/>
          <p:cNvSpPr/>
          <p:nvPr/>
        </p:nvSpPr>
        <p:spPr>
          <a:xfrm>
            <a:off x="502920" y="530352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85800" y="541324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2423160" y="537667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자산은 부 권역 중심에 위치한 우량 [건물명 비공개]입니다. 1. 입지 가치 및 접근성: 대중교통 및 주요 간선도로와의 우수한 연계성을 갖추고 있어 풍부한 유동인구와 배후 임대 수요를 확보하고 있습니다.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ACQUISITION HIGHLIGHTS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매입 핵심 하이라이트 및 밸류애드 기회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매입 핵심 투자 하이라이트 및 가치 창출 요소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희망 매매가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115억 원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665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66544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 평당가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66544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7,502만 원/평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248716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487168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 평당가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2423160" y="2487168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3,331만 원/평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02920" y="29077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907792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기준 연 순수익률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423160" y="2907792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2.03% (NOI 환원 기준)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02920" y="332841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3328416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물리적 상태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2423160" y="3328416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사용승인 이후 지속적 관리 및 시설 유지보수 양호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720279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23" name="Shape 21"/>
          <p:cNvSpPr/>
          <p:nvPr/>
        </p:nvSpPr>
        <p:spPr>
          <a:xfrm>
            <a:off x="7720279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4" name="Text 22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안정적 임대 수익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7866583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우량 임차인 포트폴리오 기반 안정적 현금흐름 창출</a:t>
            </a:r>
            <a:endParaRPr lang="en-US" sz="980" dirty="0"/>
          </a:p>
        </p:txBody>
      </p:sp>
      <p:sp>
        <p:nvSpPr>
          <p:cNvPr id="26" name="Shape 24"/>
          <p:cNvSpPr/>
          <p:nvPr/>
        </p:nvSpPr>
        <p:spPr>
          <a:xfrm>
            <a:off x="7720279" y="3493008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C6F6D5"/>
          </a:solidFill>
          <a:ln/>
        </p:spPr>
      </p:sp>
      <p:sp>
        <p:nvSpPr>
          <p:cNvPr id="27" name="Shape 25"/>
          <p:cNvSpPr/>
          <p:nvPr/>
        </p:nvSpPr>
        <p:spPr>
          <a:xfrm>
            <a:off x="7720279" y="3547872"/>
            <a:ext cx="36576" cy="1536192"/>
          </a:xfrm>
          <a:prstGeom prst="rect">
            <a:avLst/>
          </a:prstGeom>
          <a:solidFill>
            <a:srgbClr val="276749"/>
          </a:solidFill>
          <a:ln/>
        </p:spPr>
      </p:sp>
      <p:sp>
        <p:nvSpPr>
          <p:cNvPr id="28" name="Text 26"/>
          <p:cNvSpPr/>
          <p:nvPr/>
        </p:nvSpPr>
        <p:spPr>
          <a:xfrm>
            <a:off x="7866583" y="3584448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7674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밸류애드 업사이드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7866583" y="3785616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정상화 및 리노베이션을 통한 자본수익(Capital Gain) 극대화</a:t>
            </a:r>
            <a:endParaRPr lang="en-US" sz="980" dirty="0"/>
          </a:p>
        </p:txBody>
      </p:sp>
      <p:sp>
        <p:nvSpPr>
          <p:cNvPr id="30" name="Text 2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 &amp; CONNECTIVITY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광역 입지 및 대중교통망 분석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15600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대중교통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549323" y="1481328"/>
            <a:ext cx="40114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인접 지하철역 역세권 (상세 확인 필요)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989320" y="1975104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89320" y="1975104"/>
            <a:ext cx="15600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상권권역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549323" y="1975104"/>
            <a:ext cx="40114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영등포/당산 주요 상업·업무 권역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989320" y="2606040"/>
            <a:ext cx="5571439" cy="658368"/>
          </a:xfrm>
          <a:prstGeom prst="roundRect">
            <a:avLst>
              <a:gd name="adj" fmla="val 8333"/>
            </a:avLst>
          </a:prstGeom>
          <a:solidFill>
            <a:srgbClr val="BEE3F8"/>
          </a:solidFill>
          <a:ln/>
        </p:spPr>
      </p:sp>
      <p:sp>
        <p:nvSpPr>
          <p:cNvPr id="13" name="Shape 10"/>
          <p:cNvSpPr/>
          <p:nvPr/>
        </p:nvSpPr>
        <p:spPr>
          <a:xfrm>
            <a:off x="5989320" y="2660904"/>
            <a:ext cx="36576" cy="54864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4" name="Text 11"/>
          <p:cNvSpPr/>
          <p:nvPr/>
        </p:nvSpPr>
        <p:spPr>
          <a:xfrm>
            <a:off x="6135624" y="2697480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135624" y="2898648"/>
            <a:ext cx="531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영등포/당산 배후 상권 기반 안정적 임대 수요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CASH FLOW SNAPSHOT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현금흐름 요약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11057839" cy="1188720"/>
          </a:xfrm>
          <a:prstGeom prst="roundRect">
            <a:avLst>
              <a:gd name="adj" fmla="val 6154"/>
            </a:avLst>
          </a:prstGeom>
          <a:solidFill>
            <a:srgbClr val="F7FAFC"/>
          </a:solidFill>
          <a:ln w="9525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50876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표면 임대수익률  =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343400" y="15087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연간 임대료 합계 (관리비 제외)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26280" y="1920240"/>
            <a:ext cx="4206240" cy="0"/>
          </a:xfrm>
          <a:prstGeom prst="line">
            <a:avLst/>
          </a:prstGeom>
          <a:noFill/>
          <a:ln w="25400">
            <a:solidFill>
              <a:srgbClr val="B98A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43400" y="19659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매매가  −  승계 보증금 합계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726119" y="1508760"/>
            <a:ext cx="2697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2.3억원</a:t>
            </a:r>
            <a:pPr algn="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÷ (115.0억원 − 2.9억원)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2834640"/>
            <a:ext cx="5391760" cy="306324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5800" y="3017520"/>
            <a:ext cx="1280160" cy="329184"/>
          </a:xfrm>
          <a:prstGeom prst="roundRect">
            <a:avLst>
              <a:gd name="adj" fmla="val 11111"/>
            </a:avLst>
          </a:prstGeom>
          <a:solidFill>
            <a:srgbClr val="F7FAFC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301752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As-Is (현재)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77240" y="3520440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연간 임대료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791560" y="3520440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2.3억원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77240" y="3922776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보증금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791560" y="3922776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2.9억원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77240" y="4325112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매매가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791560" y="4325112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115.0억원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85800" y="4837176"/>
            <a:ext cx="5026000" cy="594360"/>
          </a:xfrm>
          <a:prstGeom prst="roundRect">
            <a:avLst>
              <a:gd name="adj" fmla="val 9231"/>
            </a:avLst>
          </a:prstGeom>
          <a:solidFill>
            <a:srgbClr val="10161F"/>
          </a:solidFill>
          <a:ln/>
        </p:spPr>
      </p:sp>
      <p:sp>
        <p:nvSpPr>
          <p:cNvPr id="22" name="Text 20"/>
          <p:cNvSpPr/>
          <p:nvPr/>
        </p:nvSpPr>
        <p:spPr>
          <a:xfrm>
            <a:off x="868680" y="4837176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Cap Rate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517240" y="4837176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2.03%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6169000" y="2834640"/>
            <a:ext cx="5391760" cy="306324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9050">
            <a:solidFill>
              <a:srgbClr val="B98A2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51880" y="3017520"/>
            <a:ext cx="1645920" cy="329184"/>
          </a:xfrm>
          <a:prstGeom prst="roundRect">
            <a:avLst>
              <a:gd name="adj" fmla="val 11111"/>
            </a:avLst>
          </a:prstGeom>
          <a:solidFill>
            <a:srgbClr val="F3EBDA"/>
          </a:solidFill>
          <a:ln/>
        </p:spPr>
      </p:sp>
      <p:sp>
        <p:nvSpPr>
          <p:cNvPr id="26" name="Text 24"/>
          <p:cNvSpPr/>
          <p:nvPr/>
        </p:nvSpPr>
        <p:spPr>
          <a:xfrm>
            <a:off x="6351880" y="3017520"/>
            <a:ext cx="1645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Stabilized (안정화)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089240" y="3017520"/>
            <a:ext cx="1371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분석가정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443320" y="3520440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연간 임대료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9457639" y="3520440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2.8억원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443320" y="3922776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보증금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457639" y="3922776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2.9억원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443320" y="4325112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매매가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457639" y="4325112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115.0억원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351880" y="4837176"/>
            <a:ext cx="5026000" cy="594360"/>
          </a:xfrm>
          <a:prstGeom prst="roundRect">
            <a:avLst>
              <a:gd name="adj" fmla="val 9231"/>
            </a:avLst>
          </a:prstGeom>
          <a:solidFill>
            <a:srgbClr val="B98A2E"/>
          </a:solidFill>
          <a:ln/>
        </p:spPr>
      </p:sp>
      <p:sp>
        <p:nvSpPr>
          <p:cNvPr id="35" name="Text 33"/>
          <p:cNvSpPr/>
          <p:nvPr/>
        </p:nvSpPr>
        <p:spPr>
          <a:xfrm>
            <a:off x="6534760" y="4837176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Cap Rate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9183319" y="4837176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2.53%</a:t>
            </a:r>
            <a:endParaRPr lang="en-US" sz="2200" dirty="0"/>
          </a:p>
        </p:txBody>
      </p:sp>
      <p:sp>
        <p:nvSpPr>
          <p:cNvPr id="37" name="Text 35"/>
          <p:cNvSpPr/>
          <p:nvPr/>
        </p:nvSpPr>
        <p:spPr>
          <a:xfrm>
            <a:off x="502920" y="5943600"/>
            <a:ext cx="1105783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가정: 공실 해소 및 인근 시세 수준 정상화 임대 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3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|  INSTITUTIONAL PRO IM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488375" y="4114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 ·  II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502920" y="1051560"/>
            <a:ext cx="54864" cy="489204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188720"/>
            <a:ext cx="107377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02  ·  PART II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14055" y="1005840"/>
            <a:ext cx="3474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</a:t>
            </a:r>
            <a:endParaRPr lang="en-US" sz="11000" dirty="0"/>
          </a:p>
        </p:txBody>
      </p:sp>
      <p:sp>
        <p:nvSpPr>
          <p:cNvPr id="8" name="Text 6"/>
          <p:cNvSpPr/>
          <p:nvPr/>
        </p:nvSpPr>
        <p:spPr>
          <a:xfrm>
            <a:off x="822960" y="1508760"/>
            <a:ext cx="79945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Detailed Asset &amp; Building Specifications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822960" y="2606040"/>
            <a:ext cx="5029200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724912"/>
            <a:ext cx="84517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제원, 토지 공법 규제, 스태킹 플랜 및 상세 렌트롤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22960" y="3337560"/>
            <a:ext cx="10737799" cy="2697480"/>
          </a:xfrm>
          <a:prstGeom prst="rect">
            <a:avLst/>
          </a:prstGeom>
          <a:solidFill>
            <a:srgbClr val="1A202C"/>
          </a:solidFill>
          <a:ln w="10160">
            <a:solidFill>
              <a:srgbClr val="4A55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3337560"/>
            <a:ext cx="10737799" cy="347472"/>
          </a:xfrm>
          <a:prstGeom prst="rect">
            <a:avLst/>
          </a:prstGeom>
          <a:solidFill>
            <a:srgbClr val="2D3748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3410712"/>
            <a:ext cx="102805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CONTENTS &amp; KEY DELIVERABLES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97280" y="3794760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02.01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783080" y="3794760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02.01  건축물 물리적 제원 및 면적 분석 (Building Specs)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097280" y="4215384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97280" y="4233672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02.02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783080" y="4233672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02.02  토지 제원 및 용도지역·공법상 규제 (Land &amp; Zoning)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097280" y="4654296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97280" y="4672584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02.03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783080" y="4672584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02.03  건축 입면 셋백 스태킹 플랜 (Setback Stacking Plan)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097280" y="5093208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97280" y="5111496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02.04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783080" y="5111496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02.04  층별 상세 임대차 렌트롤 (Detailed Tenant Roster Part 1)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329020" y="3794760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02.05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14820" y="3794760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02.05  임대차 만기 스케줄 및 WALE 분석 (Detailed Tenant Roster Part 2)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329020" y="4215384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29020" y="4233672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02.06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014820" y="4233672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02.06  설비(MEP) 및 물리적 시설 상태 점검 (Facility &amp; MEP)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329020" y="4654296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29020" y="4672584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02.07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014820" y="4672584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02.07  물건 내외부 현장 사진 갤러리 (Property Gallery)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329020" y="5093208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SPECS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물리적 제원 및 특성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true,"mocked":true,"extractedFields":{"area_signal":"당산","asset_type":"건물명 비공개","price_band":"115억","size_signal":"60평(약 198.3㎡)"},"extractedFacts":{"region":"당산","exactAddressCandidate":"해당 권역가 11-47","assetType":"건물명 비공개","priceText":"115억","sizeText":"60평(약 198.3㎡)","currentUse":"근린생활시설","currentUseSignal":"근린생활시설","leaseSignal":"공실","vacancySignal":"공실 발생","tenantNames":,"unitRentTexts":,"sellerMotivationText":"자산 효율화","brokerNotes":"역세권 매물"},"detectedSensitiveFields":"exact_address","ambiguousFields":,"warnings":,"areaSignal":"당산","assetType":"건물명 비공개","priceBand":"115억","sizeSignal":"60평(약 198.3㎡)","dealType":"매각","buildingName":"건물명 비공개","exactAddress":"영등포구 당산동5가 11-47","totalFloorArea":198.348,"buildYear":2015,"currentUseSignal":"근린생활시설","vacancySignal":"공실 발생","fitSummary":"당산 권역 입지의 건물명 비공개 매각 물건","cautionSummary":"권리관계 및 현장 실사 확인 필요","hiddenFields":"exact_address","seller_motivation","confidence":{"areaSignal":"confirmed","assetType":"confirmed","priceBand":"confirmed","fitSummary":"ai_hypothesis"},"missingData":,"boundaryNote":"본 자료는 실거래 통계 기반 참고치입니다.","buyerType":"법인 사옥형","budgetRange":{"min":70,"max":70,"display":"115억"},"preferredRegions":"강남","성수","assetTypes":"건물명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예산(115억)에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부탁드립니다.","title":"당산 역세권 도보 3분 이내 건물명 비공개 매각","shortSummary":"당산역 도보 거리의 우량 건물명 비공개 매물입니다.","dealPoints":"역세권 도보 3분 이내","개발 및 사옥 최적","cautionPoints":"권리관계 확인 필요","hiddenInfoNotice":"보증금 및 지번은 인가 후 확인 가능","gateMessage":"G1 등급 등록이 필요합니다.","kakaoText":"당산 건물명 비공개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3840480"/>
            <a:ext cx="6858000" cy="1005840"/>
          </a:xfrm>
          <a:prstGeom prst="rect">
            <a:avLst/>
          </a:prstGeom>
          <a:solidFill>
            <a:srgbClr val="F6F1E4"/>
          </a:solidFill>
          <a:ln w="15240">
            <a:solidFill>
              <a:srgbClr val="B886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3840480"/>
            <a:ext cx="272674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412541" y="3840480"/>
            <a:ext cx="376549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115억 원 (VAT 별도)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40080" y="4343400"/>
            <a:ext cx="6583680" cy="0"/>
          </a:xfrm>
          <a:prstGeom prst="line">
            <a:avLst/>
          </a:prstGeom>
          <a:noFill/>
          <a:ln w="6350">
            <a:solidFill>
              <a:srgbClr val="D4C89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4343400"/>
            <a:ext cx="27267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토지평당가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412541" y="4343400"/>
            <a:ext cx="37654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7,501만 원/평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20279" y="4681728"/>
            <a:ext cx="3840480" cy="1508760"/>
          </a:xfrm>
          <a:prstGeom prst="roundRect">
            <a:avLst>
              <a:gd name="adj" fmla="val 363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7720279" y="4736592"/>
            <a:ext cx="36576" cy="13990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866583" y="4773168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하이라이트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866583" y="4974336"/>
            <a:ext cx="358444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{"ok":true,"mocked":true,"extractedFields":{"area_signal":"당산","asset_type":"[건물명 비공개]","price_band":"115억","size_signal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 &amp; ZONING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제원 및 용도지역·공법상 제한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645920"/>
            <a:ext cx="6858000" cy="1828800"/>
          </a:xfrm>
          <a:prstGeom prst="roundRect">
            <a:avLst>
              <a:gd name="adj" fmla="val 3000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700784"/>
            <a:ext cx="36576" cy="17190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649224" y="1737360"/>
            <a:ext cx="66019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제원 및 용도지역·공법상 제한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49224" y="1938528"/>
            <a:ext cx="6601968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갑구·을구 권리관계 확인 필요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주요 용도 및 위반건축물 여부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실사를 통한 물리적 하자 및 하자보수 이력 점검</a:t>
            </a:r>
            <a:endParaRPr lang="en-US" sz="980" dirty="0"/>
          </a:p>
        </p:txBody>
      </p:sp>
      <p:sp>
        <p:nvSpPr>
          <p:cNvPr id="11" name="Shape 9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3" name="Shape 11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4" name="Text 12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건축 규제 포인트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용도지역·용도지구 기준 건폐율/용적률 상한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필지 형상 및 접도 조건에 따른 건축 가능 면적 검토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열람 및 개발행위허가 제한 여부 확인</a:t>
            </a:r>
            <a:endParaRPr lang="en-US" sz="980" dirty="0"/>
          </a:p>
        </p:txBody>
      </p:sp>
      <p:sp>
        <p:nvSpPr>
          <p:cNvPr id="16" name="Shape 14"/>
          <p:cNvSpPr/>
          <p:nvPr/>
        </p:nvSpPr>
        <p:spPr>
          <a:xfrm>
            <a:off x="7720279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7720279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866583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공적장부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866583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 소유권 및 을구 근저당·가압류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기재 사항과 실물 현황 대조 점검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개별공시지가 및 실거래가 비교 분석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STACKING PLAN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 입면 셋백 스태킹 플랜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53312"/>
            <a:ext cx="4983480" cy="4800600"/>
          </a:xfrm>
          <a:prstGeom prst="roundRect">
            <a:avLst>
              <a:gd name="adj" fmla="val 114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04088" y="1499616"/>
            <a:ext cx="4581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건축 입면 셋백 및 층별 단면 실루엣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04088" y="1773936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1E3A8A"/>
          </a:solidFill>
          <a:ln w="6350">
            <a:solidFill>
              <a:srgbClr val="3B82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86968" y="1755648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앵커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1572768" y="1773936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475569"/>
          </a:solidFill>
          <a:ln w="6350">
            <a:solidFill>
              <a:srgbClr val="64748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755648" y="1755648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2441448" y="1773936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0D9488"/>
          </a:solidFill>
          <a:ln w="6350">
            <a:solidFill>
              <a:srgbClr val="14B8A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24328" y="1755648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리테일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3310128" y="1773936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334155"/>
          </a:solidFill>
          <a:ln w="6350">
            <a:solidFill>
              <a:srgbClr val="47556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93008" y="1755648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주차/기계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178808" y="1773936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EF4444"/>
          </a:solidFill>
          <a:ln w="6350">
            <a:solidFill>
              <a:srgbClr val="F8717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61688" y="1755648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1028700" y="1993392"/>
            <a:ext cx="3931920" cy="228600"/>
          </a:xfrm>
          <a:prstGeom prst="roundRect">
            <a:avLst>
              <a:gd name="adj" fmla="val 12000"/>
            </a:avLst>
          </a:prstGeom>
          <a:solidFill>
            <a:srgbClr val="475569"/>
          </a:solidFill>
          <a:ln w="6350">
            <a:solidFill>
              <a:srgbClr val="64748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01852" y="1993392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5F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897380" y="1993392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내과</a:t>
            </a:r>
            <a:endParaRPr lang="en-US" sz="820" dirty="0"/>
          </a:p>
        </p:txBody>
      </p:sp>
      <p:sp>
        <p:nvSpPr>
          <p:cNvPr id="21" name="Shape 19"/>
          <p:cNvSpPr/>
          <p:nvPr/>
        </p:nvSpPr>
        <p:spPr>
          <a:xfrm>
            <a:off x="1028700" y="2235708"/>
            <a:ext cx="3931920" cy="228600"/>
          </a:xfrm>
          <a:prstGeom prst="roundRect">
            <a:avLst>
              <a:gd name="adj" fmla="val 12000"/>
            </a:avLst>
          </a:prstGeom>
          <a:solidFill>
            <a:srgbClr val="475569"/>
          </a:solidFill>
          <a:ln w="6350">
            <a:solidFill>
              <a:srgbClr val="64748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01852" y="2235708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4F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897380" y="2235708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와인매장</a:t>
            </a:r>
            <a:endParaRPr lang="en-US" sz="820" dirty="0"/>
          </a:p>
        </p:txBody>
      </p:sp>
      <p:sp>
        <p:nvSpPr>
          <p:cNvPr id="24" name="Shape 22"/>
          <p:cNvSpPr/>
          <p:nvPr/>
        </p:nvSpPr>
        <p:spPr>
          <a:xfrm>
            <a:off x="1028700" y="2478024"/>
            <a:ext cx="3931920" cy="228600"/>
          </a:xfrm>
          <a:prstGeom prst="roundRect">
            <a:avLst>
              <a:gd name="adj" fmla="val 12000"/>
            </a:avLst>
          </a:prstGeom>
          <a:solidFill>
            <a:srgbClr val="475569"/>
          </a:solidFill>
          <a:ln w="6350">
            <a:solidFill>
              <a:srgbClr val="64748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101852" y="2478024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4F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897380" y="2478024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</a:t>
            </a:r>
            <a:endParaRPr lang="en-US" sz="820" dirty="0"/>
          </a:p>
        </p:txBody>
      </p:sp>
      <p:sp>
        <p:nvSpPr>
          <p:cNvPr id="27" name="Shape 25"/>
          <p:cNvSpPr/>
          <p:nvPr/>
        </p:nvSpPr>
        <p:spPr>
          <a:xfrm>
            <a:off x="1028700" y="2720340"/>
            <a:ext cx="3931920" cy="228600"/>
          </a:xfrm>
          <a:prstGeom prst="roundRect">
            <a:avLst>
              <a:gd name="adj" fmla="val 12000"/>
            </a:avLst>
          </a:prstGeom>
          <a:solidFill>
            <a:srgbClr val="475569"/>
          </a:solidFill>
          <a:ln w="6350">
            <a:solidFill>
              <a:srgbClr val="64748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101852" y="2720340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3F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897380" y="2720340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헬쓰장</a:t>
            </a:r>
            <a:endParaRPr lang="en-US" sz="820" dirty="0"/>
          </a:p>
        </p:txBody>
      </p:sp>
      <p:sp>
        <p:nvSpPr>
          <p:cNvPr id="30" name="Shape 28"/>
          <p:cNvSpPr/>
          <p:nvPr/>
        </p:nvSpPr>
        <p:spPr>
          <a:xfrm>
            <a:off x="1028700" y="2962656"/>
            <a:ext cx="3931920" cy="228600"/>
          </a:xfrm>
          <a:prstGeom prst="roundRect">
            <a:avLst>
              <a:gd name="adj" fmla="val 12000"/>
            </a:avLst>
          </a:prstGeom>
          <a:solidFill>
            <a:srgbClr val="475569"/>
          </a:solidFill>
          <a:ln w="6350">
            <a:solidFill>
              <a:srgbClr val="64748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01852" y="2962656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2F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897380" y="2962656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내과</a:t>
            </a:r>
            <a:endParaRPr lang="en-US" sz="820" dirty="0"/>
          </a:p>
        </p:txBody>
      </p:sp>
      <p:sp>
        <p:nvSpPr>
          <p:cNvPr id="33" name="Shape 31"/>
          <p:cNvSpPr/>
          <p:nvPr/>
        </p:nvSpPr>
        <p:spPr>
          <a:xfrm>
            <a:off x="1028700" y="3204972"/>
            <a:ext cx="3931920" cy="228600"/>
          </a:xfrm>
          <a:prstGeom prst="roundRect">
            <a:avLst>
              <a:gd name="adj" fmla="val 12000"/>
            </a:avLst>
          </a:prstGeom>
          <a:solidFill>
            <a:srgbClr val="0D9488"/>
          </a:solidFill>
          <a:ln w="6350">
            <a:solidFill>
              <a:srgbClr val="14B8A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101852" y="3204972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1F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897380" y="3204972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약국</a:t>
            </a:r>
            <a:endParaRPr lang="en-US" sz="820" dirty="0"/>
          </a:p>
        </p:txBody>
      </p:sp>
      <p:sp>
        <p:nvSpPr>
          <p:cNvPr id="36" name="Shape 34"/>
          <p:cNvSpPr/>
          <p:nvPr/>
        </p:nvSpPr>
        <p:spPr>
          <a:xfrm>
            <a:off x="1028700" y="3447288"/>
            <a:ext cx="3931920" cy="228600"/>
          </a:xfrm>
          <a:prstGeom prst="roundRect">
            <a:avLst>
              <a:gd name="adj" fmla="val 12000"/>
            </a:avLst>
          </a:prstGeom>
          <a:solidFill>
            <a:srgbClr val="475569"/>
          </a:solidFill>
          <a:ln w="6350">
            <a:solidFill>
              <a:srgbClr val="64748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01852" y="3447288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1F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897380" y="3447288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내과</a:t>
            </a:r>
            <a:endParaRPr lang="en-US" sz="820" dirty="0"/>
          </a:p>
        </p:txBody>
      </p:sp>
      <p:sp>
        <p:nvSpPr>
          <p:cNvPr id="39" name="Shape 37"/>
          <p:cNvSpPr/>
          <p:nvPr/>
        </p:nvSpPr>
        <p:spPr>
          <a:xfrm>
            <a:off x="777240" y="3781044"/>
            <a:ext cx="4434840" cy="0"/>
          </a:xfrm>
          <a:prstGeom prst="line">
            <a:avLst/>
          </a:prstGeom>
          <a:noFill/>
          <a:ln w="15240">
            <a:solidFill>
              <a:srgbClr val="4A5568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822960" y="3717036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지표면 (GL ±0.0m)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548640" y="386334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-3.5m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1028700" y="3863340"/>
            <a:ext cx="3931920" cy="228600"/>
          </a:xfrm>
          <a:prstGeom prst="roundRect">
            <a:avLst>
              <a:gd name="adj" fmla="val 12000"/>
            </a:avLst>
          </a:prstGeom>
          <a:solidFill>
            <a:srgbClr val="0D9488"/>
          </a:solidFill>
          <a:ln w="6350">
            <a:solidFill>
              <a:srgbClr val="14B8A6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101852" y="3863340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B1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1897380" y="3863340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카페(자가)</a:t>
            </a:r>
            <a:endParaRPr lang="en-US" sz="820" dirty="0"/>
          </a:p>
        </p:txBody>
      </p:sp>
      <p:sp>
        <p:nvSpPr>
          <p:cNvPr id="45" name="Shape 43"/>
          <p:cNvSpPr/>
          <p:nvPr/>
        </p:nvSpPr>
        <p:spPr>
          <a:xfrm>
            <a:off x="5742432" y="1353312"/>
            <a:ext cx="5818327" cy="4800600"/>
          </a:xfrm>
          <a:prstGeom prst="roundRect">
            <a:avLst>
              <a:gd name="adj" fmla="val 114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943600" y="1499616"/>
            <a:ext cx="541599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층별 면적 및 임대차 제원 매트릭스</a:t>
            </a:r>
            <a:endParaRPr lang="en-US" sz="1250" dirty="0"/>
          </a:p>
        </p:txBody>
      </p:sp>
      <p:sp>
        <p:nvSpPr>
          <p:cNvPr id="47" name="Shape 45"/>
          <p:cNvSpPr/>
          <p:nvPr/>
        </p:nvSpPr>
        <p:spPr>
          <a:xfrm>
            <a:off x="5943600" y="1773936"/>
            <a:ext cx="1271702" cy="713232"/>
          </a:xfrm>
          <a:prstGeom prst="roundRect">
            <a:avLst>
              <a:gd name="adj" fmla="val 641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016752" y="1847088"/>
            <a:ext cx="112539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6016752" y="2011680"/>
            <a:ext cx="11253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345.2평</a:t>
            </a:r>
            <a:endParaRPr lang="en-US" sz="1350" dirty="0"/>
          </a:p>
        </p:txBody>
      </p:sp>
      <p:sp>
        <p:nvSpPr>
          <p:cNvPr id="50" name="Text 48"/>
          <p:cNvSpPr/>
          <p:nvPr/>
        </p:nvSpPr>
        <p:spPr>
          <a:xfrm>
            <a:off x="6016752" y="2267712"/>
            <a:ext cx="112539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</a:t>
            </a:r>
            <a:endParaRPr lang="en-US" sz="720" dirty="0"/>
          </a:p>
        </p:txBody>
      </p:sp>
      <p:sp>
        <p:nvSpPr>
          <p:cNvPr id="51" name="Shape 49"/>
          <p:cNvSpPr/>
          <p:nvPr/>
        </p:nvSpPr>
        <p:spPr>
          <a:xfrm>
            <a:off x="7325030" y="1773936"/>
            <a:ext cx="1271702" cy="713232"/>
          </a:xfrm>
          <a:prstGeom prst="roundRect">
            <a:avLst>
              <a:gd name="adj" fmla="val 641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398182" y="1847088"/>
            <a:ext cx="112539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전용률</a:t>
            </a:r>
            <a:endParaRPr lang="en-US" sz="850" dirty="0"/>
          </a:p>
        </p:txBody>
      </p:sp>
      <p:sp>
        <p:nvSpPr>
          <p:cNvPr id="53" name="Text 51"/>
          <p:cNvSpPr/>
          <p:nvPr/>
        </p:nvSpPr>
        <p:spPr>
          <a:xfrm>
            <a:off x="7398182" y="2011680"/>
            <a:ext cx="11253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350" dirty="0"/>
          </a:p>
        </p:txBody>
      </p:sp>
      <p:sp>
        <p:nvSpPr>
          <p:cNvPr id="54" name="Text 52"/>
          <p:cNvSpPr/>
          <p:nvPr/>
        </p:nvSpPr>
        <p:spPr>
          <a:xfrm>
            <a:off x="7398182" y="2267712"/>
            <a:ext cx="112539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계약면적 대비</a:t>
            </a:r>
            <a:endParaRPr lang="en-US" sz="720" dirty="0"/>
          </a:p>
        </p:txBody>
      </p:sp>
      <p:sp>
        <p:nvSpPr>
          <p:cNvPr id="55" name="Shape 53"/>
          <p:cNvSpPr/>
          <p:nvPr/>
        </p:nvSpPr>
        <p:spPr>
          <a:xfrm>
            <a:off x="8706460" y="1773936"/>
            <a:ext cx="1271702" cy="713232"/>
          </a:xfrm>
          <a:prstGeom prst="roundRect">
            <a:avLst>
              <a:gd name="adj" fmla="val 641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8779612" y="1847088"/>
            <a:ext cx="112539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WALE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8779612" y="2011680"/>
            <a:ext cx="11253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350" dirty="0"/>
          </a:p>
        </p:txBody>
      </p:sp>
      <p:sp>
        <p:nvSpPr>
          <p:cNvPr id="58" name="Text 56"/>
          <p:cNvSpPr/>
          <p:nvPr/>
        </p:nvSpPr>
        <p:spPr>
          <a:xfrm>
            <a:off x="8779612" y="2267712"/>
            <a:ext cx="112539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잔여 임대기간</a:t>
            </a:r>
            <a:endParaRPr lang="en-US" sz="720" dirty="0"/>
          </a:p>
        </p:txBody>
      </p:sp>
      <p:sp>
        <p:nvSpPr>
          <p:cNvPr id="59" name="Shape 57"/>
          <p:cNvSpPr/>
          <p:nvPr/>
        </p:nvSpPr>
        <p:spPr>
          <a:xfrm>
            <a:off x="10087889" y="1773936"/>
            <a:ext cx="1271702" cy="713232"/>
          </a:xfrm>
          <a:prstGeom prst="roundRect">
            <a:avLst>
              <a:gd name="adj" fmla="val 641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0161041" y="1847088"/>
            <a:ext cx="112539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공실률</a:t>
            </a:r>
            <a:endParaRPr lang="en-US" sz="850" dirty="0"/>
          </a:p>
        </p:txBody>
      </p:sp>
      <p:sp>
        <p:nvSpPr>
          <p:cNvPr id="61" name="Text 59"/>
          <p:cNvSpPr/>
          <p:nvPr/>
        </p:nvSpPr>
        <p:spPr>
          <a:xfrm>
            <a:off x="10161041" y="2011680"/>
            <a:ext cx="11253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1350" dirty="0"/>
          </a:p>
        </p:txBody>
      </p:sp>
      <p:sp>
        <p:nvSpPr>
          <p:cNvPr id="62" name="Text 60"/>
          <p:cNvSpPr/>
          <p:nvPr/>
        </p:nvSpPr>
        <p:spPr>
          <a:xfrm>
            <a:off x="10161041" y="2267712"/>
            <a:ext cx="112539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만실 운용</a:t>
            </a:r>
            <a:endParaRPr lang="en-US" sz="72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0" y="2633472"/>
          <a:ext cx="5413248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1051560"/>
                <a:gridCol w="713232"/>
                <a:gridCol w="713232"/>
                <a:gridCol w="1792224"/>
                <a:gridCol w="548640"/>
              </a:tblGrid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주용도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전용(평)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임대(평)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주요 </a:t>
                      </a:r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입주사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만기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B1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카페(자가)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내과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내과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3F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헬쓰장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4F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와인매장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4F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자가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5F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내과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77024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합계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77024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전층 </a:t>
                      </a:r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77024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만실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77024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77024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345.2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77024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카페(자가)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77024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64" name="Text 61"/>
          <p:cNvSpPr/>
          <p:nvPr/>
        </p:nvSpPr>
        <p:spPr>
          <a:xfrm>
            <a:off x="5943600" y="5861304"/>
            <a:ext cx="5413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제원은 건축물대장 및 임대차계약서 실측 기준입니다.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ROSTER (1/2)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임대차 현황 (저층부 및 주요 임차인)</a:t>
            </a:r>
            <a:endParaRPr lang="en-US" sz="23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721163"/>
                <a:gridCol w="721163"/>
                <a:gridCol w="1201939"/>
                <a:gridCol w="1201939"/>
                <a:gridCol w="1201939"/>
                <a:gridCol w="1201939"/>
                <a:gridCol w="1201939"/>
                <a:gridCol w="1201939"/>
                <a:gridCol w="1201939"/>
                <a:gridCol w="1201939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호실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임차인명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주요업종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임대면적(㎡)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임대면적(평)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보증금(만원)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월임대료(만원)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만기일자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갱신옵션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B1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B101호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일반업무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96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1F01호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일반업무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23.7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6,000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1F01호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일반업무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31.9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14,000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2F01호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일반업무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76.3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3F01호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일반업무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76.3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5,000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4F01호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일반업무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51.1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3,000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4F01호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일반업무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25.1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5F01호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일반업무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55.6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1,000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소계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8개사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436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29,000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합계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8개사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436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29,000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FACILITY &amp; MEP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기계·전기·소방(MEP) 설비 및 관리 상태 점검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51560" y="1810512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승강기(EV) 정기안전검사 필증 확보 및 - 유지보수 계약 체결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02920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51560" y="2807208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5년 주기 정밀안전진단 통과 및 의무 자주식 주차구획(2대 이상) 충족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02920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51560" y="3803904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수전설비(-) 및 한국전기안전공사 판정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191860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29020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29020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740500" y="1810512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소방시설 종합정밀점검·작동기능점검 필증 및 전 층 스프링클러 헤드 완비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191860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29020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29020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740500" y="2807208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중앙/개별 냉난방 EHP·GHP 실외기 노후도 점검 및 각 실내기 냉난방 작동 상태 양호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191860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29020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29020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740500" y="3803904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입주업종 오수발생량 적합성 및 하수도 원인자부담금 추가 과세 없음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02920" y="5349240"/>
            <a:ext cx="11057839" cy="45720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685800" y="5422392"/>
            <a:ext cx="1069207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3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|  INSTITUTIONAL PRO IM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488375" y="4114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 ·  III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502920" y="1051560"/>
            <a:ext cx="54864" cy="489204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188720"/>
            <a:ext cx="107377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03  ·  PART III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14055" y="1005840"/>
            <a:ext cx="3474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III</a:t>
            </a:r>
            <a:endParaRPr lang="en-US" sz="11000" dirty="0"/>
          </a:p>
        </p:txBody>
      </p:sp>
      <p:sp>
        <p:nvSpPr>
          <p:cNvPr id="8" name="Text 6"/>
          <p:cNvSpPr/>
          <p:nvPr/>
        </p:nvSpPr>
        <p:spPr>
          <a:xfrm>
            <a:off x="822960" y="1508760"/>
            <a:ext cx="79945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Comprehensive Financial Modeling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822960" y="2606040"/>
            <a:ext cx="5029200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724912"/>
            <a:ext cx="84517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10개년 DCF 스케줄, OPEX 세부 내역, Exit Cap 감정평가 및 2D 민감도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22960" y="3337560"/>
            <a:ext cx="10737799" cy="2697480"/>
          </a:xfrm>
          <a:prstGeom prst="rect">
            <a:avLst/>
          </a:prstGeom>
          <a:solidFill>
            <a:srgbClr val="1A202C"/>
          </a:solidFill>
          <a:ln w="10160">
            <a:solidFill>
              <a:srgbClr val="4A55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3337560"/>
            <a:ext cx="10737799" cy="347472"/>
          </a:xfrm>
          <a:prstGeom prst="rect">
            <a:avLst/>
          </a:prstGeom>
          <a:solidFill>
            <a:srgbClr val="2D3748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3410712"/>
            <a:ext cx="102805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CONTENTS &amp; KEY DELIVERABLES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97280" y="3794760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03.01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783080" y="3794760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03.01  10개년 할인현금흐름(DCF) 추정 스케줄 (10-Yr Cash Flow)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097280" y="4215384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97280" y="4233672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03.02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783080" y="4233672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03.02  수익 및 운영비(OPEX) 세부 항목 분석 (OPEX Breakdown)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097280" y="4654296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97280" y="4672584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03.03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783080" y="4672584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03.03  Exit Cap Rate 및 매각 가치 환원 산정 (Terminal Valuation)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329020" y="3794760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03.04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014820" y="3794760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03.04  2차원 민감도 분석: Exit Cap vs 할인율 (2D Sensitivity Matrix)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329020" y="4215384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29020" y="4233672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03.05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14820" y="4233672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03.05  공실률 및 임대료 하향 스트레스 테스트 (Downside Stress Testing)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329020" y="4654296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29020" y="4672584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03.06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014820" y="4672584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03.06  자본 구조 및 차입(레버리지) 시뮬레이션 (Capital &amp; Debt Financing)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10-YEAR DCF SCHEDULE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10개년 현금흐름(DCF) 추정 스케줄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463040"/>
            <a:ext cx="6675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10개년 잠재총수익(PGI) 및 순영업소득(NOI) 추정 스케줄 (단위: 백만 원)</a:t>
            </a:r>
            <a:endParaRPr lang="en-US" sz="11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737360"/>
          <a:ext cx="6675120" cy="914400"/>
        </p:xfrm>
        <a:graphic>
          <a:graphicData uri="http://schemas.openxmlformats.org/drawingml/2006/table">
            <a:tbl>
              <a:tblPr/>
              <a:tblGrid>
                <a:gridCol w="834390"/>
                <a:gridCol w="834390"/>
                <a:gridCol w="834390"/>
                <a:gridCol w="834390"/>
                <a:gridCol w="834390"/>
                <a:gridCol w="834390"/>
                <a:gridCol w="834390"/>
                <a:gridCol w="83439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Y1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Y2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Y3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Y4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Y5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Y7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Y10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PGI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(잠재총수익)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234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238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243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248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253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263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279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공실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손실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(3%)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EGI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(유효총수익)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227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231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236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240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245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255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271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총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운영비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(OPEX)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28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29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29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30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30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32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33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CapEx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적립금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순영업소득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(NOI)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196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200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204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208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212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221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235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세전현금흐름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(BTCF)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-63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-59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-55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-51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-46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-38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-24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7498080" y="1737360"/>
            <a:ext cx="4123944" cy="1920240"/>
          </a:xfrm>
          <a:prstGeom prst="roundRect">
            <a:avLst>
              <a:gd name="adj" fmla="val 2857"/>
            </a:avLst>
          </a:prstGeom>
          <a:solidFill>
            <a:srgbClr val="F3EBDA"/>
          </a:solidFill>
          <a:ln/>
        </p:spPr>
      </p:sp>
      <p:sp>
        <p:nvSpPr>
          <p:cNvPr id="9" name="Shape 6"/>
          <p:cNvSpPr/>
          <p:nvPr/>
        </p:nvSpPr>
        <p:spPr>
          <a:xfrm>
            <a:off x="7498080" y="1792224"/>
            <a:ext cx="36576" cy="181051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0" name="Text 7"/>
          <p:cNvSpPr/>
          <p:nvPr/>
        </p:nvSpPr>
        <p:spPr>
          <a:xfrm>
            <a:off x="7644384" y="1828800"/>
            <a:ext cx="3867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10-Yr Unlevered IRR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644384" y="2029968"/>
            <a:ext cx="3867912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1.95% (무차입 기준 10개년 내부수익률)</a:t>
            </a:r>
            <a:endParaRPr lang="en-US" sz="980" dirty="0"/>
          </a:p>
        </p:txBody>
      </p:sp>
      <p:sp>
        <p:nvSpPr>
          <p:cNvPr id="12" name="Shape 9"/>
          <p:cNvSpPr/>
          <p:nvPr/>
        </p:nvSpPr>
        <p:spPr>
          <a:xfrm>
            <a:off x="7498080" y="3794760"/>
            <a:ext cx="4123944" cy="1920240"/>
          </a:xfrm>
          <a:prstGeom prst="roundRect">
            <a:avLst>
              <a:gd name="adj" fmla="val 2857"/>
            </a:avLst>
          </a:prstGeom>
          <a:solidFill>
            <a:srgbClr val="C6F6D5"/>
          </a:solidFill>
          <a:ln/>
        </p:spPr>
      </p:sp>
      <p:sp>
        <p:nvSpPr>
          <p:cNvPr id="13" name="Shape 10"/>
          <p:cNvSpPr/>
          <p:nvPr/>
        </p:nvSpPr>
        <p:spPr>
          <a:xfrm>
            <a:off x="7498080" y="3849624"/>
            <a:ext cx="36576" cy="1810512"/>
          </a:xfrm>
          <a:prstGeom prst="rect">
            <a:avLst/>
          </a:prstGeom>
          <a:solidFill>
            <a:srgbClr val="276749"/>
          </a:solidFill>
          <a:ln/>
        </p:spPr>
      </p:sp>
      <p:sp>
        <p:nvSpPr>
          <p:cNvPr id="14" name="Text 11"/>
          <p:cNvSpPr/>
          <p:nvPr/>
        </p:nvSpPr>
        <p:spPr>
          <a:xfrm>
            <a:off x="7644384" y="3886200"/>
            <a:ext cx="3867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7674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Exit Net Proceeds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7644384" y="4087368"/>
            <a:ext cx="3867912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116억 원 (Exit Cap 2.03% 기준)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OPEX BREAKDOWN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및 운영비(OPEX) 세부 항목 분석</a:t>
            </a:r>
            <a:endParaRPr lang="en-US" sz="23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1842973"/>
                <a:gridCol w="1842973"/>
                <a:gridCol w="1842973"/>
                <a:gridCol w="1842973"/>
                <a:gridCol w="1842973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운영비(OPEX)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1년차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(원)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3년차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(원)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5년차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(원)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구성비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(%)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위탁관리비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(PM/FM)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8,406,720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8,746,351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9,099,704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30.0%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시설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및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자산관리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용역비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재산세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및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공과금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9,807,840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10,204,077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10,616,321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35.0%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보유세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및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환경개선부담금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화재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및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특수보험료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2,802,240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2,915,450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3,033,235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10.0%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영업배상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및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화재보험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시설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수선유지비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7,005,600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7,288,626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7,583,087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25.0%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소모품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및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정기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안전점검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합계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(Total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OPEX)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28,022,400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29,154,504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30,332,347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100.0%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연간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2.0%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물가상승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반영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02920" y="4370832"/>
            <a:ext cx="1105783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* 물가상승률(CPI) 연 2.0% 반영 추정치이며, 실제 관리비 부과 및 보유세는 실사 시 조정될 수 있습니다.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VALUATION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Exit Cap Rate 및 매각 가치 환원 산정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11057839" cy="1188720"/>
          </a:xfrm>
          <a:prstGeom prst="roundRect">
            <a:avLst>
              <a:gd name="adj" fmla="val 6154"/>
            </a:avLst>
          </a:prstGeom>
          <a:solidFill>
            <a:srgbClr val="F7FAFC"/>
          </a:solidFill>
          <a:ln w="9525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50876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표면 임대수익률  =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343400" y="15087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연간 임대료 합계 (관리비 제외)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26280" y="1920240"/>
            <a:ext cx="4206240" cy="0"/>
          </a:xfrm>
          <a:prstGeom prst="line">
            <a:avLst/>
          </a:prstGeom>
          <a:noFill/>
          <a:ln w="25400">
            <a:solidFill>
              <a:srgbClr val="B98A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43400" y="19659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매매가  −  승계 보증금 합계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726119" y="1508760"/>
            <a:ext cx="2697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2.3억원</a:t>
            </a:r>
            <a:pPr algn="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÷ (115.0억원 − 2.9억원)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2834640"/>
            <a:ext cx="5391760" cy="306324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5800" y="3017520"/>
            <a:ext cx="1280160" cy="329184"/>
          </a:xfrm>
          <a:prstGeom prst="roundRect">
            <a:avLst>
              <a:gd name="adj" fmla="val 11111"/>
            </a:avLst>
          </a:prstGeom>
          <a:solidFill>
            <a:srgbClr val="F7FAFC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301752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As-Is (현재)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77240" y="3520440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연간 임대료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791560" y="3520440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2.3억원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77240" y="3922776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보증금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791560" y="3922776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2.9억원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77240" y="4325112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매매가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791560" y="4325112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115.0억원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85800" y="4837176"/>
            <a:ext cx="5026000" cy="594360"/>
          </a:xfrm>
          <a:prstGeom prst="roundRect">
            <a:avLst>
              <a:gd name="adj" fmla="val 9231"/>
            </a:avLst>
          </a:prstGeom>
          <a:solidFill>
            <a:srgbClr val="10161F"/>
          </a:solidFill>
          <a:ln/>
        </p:spPr>
      </p:sp>
      <p:sp>
        <p:nvSpPr>
          <p:cNvPr id="22" name="Text 20"/>
          <p:cNvSpPr/>
          <p:nvPr/>
        </p:nvSpPr>
        <p:spPr>
          <a:xfrm>
            <a:off x="868680" y="4837176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Cap Rate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517240" y="4837176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2.03%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6169000" y="2834640"/>
            <a:ext cx="5391760" cy="306324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9050">
            <a:solidFill>
              <a:srgbClr val="B98A2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51880" y="3017520"/>
            <a:ext cx="1645920" cy="329184"/>
          </a:xfrm>
          <a:prstGeom prst="roundRect">
            <a:avLst>
              <a:gd name="adj" fmla="val 11111"/>
            </a:avLst>
          </a:prstGeom>
          <a:solidFill>
            <a:srgbClr val="F3EBDA"/>
          </a:solidFill>
          <a:ln/>
        </p:spPr>
      </p:sp>
      <p:sp>
        <p:nvSpPr>
          <p:cNvPr id="26" name="Text 24"/>
          <p:cNvSpPr/>
          <p:nvPr/>
        </p:nvSpPr>
        <p:spPr>
          <a:xfrm>
            <a:off x="6351880" y="3017520"/>
            <a:ext cx="1645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Stabilized (안정화)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089240" y="3017520"/>
            <a:ext cx="1371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분석가정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443320" y="3520440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연간 임대료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9457639" y="3520440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2.8억원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443320" y="3922776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보증금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457639" y="3922776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2.9억원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443320" y="4325112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매매가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457639" y="4325112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115.0억원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351880" y="4837176"/>
            <a:ext cx="5026000" cy="594360"/>
          </a:xfrm>
          <a:prstGeom prst="roundRect">
            <a:avLst>
              <a:gd name="adj" fmla="val 9231"/>
            </a:avLst>
          </a:prstGeom>
          <a:solidFill>
            <a:srgbClr val="B98A2E"/>
          </a:solidFill>
          <a:ln/>
        </p:spPr>
      </p:sp>
      <p:sp>
        <p:nvSpPr>
          <p:cNvPr id="35" name="Text 33"/>
          <p:cNvSpPr/>
          <p:nvPr/>
        </p:nvSpPr>
        <p:spPr>
          <a:xfrm>
            <a:off x="6534760" y="4837176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Cap Rate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9183319" y="4837176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2.53%</a:t>
            </a:r>
            <a:endParaRPr lang="en-US" sz="2200" dirty="0"/>
          </a:p>
        </p:txBody>
      </p:sp>
      <p:sp>
        <p:nvSpPr>
          <p:cNvPr id="37" name="Text 35"/>
          <p:cNvSpPr/>
          <p:nvPr/>
        </p:nvSpPr>
        <p:spPr>
          <a:xfrm>
            <a:off x="502920" y="5943600"/>
            <a:ext cx="1105783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가정: 공실층을 인근 시세 수준으로 임대 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2D SENSITIVITY MATRIX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2차원 민감도 분석 (Exit Cap vs 할인율)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463040"/>
            <a:ext cx="6675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Exit Cap Rate vs 할인율 2D 민감도 분석 (Unlevered IRR %)</a:t>
            </a:r>
            <a:endParaRPr lang="en-US" sz="11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737360"/>
          <a:ext cx="6675120" cy="914400"/>
        </p:xfrm>
        <a:graphic>
          <a:graphicData uri="http://schemas.openxmlformats.org/drawingml/2006/table">
            <a:tbl>
              <a:tblPr/>
              <a:tblGrid>
                <a:gridCol w="1112520"/>
                <a:gridCol w="1112520"/>
                <a:gridCol w="1112520"/>
                <a:gridCol w="1112520"/>
                <a:gridCol w="1112520"/>
                <a:gridCol w="111252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Exit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Cap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\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할인율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5.0%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5.5%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6.0%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6.5%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7.0%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1.53%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4.60%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4.60%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4.60%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4.60%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4.60%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1.78%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3.17%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3.17%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3.17%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3.17%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3.17%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2.03%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1.95%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1.95%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1.95%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1.95%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1.95%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2.28%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0.89%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0.89%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0.89%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0.89%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0.89%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2.53%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-0.04%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-0.04%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-0.04%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-0.04%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-0.04%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7498080" y="1737360"/>
            <a:ext cx="4123944" cy="1920240"/>
          </a:xfrm>
          <a:prstGeom prst="roundRect">
            <a:avLst>
              <a:gd name="adj" fmla="val 2857"/>
            </a:avLst>
          </a:prstGeom>
          <a:solidFill>
            <a:srgbClr val="FEEBC8"/>
          </a:solidFill>
          <a:ln/>
        </p:spPr>
      </p:sp>
      <p:sp>
        <p:nvSpPr>
          <p:cNvPr id="9" name="Shape 6"/>
          <p:cNvSpPr/>
          <p:nvPr/>
        </p:nvSpPr>
        <p:spPr>
          <a:xfrm>
            <a:off x="7498080" y="1792224"/>
            <a:ext cx="36576" cy="18105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10" name="Text 7"/>
          <p:cNvSpPr/>
          <p:nvPr/>
        </p:nvSpPr>
        <p:spPr>
          <a:xfrm>
            <a:off x="7644384" y="1828800"/>
            <a:ext cx="3867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보수적 시나리오 (Downside)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644384" y="2029968"/>
            <a:ext cx="3867912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Exit Cap +50bps 확대 시 Unlevered IRR -0.04%</a:t>
            </a:r>
            <a:endParaRPr lang="en-US" sz="980" dirty="0"/>
          </a:p>
        </p:txBody>
      </p:sp>
      <p:sp>
        <p:nvSpPr>
          <p:cNvPr id="12" name="Shape 9"/>
          <p:cNvSpPr/>
          <p:nvPr/>
        </p:nvSpPr>
        <p:spPr>
          <a:xfrm>
            <a:off x="7498080" y="3794760"/>
            <a:ext cx="4123944" cy="1920240"/>
          </a:xfrm>
          <a:prstGeom prst="roundRect">
            <a:avLst>
              <a:gd name="adj" fmla="val 2857"/>
            </a:avLst>
          </a:prstGeom>
          <a:solidFill>
            <a:srgbClr val="C6F6D5"/>
          </a:solidFill>
          <a:ln/>
        </p:spPr>
      </p:sp>
      <p:sp>
        <p:nvSpPr>
          <p:cNvPr id="13" name="Shape 10"/>
          <p:cNvSpPr/>
          <p:nvPr/>
        </p:nvSpPr>
        <p:spPr>
          <a:xfrm>
            <a:off x="7498080" y="3849624"/>
            <a:ext cx="36576" cy="1810512"/>
          </a:xfrm>
          <a:prstGeom prst="rect">
            <a:avLst/>
          </a:prstGeom>
          <a:solidFill>
            <a:srgbClr val="276749"/>
          </a:solidFill>
          <a:ln/>
        </p:spPr>
      </p:sp>
      <p:sp>
        <p:nvSpPr>
          <p:cNvPr id="14" name="Text 11"/>
          <p:cNvSpPr/>
          <p:nvPr/>
        </p:nvSpPr>
        <p:spPr>
          <a:xfrm>
            <a:off x="7644384" y="3886200"/>
            <a:ext cx="3867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7674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낙관적 시나리오 (Upside)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7644384" y="4087368"/>
            <a:ext cx="3867912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Exit Cap -50bps 축소 시 Unlevered IRR 4.60%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TESTING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공실률 및 임대료 하향 스트레스 테스트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463040"/>
            <a:ext cx="6675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공실률 충격 시나리오별 순영업소득(NOI) 및 초기 수익률 영향 (단위: 백만 원)</a:t>
            </a:r>
            <a:endParaRPr lang="en-US" sz="11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737360"/>
          <a:ext cx="6675120" cy="914400"/>
        </p:xfrm>
        <a:graphic>
          <a:graphicData uri="http://schemas.openxmlformats.org/drawingml/2006/table">
            <a:tbl>
              <a:tblPr/>
              <a:tblGrid>
                <a:gridCol w="1112520"/>
                <a:gridCol w="1112520"/>
                <a:gridCol w="1112520"/>
                <a:gridCol w="1112520"/>
                <a:gridCol w="1112520"/>
                <a:gridCol w="111252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시나리오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적용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공실률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순영업소득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(NOI)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NOI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변동률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Unlevered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IRR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Cap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Rate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Base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3.0%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196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0.00%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1.95%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1.71%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Moderate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8.0%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185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-5.89%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1.28%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1.61%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Severe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15.0%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168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-14.14%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0.29%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1.47%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7498080" y="1737360"/>
            <a:ext cx="4123944" cy="1920240"/>
          </a:xfrm>
          <a:prstGeom prst="roundRect">
            <a:avLst>
              <a:gd name="adj" fmla="val 2857"/>
            </a:avLst>
          </a:prstGeom>
          <a:solidFill>
            <a:srgbClr val="F3EBDA"/>
          </a:solidFill>
          <a:ln/>
        </p:spPr>
      </p:sp>
      <p:sp>
        <p:nvSpPr>
          <p:cNvPr id="9" name="Shape 6"/>
          <p:cNvSpPr/>
          <p:nvPr/>
        </p:nvSpPr>
        <p:spPr>
          <a:xfrm>
            <a:off x="7498080" y="1792224"/>
            <a:ext cx="36576" cy="181051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0" name="Text 7"/>
          <p:cNvSpPr/>
          <p:nvPr/>
        </p:nvSpPr>
        <p:spPr>
          <a:xfrm>
            <a:off x="7644384" y="1828800"/>
            <a:ext cx="3867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하방 방어력 (Buffer)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644384" y="2029968"/>
            <a:ext cx="3867912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공실률 15% 심각 스트레스 상황에서도 연 순수익률 3%대 및 흑자 운용 유지</a:t>
            </a:r>
            <a:endParaRPr lang="en-US" sz="980" dirty="0"/>
          </a:p>
        </p:txBody>
      </p:sp>
      <p:sp>
        <p:nvSpPr>
          <p:cNvPr id="12" name="Shape 9"/>
          <p:cNvSpPr/>
          <p:nvPr/>
        </p:nvSpPr>
        <p:spPr>
          <a:xfrm>
            <a:off x="7498080" y="3794760"/>
            <a:ext cx="4123944" cy="1920240"/>
          </a:xfrm>
          <a:prstGeom prst="roundRect">
            <a:avLst>
              <a:gd name="adj" fmla="val 2857"/>
            </a:avLst>
          </a:prstGeom>
          <a:solidFill>
            <a:srgbClr val="BEE3F8"/>
          </a:solidFill>
          <a:ln/>
        </p:spPr>
      </p:sp>
      <p:sp>
        <p:nvSpPr>
          <p:cNvPr id="13" name="Shape 10"/>
          <p:cNvSpPr/>
          <p:nvPr/>
        </p:nvSpPr>
        <p:spPr>
          <a:xfrm>
            <a:off x="7498080" y="3849624"/>
            <a:ext cx="36576" cy="18105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4" name="Text 11"/>
          <p:cNvSpPr/>
          <p:nvPr/>
        </p:nvSpPr>
        <p:spPr>
          <a:xfrm>
            <a:off x="7644384" y="3886200"/>
            <a:ext cx="3867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스트레스 시나리오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7644384" y="4087368"/>
            <a:ext cx="3867912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기본 3%에서 최대 15%까지 공실 확대 충격을 반영한 손익 보수적 산출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 &amp; DEBT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자본 구조 및 차입(레버리지) 시뮬레이션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31520" y="201168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001417" y="201168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115.0억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31520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48716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001417" y="248716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5.29억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31520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2962656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001417" y="2962656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1.03억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31520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438144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001417" y="3438144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121.3억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1520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913632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001417" y="3913632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2.9억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31520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438912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3001417" y="438912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57.5억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31520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486460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001417" y="486460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60.9억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16900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9760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97600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118.4억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2.03%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72.4억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2.05%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60.9억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-0.57%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49.4억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2.54%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397600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BEE3F8"/>
          </a:solidFill>
          <a:ln/>
        </p:spPr>
      </p:sp>
      <p:sp>
        <p:nvSpPr>
          <p:cNvPr id="32" name="Shape 29"/>
          <p:cNvSpPr/>
          <p:nvPr/>
        </p:nvSpPr>
        <p:spPr>
          <a:xfrm>
            <a:off x="6397600" y="4123944"/>
            <a:ext cx="36576" cy="13533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33" name="Text 30"/>
          <p:cNvSpPr/>
          <p:nvPr/>
        </p:nvSpPr>
        <p:spPr>
          <a:xfrm>
            <a:off x="6543904" y="4160520"/>
            <a:ext cx="4678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자본조달 가이드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543904" y="4361688"/>
            <a:ext cx="467852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금융기관별 감정평가액 및 LTV 한도 사전 확인 필요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취득세(4.6%) 및 부대비용을 포함한 총소요자금 기반 에쿼티 조달 계획 수립 권장</a:t>
            </a:r>
            <a:endParaRPr lang="en-US" sz="980" dirty="0"/>
          </a:p>
        </p:txBody>
      </p:sp>
      <p:sp>
        <p:nvSpPr>
          <p:cNvPr id="35" name="Text 3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3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|  INSTITUTIONAL PRO IM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488375" y="4114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 ·  IV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502920" y="1051560"/>
            <a:ext cx="54864" cy="489204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188720"/>
            <a:ext cx="107377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04  ·  PART IV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14055" y="1005840"/>
            <a:ext cx="3474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</a:t>
            </a:r>
            <a:endParaRPr lang="en-US" sz="11000" dirty="0"/>
          </a:p>
        </p:txBody>
      </p:sp>
      <p:sp>
        <p:nvSpPr>
          <p:cNvPr id="8" name="Text 6"/>
          <p:cNvSpPr/>
          <p:nvPr/>
        </p:nvSpPr>
        <p:spPr>
          <a:xfrm>
            <a:off x="822960" y="1508760"/>
            <a:ext cx="79945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Market Dynamics &amp; Comparable Transactions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822960" y="2606040"/>
            <a:ext cx="5029200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724912"/>
            <a:ext cx="84517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권역 거시 수급, 임대료·공실률 추이, 인근 실거래 사례 및 평당가 벤치마크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22960" y="3337560"/>
            <a:ext cx="10737799" cy="2697480"/>
          </a:xfrm>
          <a:prstGeom prst="rect">
            <a:avLst/>
          </a:prstGeom>
          <a:solidFill>
            <a:srgbClr val="1A202C"/>
          </a:solidFill>
          <a:ln w="10160">
            <a:solidFill>
              <a:srgbClr val="4A55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3337560"/>
            <a:ext cx="10737799" cy="347472"/>
          </a:xfrm>
          <a:prstGeom prst="rect">
            <a:avLst/>
          </a:prstGeom>
          <a:solidFill>
            <a:srgbClr val="2D3748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3410712"/>
            <a:ext cx="102805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CONTENTS &amp; KEY DELIVERABLES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97280" y="3794760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04.01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783080" y="3794760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04.01  권역 거시 시장 및 오피스 수급 동향 (Macro Submarket)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097280" y="4215384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97280" y="4233672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04.02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783080" y="4233672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04.02  권역 임대료 및 공실률 추이 벤치마크 (Rental &amp; Vacancy Trends)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097280" y="4654296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97280" y="4672584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04.03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783080" y="4672584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04.03  미시 입지 상권 및 대중교통 인프라 (Micro Catchment &amp; Transit)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329020" y="3794760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04.04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014820" y="3794760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04.04  인근 실거래 비교 사례 분석 (Recent Sales Comps)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329020" y="4215384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29020" y="4233672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04.05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14820" y="4233672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04.05  거래 배수 및 평당가 벤치마크 비교 (Comp Benchmarking Multiples)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329020" y="4654296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SUBMARKET OVERVIEW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권역 거시 시장 및 수급 동향 분석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2588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권역 거시 시장 오피스 수급 및 공실률 동향 분석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73736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96596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권역 평균 공실률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67512" y="231343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4243730" y="196596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08322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명목 임대료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408322" y="231343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984541" y="196596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149133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실질 임대료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149133" y="231343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502920" y="341071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F3EBDA"/>
          </a:solidFill>
          <a:ln/>
        </p:spPr>
      </p:sp>
      <p:sp>
        <p:nvSpPr>
          <p:cNvPr id="18" name="Shape 16"/>
          <p:cNvSpPr/>
          <p:nvPr/>
        </p:nvSpPr>
        <p:spPr>
          <a:xfrm>
            <a:off x="502920" y="3465576"/>
            <a:ext cx="36576" cy="117043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9" name="Text 17"/>
          <p:cNvSpPr/>
          <p:nvPr/>
        </p:nvSpPr>
        <p:spPr>
          <a:xfrm>
            <a:off x="649224" y="3502152"/>
            <a:ext cx="10801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임차 수요 추이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49224" y="3703320"/>
            <a:ext cx="10801807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해당 권역 임차 수요 현황 데이터 확인 필요</a:t>
            </a:r>
            <a:endParaRPr lang="en-US" sz="980" dirty="0"/>
          </a:p>
        </p:txBody>
      </p:sp>
      <p:sp>
        <p:nvSpPr>
          <p:cNvPr id="21" name="Text 1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&amp; VACANCY TRENDS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권역 임대료 및 공실률 추이 벤치마크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인근 유사 프라임 빌딩 임대료 및 공실률 벤치마크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6858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권역 A급 평균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0665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2066544"/>
            <a:ext cx="6858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권역 B급 평균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248716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2487168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대상 자산 수준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423160" y="2487168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보증금 84만 원 / 월세 6만 원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02920" y="29077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907792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임대료 경쟁력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2423160" y="2907792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인근 시세 대비 적정 수준 유지로 임차인 락인(Lock-in) 효과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자산 개요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검토 대상 상업용 자산\n• 권리관계 및 임대차 현황 실사 확인 필요\n• 상세 인접 인프라 및 입지 환경 분석 권장</a:t>
            </a:r>
            <a:endParaRPr lang="en-US" sz="980" dirty="0"/>
          </a:p>
        </p:txBody>
      </p:sp>
      <p:sp>
        <p:nvSpPr>
          <p:cNvPr id="21" name="Shape 19"/>
          <p:cNvSpPr/>
          <p:nvPr/>
        </p:nvSpPr>
        <p:spPr>
          <a:xfrm>
            <a:off x="7720279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22" name="Shape 20"/>
          <p:cNvSpPr/>
          <p:nvPr/>
        </p:nvSpPr>
        <p:spPr>
          <a:xfrm>
            <a:off x="7720279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23" name="Text 21"/>
          <p:cNvSpPr/>
          <p:nvPr/>
        </p:nvSpPr>
        <p:spPr>
          <a:xfrm>
            <a:off x="7866583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수익 및 운영 현황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7866583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검토 대상 자산\n• 임대차 계약 현황 및 운영비 실사 확인 필요\n• 매입 후 운용 계획에 따른 수익성 분석 권장</a:t>
            </a:r>
            <a:endParaRPr lang="en-US" sz="980" dirty="0"/>
          </a:p>
        </p:txBody>
      </p:sp>
      <p:sp>
        <p:nvSpPr>
          <p:cNvPr id="25" name="Text 2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 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미시 입지 상권 및 대중교통 인프라 연결성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3515258" cy="3657600"/>
          </a:xfrm>
          <a:prstGeom prst="roundRect">
            <a:avLst>
              <a:gd name="adj" fmla="val 1561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417320"/>
            <a:ext cx="3515258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618488"/>
            <a:ext cx="30580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대중교통 접근성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31520" y="194767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지하철역 인접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31520" y="2377440"/>
            <a:ext cx="305805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간선 지하철역 도보 접근 가능 (상세 확인 필요)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274210" y="1417320"/>
            <a:ext cx="3515258" cy="3657600"/>
          </a:xfrm>
          <a:prstGeom prst="roundRect">
            <a:avLst>
              <a:gd name="adj" fmla="val 1561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74210" y="1417320"/>
            <a:ext cx="3515258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4502810" y="1618488"/>
            <a:ext cx="30580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광역 간선도로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502810" y="194767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간선도로 접근 양호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502810" y="2377440"/>
            <a:ext cx="305805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간선도로 접근 양호 (상세 확인 필요)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045501" y="1417320"/>
            <a:ext cx="3515258" cy="3657600"/>
          </a:xfrm>
          <a:prstGeom prst="roundRect">
            <a:avLst>
              <a:gd name="adj" fmla="val 1561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45501" y="1417320"/>
            <a:ext cx="3515258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8" name="Text 16"/>
          <p:cNvSpPr/>
          <p:nvPr/>
        </p:nvSpPr>
        <p:spPr>
          <a:xfrm>
            <a:off x="8274101" y="1618488"/>
            <a:ext cx="30580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업무권역 접근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8274101" y="194767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업무권역 접근 양호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274101" y="2377440"/>
            <a:ext cx="305805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업무 권역과의 대중교통 연결 양호 (상세 확인 필요)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02920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상기 입지 평가는 개략 분석이며, 실제 교통 소요시간 및 접근성은 현장 확인이 필요합니다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 BENCHMARKING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배수 및 평당가 벤치마크 비교 분석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463040"/>
            <a:ext cx="6675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실거래 벤치마크 및 밸류에이션 배수 비교</a:t>
            </a:r>
            <a:endParaRPr lang="en-US" sz="11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737360"/>
          <a:ext cx="6675120" cy="914400"/>
        </p:xfrm>
        <a:graphic>
          <a:graphicData uri="http://schemas.openxmlformats.org/drawingml/2006/table">
            <a:tbl>
              <a:tblPr/>
              <a:tblGrid>
                <a:gridCol w="1335024"/>
                <a:gridCol w="1335024"/>
                <a:gridCol w="1335024"/>
                <a:gridCol w="1335024"/>
                <a:gridCol w="1335024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인근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거래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하한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인근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거래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평균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인근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거래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대상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자산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(제시가)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연면적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평당가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(만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3,331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대지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평당가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(만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6,752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7,502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8,252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7,502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Cap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Rate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(%)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2.03%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7498080" y="1737360"/>
            <a:ext cx="4123944" cy="1920240"/>
          </a:xfrm>
          <a:prstGeom prst="roundRect">
            <a:avLst>
              <a:gd name="adj" fmla="val 2857"/>
            </a:avLst>
          </a:prstGeom>
          <a:solidFill>
            <a:srgbClr val="F3EBDA"/>
          </a:solidFill>
          <a:ln/>
        </p:spPr>
      </p:sp>
      <p:sp>
        <p:nvSpPr>
          <p:cNvPr id="9" name="Shape 6"/>
          <p:cNvSpPr/>
          <p:nvPr/>
        </p:nvSpPr>
        <p:spPr>
          <a:xfrm>
            <a:off x="7498080" y="1792224"/>
            <a:ext cx="36576" cy="181051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0" name="Text 7"/>
          <p:cNvSpPr/>
          <p:nvPr/>
        </p:nvSpPr>
        <p:spPr>
          <a:xfrm>
            <a:off x="7644384" y="1828800"/>
            <a:ext cx="3867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평당가 적정성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644384" y="2029968"/>
            <a:ext cx="3867912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인근 최근 실거래 평균 밴드 내에 위치하여 시장 수용성 확보</a:t>
            </a:r>
            <a:endParaRPr lang="en-US" sz="980" dirty="0"/>
          </a:p>
        </p:txBody>
      </p:sp>
      <p:sp>
        <p:nvSpPr>
          <p:cNvPr id="12" name="Shape 9"/>
          <p:cNvSpPr/>
          <p:nvPr/>
        </p:nvSpPr>
        <p:spPr>
          <a:xfrm>
            <a:off x="7498080" y="3794760"/>
            <a:ext cx="4123944" cy="1920240"/>
          </a:xfrm>
          <a:prstGeom prst="roundRect">
            <a:avLst>
              <a:gd name="adj" fmla="val 2857"/>
            </a:avLst>
          </a:prstGeom>
          <a:solidFill>
            <a:srgbClr val="C6F6D5"/>
          </a:solidFill>
          <a:ln/>
        </p:spPr>
      </p:sp>
      <p:sp>
        <p:nvSpPr>
          <p:cNvPr id="13" name="Shape 10"/>
          <p:cNvSpPr/>
          <p:nvPr/>
        </p:nvSpPr>
        <p:spPr>
          <a:xfrm>
            <a:off x="7498080" y="3849624"/>
            <a:ext cx="36576" cy="1810512"/>
          </a:xfrm>
          <a:prstGeom prst="rect">
            <a:avLst/>
          </a:prstGeom>
          <a:solidFill>
            <a:srgbClr val="276749"/>
          </a:solidFill>
          <a:ln/>
        </p:spPr>
      </p:sp>
      <p:sp>
        <p:nvSpPr>
          <p:cNvPr id="14" name="Text 11"/>
          <p:cNvSpPr/>
          <p:nvPr/>
        </p:nvSpPr>
        <p:spPr>
          <a:xfrm>
            <a:off x="7644384" y="3886200"/>
            <a:ext cx="3867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7674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Cap Rate 스프레드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7644384" y="4087368"/>
            <a:ext cx="3867912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시장 요구 수익률 대비 견조한 Cap Rate 스프레드(2.03%) 유지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3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|  INSTITUTIONAL PRO IM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488375" y="4114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 ·  V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502920" y="1051560"/>
            <a:ext cx="54864" cy="489204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188720"/>
            <a:ext cx="107377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05  ·  PART V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14055" y="1005840"/>
            <a:ext cx="3474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endParaRPr lang="en-US" sz="11000" dirty="0"/>
          </a:p>
        </p:txBody>
      </p:sp>
      <p:sp>
        <p:nvSpPr>
          <p:cNvPr id="8" name="Text 6"/>
          <p:cNvSpPr/>
          <p:nvPr/>
        </p:nvSpPr>
        <p:spPr>
          <a:xfrm>
            <a:off x="822960" y="1508760"/>
            <a:ext cx="79945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Legal, Technical &amp; Physical Due Diligence Annexes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822960" y="2606040"/>
            <a:ext cx="5029200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724912"/>
            <a:ext cx="84517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지적도, 등기부 권리관계, 건축법규 적합성, 물리적 실사 및 투자심의 일정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22960" y="3337560"/>
            <a:ext cx="10737799" cy="2697480"/>
          </a:xfrm>
          <a:prstGeom prst="rect">
            <a:avLst/>
          </a:prstGeom>
          <a:solidFill>
            <a:srgbClr val="1A202C"/>
          </a:solidFill>
          <a:ln w="10160">
            <a:solidFill>
              <a:srgbClr val="4A55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3337560"/>
            <a:ext cx="10737799" cy="347472"/>
          </a:xfrm>
          <a:prstGeom prst="rect">
            <a:avLst/>
          </a:prstGeom>
          <a:solidFill>
            <a:srgbClr val="2D3748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3410712"/>
            <a:ext cx="102805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CONTENTS &amp; KEY DELIVERABLES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97280" y="3794760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05.01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783080" y="3794760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05.01  지적도 및 필지 경계·형상 분석 (Cadastral Boundaries)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097280" y="4215384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97280" y="4233672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05.02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783080" y="4233672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05.02  등기부 소유권 및 권리관계·제한물권 (Title &amp; Ownership)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097280" y="4654296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97280" y="4672584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05.03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783080" y="4672584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05.03  건축 법규, 건폐율·용적률 및 증축 타당성 (Code Compliance)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329020" y="3794760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05.04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014820" y="3794760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05.04  물리적 실사 점검표 및 리스크 매트릭스 (Physical Due Diligence)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329020" y="4215384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29020" y="4233672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05.05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14820" y="4233672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05.05  투자심의 의사결정 매트릭스 및 거래 일정 (Execution Roadmap)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329020" y="4654296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TITLE &amp; OWNERSHIP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 갑구·을구 소유권 및 권리관계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517904"/>
            <a:ext cx="6492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소유권 및 등기부등본 현황 요약</a:t>
            </a:r>
            <a:endParaRPr lang="en-US" sz="14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810512"/>
          <a:ext cx="6492240" cy="914400"/>
        </p:xfrm>
        <a:graphic>
          <a:graphicData uri="http://schemas.openxmlformats.org/drawingml/2006/table">
            <a:tbl>
              <a:tblPr/>
              <a:tblGrid>
                <a:gridCol w="2164080"/>
                <a:gridCol w="2164080"/>
                <a:gridCol w="216408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소유권자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[등기부 실사 필요]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제한물권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잔금 시 전액 상환 및 말소 조건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임차권 등기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[임차권 등기 확인 필요]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[을구 열람 확인 필요]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가압류/가처분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[가압류/가처분 확인 필요]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02920" y="3154680"/>
            <a:ext cx="6492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7388352" y="1810512"/>
            <a:ext cx="4233672" cy="1133856"/>
          </a:xfrm>
          <a:prstGeom prst="rect">
            <a:avLst/>
          </a:prstGeom>
          <a:solidFill>
            <a:srgbClr val="F7FAFC"/>
          </a:solidFill>
          <a:ln/>
        </p:spPr>
      </p:sp>
      <p:sp>
        <p:nvSpPr>
          <p:cNvPr id="10" name="Text 7"/>
          <p:cNvSpPr/>
          <p:nvPr/>
        </p:nvSpPr>
        <p:spPr>
          <a:xfrm>
            <a:off x="7571232" y="1993392"/>
            <a:ext cx="38679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[근저당권 현황 실사 필요]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7571232" y="2267712"/>
            <a:ext cx="386791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잔금 시 말소 조건 협의 필요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7388352" y="3072384"/>
            <a:ext cx="4233672" cy="1133856"/>
          </a:xfrm>
          <a:prstGeom prst="rect">
            <a:avLst/>
          </a:prstGeom>
          <a:solidFill>
            <a:srgbClr val="F7FAFC"/>
          </a:solidFill>
          <a:ln/>
        </p:spPr>
      </p:sp>
      <p:sp>
        <p:nvSpPr>
          <p:cNvPr id="13" name="Text 10"/>
          <p:cNvSpPr/>
          <p:nvPr/>
        </p:nvSpPr>
        <p:spPr>
          <a:xfrm>
            <a:off x="7571232" y="3255264"/>
            <a:ext cx="38679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[소유권 현황 실사 필요]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571232" y="3529584"/>
            <a:ext cx="386791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갑구 권리 제한 사항 실사 확인 필요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COMPLIANCE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 법규, 건폐율·용적률 및 증축 타당성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건축관계 법규 및 건폐율·용적률 적합성 검토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[용도지역 확인 필요]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665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66544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법정 건폐율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66544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[법정 건폐율 확인 필요]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248716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487168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법정 용적률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2423160" y="2487168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[법정 용적률 확인 필요]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02920" y="29077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907792"/>
            <a:ext cx="6858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위반건축물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502920" y="332841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" y="3328416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정화조/소방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2423160" y="3328416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[정화조/소방 점검 필요]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22" name="Shape 20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23" name="Text 21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자산 개요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검토 대상 상업용 자산\n• 권리관계 및 임대차 현황 실사 확인 필요\n• 상세 인접 인프라 및 입지 환경 분석 권장</a:t>
            </a:r>
            <a:endParaRPr lang="en-US" sz="980" dirty="0"/>
          </a:p>
        </p:txBody>
      </p:sp>
      <p:sp>
        <p:nvSpPr>
          <p:cNvPr id="25" name="Shape 23"/>
          <p:cNvSpPr/>
          <p:nvPr/>
        </p:nvSpPr>
        <p:spPr>
          <a:xfrm>
            <a:off x="7720279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26" name="Shape 24"/>
          <p:cNvSpPr/>
          <p:nvPr/>
        </p:nvSpPr>
        <p:spPr>
          <a:xfrm>
            <a:off x="7720279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27" name="Text 25"/>
          <p:cNvSpPr/>
          <p:nvPr/>
        </p:nvSpPr>
        <p:spPr>
          <a:xfrm>
            <a:off x="7866583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수익 및 운영 현황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7866583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검토 대상 자산\n• 임대차 계약 현황 및 운영비 실사 확인 필요\n• 매입 후 운용 계획에 따른 수익성 분석 권장</a:t>
            </a:r>
            <a:endParaRPr lang="en-US" sz="980" dirty="0"/>
          </a:p>
        </p:txBody>
      </p:sp>
      <p:sp>
        <p:nvSpPr>
          <p:cNvPr id="29" name="Text 2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DUE DILIGENCE 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물리적 실사 점검표 및 리스크 매트릭스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51560" y="1810512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구조안전진단 이력 및 내진설계 반영 여부 점검 [실사 필요]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02920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51560" y="2807208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옥상 방수, 외벽 석재/커튼월 코킹 노후도 및 누수 흔적 실사 [실사 필요]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02920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51560" y="3803904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수전 용량(kVA) 및 전기실 고압차단기 교체 주기 확인 [실사 필요]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191860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29020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29020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740500" y="1810512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지하 주차장 배수펌프, 집수정 가동 및 결로 방지 환기 상태 점검 [실사 필요]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191860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29020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29020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740500" y="2807208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승강기 와이어로프, 제어반 및 카 도어 세이프티 센서 점검 필증 [실사 필요]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191860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29020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29020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740500" y="3803904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소방 방화구획 완비, 감지기 및 유도등 점등 배터리 정상 상태 [실사 필요]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02920" y="5349240"/>
            <a:ext cx="11057839" cy="45720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685800" y="5422392"/>
            <a:ext cx="1069207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EXECUTION ROADMAP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투자심의 의사결정 매트릭스 및 거래 일정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22376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22376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22376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LOI 접수 및 우선협상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매수 의향서 제출 및 상호 협약 체결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22376" y="4315968"/>
            <a:ext cx="1325880" cy="256032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/>
        </p:spPr>
      </p:sp>
      <p:sp>
        <p:nvSpPr>
          <p:cNvPr id="12" name="Text 10"/>
          <p:cNvSpPr/>
          <p:nvPr/>
        </p:nvSpPr>
        <p:spPr>
          <a:xfrm>
            <a:off x="722376" y="431596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D+0 ~ D+7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084500" y="3035808"/>
            <a:ext cx="182880" cy="274320"/>
          </a:xfrm>
          <a:prstGeom prst="rightArrow">
            <a:avLst/>
          </a:prstGeom>
          <a:solidFill>
            <a:srgbClr val="CBD5E0"/>
          </a:solidFill>
          <a:ln w="6350">
            <a:solidFill>
              <a:srgbClr val="71809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358820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78276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6" name="Text 14"/>
          <p:cNvSpPr/>
          <p:nvPr/>
        </p:nvSpPr>
        <p:spPr>
          <a:xfrm>
            <a:off x="3578276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578276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2단계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3578276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정밀 실사 (DD)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법률, 회계, 물리적 정밀 실사 수행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578276" y="4315968"/>
            <a:ext cx="1325880" cy="256032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/>
        </p:spPr>
      </p:sp>
      <p:sp>
        <p:nvSpPr>
          <p:cNvPr id="20" name="Text 18"/>
          <p:cNvSpPr/>
          <p:nvPr/>
        </p:nvSpPr>
        <p:spPr>
          <a:xfrm>
            <a:off x="3578276" y="431596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D+8 ~ D+21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940400" y="3035808"/>
            <a:ext cx="182880" cy="274320"/>
          </a:xfrm>
          <a:prstGeom prst="rightArrow">
            <a:avLst/>
          </a:prstGeom>
          <a:solidFill>
            <a:srgbClr val="CBD5E0"/>
          </a:solidFill>
          <a:ln w="6350">
            <a:solidFill>
              <a:srgbClr val="71809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14720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34176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4" name="Text 22"/>
          <p:cNvSpPr/>
          <p:nvPr/>
        </p:nvSpPr>
        <p:spPr>
          <a:xfrm>
            <a:off x="6434176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34176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3단계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434176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매매계약 체결 (SPA)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본계약 체결 및 계약금 예치 (10%)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34176" y="4315968"/>
            <a:ext cx="1325880" cy="256032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/>
        </p:spPr>
      </p:sp>
      <p:sp>
        <p:nvSpPr>
          <p:cNvPr id="28" name="Text 26"/>
          <p:cNvSpPr/>
          <p:nvPr/>
        </p:nvSpPr>
        <p:spPr>
          <a:xfrm>
            <a:off x="6434176" y="431596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D+22 ~ D+30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8796299" y="3035808"/>
            <a:ext cx="182880" cy="274320"/>
          </a:xfrm>
          <a:prstGeom prst="rightArrow">
            <a:avLst/>
          </a:prstGeom>
          <a:solidFill>
            <a:srgbClr val="CBD5E0"/>
          </a:solidFill>
          <a:ln w="6350">
            <a:solidFill>
              <a:srgbClr val="71809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070619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290075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2" name="Text 30"/>
          <p:cNvSpPr/>
          <p:nvPr/>
        </p:nvSpPr>
        <p:spPr>
          <a:xfrm>
            <a:off x="9290075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9290075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4단계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9290075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잔금 정산 및 소유권 이전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잔금 납부, 근저당 말소 및 등기 완료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9290075" y="4315968"/>
            <a:ext cx="1325880" cy="256032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/>
        </p:spPr>
      </p:sp>
      <p:sp>
        <p:nvSpPr>
          <p:cNvPr id="36" name="Text 34"/>
          <p:cNvSpPr/>
          <p:nvPr/>
        </p:nvSpPr>
        <p:spPr>
          <a:xfrm>
            <a:off x="9290075" y="431596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D+31 ~ D+60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02920" y="5047488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세부 거래 일정 및 조건은 매도인-매수인 상호 협의에 따라 조정될 수 있습니다.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 &amp; ADVISORY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61288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61288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91330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237634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7362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347362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6002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6002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26045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72349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082077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082077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30717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30717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29384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29384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29384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29384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02920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02920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29384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414016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02920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685800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파트너스 부동산중개법인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2026-09-20T11:57:59Z</dcterms:created>
  <dcterms:modified xsi:type="dcterms:W3CDTF">2026-09-20T11:57:59Z</dcterms:modified>
</cp:coreProperties>
</file>