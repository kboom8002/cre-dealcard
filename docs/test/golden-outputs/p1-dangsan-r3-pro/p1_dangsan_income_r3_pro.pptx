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당산동5가 근생빌딩 매각 제안서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639312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63931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파트너스 부동산중개법인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파트너스  |  크리딜 파트너스 부동산중개법인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 및 주요 검토 항목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69848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투자설명서는 전문 투자자 실무 검토 기준에 부합하는 5대 핵심 챕터로 구성되어 있습니다.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8132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64592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459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34440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개요 및 투자 논거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개요, 6대 핵심 투자 지표 및 밸류애드 가치 제안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1860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1860" y="148132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374740" y="164592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16" name="Text 14"/>
          <p:cNvSpPr/>
          <p:nvPr/>
        </p:nvSpPr>
        <p:spPr>
          <a:xfrm>
            <a:off x="6374740" y="16459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23380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제원 및 임대차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20460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스펙, 스태킹 플랜 및 층별 상세 임대차 렌트롤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3298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49758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4975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34440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 재무 모델링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10개년 DCF 현금흐름, OPEX 내역, 2D 민감도 및 차입 시뮬레이션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91860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1860" y="333298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374740" y="349758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28" name="Text 26"/>
          <p:cNvSpPr/>
          <p:nvPr/>
        </p:nvSpPr>
        <p:spPr>
          <a:xfrm>
            <a:off x="6374740" y="34975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23380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분석 및 실거래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20460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수급 동향, 인근 실거래 사례(Sales Comps) 및 평당가 비교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509320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2029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423160" y="516636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INSTITUTIONAL PRO 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88375" y="411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 ·  I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54864" cy="489204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10737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01  ·  PART 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14055" y="10058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79945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Executive Summary &amp; Investment Thesis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22960" y="2606040"/>
            <a:ext cx="5029200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24912"/>
            <a:ext cx="84517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개요, 투자 하이라이트 및 핵심 가치 제안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337560"/>
            <a:ext cx="10737799" cy="2697480"/>
          </a:xfrm>
          <a:prstGeom prst="rect">
            <a:avLst/>
          </a:prstGeom>
          <a:solidFill>
            <a:srgbClr val="1A202C"/>
          </a:solidFill>
          <a:ln w="1016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37560"/>
            <a:ext cx="10737799" cy="34747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410712"/>
            <a:ext cx="102805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CONTENTS &amp; KEY DELIVERABLES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3794760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3794760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01.01  물건 프로필 및 핵심 지표 요약 (Key Facts)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4215384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2336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4233672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01.02  핵심 투자 논거 및 전략적 타당성 (Investment Thesis)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654296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672584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4672584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01.03  매입 가격 구조 및 밸류애드 기회 (Value-Add Highlights)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29020" y="3794760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14820" y="3794760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01.04  광역 입지 접근성 및 핵심 교통망 (Location Connectivity)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29020" y="4215384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9020" y="42336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14820" y="4233672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01.05  임대차 현황 및 운용 현금흐름 요약 (Cash Flow Snapshot)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29020" y="4654296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및 물건 프로필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 포트폴리오 기반 현금흐름 분석 대상 상업용 자산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 실투자금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118.4억 원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1.56%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자기자본수익률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153.3평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345.2평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WALE 안정성: 임대료 기준 가중평균 잔여만기 0.0년(면적 기준 0.0년) 확보로 장기 현금흐름 안정성 견고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순영업소득(NOI) 가치: 연간 실질 순영업소득 0.0억 원(Cap Rate 1.56%) 달성 및 우량 임차인 위주의 안정적 임대차 구성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렌트롤 다단 리스크 관리: 12개월 내 만기도래 비중 0.0% 선제적 테넌트 리텐션 대응 가능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논거 및 전략적 가치</a:t>
            </a:r>
            <a:endParaRPr lang="en-US" sz="2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023360"/>
          <a:ext cx="11057839" cy="914400"/>
        </p:xfrm>
        <a:graphic>
          <a:graphicData uri="http://schemas.openxmlformats.org/drawingml/2006/table">
            <a:tbl>
              <a:tblPr/>
              <a:tblGrid>
                <a:gridCol w="2764460"/>
                <a:gridCol w="2764460"/>
                <a:gridCol w="2764460"/>
                <a:gridCol w="27644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시나리오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NOI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Cap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Rate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현실화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(+5%)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+약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0.10억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(+5%)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1.81%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불필요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리모델링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상승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+약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0.16억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(+8%)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1.86%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3.42억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148072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52578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423160" y="5221224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부 권역 중심에 위치한 우량 [건물명 비공개]입니다. 1. 입지 가치 및 접근성: 대중교통 및 주요 간선도로와의 우수한 연계성을 갖추고 있어 풍부한 유동인구와 배후 임대 수요를 확보하고 있습니다. 2. 안정적인 자산 가치: 115억 수준의 합리적인 매각가와 80평(약 264.5㎡) 규모의 건물 물리 스펙을 기반으로 안정적인 운영이 가능합니다. 3. 향후 밸류애드 잠재력: 체계적인 임대 관리 및 자산 효율화를 통해 향후 중장기적인 자산 가치 상승을 기대할 수 있습니다. 밸류업 시나리오 (AI 추정)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HIGHLIGHTS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매입 핵심 하이라이트 및 밸류애드 기회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매입 핵심 투자 하이라이트 및 가치 창출 요소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 매매가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 원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 평당가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23160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7,502만 원/평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 평당가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423160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3,331만 원/평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28529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529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연 순수익률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423160" y="285292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2.03% (NOI 환원 기준)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32552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552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상태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423160" y="325526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사용승인 이후 지속적 관리 및 시설 유지보수 양호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20279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3EBDA"/>
          </a:solidFill>
          <a:ln/>
        </p:spPr>
      </p:sp>
      <p:sp>
        <p:nvSpPr>
          <p:cNvPr id="23" name="Shape 21"/>
          <p:cNvSpPr/>
          <p:nvPr/>
        </p:nvSpPr>
        <p:spPr>
          <a:xfrm>
            <a:off x="7720279" y="1700784"/>
            <a:ext cx="36576" cy="15361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4" name="Text 22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안정적 임대 수익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66583" y="1938528"/>
            <a:ext cx="358444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임차인 포트폴리오 기반 안정적 현금흐름 창출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7720279" y="3493008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C6F6D5"/>
          </a:solidFill>
          <a:ln/>
        </p:spPr>
      </p:sp>
      <p:sp>
        <p:nvSpPr>
          <p:cNvPr id="27" name="Shape 25"/>
          <p:cNvSpPr/>
          <p:nvPr/>
        </p:nvSpPr>
        <p:spPr>
          <a:xfrm>
            <a:off x="7720279" y="3547872"/>
            <a:ext cx="36576" cy="1536192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28" name="Text 26"/>
          <p:cNvSpPr/>
          <p:nvPr/>
        </p:nvSpPr>
        <p:spPr>
          <a:xfrm>
            <a:off x="7866583" y="358444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67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밸류애드 업사이드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66583" y="3785616"/>
            <a:ext cx="358444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정상화 및 리노베이션을 통한 자본수익(Capital Gain) 극대화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&amp; CONNECTIVITY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광역 입지 및 대중교통망 분석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49323" y="14813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당산동5가 11-47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9385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9385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549323" y="19385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89320" y="2395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23957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549323" y="23957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영등포/당산 주요 상업·업무 권역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89320" y="296265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BEE3F8"/>
          </a:solidFill>
          <a:ln/>
        </p:spPr>
      </p:sp>
      <p:sp>
        <p:nvSpPr>
          <p:cNvPr id="16" name="Shape 13"/>
          <p:cNvSpPr/>
          <p:nvPr/>
        </p:nvSpPr>
        <p:spPr>
          <a:xfrm>
            <a:off x="5989320" y="3017520"/>
            <a:ext cx="36576" cy="5486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4"/>
          <p:cNvSpPr/>
          <p:nvPr/>
        </p:nvSpPr>
        <p:spPr>
          <a:xfrm>
            <a:off x="6135624" y="305409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135624" y="325526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영등포/당산 배후 상권 기반 안정적 임대 수요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 SNAPSHOT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현금흐름 요약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10600639" cy="1005840"/>
          </a:xfrm>
          <a:prstGeom prst="roundRect">
            <a:avLst>
              <a:gd name="adj" fmla="val 7273"/>
            </a:avLst>
          </a:prstGeom>
          <a:solidFill>
            <a:srgbClr val="10161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00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60359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2.03%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00439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2.3억원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82112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00439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2.9억원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29584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00439" y="35295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115.0억원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877056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770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순투자금 (매매가 − 보증금)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00439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112.1억원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224528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5897880"/>
            <a:ext cx="11057839" cy="438912"/>
          </a:xfrm>
          <a:prstGeom prst="roundRect">
            <a:avLst>
              <a:gd name="adj" fmla="val 12500"/>
            </a:avLst>
          </a:prstGeom>
          <a:solidFill>
            <a:srgbClr val="BEE3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5952744"/>
            <a:ext cx="36576" cy="3291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" y="5989320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판단 참고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" y="6190488"/>
            <a:ext cx="108018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2.0%는 시장 평균 하회 — 토지가치 상승 또는 리모델링 후 임대료 증대 가능성 검토 필요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INSTITUTIONAL PRO 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88375" y="411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 ·  II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54864" cy="489204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10737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02  ·  PART II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14055" y="10058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79945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Detailed Asset &amp; Building Specifications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22960" y="2606040"/>
            <a:ext cx="5029200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24912"/>
            <a:ext cx="84517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제원, 토지 공법 규제, 스태킹 플랜 및 상세 렌트롤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337560"/>
            <a:ext cx="10737799" cy="2697480"/>
          </a:xfrm>
          <a:prstGeom prst="rect">
            <a:avLst/>
          </a:prstGeom>
          <a:solidFill>
            <a:srgbClr val="1A202C"/>
          </a:solidFill>
          <a:ln w="1016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37560"/>
            <a:ext cx="10737799" cy="34747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410712"/>
            <a:ext cx="102805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CONTENTS &amp; KEY DELIVERABLES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3794760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3794760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02.01  건축물 물리적 제원 및 면적 분석 (Building Specs)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4215384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2336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4233672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02.02  토지 제원 및 용도지역·공법상 규제 (Land &amp; Zoning)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654296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672584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4672584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02.03  건축 입면 셋백 스태킹 플랜 (Setback Stacking Plan)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97280" y="5093208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111496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5111496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02.04  층별 상세 임대차 렌트롤 (Detailed Tenant Roster Part 1)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9020" y="3794760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14820" y="3794760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02.05  임대차 만기 스케줄 및 WALE 분석 (Detailed Tenant Roster Part 2)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29020" y="4215384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9020" y="42336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14820" y="4233672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02.06  설비(MEP) 및 물리적 시설 상태 점검 (Facility &amp; MEP)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29020" y="4654296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9020" y="4672584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14820" y="4672584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02.07  물건 내외부 현장 사진 갤러리 (Property Gallery)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29020" y="5093208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SPECS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물리적 제원 및 특성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true,"mocked":true,"extractedFields":{"area_signal":"당산","asset_type":"건물명 비공개","price_band":"115억","size_signal":"80평(약 264.5㎡)"},"extractedFacts":{"region":"당산","exactAddressCandidate":"해당 권역가 11-47","assetType":"건물명 비공개","priceText":"115억","sizeText":"80평(약 264.5㎡)","currentUse":"오피스","currentUseSignal":"근린생활시설","leaseSignal":"공실","vacancySignal":"공실 발생","tenantNames":,"unitRentTexts":,"sellerMotivationText":"자산 효율화","brokerNotes":"역세권 매물"},"detectedSensitiveFields":"exact_address","ambiguousFields":,"warnings":,"areaSignal":"당산","assetType":"건물명 비공개","priceBand":"115억","sizeSignal":"80평(약 264.5㎡)","dealType":"매각","buildingName":"건물명 비공개","exactAddress":"영등포구 당산동5가 11-47","totalFloorArea":264.464,"buildYear":2015,"currentUseSignal":"근린생활시설","vacancySignal":"공실 발생","fitSummary":"당산 권역 입지의 건물명 비공개 매각 물건","cautionSummary":"권리관계 및 공부 서류 검토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사옥형","budgetRange":{"min":70,"max":70,"display":"115억"},"preferredRegions":"강남","성수","assetTypes":"건물명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예산(115억)에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부탁드립니다.","title":"당산 역세권 도보 3분 이내 건물명 비공개 매각","shortSummary":"당산역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필요합니다.","kakaoText":"당산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402336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02336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12541" y="402336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 원 (VAT 별도)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52628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12541" y="452628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7,501만 원/평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{"ok":true,"mocked":true,"extractedFields":{"area_signal":"당산","asset_type":"[건물명 비공개]","price_band":"115억","size_signal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ZONING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제원 및 용도지역·공법상 제한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6858000" cy="1645920"/>
          </a:xfrm>
          <a:prstGeom prst="roundRect">
            <a:avLst>
              <a:gd name="adj" fmla="val 3333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700784"/>
            <a:ext cx="36576" cy="15361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1737360"/>
            <a:ext cx="6601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제원 및 용도지역·공법상 제한 요약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9224" y="1938528"/>
            <a:ext cx="660196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갑구·을구 권리관계 공적장부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주요 용도 및 위반건축물 여부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실사를 통한 물리적 하자 및 하자보수 이력 점검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20279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20279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건축 규제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6583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용도지역: 준공업지역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대지면적: 506.8㎡ (153.3평)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7720279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20279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866583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및 공적장부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66583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 소유권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기재 사항 실물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 및 실거래가 비교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 PLAN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입면 셋백 스태킹 플랜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4983480" cy="4800600"/>
          </a:xfrm>
          <a:prstGeom prst="roundRect">
            <a:avLst>
              <a:gd name="adj" fmla="val 1143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499616"/>
            <a:ext cx="4581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건축 입면 셋백 및 층별 단면 실루엣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04088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앵커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572768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55648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41448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리테일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10128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341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주차/기계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78808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1688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28700" y="1993392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1852" y="19933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5F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897380" y="19933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내과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1028700" y="2235708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1852" y="22357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4F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97380" y="22357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와인매장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1028700" y="2478024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1852" y="24780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4F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97380" y="24780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1028700" y="2720340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01852" y="27203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3F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897380" y="27203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헬쓰장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1028700" y="2962656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01852" y="296265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897380" y="296265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내과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1028700" y="3204972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01852" y="32049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1F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897380" y="32049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약국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1028700" y="3447288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01852" y="34472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1F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897380" y="34472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내과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777240" y="3781044"/>
            <a:ext cx="4434840" cy="0"/>
          </a:xfrm>
          <a:prstGeom prst="line">
            <a:avLst/>
          </a:prstGeom>
          <a:noFill/>
          <a:ln w="15240">
            <a:solidFill>
              <a:srgbClr val="4A5568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822960" y="371703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지표면 (GL ±0.0m)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48640" y="38633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-3.5m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028700" y="3863340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01852" y="38633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897380" y="38633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카페(자가)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5742432" y="1353312"/>
            <a:ext cx="5818327" cy="4800600"/>
          </a:xfrm>
          <a:prstGeom prst="roundRect">
            <a:avLst>
              <a:gd name="adj" fmla="val 1143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0" y="1499616"/>
            <a:ext cx="54159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층별 면적 및 임대차 제원 매트릭스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943600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16752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016752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345.2평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6016752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7325030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98182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전용률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398182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7398182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계약면적 대비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8706460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79612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WALE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779612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8779612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임대기간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10087889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161041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공실률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0161041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10161041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전층 만실 운용</a:t>
            </a:r>
            <a:endParaRPr lang="en-US" sz="72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633472"/>
          <a:ext cx="5413248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1051560"/>
                <a:gridCol w="713232"/>
                <a:gridCol w="713232"/>
                <a:gridCol w="1792224"/>
                <a:gridCol w="54864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주용도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전용(평)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임대(평)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입주사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카페(자가)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약국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헬쓰장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와인매장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내과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전층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345.2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카페(자가)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4" name="Text 61"/>
          <p:cNvSpPr/>
          <p:nvPr/>
        </p:nvSpPr>
        <p:spPr>
          <a:xfrm>
            <a:off x="5943600" y="5861304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제원은 건축물대장 및 임대차계약서 실측 기준입니다.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ROSTER (1/2)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현황 (저층부 및 주요 임차인)</a:t>
            </a:r>
            <a:endParaRPr lang="en-US" sz="2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721163"/>
                <a:gridCol w="721163"/>
                <a:gridCol w="1201939"/>
                <a:gridCol w="1201939"/>
                <a:gridCol w="1201939"/>
                <a:gridCol w="1201939"/>
                <a:gridCol w="1201939"/>
                <a:gridCol w="1201939"/>
                <a:gridCol w="1201939"/>
                <a:gridCol w="1201939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호실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임차인명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주요업종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임대면적(㎡)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임대면적(평)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보증금(만원)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월임대료(만원)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만기일자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갱신옵션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B101호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일반업무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96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1F01호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일반업무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23.7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6,000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1F01호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일반업무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31.9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14,000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2F01호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일반업무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76.3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3F01호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일반업무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76.3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5,000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4F01호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일반업무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51.1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3,000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4F01호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일반업무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25.1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5F01호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일반업무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55.6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1,000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보호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소계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8개사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436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29,000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8개사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436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29,000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&amp; MEP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기계·전기·소방(MEP) 설비 및 관리 상태 점검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33272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승강기(EV) 정기안전검사 필증 확보 및 - 유지보수 계약 체결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33272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5년 주기 정밀안전진단 통과 및 의무 자주식 주차구획(2대 이상) 충족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33272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수전설비(-) 및 한국전기안전공사 판정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91860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9020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6329020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22212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소방시설 종합정밀점검·작동기능점검 필증 및 전 층 스프링클러 헤드 완비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91860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9020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29020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22212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중앙/개별 냉난방 EHP·GHP 실외기 노후도 점검 및 각 실내기 냉난방 작동 상태 양호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91860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9020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29020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22212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입주업종 오수발생량 적합성 및 하수도 원인자부담금 추가 과세 없음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349240"/>
            <a:ext cx="11057839" cy="45720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5422392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INSTITUTIONAL PRO 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88375" y="411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 ·  III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54864" cy="489204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10737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03  ·  PART III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14055" y="10058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79945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Comprehensive Financial Modeling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22960" y="2606040"/>
            <a:ext cx="5029200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24912"/>
            <a:ext cx="84517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10개년 DCF 스케줄, OPEX 세부 내역, Exit Cap 감정평가 및 2D 민감도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337560"/>
            <a:ext cx="10737799" cy="2697480"/>
          </a:xfrm>
          <a:prstGeom prst="rect">
            <a:avLst/>
          </a:prstGeom>
          <a:solidFill>
            <a:srgbClr val="1A202C"/>
          </a:solidFill>
          <a:ln w="1016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37560"/>
            <a:ext cx="10737799" cy="34747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410712"/>
            <a:ext cx="102805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CONTENTS &amp; KEY DELIVERABLES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3794760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3794760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03.01  10개년 할인현금흐름(DCF) 추정 스케줄 (10-Yr Cash Flow)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4215384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2336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4233672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03.02  수익 및 운영비(OPEX) 세부 항목 분석 (OPEX Breakdown)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654296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672584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4672584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03.03  Exit Cap Rate 및 매각 가치 환원 산정 (Terminal Valuation)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29020" y="3794760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14820" y="3794760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03.04  2차원 민감도 분석: Exit Cap vs 할인율 (2D Sensitivity Matrix)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29020" y="4215384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9020" y="42336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14820" y="4233672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03.05  공실률 및 임대료 하향 스트레스 테스트 (Downside Stress Testing)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29020" y="4654296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9020" y="4672584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03.06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14820" y="4672584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03.06  자본 구조 및 차입(레버리지) 시뮬레이션 (Capital &amp; Debt Financing)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10-YEAR DCF SCHEDULE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10개년 현금흐름(DCF) 추정 스케줄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10개년 잠재총수익(PGI) 및 순영업소득(NOI) 추정 스케줄 (단위: 백만 원)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834390"/>
                <a:gridCol w="834390"/>
                <a:gridCol w="834390"/>
                <a:gridCol w="834390"/>
                <a:gridCol w="834390"/>
                <a:gridCol w="834390"/>
                <a:gridCol w="834390"/>
                <a:gridCol w="83439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Y1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Y7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Y10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PGI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(잠재총수익)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238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248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279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공실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손실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(3%)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EGI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(유효총수익)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227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231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236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271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(OPEX)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28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CapEx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적립금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순영업소득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(NOI)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196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208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221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세전현금흐름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(BTCF)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-63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-59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-55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-51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-46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-38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-24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98080" y="17373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F3EBDA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0" y="1792224"/>
            <a:ext cx="36576" cy="181051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0" name="Text 7"/>
          <p:cNvSpPr/>
          <p:nvPr/>
        </p:nvSpPr>
        <p:spPr>
          <a:xfrm>
            <a:off x="7644384" y="1828800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10-Yr Unlevered IRR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44384" y="2029968"/>
            <a:ext cx="386791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1.95% (무차입 기준 10개년 내부수익률)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7498080" y="37947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C6F6D5"/>
          </a:solidFill>
          <a:ln/>
        </p:spPr>
      </p:sp>
      <p:sp>
        <p:nvSpPr>
          <p:cNvPr id="13" name="Shape 10"/>
          <p:cNvSpPr/>
          <p:nvPr/>
        </p:nvSpPr>
        <p:spPr>
          <a:xfrm>
            <a:off x="7498080" y="3849624"/>
            <a:ext cx="36576" cy="1810512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14" name="Text 11"/>
          <p:cNvSpPr/>
          <p:nvPr/>
        </p:nvSpPr>
        <p:spPr>
          <a:xfrm>
            <a:off x="7644384" y="3886200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67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Exit Net Proceeds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644384" y="4087368"/>
            <a:ext cx="386791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116억 원 (Exit Cap 2.03% 기준)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BREAKDOWN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및 운영비(OPEX) 세부 항목 분석</a:t>
            </a:r>
            <a:endParaRPr lang="en-US" sz="2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842973"/>
                <a:gridCol w="1842973"/>
                <a:gridCol w="1842973"/>
                <a:gridCol w="1842973"/>
                <a:gridCol w="1842973"/>
                <a:gridCol w="1842973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운영비(OPEX)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1년차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3년차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5년차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구성비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위탁관리비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(PM/FM)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8,406,720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8,746,351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9,099,704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30.0%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자산관리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용역비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재산세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공과금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9,807,840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10,204,077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10,616,321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35.0%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보유세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환경개선부담금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화재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특수보험료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2,802,240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2,915,450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3,033,235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영업배상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화재보험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시설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수선유지비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7,005,600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7,288,626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7,583,087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25.0%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소모품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안전점검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(Total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OPEX)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28,022,400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29,154,504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30,332,347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100.0%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2.0%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물가상승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370832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물가상승률(CPI) 연 2.0% 반영 추정치이며, 실제 관리비 부과 및 보유세는 실사 시 조정될 수 있습니다.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VALUATION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Exit Cap Rate 및 매각 가치 환원 산정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10600639" cy="1005840"/>
          </a:xfrm>
          <a:prstGeom prst="roundRect">
            <a:avLst>
              <a:gd name="adj" fmla="val 7273"/>
            </a:avLst>
          </a:prstGeom>
          <a:solidFill>
            <a:srgbClr val="10161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00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60359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2.03%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00439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2.3억원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82112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00439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2.9억원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29584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00439" y="35295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115.0억원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877056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770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순투자금 (매매가 − 보증금)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00439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112.1억원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224528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5897880"/>
            <a:ext cx="11057839" cy="438912"/>
          </a:xfrm>
          <a:prstGeom prst="roundRect">
            <a:avLst>
              <a:gd name="adj" fmla="val 12500"/>
            </a:avLst>
          </a:prstGeom>
          <a:solidFill>
            <a:srgbClr val="BEE3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5952744"/>
            <a:ext cx="36576" cy="3291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" y="5989320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판단 참고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" y="6190488"/>
            <a:ext cx="108018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2.0%는 시장 평균 하회 — 토지가치 상승 또는 리모델링 후 임대료 증대 가능성 검토 필요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SENSITIVITY MATRIX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2차원 민감도 분석 (Exit Cap vs 할인율)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Exit Cap Rate vs 할인율 2D 민감도 분석 (Unlevered IRR %)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112520"/>
                <a:gridCol w="1112520"/>
                <a:gridCol w="1112520"/>
                <a:gridCol w="1112520"/>
                <a:gridCol w="1112520"/>
                <a:gridCol w="11125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Exit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Cap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\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할인율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5.5%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6.5%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1.53%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4.60%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4.60%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4.60%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4.60%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4.60%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1.78%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3.17%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3.17%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3.17%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3.17%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3.17%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2.03%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1.95%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1.95%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1.95%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1.95%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1.95%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2.28%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0.89%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0.89%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0.89%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0.89%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0.89%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2.53%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-0.04%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-0.04%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-0.04%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-0.04%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-0.04%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98080" y="17373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FEEBC8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0" y="1792224"/>
            <a:ext cx="36576" cy="18105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10" name="Text 7"/>
          <p:cNvSpPr/>
          <p:nvPr/>
        </p:nvSpPr>
        <p:spPr>
          <a:xfrm>
            <a:off x="7644384" y="1828800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보수적 시나리오 (Downside)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44384" y="2029968"/>
            <a:ext cx="386791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Exit Cap +50bps 확대 시 Unlevered IRR -0.04%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7498080" y="37947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C6F6D5"/>
          </a:solidFill>
          <a:ln/>
        </p:spPr>
      </p:sp>
      <p:sp>
        <p:nvSpPr>
          <p:cNvPr id="13" name="Shape 10"/>
          <p:cNvSpPr/>
          <p:nvPr/>
        </p:nvSpPr>
        <p:spPr>
          <a:xfrm>
            <a:off x="7498080" y="3849624"/>
            <a:ext cx="36576" cy="1810512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14" name="Text 11"/>
          <p:cNvSpPr/>
          <p:nvPr/>
        </p:nvSpPr>
        <p:spPr>
          <a:xfrm>
            <a:off x="7644384" y="3886200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67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낙관적 시나리오 (Upside)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644384" y="4087368"/>
            <a:ext cx="386791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Exit Cap -50bps 축소 시 Unlevered IRR 4.60%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TESTING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공실률 및 임대료 하향 스트레스 테스트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공실률 충격 시나리오별 순영업소득(NOI) 및 초기 수익률 영향 (단위: 백만 원)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112520"/>
                <a:gridCol w="1112520"/>
                <a:gridCol w="1112520"/>
                <a:gridCol w="1112520"/>
                <a:gridCol w="1112520"/>
                <a:gridCol w="11125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시나리오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적용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공실률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순영업소득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(NOI)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NOI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변동률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Unlevered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IRR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Cap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Rate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Base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196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1.95%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1.71%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Moderate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-5.89%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1.28%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1.61%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Severe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15.0%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168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-14.14%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0.29%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1.47%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98080" y="17373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F3EBDA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0" y="1792224"/>
            <a:ext cx="36576" cy="181051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0" name="Text 7"/>
          <p:cNvSpPr/>
          <p:nvPr/>
        </p:nvSpPr>
        <p:spPr>
          <a:xfrm>
            <a:off x="7644384" y="1828800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하방 방어력 (Buffer)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44384" y="2029968"/>
            <a:ext cx="386791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공실률 15% 심각 스트레스 상황에서도 연 순수익률 3%대 및 흑자 운용 유지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7498080" y="37947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BEE3F8"/>
          </a:solidFill>
          <a:ln/>
        </p:spPr>
      </p:sp>
      <p:sp>
        <p:nvSpPr>
          <p:cNvPr id="13" name="Shape 10"/>
          <p:cNvSpPr/>
          <p:nvPr/>
        </p:nvSpPr>
        <p:spPr>
          <a:xfrm>
            <a:off x="7498080" y="3849624"/>
            <a:ext cx="36576" cy="18105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1"/>
          <p:cNvSpPr/>
          <p:nvPr/>
        </p:nvSpPr>
        <p:spPr>
          <a:xfrm>
            <a:off x="7644384" y="3886200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스트레스 시나리오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644384" y="4087368"/>
            <a:ext cx="386791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3%에서 최대 15%까지 공실 확대 충격을 반영한 손익 보수적 산출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&amp; DEBT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 구조 및 차입(레버리지) 시뮬레이션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01417" y="2011680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87168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01417" y="2487168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5.29억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62656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01417" y="2962656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1.03억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38144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01417" y="3438144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121.3억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13632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01417" y="3913632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2.9억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389120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01417" y="4389120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57.5억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864608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01417" y="4864608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60.9억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69000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97600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7600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118.4억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2.03%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72.4억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2.05%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60.9억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49.4억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2.54%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397600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BEE3F8"/>
          </a:solidFill>
          <a:ln/>
        </p:spPr>
      </p:sp>
      <p:sp>
        <p:nvSpPr>
          <p:cNvPr id="32" name="Shape 29"/>
          <p:cNvSpPr/>
          <p:nvPr/>
        </p:nvSpPr>
        <p:spPr>
          <a:xfrm>
            <a:off x="6397600" y="4123944"/>
            <a:ext cx="36576" cy="13533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3" name="Text 30"/>
          <p:cNvSpPr/>
          <p:nvPr/>
        </p:nvSpPr>
        <p:spPr>
          <a:xfrm>
            <a:off x="6543904" y="4160520"/>
            <a:ext cx="467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자본조달 가이드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543904" y="4361688"/>
            <a:ext cx="46785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금융기관별 감정평가액 및 LTV 한도 조건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취득세(4.6%) 및 부대비용을 포함한 총소요자금 기반 에쿼티 조달 계획 수립 권장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INSTITUTIONAL PRO 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88375" y="411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 ·  IV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54864" cy="489204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10737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04  ·  PART IV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14055" y="10058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79945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 Dynamics &amp; Comparable Transactions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22960" y="2606040"/>
            <a:ext cx="5029200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24912"/>
            <a:ext cx="84517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거시 수급, 임대료·공실률 추이, 인근 실거래 사례 및 평당가 벤치마크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337560"/>
            <a:ext cx="10737799" cy="2697480"/>
          </a:xfrm>
          <a:prstGeom prst="rect">
            <a:avLst/>
          </a:prstGeom>
          <a:solidFill>
            <a:srgbClr val="1A202C"/>
          </a:solidFill>
          <a:ln w="1016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37560"/>
            <a:ext cx="10737799" cy="34747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410712"/>
            <a:ext cx="102805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CONTENTS &amp; KEY DELIVERABLES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3794760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3794760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04.01  권역 거시 시장 및 오피스 수급 동향 (Macro Submarket)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4215384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2336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4233672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04.02  권역 임대료 및 공실률 추이 벤치마크 (Rental &amp; Vacancy Trends)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654296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672584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4672584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04.03  미시 입지 상권 및 대중교통 인프라 (Micro Catchment &amp; Transit)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29020" y="3794760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14820" y="3794760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04.04  인근 실거래 비교 사례 분석 (Recent Sales Comps)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29020" y="4215384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9020" y="42336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14820" y="4233672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04.05  거래 배수 및 평당가 벤치마크 비교 (Comp Benchmarking Multiples)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29020" y="4654296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SUBMARKET OVERVIEW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거시 시장 및 수급 동향 분석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거시 시장 오피스 수급 및 공실률 동향 분석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평균 공실률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명목 임대료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실질 임대료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2920" y="3410712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3EBDA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465576"/>
            <a:ext cx="36576" cy="117043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" y="3502152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 수요 추이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9224" y="3703320"/>
            <a:ext cx="10801807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권역 임차 수요 견고한 수준 유지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&amp; VACANCY TRENDS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임대료 및 공실률 추이 벤치마크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유사 프라임 빌딩 임대료 및 공실률 벤치마크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A급 평균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4825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B급 평균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자산 수준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423160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84만 원 / 월세 6만 원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28529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경쟁력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423160" y="285292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시세 대비 적정 수준 유지로 임차인 락인(Lock-in) 효과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0279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720279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66583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검토 대상 상업용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및 임대차 계약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인접 인프라 및 입지 환경 분석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7720279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22" name="Shape 20"/>
          <p:cNvSpPr/>
          <p:nvPr/>
        </p:nvSpPr>
        <p:spPr>
          <a:xfrm>
            <a:off x="7720279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3" name="Text 21"/>
          <p:cNvSpPr/>
          <p:nvPr/>
        </p:nvSpPr>
        <p:spPr>
          <a:xfrm>
            <a:off x="7866583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66583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검토 대상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계약 조건 및 운영비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매입 후 운용 계획에 따른 수익성 분석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미시 입지 상권 및 대중교통 인프라 연결성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515258" cy="3657600"/>
          </a:xfrm>
          <a:prstGeom prst="roundRect">
            <a:avLst>
              <a:gd name="adj" fmla="val 1561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3515258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 접근성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지하철역 인접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간선 지하철역 도보 접근 권역 위치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4210" y="1417320"/>
            <a:ext cx="3515258" cy="3657600"/>
          </a:xfrm>
          <a:prstGeom prst="roundRect">
            <a:avLst>
              <a:gd name="adj" fmla="val 1561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4210" y="1417320"/>
            <a:ext cx="3515258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02810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광역 간선도로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02810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간선도로 접근 양호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02810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도심 및 광역 간선도로망 연계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5501" y="1417320"/>
            <a:ext cx="3515258" cy="3657600"/>
          </a:xfrm>
          <a:prstGeom prst="roundRect">
            <a:avLst>
              <a:gd name="adj" fmla="val 1561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5501" y="1417320"/>
            <a:ext cx="3515258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274101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업무권역 접근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74101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업무권역 접근 양호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74101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업무 권역과의 대중교통 연결 우수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상기 입지 평가는 공공 교통망 데이터 및 지적도 기준 분석 결과입니다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 BENCHMARKING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배수 및 평당가 벤치마크 비교 분석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실거래 벤치마크 및 밸류에이션 배수 비교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335024"/>
                <a:gridCol w="1335024"/>
                <a:gridCol w="1335024"/>
                <a:gridCol w="1335024"/>
                <a:gridCol w="1335024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인근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인근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인근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(제시가)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연면적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평당가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(만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3,331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대지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평당가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(만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6,752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7,502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8,252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7,502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Cap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Rate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2.03%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98080" y="17373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F3EBDA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0" y="1792224"/>
            <a:ext cx="36576" cy="181051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0" name="Text 7"/>
          <p:cNvSpPr/>
          <p:nvPr/>
        </p:nvSpPr>
        <p:spPr>
          <a:xfrm>
            <a:off x="7644384" y="1828800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평당가 적정성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44384" y="2029968"/>
            <a:ext cx="386791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최근 실거래 평균 밴드 내에 위치하여 시장 수용성 확보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7498080" y="37947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C6F6D5"/>
          </a:solidFill>
          <a:ln/>
        </p:spPr>
      </p:sp>
      <p:sp>
        <p:nvSpPr>
          <p:cNvPr id="13" name="Shape 10"/>
          <p:cNvSpPr/>
          <p:nvPr/>
        </p:nvSpPr>
        <p:spPr>
          <a:xfrm>
            <a:off x="7498080" y="3849624"/>
            <a:ext cx="36576" cy="1810512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14" name="Text 11"/>
          <p:cNvSpPr/>
          <p:nvPr/>
        </p:nvSpPr>
        <p:spPr>
          <a:xfrm>
            <a:off x="7644384" y="3886200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67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Cap Rate 스프레드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644384" y="4087368"/>
            <a:ext cx="386791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요구 수익률 대비 견조한 Cap Rate 스프레드(2.03%) 유지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INSTITUTIONAL PRO 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88375" y="411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 ·  V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54864" cy="489204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10737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05  ·  PART 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14055" y="10058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79945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Legal, Technical &amp; Physical Due Diligence Annexes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22960" y="2606040"/>
            <a:ext cx="5029200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24912"/>
            <a:ext cx="84517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지적도, 등기부 권리관계, 건축법규 적합성, 물리적 실사 및 투자심의 일정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337560"/>
            <a:ext cx="10737799" cy="2697480"/>
          </a:xfrm>
          <a:prstGeom prst="rect">
            <a:avLst/>
          </a:prstGeom>
          <a:solidFill>
            <a:srgbClr val="1A202C"/>
          </a:solidFill>
          <a:ln w="1016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37560"/>
            <a:ext cx="10737799" cy="34747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410712"/>
            <a:ext cx="102805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CONTENTS &amp; KEY DELIVERABLES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3794760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3794760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05.01  지적도 및 필지 경계·형상 분석 (Cadastral Boundaries)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4215384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2336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4233672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05.02  등기부 소유권 및 권리관계·제한물권 (Title &amp; Ownership)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654296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672584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4672584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05.03  건축 법규, 건폐율·용적률 및 증축 타당성 (Code Compliance)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29020" y="3794760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14820" y="3794760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05.04  물리적 실사 점검표 및 리스크 매트릭스 (Physical Due Diligence)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29020" y="4215384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9020" y="42336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14820" y="4233672"/>
            <a:ext cx="41801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05.05  투자심의 의사결정 매트릭스 및 거래 일정 (Execution Roadmap)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29020" y="4654296"/>
            <a:ext cx="4865980" cy="0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&amp; OWNERSHIP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 갑구·을구 소유권 및 권리관계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517904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및 등기부등본 현황 요약</a:t>
            </a:r>
            <a:endParaRPr lang="en-US" sz="1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10512"/>
          <a:ext cx="6492240" cy="914400"/>
        </p:xfrm>
        <a:graphic>
          <a:graphicData uri="http://schemas.openxmlformats.org/drawingml/2006/table">
            <a:tbl>
              <a:tblPr/>
              <a:tblGrid>
                <a:gridCol w="2164080"/>
                <a:gridCol w="2164080"/>
                <a:gridCol w="21640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소유권자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단독 소유 (등기부 기준)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제한물권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잔금 시 전액 상환 및 말소 조건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임차권 등기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해당 없음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을구 등재 내역 없음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가압류/가처분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소유권 분쟁 내역 없음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154680"/>
            <a:ext cx="6492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88352" y="1810512"/>
            <a:ext cx="4233672" cy="113385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Text 7"/>
          <p:cNvSpPr/>
          <p:nvPr/>
        </p:nvSpPr>
        <p:spPr>
          <a:xfrm>
            <a:off x="7571232" y="1993392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제한물권 말소 확약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71232" y="2267712"/>
            <a:ext cx="38679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잔금 시 근저당권 전액 동시 말소 조건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388352" y="3072384"/>
            <a:ext cx="4233672" cy="113385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" name="Text 10"/>
          <p:cNvSpPr/>
          <p:nvPr/>
        </p:nvSpPr>
        <p:spPr>
          <a:xfrm>
            <a:off x="7571232" y="3255264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권리 관계 정상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71232" y="3529584"/>
            <a:ext cx="38679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갑구 권리 제한 사항 부존재 확인 기준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COMPLIANCE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법규, 건폐율·용적률 및 증축 타당성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건축관계 법규 및 건폐율·용적률 적합성 검토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4825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5059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28529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5292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위반건축물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2552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552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정화조/소방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423160" y="325526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법령 기준 충족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0279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9" name="Shape 17"/>
          <p:cNvSpPr/>
          <p:nvPr/>
        </p:nvSpPr>
        <p:spPr>
          <a:xfrm>
            <a:off x="7720279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0" name="Text 18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6583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검토 대상 상업용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및 임대차 계약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인접 인프라 및 입지 환경 분석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720279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23" name="Shape 21"/>
          <p:cNvSpPr/>
          <p:nvPr/>
        </p:nvSpPr>
        <p:spPr>
          <a:xfrm>
            <a:off x="7720279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4" name="Text 22"/>
          <p:cNvSpPr/>
          <p:nvPr/>
        </p:nvSpPr>
        <p:spPr>
          <a:xfrm>
            <a:off x="7866583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66583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검토 대상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계약 조건 및 운영비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매입 후 운용 계획에 따른 수익성 분석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DILIGENCE 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실사 점검표 및 리스크 매트릭스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33272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구조안전진단 이력 및 내진설계 반영 여부 점검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33272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옥상 방수, 외벽 석재/커튼월 코킹 노후도 및 누수 흔적 점검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33272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수전 용량(kVA) 및 전기실 고압차단기 교체 주기 점검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91860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9020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6329020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22212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주차장 배수펌프, 집수정 가동 및 결로 방지 환기 상태 점검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91860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9020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29020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22212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 와이어로프, 제어반 및 카 도어 세이프티 센서 점검 필증 확인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91860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9020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29020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22212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소방 방화구획 완비, 감지기 및 유도등 점등 배터리 정상 상태 점검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5349240"/>
            <a:ext cx="11057839" cy="45720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5422392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ROADMAP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투자심의 의사결정 매트릭스 및 거래 일정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2490140" cy="3200400"/>
          </a:xfrm>
          <a:prstGeom prst="roundRect">
            <a:avLst>
              <a:gd name="adj" fmla="val 2203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2376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2376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LOI 접수 및 우선협상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매수 의향서 제출 및 상호 협약 체결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" y="431596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4315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D+0 ~ D+7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84500" y="3035808"/>
            <a:ext cx="182880" cy="274320"/>
          </a:xfrm>
          <a:prstGeom prst="rightArrow">
            <a:avLst/>
          </a:prstGeom>
          <a:solidFill>
            <a:srgbClr val="CBD5E0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8820" y="1572768"/>
            <a:ext cx="2490140" cy="3200400"/>
          </a:xfrm>
          <a:prstGeom prst="roundRect">
            <a:avLst>
              <a:gd name="adj" fmla="val 2203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78276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6" name="Text 14"/>
          <p:cNvSpPr/>
          <p:nvPr/>
        </p:nvSpPr>
        <p:spPr>
          <a:xfrm>
            <a:off x="3578276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78276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78276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 실사 (DD)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법률, 회계, 물리적 정밀 실사 수행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78276" y="431596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3578276" y="4315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D+8 ~ D+21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0400" y="3035808"/>
            <a:ext cx="182880" cy="274320"/>
          </a:xfrm>
          <a:prstGeom prst="rightArrow">
            <a:avLst/>
          </a:prstGeom>
          <a:solidFill>
            <a:srgbClr val="CBD5E0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4720" y="1572768"/>
            <a:ext cx="2490140" cy="3200400"/>
          </a:xfrm>
          <a:prstGeom prst="roundRect">
            <a:avLst>
              <a:gd name="adj" fmla="val 2203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34176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4" name="Text 22"/>
          <p:cNvSpPr/>
          <p:nvPr/>
        </p:nvSpPr>
        <p:spPr>
          <a:xfrm>
            <a:off x="6434176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34176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34176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(SPA)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본계약 체결 및 계약금 예치 (10%)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34176" y="431596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6434176" y="4315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D+22 ~ D+30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796299" y="3035808"/>
            <a:ext cx="182880" cy="274320"/>
          </a:xfrm>
          <a:prstGeom prst="rightArrow">
            <a:avLst/>
          </a:prstGeom>
          <a:solidFill>
            <a:srgbClr val="CBD5E0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70619" y="1572768"/>
            <a:ext cx="2490140" cy="3200400"/>
          </a:xfrm>
          <a:prstGeom prst="roundRect">
            <a:avLst>
              <a:gd name="adj" fmla="val 2203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90075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2" name="Text 30"/>
          <p:cNvSpPr/>
          <p:nvPr/>
        </p:nvSpPr>
        <p:spPr>
          <a:xfrm>
            <a:off x="9290075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290075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90075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정산 및 소유권 이전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납부, 근저당 말소 및 등기 완료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290075" y="431596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9290075" y="4315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D+31 ~ D+60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504748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세부 거래 일정 및 조건은 매도인-매수인 상호 협의에 따라 조정될 수 있습니다.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&amp; ADVISORY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파트너스 부동산중개법인 · 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2026-09-29T01:48:59Z</dcterms:created>
  <dcterms:modified xsi:type="dcterms:W3CDTF">2026-09-29T01:48:59Z</dcterms:modified>
</cp:coreProperties>
</file>