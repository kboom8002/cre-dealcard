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당산동5가 근생빌딩 매각 제안서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66928" y="341071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959352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959352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566928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66928" y="5943600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 |  크리딜 파트너스 부동산중개법인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TABLE OF CONTENTS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 및 주요 검토 항목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투자설명서는 전문 투자자 실무 검토 기준에 부합하는 5대 핵심 챕터로 구성되어 있습니다.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29844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개요 및 투자 논거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9552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6대 핵심 투자 지표 및 밸류애드 가치 제안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48132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48132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8748" y="164592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38748" y="164592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987388" y="164592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제원 및 임대차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84468" y="201168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스펙, 스태킹 플랜 및 층별 상세 임대차 렌트롤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2" name="Text 20"/>
          <p:cNvSpPr/>
          <p:nvPr/>
        </p:nvSpPr>
        <p:spPr>
          <a:xfrm>
            <a:off x="74980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29844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재무 모델링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9552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현금흐름, OPEX 내역, 2D 민감도 및 차입 시뮬레이션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55868" y="3332988"/>
            <a:ext cx="5368900" cy="1623060"/>
          </a:xfrm>
          <a:prstGeom prst="roundRect">
            <a:avLst>
              <a:gd name="adj" fmla="val 450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5868" y="3332988"/>
            <a:ext cx="54864" cy="162306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438748" y="3497580"/>
            <a:ext cx="438912" cy="274320"/>
          </a:xfrm>
          <a:prstGeom prst="roundRect">
            <a:avLst>
              <a:gd name="adj" fmla="val 13333"/>
            </a:avLst>
          </a:prstGeom>
          <a:solidFill>
            <a:srgbClr val="D9B668"/>
          </a:solidFill>
          <a:ln/>
        </p:spPr>
      </p:sp>
      <p:sp>
        <p:nvSpPr>
          <p:cNvPr id="28" name="Text 26"/>
          <p:cNvSpPr/>
          <p:nvPr/>
        </p:nvSpPr>
        <p:spPr>
          <a:xfrm>
            <a:off x="6438748" y="34975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987388" y="3497580"/>
            <a:ext cx="44087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분석 및 실거래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484468" y="3863340"/>
            <a:ext cx="4911700" cy="9646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1C2433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수급 동향, 인근 실거래 사례(Sales Comps) 및 평당가 비교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09320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9808" y="5202936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487168" y="5166360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자산에 대한 상세 분석 및 투자 의사결정은 원본 임대차 계약서 및 공부상 권리관계 실사를 바탕으로 진행됩니다.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01  ·  PART 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 &amp; Investment Thesis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개요, 투자 하이라이트 및 핵심 가치 제안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01.01  물건 프로필 및 핵심 지표 요약 (Key Facts)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01.02  핵심 투자 논거 및 전략적 타당성 (Investment Thesis)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01.03  매입 가격 구조 및 밸류애드 기회 (Value-Add Highlights)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01.04  광역 입지 접근성 및 핵심 교통망 (Location Connectivity)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01.05  임대차 현황 및 운용 현금흐름 요약 (Cash Flow Snapshot)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및 물건 프로필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21907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포트폴리오 기반 현금흐름 분석 대상 상업용 자산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480947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필요 실투자금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118.4억 원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618107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1746123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13141" y="1965579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1.56%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73152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4307738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72330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472330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153.3평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8048549" y="2742819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13141" y="2870835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213141" y="3090291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345.2평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66928" y="3958971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566928" y="4288155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76656" y="4361371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656" y="4361371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207008" y="4324731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 안정성: 임대료 기준 가중평균 잔여만기 0.0년(면적 기준 0.0년) 확보로 장기 현금흐름 안정성 견고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4882642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76656" y="495585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656" y="495585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207008" y="4919218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순영업소득(NOI) 가치: 연간 실질 순영업소득 0.0억 원(Cap Rate 1.56%) 달성 및 안정적 임차인(우수 신용도) 위주의 임대차 구성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6928" y="5477129"/>
            <a:ext cx="11057839" cy="512191"/>
          </a:xfrm>
          <a:prstGeom prst="roundRect">
            <a:avLst>
              <a:gd name="adj" fmla="val 8926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6656" y="5550345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76656" y="5550345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207008" y="5513705"/>
            <a:ext cx="10280599" cy="43903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 다단 리스크 관리: 12개월 내 만기도래 비중 0.0% 선제적 테넌트 리텐션 대응 가능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논거 및 전략적 가치</a:t>
            </a:r>
            <a:endParaRPr lang="en-US" sz="2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2764460"/>
                <a:gridCol w="2764460"/>
                <a:gridCol w="2764460"/>
                <a:gridCol w="276446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개선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투자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②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현실화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0.10억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(+5%)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1.81%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불필요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③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리모델링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0.16억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(+8%)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1.86%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3.42억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5148072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5257800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487168" y="5221224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부 권역 중심에 위치한 안정적 [건물명 비공개]입니다. 1. 입지 가치 및 접근성: 대중교통 및 주요 간선도로와의 우수한 연계성을 갖추고 있어 풍부한 유동인구와 배후 임대 수요를 확보하고 있습니다. 2. 안정적인 자산 가치: 115억 수준의 합리적인 매각가와 80평(약 264.5㎡) 규모의 건물 물리 스펙을 기반으로 안정적인 운영이 가능합니다. 3. 향후 가치개선(Value-add) 잠재력: 체계적인 임대 관리 및 자산 효율화를 통해 향후 중장기적인 자산 가치 상승을 기대할 수 있습니다. 가치개선(Value-add) 시나리오 (AI 추정)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HIGHLIGHTS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하이라이트 및 밸류애드 기회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핵심 투자 하이라이트 및 가치 창출 요소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희망 매매가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 평당가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87168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7,502만 원/평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 평당가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3,331만 원/평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기준 연 순수익률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2.03% (NOI 환원 기준)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상태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 이후 지속적 관리 및 시설 유지보수 양호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임대 수익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안정적 임차인(우수 신용도) 포트폴리오 기반 안정적 현금흐름 창출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7784287" y="3493008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C6F6D5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3547872"/>
            <a:ext cx="36576" cy="153619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28" name="Text 26"/>
          <p:cNvSpPr/>
          <p:nvPr/>
        </p:nvSpPr>
        <p:spPr>
          <a:xfrm>
            <a:off x="7930591" y="358444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가치개선 업사이드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30591" y="3785616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정상화 및 리노베이션을 통한 자본수익(Capital Gain) 제고</a:t>
            </a:r>
            <a:endParaRPr lang="en-US" sz="98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&amp; CONNECTIVITY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입지 및 대중교통망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서울특별시 영등포구 당산동5가 11-47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주요 상업·업무 권역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053328" y="29626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6" name="Shape 13"/>
          <p:cNvSpPr/>
          <p:nvPr/>
        </p:nvSpPr>
        <p:spPr>
          <a:xfrm>
            <a:off x="6053328" y="30175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4"/>
          <p:cNvSpPr/>
          <p:nvPr/>
        </p:nvSpPr>
        <p:spPr>
          <a:xfrm>
            <a:off x="6199632" y="30540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6199632" y="32552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영등포/당산 배후 상권 기반 안정적 임대 수요</a:t>
            </a:r>
            <a:endParaRPr lang="en-US" sz="980" dirty="0"/>
          </a:p>
        </p:txBody>
      </p:sp>
      <p:sp>
        <p:nvSpPr>
          <p:cNvPr id="19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CASH FLOW SNAPSHOT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현금흐름 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해소 및 인근 시세 수준 정상화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BEE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2.0%는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02  ·  PART 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Detailed Asset &amp; Building Specifications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제원, 토지 공법 규제, 스태킹 플랜 및 상세 렌트롤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02.01  건축물 물리적 제원 및 면적 분석 (Building Specs)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02.02  토지 제원 및 용도지역·공법상 규제 (Land &amp; Zoning)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02.03  건축 입면 셋백 스태킹 플랜 (Setback Stacking Plan)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16128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61288" y="5111496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47088" y="5111496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02.04  층별 상세 임대차 렌트롤 (Detailed Tenant Roster Part 1)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02.05  임대차 만기 스케줄 및 WALE 분석 (Detailed Tenant Roster Part 2)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02.06  설비(MEP) 및 물리적 시설 상태 점검 (Facility &amp; MEP)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02.07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02.07  물건 내외부 현장 사진 갤러리 (Property Gallery)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393028" y="5093208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 SPECS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물리적 제원 및 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87168" y="16459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true,"mocked":true,"extractedFields":{"area_signal":"당산","asset_type":"건물명 비공개","price_b…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66928" y="402336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49808" y="402336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476549" y="402336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 (VAT 별도)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704088" y="452628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452628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476549" y="452628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7,501만 원/평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84287" y="4681728"/>
            <a:ext cx="3840480" cy="1508760"/>
          </a:xfrm>
          <a:prstGeom prst="roundRect">
            <a:avLst>
              <a:gd name="adj" fmla="val 363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736592"/>
            <a:ext cx="36576" cy="13990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773168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하이라이트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974336"/>
            <a:ext cx="3584448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{"ok":true,"mocked":true,"extractedFields":{"area_signal":"당산","asset_type":"[건물명 비공개]","price_band":"115억","size_signal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ZONING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13232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제원 및 용도지역·공법상 제한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13232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용도지역: 준공업지역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대지면적: 506.8㎡ (153.3평)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STACKING 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입면 셋백 스태킹 플랜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53312"/>
            <a:ext cx="4983480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1499616"/>
            <a:ext cx="45811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건축 입면 셋백 및 층별 단면 실루엣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6809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1E3A8A"/>
          </a:solidFill>
          <a:ln w="6350">
            <a:solidFill>
              <a:srgbClr val="3B82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5097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앵커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3677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81965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50545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68833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리테일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337413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334155"/>
          </a:solidFill>
          <a:ln w="6350">
            <a:solidFill>
              <a:srgbClr val="4755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5701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주차/기계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242816" y="1773936"/>
            <a:ext cx="146304" cy="146304"/>
          </a:xfrm>
          <a:prstGeom prst="roundRect">
            <a:avLst>
              <a:gd name="adj" fmla="val 25000"/>
            </a:avLst>
          </a:prstGeom>
          <a:solidFill>
            <a:srgbClr val="EF4444"/>
          </a:solidFill>
          <a:ln w="6350">
            <a:solidFill>
              <a:srgbClr val="F8717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25696" y="1755648"/>
            <a:ext cx="685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1092708" y="199339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165860" y="199339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5F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1961388" y="199339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21" name="Shape 19"/>
          <p:cNvSpPr/>
          <p:nvPr/>
        </p:nvSpPr>
        <p:spPr>
          <a:xfrm>
            <a:off x="1092708" y="223570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65860" y="223570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961388" y="223570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와인매장</a:t>
            </a:r>
            <a:endParaRPr lang="en-US" sz="820" dirty="0"/>
          </a:p>
        </p:txBody>
      </p:sp>
      <p:sp>
        <p:nvSpPr>
          <p:cNvPr id="24" name="Shape 22"/>
          <p:cNvSpPr/>
          <p:nvPr/>
        </p:nvSpPr>
        <p:spPr>
          <a:xfrm>
            <a:off x="1092708" y="2478024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65860" y="2478024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4F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61388" y="2478024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</a:t>
            </a:r>
            <a:endParaRPr lang="en-US" sz="820" dirty="0"/>
          </a:p>
        </p:txBody>
      </p:sp>
      <p:sp>
        <p:nvSpPr>
          <p:cNvPr id="27" name="Shape 25"/>
          <p:cNvSpPr/>
          <p:nvPr/>
        </p:nvSpPr>
        <p:spPr>
          <a:xfrm>
            <a:off x="1092708" y="2720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5860" y="2720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3F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61388" y="2720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헬쓰장</a:t>
            </a:r>
            <a:endParaRPr lang="en-US" sz="820" dirty="0"/>
          </a:p>
        </p:txBody>
      </p:sp>
      <p:sp>
        <p:nvSpPr>
          <p:cNvPr id="30" name="Shape 28"/>
          <p:cNvSpPr/>
          <p:nvPr/>
        </p:nvSpPr>
        <p:spPr>
          <a:xfrm>
            <a:off x="1092708" y="2962656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65860" y="2962656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2F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61388" y="2962656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3" name="Shape 31"/>
          <p:cNvSpPr/>
          <p:nvPr/>
        </p:nvSpPr>
        <p:spPr>
          <a:xfrm>
            <a:off x="1092708" y="3204972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65860" y="3204972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61388" y="3204972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약국</a:t>
            </a:r>
            <a:endParaRPr lang="en-US" sz="820" dirty="0"/>
          </a:p>
        </p:txBody>
      </p:sp>
      <p:sp>
        <p:nvSpPr>
          <p:cNvPr id="36" name="Shape 34"/>
          <p:cNvSpPr/>
          <p:nvPr/>
        </p:nvSpPr>
        <p:spPr>
          <a:xfrm>
            <a:off x="1092708" y="3447288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475569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65860" y="3447288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1F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61388" y="3447288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내과</a:t>
            </a:r>
            <a:endParaRPr lang="en-US" sz="820" dirty="0"/>
          </a:p>
        </p:txBody>
      </p:sp>
      <p:sp>
        <p:nvSpPr>
          <p:cNvPr id="39" name="Shape 37"/>
          <p:cNvSpPr/>
          <p:nvPr/>
        </p:nvSpPr>
        <p:spPr>
          <a:xfrm>
            <a:off x="841248" y="3781044"/>
            <a:ext cx="4434840" cy="0"/>
          </a:xfrm>
          <a:prstGeom prst="line">
            <a:avLst/>
          </a:prstGeom>
          <a:noFill/>
          <a:ln w="15240">
            <a:solidFill>
              <a:srgbClr val="4A5568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886968" y="3717036"/>
            <a:ext cx="1463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지표면 (GL ±0.0m)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612648" y="3863340"/>
            <a:ext cx="594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4A55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-3.5m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1092708" y="3863340"/>
            <a:ext cx="3931920" cy="228600"/>
          </a:xfrm>
          <a:prstGeom prst="roundRect">
            <a:avLst>
              <a:gd name="adj" fmla="val 12000"/>
            </a:avLst>
          </a:prstGeom>
          <a:solidFill>
            <a:srgbClr val="0D9488"/>
          </a:solidFill>
          <a:ln w="6350">
            <a:solidFill>
              <a:srgbClr val="14B8A6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65860" y="3863340"/>
            <a:ext cx="777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B1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1961388" y="3863340"/>
            <a:ext cx="2331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카페(자가)</a:t>
            </a:r>
            <a:endParaRPr lang="en-US" sz="820" dirty="0"/>
          </a:p>
        </p:txBody>
      </p:sp>
      <p:sp>
        <p:nvSpPr>
          <p:cNvPr id="45" name="Shape 43"/>
          <p:cNvSpPr/>
          <p:nvPr/>
        </p:nvSpPr>
        <p:spPr>
          <a:xfrm>
            <a:off x="5806440" y="1353312"/>
            <a:ext cx="5818327" cy="4800600"/>
          </a:xfrm>
          <a:prstGeom prst="roundRect">
            <a:avLst>
              <a:gd name="adj" fmla="val 114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007608" y="1499616"/>
            <a:ext cx="541599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층별 면적 및 임대차 제원 매트릭스</a:t>
            </a:r>
            <a:endParaRPr lang="en-US" sz="1250" dirty="0"/>
          </a:p>
        </p:txBody>
      </p:sp>
      <p:sp>
        <p:nvSpPr>
          <p:cNvPr id="47" name="Shape 45"/>
          <p:cNvSpPr/>
          <p:nvPr/>
        </p:nvSpPr>
        <p:spPr>
          <a:xfrm>
            <a:off x="600760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08076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608076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345.2평</a:t>
            </a:r>
            <a:endParaRPr lang="en-US" sz="1350" dirty="0"/>
          </a:p>
        </p:txBody>
      </p:sp>
      <p:sp>
        <p:nvSpPr>
          <p:cNvPr id="50" name="Text 48"/>
          <p:cNvSpPr/>
          <p:nvPr/>
        </p:nvSpPr>
        <p:spPr>
          <a:xfrm>
            <a:off x="608076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</a:t>
            </a:r>
            <a:endParaRPr lang="en-US" sz="720" dirty="0"/>
          </a:p>
        </p:txBody>
      </p:sp>
      <p:sp>
        <p:nvSpPr>
          <p:cNvPr id="51" name="Shape 49"/>
          <p:cNvSpPr/>
          <p:nvPr/>
        </p:nvSpPr>
        <p:spPr>
          <a:xfrm>
            <a:off x="738903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46219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전용률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746219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4" name="Text 52"/>
          <p:cNvSpPr/>
          <p:nvPr/>
        </p:nvSpPr>
        <p:spPr>
          <a:xfrm>
            <a:off x="746219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계약면적 대비</a:t>
            </a:r>
            <a:endParaRPr lang="en-US" sz="720" dirty="0"/>
          </a:p>
        </p:txBody>
      </p:sp>
      <p:sp>
        <p:nvSpPr>
          <p:cNvPr id="55" name="Shape 53"/>
          <p:cNvSpPr/>
          <p:nvPr/>
        </p:nvSpPr>
        <p:spPr>
          <a:xfrm>
            <a:off x="8770468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843620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WALE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8843620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</a:t>
            </a:r>
            <a:endParaRPr lang="en-US" sz="1350" dirty="0"/>
          </a:p>
        </p:txBody>
      </p:sp>
      <p:sp>
        <p:nvSpPr>
          <p:cNvPr id="58" name="Text 56"/>
          <p:cNvSpPr/>
          <p:nvPr/>
        </p:nvSpPr>
        <p:spPr>
          <a:xfrm>
            <a:off x="8843620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임대기간</a:t>
            </a:r>
            <a:endParaRPr lang="en-US" sz="720" dirty="0"/>
          </a:p>
        </p:txBody>
      </p:sp>
      <p:sp>
        <p:nvSpPr>
          <p:cNvPr id="59" name="Shape 57"/>
          <p:cNvSpPr/>
          <p:nvPr/>
        </p:nvSpPr>
        <p:spPr>
          <a:xfrm>
            <a:off x="10151897" y="1773936"/>
            <a:ext cx="1271702" cy="713232"/>
          </a:xfrm>
          <a:prstGeom prst="roundRect">
            <a:avLst>
              <a:gd name="adj" fmla="val 641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0225049" y="1847088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10225049" y="2011680"/>
            <a:ext cx="11253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</a:t>
            </a:r>
            <a:endParaRPr lang="en-US" sz="1350" dirty="0"/>
          </a:p>
        </p:txBody>
      </p:sp>
      <p:sp>
        <p:nvSpPr>
          <p:cNvPr id="62" name="Text 60"/>
          <p:cNvSpPr/>
          <p:nvPr/>
        </p:nvSpPr>
        <p:spPr>
          <a:xfrm>
            <a:off x="10225049" y="2267712"/>
            <a:ext cx="112539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만실 운용</a:t>
            </a:r>
            <a:endParaRPr lang="en-US" sz="72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07608" y="2633472"/>
          <a:ext cx="5413248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1051560"/>
                <a:gridCol w="713232"/>
                <a:gridCol w="713232"/>
                <a:gridCol w="1792224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층수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주용도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전용(평)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임대(평)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입주사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약국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헬쓰장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와인매장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내과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전층 </a:t>
                      </a:r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만실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345.2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카페(자가)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977024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8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64" name="Text 61"/>
          <p:cNvSpPr/>
          <p:nvPr/>
        </p:nvSpPr>
        <p:spPr>
          <a:xfrm>
            <a:off x="6007608" y="5861304"/>
            <a:ext cx="54132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제원은 건축물대장 및 임대차계약서 실측 기준입니다.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ROSTER (1/2)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현황 (저층부 및 주요 임차인)</a:t>
            </a:r>
            <a:endParaRPr lang="en-US" sz="23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721163"/>
                <a:gridCol w="721163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  <a:gridCol w="1201939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층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호실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주요업종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임대면적(㎡)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임대면적(평)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보증금(만원)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월임대료(만원)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만기일자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갱신옵션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B101호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23.7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31.9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76.3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51.1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25.1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5F01호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일반업무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55.6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10년 </a:t>
                      </a:r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보호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8개사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436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29,000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9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FACILITY &amp; MEP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기계·전기·소방(MEP) 설비 및 관리 상태 점검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승강기(EV) 정기안전검사 필증 확보 및 - 유지보수 계약 체결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5년 주기 정밀안전진단 통과 및 의무 자주식 주차구획(2대 이상) 충족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수전설비(-) 및 한국전기안전공사 판정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소방시설 종합정밀점검·작동기능점검 필증 및 전 층 스프링클러 헤드 완비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중앙/개별 냉난방 EHP·GHP 실외기 노후도 점검 및 각 실내기 냉난방 작동 상태 양호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입주업종 오수발생량 적합성 및 하수도 원인자부담금 추가 과세 없음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PROPERTY GALLERY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내외부 현장 사진 갤러리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BEE3F8"/>
          </a:solidFill>
          <a:ln w="6350">
            <a:solidFill>
              <a:srgbClr val="2B6CB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내·외관 상태 및 주요 설비 사양은 매수 실사 절차 진행 시 현장 방문 조사를 통해 상세 확인 및 촬영이 진행됩니다.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승강기, 기계식 주차설비, 수배전반 등 핵심 설비 내구연한 및 정기검사 이력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 상태, 지하층 결로/누수 여부 및 공용부(계단실·화장실) 관리 컨디션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주차대수 확보 여부, 주차장 진입로 회전반경 및 층고 실측 검증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III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03  ·  PART III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III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Comprehensive Financial Modeling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DCF 스케줄, OPEX 세부 내역, Exit Cap 감정평가 및 2D 민감도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03.01  10개년 할인현금흐름(DCF) 추정 스케줄 (10-Yr Cash Flow)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03.02  수익 및 운영비(OPEX) 세부 항목 분석 (OPEX Breakdown)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03.03  Exit Cap Rate 및 매각 가치 환원 산정 (Terminal Valuation)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03.04  2차원 민감도 분석: Exit Cap vs 할인율 (2D Sensitivity Matrix)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03.05  공실률 및 임대료 하향 스트레스 테스트 (Downside Stress Testing)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9302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03.06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07882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03.06  자본 구조 및 차입(레버리지) 시뮬레이션 (Capital &amp; Debt Financing)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10-YEAR DCF SCHEDULE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현금흐름(DCF) 추정 스케줄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10개년 잠재총수익(PGI) 및 순영업소득(NOI) 추정 스케줄 (단위: 백만 원)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  <a:gridCol w="83439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Y10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(잠재총수익)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손실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(3%)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EGI </a:t>
                      </a:r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(유효총수익)</a:t>
                      </a:r>
                      <a:endParaRPr lang="en-US" sz="9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227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271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(OPEX)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CapEx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적립금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200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212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235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세전현금흐름 </a:t>
                      </a:r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(BTCF)</a:t>
                      </a:r>
                      <a:endParaRPr lang="en-US" sz="11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-63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-59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-46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-38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-24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10-Yr Unlevered IRR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1.95% (무차입 기준 10개년 내부수익률)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Net Proceeds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116억 원 (Exit Cap 2.03% 기준)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OPEX BREAKDOWN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및 운영비(OPEX) 세부 항목 분석</a:t>
            </a:r>
            <a:endParaRPr lang="en-US" sz="2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1842973"/>
                <a:gridCol w="1842973"/>
                <a:gridCol w="1842973"/>
                <a:gridCol w="1842973"/>
                <a:gridCol w="1842973"/>
                <a:gridCol w="184297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운영비(OPEX)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5년차 </a:t>
                      </a:r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(원)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구성비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위탁관리비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(PM/FM)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8,406,720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8,746,351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9,099,704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자산관리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용역비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재산세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공과금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9,807,840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10,204,077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10,616,321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보유세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환경개선부담금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특수보험료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2,802,240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2,915,450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3,033,235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영업배상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화재보험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시설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수선유지비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7,005,600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7,288,626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7,583,087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25.0%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소모품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정기 </a:t>
                      </a:r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안전점검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(Total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OPEX)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28,022,400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29,154,504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30,332,347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100.0%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2.0%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물가상승 </a:t>
                      </a:r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반영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4370832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물가상승률(CPI) 연 2.0% 반영 추정치이며, 실제 관리비 부과 및 보유세는 실사 시 조정될 수 있습니다.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EXIT VALUATION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및 매각 가치 환원 산정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71600"/>
            <a:ext cx="5120640" cy="3840480"/>
          </a:xfrm>
          <a:prstGeom prst="roundRect">
            <a:avLst>
              <a:gd name="adj" fmla="val 1905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1600200"/>
            <a:ext cx="4663440" cy="1005840"/>
          </a:xfrm>
          <a:prstGeom prst="roundRect">
            <a:avLst>
              <a:gd name="adj" fmla="val 7273"/>
            </a:avLst>
          </a:prstGeom>
          <a:solidFill>
            <a:srgbClr val="10161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600200"/>
            <a:ext cx="22860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2487168" y="1600200"/>
            <a:ext cx="2743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2.03%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86968" y="283464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임대수입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27248" y="2834640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2.3억원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" y="3182112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86968" y="318211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127248" y="3182112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2.9억원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95528" y="3529584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" y="35295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127248" y="3529584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115.0억원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95528" y="3877056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387705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순투자금 (매매가 − 보증금)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127248" y="3877056"/>
            <a:ext cx="2194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112.1억원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" y="4224528"/>
            <a:ext cx="4663440" cy="0"/>
          </a:xfrm>
          <a:prstGeom prst="line">
            <a:avLst/>
          </a:prstGeom>
          <a:noFill/>
          <a:ln w="6350">
            <a:solidFill>
              <a:srgbClr val="E8E8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95528" y="4361688"/>
            <a:ext cx="4663440" cy="502920"/>
          </a:xfrm>
          <a:prstGeom prst="roundRect">
            <a:avLst>
              <a:gd name="adj" fmla="val 10909"/>
            </a:avLst>
          </a:prstGeom>
          <a:solidFill>
            <a:srgbClr val="F6F1E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32688" y="4361688"/>
            <a:ext cx="2560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분석가정 (Stabilized)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공실층을 인근 시세 수준으로 임대 가정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44368" y="4361688"/>
            <a:ext cx="2286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2.53%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6053328" y="1371600"/>
            <a:ext cx="5571439" cy="3840480"/>
          </a:xfrm>
          <a:prstGeom prst="roundRect">
            <a:avLst>
              <a:gd name="adj" fmla="val 142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9360" y="1591056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309360" y="1591056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6309360" y="1883664"/>
            <a:ext cx="5059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309360" y="2194560"/>
            <a:ext cx="50593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필지의 개별공시지가 연도별 이력 및 표준지 공시지가 대비 배율은 부동산 공시가격 알리미 및 감정평가 공적 자료를 통해 확인합니다.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309360" y="2633472"/>
            <a:ext cx="5059375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5936" y="277977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6473952" y="2724912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5~10개년 개별공시지가 변동 추이 및 연평균 상승률 분석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6345936" y="33467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4" name="Text 32"/>
          <p:cNvSpPr/>
          <p:nvPr/>
        </p:nvSpPr>
        <p:spPr>
          <a:xfrm>
            <a:off x="6473952" y="3291840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표준지 공시지가 대비 토지 특성(도로접면, 형상, 방위) 차이 분석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6345936" y="391363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6" name="Text 34"/>
          <p:cNvSpPr/>
          <p:nvPr/>
        </p:nvSpPr>
        <p:spPr>
          <a:xfrm>
            <a:off x="6473952" y="3858768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공시지가 대비 실거래가 매매 배율 및 평당 단가 프리미엄 검증</a:t>
            </a:r>
            <a:endParaRPr lang="en-US" sz="920" dirty="0"/>
          </a:p>
        </p:txBody>
      </p:sp>
      <p:sp>
        <p:nvSpPr>
          <p:cNvPr id="37" name="Shape 35"/>
          <p:cNvSpPr/>
          <p:nvPr/>
        </p:nvSpPr>
        <p:spPr>
          <a:xfrm>
            <a:off x="6345936" y="448056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8" name="Text 36"/>
          <p:cNvSpPr/>
          <p:nvPr/>
        </p:nvSpPr>
        <p:spPr>
          <a:xfrm>
            <a:off x="6473952" y="4425696"/>
            <a:ext cx="483991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보유세(재산세·종합부동산세) 과세표준 기준액 산출 및 세무 영향 점검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566928" y="5349240"/>
            <a:ext cx="11057839" cy="438912"/>
          </a:xfrm>
          <a:prstGeom prst="roundRect">
            <a:avLst>
              <a:gd name="adj" fmla="val 12500"/>
            </a:avLst>
          </a:prstGeom>
          <a:solidFill>
            <a:srgbClr val="BEE3F8"/>
          </a:solidFill>
          <a:ln/>
        </p:spPr>
      </p:sp>
      <p:sp>
        <p:nvSpPr>
          <p:cNvPr id="40" name="Shape 38"/>
          <p:cNvSpPr/>
          <p:nvPr/>
        </p:nvSpPr>
        <p:spPr>
          <a:xfrm>
            <a:off x="566928" y="5404104"/>
            <a:ext cx="36576" cy="329184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41" name="Text 39"/>
          <p:cNvSpPr/>
          <p:nvPr/>
        </p:nvSpPr>
        <p:spPr>
          <a:xfrm>
            <a:off x="713232" y="5440680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판단 참고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13232" y="5641848"/>
            <a:ext cx="10801807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2.0%는 시장 평균 하회 — 토지가치 상승 또는 리모델링 후 임대료 증대 가능성 검토 필요</a:t>
            </a:r>
            <a:endParaRPr lang="en-US" sz="980" dirty="0"/>
          </a:p>
        </p:txBody>
      </p:sp>
      <p:sp>
        <p:nvSpPr>
          <p:cNvPr id="43" name="Text 4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2D SENSITIVITY MATRIX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2차원 민감도 분석 (Exit Cap vs 할인율)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Rate vs 할인율 2D 민감도 분석 (Unlevered IRR %)</a:t>
            </a:r>
            <a:endParaRPr lang="en-US" sz="11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Exit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\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할인율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6.5%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4.60%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-0.04%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EEBC8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보수적 시나리오 (Downside)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+50bps 확대 시 Unlevered IRR -0.04%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낙관적 시나리오 (Upside)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Exit Cap -50bps 축소 시 Unlevered IRR 4.60%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STRESS TESTING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및 임대료 하향 스트레스 테스트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충격 시나리오별 순영업소득(NOI) 및 초기 수익률 영향 (단위: 백만 원)</a:t>
            </a:r>
            <a:endParaRPr lang="en-US" sz="11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112520"/>
                <a:gridCol w="1112520"/>
                <a:gridCol w="1112520"/>
                <a:gridCol w="1112520"/>
                <a:gridCol w="1112520"/>
                <a:gridCol w="111252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적용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순영업소득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(NOI)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NOI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변동률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Unlevered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IRR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Base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196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0.00%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1.95%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1.71%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Moderate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185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-5.89%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1.28%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1.61%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Severe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15.0%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168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-14.14%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1.47%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하방 방어력 (Buffer)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공실률 15% 심각 스트레스 상황에서도 연 순수익률 3%대 및 흑자 운용 유지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스트레스 시나리오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3%에서 최대 15%까지 공실 확대 충격을 반영한 손익 보수적 산출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 &amp; DEBT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 구조 및 차입(레버리지) 시뮬레이션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65425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65425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65425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65425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65425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2.9억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65425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65425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2.05%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49.4억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2.54%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BEE3F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0"/>
          <p:cNvSpPr/>
          <p:nvPr/>
        </p:nvSpPr>
        <p:spPr>
          <a:xfrm>
            <a:off x="6607912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자본조달 가이드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07912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금융기관별 감정평가액 및 LTV 한도 조건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취득세(4.6%) 및 부대비용을 포함한 총소요자금 기반 에쿼티 조달 계획 수립 권장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IV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04  ·  PART IV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Market Dynamics &amp; Comparable Transactions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수급, 임대료·공실률 추이, 인근 실거래 사례 및 평당가 벤치마크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04.01  권역 거시 시장 및 오피스 수급 동향 (Macro Submarket)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04.02  권역 임대료 및 공실률 추이 벤치마크 (Rental &amp; Vacancy Trends)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04.03  미시 입지 상권 및 대중교통 인프라 (Micro Catchment &amp; Transit)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04.04  인근 실거래 비교 사례 분석 (Recent Sales Comps)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04.05  거래 배수 및 평당가 벤치마크 비교 (Comp Benchmarking Multiples)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SUBMARKET OVERVIEW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및 수급 동향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거시 시장 오피스 수급 및 공실률 동향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평균 공실률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307738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명목 임대료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8048549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13141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실질 임대료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13141" y="2313432"/>
            <a:ext cx="3247034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6928" y="341071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F3EBDA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465576"/>
            <a:ext cx="36576" cy="117043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9" name="Text 17"/>
          <p:cNvSpPr/>
          <p:nvPr/>
        </p:nvSpPr>
        <p:spPr>
          <a:xfrm>
            <a:off x="713232" y="350215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 수요 추이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13232" y="370332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해당 권역 임차 수요 견고한 수준 유지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&amp; VACANCY TRENDS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임대료 및 공실률 추이 벤치마크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유사 프라임 빌딩 임대료 및 공실률 벤치마크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A급 평균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B급 평균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대상 자산 수준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487168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84만 원 / 월세 6만 원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임대료 경쟁력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2487168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시세 대비 적정 수준 유지로 임차인 락인(Lock-in) 효과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미시 입지 상권 및 대중교통 인프라 연결성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 접근성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지하철역 인접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 지하철역 도보 접근 권역 위치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광역 간선도로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간선도로 접근 양호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도심 및 광역 간선도로망 연계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업무권역 접근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업무권역 접근 양호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업무 권역과의 대중교통 연결 우수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상기 입지 평가는 공공 교통망 데이터 및 지적도 기준 분석 결과입니다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 BENCHMARKING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배수 및 평당가 벤치마크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46304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벤치마크 및 밸류에이션 배수 비교</a:t>
            </a:r>
            <a:endParaRPr lang="en-US" sz="11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335024"/>
                <a:gridCol w="1335024"/>
                <a:gridCol w="1335024"/>
                <a:gridCol w="1335024"/>
                <a:gridCol w="1335024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하한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평균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인근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거래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(제시가)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연면적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3,331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평당가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(만 </a:t>
                      </a:r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원)</a:t>
                      </a:r>
                      <a:endParaRPr lang="en-US" sz="12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6,752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8,252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7,502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Cap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Rate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(%)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2.03%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F3EBDA"/>
          </a:solidFill>
          <a:ln/>
        </p:spPr>
      </p:sp>
      <p:sp>
        <p:nvSpPr>
          <p:cNvPr id="9" name="Shape 6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0" name="Text 7"/>
          <p:cNvSpPr/>
          <p:nvPr/>
        </p:nvSpPr>
        <p:spPr>
          <a:xfrm>
            <a:off x="7644384" y="18288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평당가 적정성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7644384" y="20299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인근 최근 실거래 평균 밴드 내에 위치하여 시장 수용성 확보</a:t>
            </a:r>
            <a:endParaRPr lang="en-US" sz="980" dirty="0"/>
          </a:p>
        </p:txBody>
      </p:sp>
      <p:sp>
        <p:nvSpPr>
          <p:cNvPr id="12" name="Shape 9"/>
          <p:cNvSpPr/>
          <p:nvPr/>
        </p:nvSpPr>
        <p:spPr>
          <a:xfrm>
            <a:off x="7498080" y="37947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C6F6D5"/>
          </a:solidFill>
          <a:ln/>
        </p:spPr>
      </p:sp>
      <p:sp>
        <p:nvSpPr>
          <p:cNvPr id="13" name="Shape 10"/>
          <p:cNvSpPr/>
          <p:nvPr/>
        </p:nvSpPr>
        <p:spPr>
          <a:xfrm>
            <a:off x="7498080" y="3849624"/>
            <a:ext cx="36576" cy="1810512"/>
          </a:xfrm>
          <a:prstGeom prst="rect">
            <a:avLst/>
          </a:prstGeom>
          <a:solidFill>
            <a:srgbClr val="276749"/>
          </a:solidFill>
          <a:ln/>
        </p:spPr>
      </p:sp>
      <p:sp>
        <p:nvSpPr>
          <p:cNvPr id="14" name="Text 11"/>
          <p:cNvSpPr/>
          <p:nvPr/>
        </p:nvSpPr>
        <p:spPr>
          <a:xfrm>
            <a:off x="7644384" y="3886200"/>
            <a:ext cx="3867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7674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Cap Rate 스프레드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7644384" y="4087368"/>
            <a:ext cx="3867912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시장 요구 수익률 대비 견조한 Cap Rate 스프레드(2.03%) 유지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3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INSTITUTIONAL PRO IM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424367" y="411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 ·  V</a:t>
            </a:r>
            <a:endParaRPr lang="en-US" sz="950" dirty="0"/>
          </a:p>
        </p:txBody>
      </p:sp>
      <p:sp>
        <p:nvSpPr>
          <p:cNvPr id="5" name="Shape 3"/>
          <p:cNvSpPr/>
          <p:nvPr/>
        </p:nvSpPr>
        <p:spPr>
          <a:xfrm>
            <a:off x="566928" y="1051560"/>
            <a:ext cx="54864" cy="489204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1188720"/>
            <a:ext cx="1073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05  ·  PART V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150047" y="1005840"/>
            <a:ext cx="3474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0" b="1" dirty="0">
                <a:solidFill>
                  <a:srgbClr val="2D374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11000" dirty="0"/>
          </a:p>
        </p:txBody>
      </p:sp>
      <p:sp>
        <p:nvSpPr>
          <p:cNvPr id="8" name="Text 6"/>
          <p:cNvSpPr/>
          <p:nvPr/>
        </p:nvSpPr>
        <p:spPr>
          <a:xfrm>
            <a:off x="886968" y="1508760"/>
            <a:ext cx="79945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Legal, Technical &amp; Physical Due Diligence Annexes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886968" y="2606040"/>
            <a:ext cx="5029200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6968" y="2724912"/>
            <a:ext cx="84517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지적도, 등기부 권리관계, 건축법규 적합성, 물리적 실사 및 투자심의 일정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86968" y="3337560"/>
            <a:ext cx="10737799" cy="2697480"/>
          </a:xfrm>
          <a:prstGeom prst="rect">
            <a:avLst/>
          </a:prstGeom>
          <a:solidFill>
            <a:srgbClr val="1A202C"/>
          </a:solidFill>
          <a:ln w="10160">
            <a:solidFill>
              <a:srgbClr val="4A55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86968" y="3337560"/>
            <a:ext cx="10737799" cy="347472"/>
          </a:xfrm>
          <a:prstGeom prst="rect">
            <a:avLst/>
          </a:prstGeom>
          <a:solidFill>
            <a:srgbClr val="2D3748"/>
          </a:solidFill>
          <a:ln/>
        </p:spPr>
      </p:sp>
      <p:sp>
        <p:nvSpPr>
          <p:cNvPr id="13" name="Text 11"/>
          <p:cNvSpPr/>
          <p:nvPr/>
        </p:nvSpPr>
        <p:spPr>
          <a:xfrm>
            <a:off x="1115568" y="3410712"/>
            <a:ext cx="102805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CHAPTER CONTENTS &amp; KEY DELIVERABLES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6128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84708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05.01  지적도 및 필지 경계·형상 분석 (Cadastral Boundaries)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16128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6128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4708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05.02  등기부 소유권 및 권리관계·제한물권 (Title &amp; Ownership)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116128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61288" y="4672584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847088" y="4672584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05.03  건축 법규, 건폐율·용적률 및 증축 타당성 (Code Compliance)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393028" y="3794760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78828" y="3794760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05.04  물리적 실사 점검표 및 리스크 매트릭스 (Physical Due Diligence)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93028" y="4215384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393028" y="4233672"/>
            <a:ext cx="6400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05.05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78828" y="4233672"/>
            <a:ext cx="418018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05.05  투자심의 의사결정 매트릭스 및 거래 일정 (Execution Roadmap)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393028" y="4654296"/>
            <a:ext cx="4865980" cy="0"/>
          </a:xfrm>
          <a:prstGeom prst="line">
            <a:avLst/>
          </a:prstGeom>
          <a:noFill/>
          <a:ln w="5080">
            <a:solidFill>
              <a:srgbClr val="4A55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CADASTRAL 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지적도 및 필지 경계·형상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5120640" cy="4114800"/>
          </a:xfrm>
          <a:prstGeom prst="roundRect">
            <a:avLst>
              <a:gd name="adj" fmla="val 133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3EBDA"/>
          </a:solidFill>
          <a:ln w="6350">
            <a:solidFill>
              <a:srgbClr val="97702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 공적장부 열람 대상 ]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22960" y="1993392"/>
            <a:ext cx="46085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 및 토지이용계획 열람 안내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" y="2304288"/>
            <a:ext cx="46085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A556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지적경계 및 용도지역 지정 현황은 토지이음 및 부동산종합공부시스템 원장을 기반으로 대조·확인합니다.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822960" y="2770632"/>
            <a:ext cx="4608576" cy="0"/>
          </a:xfrm>
          <a:prstGeom prst="line">
            <a:avLst/>
          </a:prstGeom>
          <a:noFill/>
          <a:ln w="508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59536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28620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 상 용도지역·지구 행위제한 정합성 실사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34907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지적공부(토지대장·지적도)상 지목, 면적 및 필지 경계 실측 대조</a:t>
            </a:r>
            <a:endParaRPr lang="en-US" sz="920" dirty="0"/>
          </a:p>
        </p:txBody>
      </p:sp>
      <p:sp>
        <p:nvSpPr>
          <p:cNvPr id="16" name="Shape 14"/>
          <p:cNvSpPr/>
          <p:nvPr/>
        </p:nvSpPr>
        <p:spPr>
          <a:xfrm>
            <a:off x="859536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7" name="Text 15"/>
          <p:cNvSpPr/>
          <p:nvPr/>
        </p:nvSpPr>
        <p:spPr>
          <a:xfrm>
            <a:off x="987552" y="411937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건축선 후퇴, 도로접면 조건(진입로 폭원) 및 일조사선 규제 점검</a:t>
            </a:r>
            <a:endParaRPr lang="en-US" sz="920" dirty="0"/>
          </a:p>
        </p:txBody>
      </p:sp>
      <p:sp>
        <p:nvSpPr>
          <p:cNvPr id="18" name="Shape 16"/>
          <p:cNvSpPr/>
          <p:nvPr/>
        </p:nvSpPr>
        <p:spPr>
          <a:xfrm>
            <a:off x="859536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9" name="Text 17"/>
          <p:cNvSpPr/>
          <p:nvPr/>
        </p:nvSpPr>
        <p:spPr>
          <a:xfrm>
            <a:off x="987552" y="4748022"/>
            <a:ext cx="43891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지구단위계획구역 여부 및 지자체 도시계획조례 추가 완화 가능성 검토</a:t>
            </a:r>
            <a:endParaRPr lang="en-US" sz="920" dirty="0"/>
          </a:p>
        </p:txBody>
      </p:sp>
      <p:sp>
        <p:nvSpPr>
          <p:cNvPr id="20" name="Text 18"/>
          <p:cNvSpPr/>
          <p:nvPr/>
        </p:nvSpPr>
        <p:spPr>
          <a:xfrm>
            <a:off x="6053328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대표 지번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613331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서울시 주요 권역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053328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053328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형상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7613331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053328" y="2395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53328" y="23957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접면 도로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7613331" y="23957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...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6053328" y="28529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53328" y="28529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 규제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613331" y="28529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토지이용계획원 등재 기준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TITLE &amp; OWNERSHIP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 갑구·을구 소유권 및 권리관계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517904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및 등기부등본 현황 요약</a:t>
            </a:r>
            <a:endParaRPr lang="en-US" sz="11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810512"/>
          <a:ext cx="6675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103120"/>
                <a:gridCol w="3108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권리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비고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소유권자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단독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(등기부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제한물권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잔금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상환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말소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조건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임차권 </a:t>
                      </a:r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해당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을구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등재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가압류/가처분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소유권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분쟁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내역 </a:t>
                      </a:r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없음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607808" y="1810512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90688" y="1947672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제한물권 말소 확약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90688" y="2221992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잔금 시 근저당권 전액 동시 말소 조건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7607808" y="3072384"/>
            <a:ext cx="4016959" cy="1133856"/>
          </a:xfrm>
          <a:prstGeom prst="roundRect">
            <a:avLst>
              <a:gd name="adj" fmla="val 4839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90688" y="3209544"/>
            <a:ext cx="365119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소유권 권리 관계 정상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7790688" y="3483864"/>
            <a:ext cx="3651199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갑구 권리 제한 사항 부존재 확인 기준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COMPLIANCE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 법규, 건폐율·용적률 및 증축 타당성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건축관계 법규 및 건폐율·용적률 적합성 검토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건폐율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2450592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 용적률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852928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위반건축물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255264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정화조/소방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2487168" y="3255264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관련 법령 기준 충족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9" name="Shape 17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0" name="Text 18"/>
          <p:cNvSpPr/>
          <p:nvPr/>
        </p:nvSpPr>
        <p:spPr>
          <a:xfrm>
            <a:off x="7930591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930591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22" name="Shape 20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30591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30591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26" name="Text 2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DUE DILIGENCE 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물리적 실사 점검표 및 리스크 매트릭스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구조안전진단 이력 및 내진설계 반영 여부 점검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9728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방수, 외벽 석재/커튼월 코킹 노후도 및 누수 흔적 점검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9728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수전 용량(kVA) 및 전기실 고압차단기 교체 주기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6220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주차장 배수펌프, 집수정 가동 및 결로 방지 환기 상태 점검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86220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와이어로프, 제어반 및 카 도어 세이프티 센서 점검 필증 확인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86220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소방 방화구획 완비, 감지기 및 유도등 점등 배터리 정상 상태 점검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ROADMAP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투자심의 의사결정 매트릭스 및 거래 일정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 접수 및 우선협상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매수 의향서 제출 및 상호 협약 체결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863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3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D+0 ~ D+7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422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6" name="Text 14"/>
          <p:cNvSpPr/>
          <p:nvPr/>
        </p:nvSpPr>
        <p:spPr>
          <a:xfrm>
            <a:off x="36422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2단계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정밀 실사 (DD)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법률, 회계, 물리적 정밀 실사 수행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422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0" name="Text 18"/>
          <p:cNvSpPr/>
          <p:nvPr/>
        </p:nvSpPr>
        <p:spPr>
          <a:xfrm>
            <a:off x="36422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D+8 ~ D+21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81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4981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매매계약 체결 (SPA)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본계약 체결 및 계약금 예치 (10%)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8184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28" name="Text 26"/>
          <p:cNvSpPr/>
          <p:nvPr/>
        </p:nvSpPr>
        <p:spPr>
          <a:xfrm>
            <a:off x="6498184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D+22 ~ D+30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9354083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2" name="Text 30"/>
          <p:cNvSpPr/>
          <p:nvPr/>
        </p:nvSpPr>
        <p:spPr>
          <a:xfrm>
            <a:off x="9354083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4단계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정산 및 소유권 이전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잔금 납부, 근저당 말소 및 등기 완료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9354083" y="4315968"/>
            <a:ext cx="1325880" cy="256032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36" name="Text 34"/>
          <p:cNvSpPr/>
          <p:nvPr/>
        </p:nvSpPr>
        <p:spPr>
          <a:xfrm>
            <a:off x="9354083" y="431596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D+31 ~ D+60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세부 거래 일정 및 조건은 매도인-매수인 상호 협의에 따라 조정될 수 있습니다.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 &amp; ADVISORY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파트너스 부동산중개법인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2026-10-02T04:23:40Z</dcterms:created>
  <dcterms:modified xsi:type="dcterms:W3CDTF">2026-10-02T04:23:40Z</dcterms:modified>
</cp:coreProperties>
</file>