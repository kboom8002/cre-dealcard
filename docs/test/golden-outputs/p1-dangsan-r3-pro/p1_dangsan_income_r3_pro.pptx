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0" y="0"/>
            <a:ext cx="44192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4" name="Shape 1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5" name="Shape 2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6" name="Text 3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2304288"/>
            <a:ext cx="7315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당산동5가 근생빌딩 매각 제안서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66928" y="341071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3959352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3959352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근린생활시설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66928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파트너스 부동산중개법인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66928" y="5943600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파트너스  |  크리딜 파트너스 부동산중개법인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OF CONTENTS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 및 주요 검토 항목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133856" y="1005840"/>
            <a:ext cx="10490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투자설명서는 전문 투자자 실무 검토 기준에 부합하는 5대 핵심 챕터로 구성되어 있습니다.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481328"/>
            <a:ext cx="54864" cy="162306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1645920"/>
            <a:ext cx="438912" cy="274320"/>
          </a:xfrm>
          <a:prstGeom prst="roundRect">
            <a:avLst>
              <a:gd name="adj" fmla="val 13333"/>
            </a:avLst>
          </a:prstGeom>
          <a:solidFill>
            <a:srgbClr val="D9B668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164592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298448" y="164592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개요 및 투자 논거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95528" y="201168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4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개요, 6대 핵심 투자 지표 및 밸류애드 가치 제안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55868" y="148132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55868" y="1481328"/>
            <a:ext cx="54864" cy="162306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8748" y="1645920"/>
            <a:ext cx="438912" cy="274320"/>
          </a:xfrm>
          <a:prstGeom prst="roundRect">
            <a:avLst>
              <a:gd name="adj" fmla="val 13333"/>
            </a:avLst>
          </a:prstGeom>
          <a:solidFill>
            <a:srgbClr val="D9B668"/>
          </a:solidFill>
          <a:ln/>
        </p:spPr>
      </p:sp>
      <p:sp>
        <p:nvSpPr>
          <p:cNvPr id="16" name="Text 14"/>
          <p:cNvSpPr/>
          <p:nvPr/>
        </p:nvSpPr>
        <p:spPr>
          <a:xfrm>
            <a:off x="6438748" y="164592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987388" y="164592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제원 및 임대차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84468" y="201168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4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스펙, 스태킹 플랜 및 층별 상세 임대차 렌트롤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333298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3332988"/>
            <a:ext cx="54864" cy="162306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1" name="Shape 19"/>
          <p:cNvSpPr/>
          <p:nvPr/>
        </p:nvSpPr>
        <p:spPr>
          <a:xfrm>
            <a:off x="749808" y="3497580"/>
            <a:ext cx="438912" cy="274320"/>
          </a:xfrm>
          <a:prstGeom prst="roundRect">
            <a:avLst>
              <a:gd name="adj" fmla="val 13333"/>
            </a:avLst>
          </a:prstGeom>
          <a:solidFill>
            <a:srgbClr val="D9B668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349758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298448" y="349758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정밀 재무 모델링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95528" y="386334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4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10개년 DCF 현금흐름, OPEX 내역, 2D 민감도 및 차입 시뮬레이션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55868" y="333298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55868" y="3332988"/>
            <a:ext cx="54864" cy="162306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7" name="Shape 25"/>
          <p:cNvSpPr/>
          <p:nvPr/>
        </p:nvSpPr>
        <p:spPr>
          <a:xfrm>
            <a:off x="6438748" y="3497580"/>
            <a:ext cx="438912" cy="274320"/>
          </a:xfrm>
          <a:prstGeom prst="roundRect">
            <a:avLst>
              <a:gd name="adj" fmla="val 13333"/>
            </a:avLst>
          </a:prstGeom>
          <a:solidFill>
            <a:srgbClr val="D9B668"/>
          </a:solidFill>
          <a:ln/>
        </p:spPr>
      </p:sp>
      <p:sp>
        <p:nvSpPr>
          <p:cNvPr id="28" name="Text 26"/>
          <p:cNvSpPr/>
          <p:nvPr/>
        </p:nvSpPr>
        <p:spPr>
          <a:xfrm>
            <a:off x="6438748" y="349758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987388" y="349758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분석 및 실거래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484468" y="386334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4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수급 동향, 인근 실거래 사례(Sales Comps) 및 평당가 비교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5093208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9808" y="520293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487168" y="5166360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자산에 대한 상세 분석 및 투자 의사결정은 원본 임대차 계약서 및 공부상 권리관계 실사를 바탕으로 진행됩니다.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3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INSTITUTIONAL PRO IM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24367" y="411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 ·  I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66928" y="1051560"/>
            <a:ext cx="54864" cy="489204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6" name="Text 4"/>
          <p:cNvSpPr/>
          <p:nvPr/>
        </p:nvSpPr>
        <p:spPr>
          <a:xfrm>
            <a:off x="886968" y="1188720"/>
            <a:ext cx="10737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01  ·  PART 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150047" y="100584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1000" dirty="0"/>
          </a:p>
        </p:txBody>
      </p:sp>
      <p:sp>
        <p:nvSpPr>
          <p:cNvPr id="8" name="Text 6"/>
          <p:cNvSpPr/>
          <p:nvPr/>
        </p:nvSpPr>
        <p:spPr>
          <a:xfrm>
            <a:off x="886968" y="1508760"/>
            <a:ext cx="79945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Summary &amp; Investment Thesis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86968" y="2606040"/>
            <a:ext cx="5029200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2724912"/>
            <a:ext cx="84517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개요, 투자 하이라이트 및 핵심 가치 제안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86968" y="3337560"/>
            <a:ext cx="10737799" cy="2697480"/>
          </a:xfrm>
          <a:prstGeom prst="rect">
            <a:avLst/>
          </a:prstGeom>
          <a:solidFill>
            <a:srgbClr val="1A202C"/>
          </a:solidFill>
          <a:ln w="10160">
            <a:solidFill>
              <a:srgbClr val="4A55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6968" y="3337560"/>
            <a:ext cx="10737799" cy="347472"/>
          </a:xfrm>
          <a:prstGeom prst="rect">
            <a:avLst/>
          </a:prstGeom>
          <a:solidFill>
            <a:srgbClr val="2D3748"/>
          </a:solidFill>
          <a:ln/>
        </p:spPr>
      </p:sp>
      <p:sp>
        <p:nvSpPr>
          <p:cNvPr id="13" name="Text 11"/>
          <p:cNvSpPr/>
          <p:nvPr/>
        </p:nvSpPr>
        <p:spPr>
          <a:xfrm>
            <a:off x="1115568" y="3410712"/>
            <a:ext cx="102805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CONTENTS &amp; KEY DELIVERABLES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61288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01.01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847088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01.01  물건 프로필 및 핵심 지표 요약 (Key Facts)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161288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61288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01.02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847088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01.02  핵심 투자 논거 및 전략적 타당성 (Investment Thesis)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161288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61288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847088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01.03  매입 가격 구조 및 밸류애드 기회 (Value-Add Highlights)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93028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78828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01.04  광역 입지 접근성 및 핵심 교통망 (Location Connectivity)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93028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93028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01.05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78828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01.05  임대차 현황 및 운용 현금흐름 요약 (Cash Flow Snapshot)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93028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및 물건 프로필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 포트폴리오 기반 현금흐름 분석 대상 상업용 자산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480947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18107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746123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1965579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 원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307738" y="1618107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2330" y="1746123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(취득비용 포함)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472330" y="1965579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118.4억 원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048549" y="1618107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13141" y="1746123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Cap Rate (NOI÷매매가)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213141" y="1965579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1.56%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66928" y="2742819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2870835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자기자본수익률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31520" y="3090291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1.6%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307738" y="2742819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72330" y="2870835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472330" y="3090291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153.3평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8048549" y="2742819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13141" y="2870835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213141" y="3090291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345.2평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66928" y="3958971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66928" y="4288155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6656" y="4361371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" y="4361371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207008" y="4324731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WALE 안정성: 임대료 기준 가중평균 잔여만기 0.0년(면적 기준 0.0년) 확보로 장기 현금흐름 안정성 견고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4882642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76656" y="495585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656" y="495585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207008" y="4919218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순영업소득(NOI) 가치: 연간 실질 순영업소득 0.0억 원(Cap Rate 1.56%) 달성 및 안정적 임차인(우수 신용도) 위주의 임대차 구성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6928" y="5477129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76656" y="5550345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76656" y="5550345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207008" y="5513705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 다단 리스크 관리: 12개월 내 만기도래 비중 0.0% 선제적 테넌트 리텐션 대응 가능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논거 및 전략적 가치</a:t>
            </a:r>
            <a:endParaRPr lang="en-US" sz="2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1.81%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0.16억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1.86%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3.42억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4807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25780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87168" y="5221224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자산은 당산 권역 중심에 위치한 안정적 오피스빌딩입니다. 1. 입지 가치 및 접근성: 대중교통 및 주요 간선도로와의 우수한 연계성을 갖추고 있어 풍부한 유동인구와 배후 임대 수요를 확보하고 있습니다. 2. 안정적인 자산 가치: 115억 수준의 합리적인 매각가와 30평(약 99.2㎡) 규모의 건물 물리 스펙을 기반으로 안정적인 운영이 가능합니다. 3. 향후 가치개선(Value-add) 잠재력: 체계적인 임대 관리 및 자산 효율화를 통해 향후 중장기적인 자산 가치 상승을 기대할 수 있습니다. 가치개선(Value-add) 시나리오 (AI 추정)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ACQUISITION HIGHLIGHTS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매입 핵심 하이라이트 및 밸류애드 기회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매입 핵심 투자 하이라이트 및 가치 창출 요소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희망 매매가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87168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 원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 평당가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87168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7,502만 원/평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 평당가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87168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3,331만 원/평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85292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연 순수익률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487168" y="2852928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2.03% (NOI 환원 기준)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66928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255264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물리적 상태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2487168" y="3255264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사용승인 이후 지속적 관리 및 시설 유지보수 양호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23" name="Shape 2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4" name="Text 22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안정적 임대 수익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930591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안정적 임차인(우수 신용도) 포트폴리오 기반 안정적 현금흐름 창출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7784287" y="3493008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C6F6D5"/>
          </a:solidFill>
          <a:ln/>
        </p:spPr>
      </p:sp>
      <p:sp>
        <p:nvSpPr>
          <p:cNvPr id="27" name="Shape 25"/>
          <p:cNvSpPr/>
          <p:nvPr/>
        </p:nvSpPr>
        <p:spPr>
          <a:xfrm>
            <a:off x="7784287" y="3547872"/>
            <a:ext cx="36576" cy="1536192"/>
          </a:xfrm>
          <a:prstGeom prst="rect">
            <a:avLst/>
          </a:prstGeom>
          <a:solidFill>
            <a:srgbClr val="276749"/>
          </a:solidFill>
          <a:ln/>
        </p:spPr>
      </p:sp>
      <p:sp>
        <p:nvSpPr>
          <p:cNvPr id="28" name="Text 26"/>
          <p:cNvSpPr/>
          <p:nvPr/>
        </p:nvSpPr>
        <p:spPr>
          <a:xfrm>
            <a:off x="7930591" y="3584448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67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가치개선 업사이드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930591" y="3785616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정상화 및 리노베이션을 통한 자본수익(Capital Gain) 제고</a:t>
            </a:r>
            <a:endParaRPr lang="en-US" sz="980" dirty="0"/>
          </a:p>
        </p:txBody>
      </p:sp>
      <p:sp>
        <p:nvSpPr>
          <p:cNvPr id="30" name="Text 2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&amp; CONNECTIVITY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광역 입지 및 대중교통망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04088" y="5184648"/>
            <a:ext cx="3200400" cy="320040"/>
          </a:xfrm>
          <a:prstGeom prst="roundRect">
            <a:avLst>
              <a:gd name="adj" fmla="val 11429"/>
            </a:avLst>
          </a:prstGeom>
          <a:solidFill>
            <a:srgbClr val="FFFFFF">
              <a:alpha val="90000"/>
            </a:srgbClr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20293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</a:t>
            </a:r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 자산(본건)   </a:t>
            </a:r>
            <a:pPr indent="0" marL="0">
              <a:buNone/>
            </a:pPr>
            <a:r>
              <a:rPr lang="en-US" sz="1000" b="1" dirty="0">
                <a:solidFill>
                  <a:srgbClr val="B886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╌ </a:t>
            </a:r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도보 5분 반경 (약 400m)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715768" y="3739896"/>
            <a:ext cx="822960" cy="219456"/>
          </a:xfrm>
          <a:prstGeom prst="roundRect">
            <a:avLst>
              <a:gd name="adj" fmla="val 16667"/>
            </a:avLst>
          </a:prstGeom>
          <a:solidFill>
            <a:srgbClr val="132A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715768" y="3739896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본건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6053328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613331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서울특별시 영등포구 당산동5가 11-47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053328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53328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7613331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53328" y="23957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053328" y="23957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613331" y="23957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영등포/당산 주요 상업·업무 권역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053328" y="29626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20" name="Shape 17"/>
          <p:cNvSpPr/>
          <p:nvPr/>
        </p:nvSpPr>
        <p:spPr>
          <a:xfrm>
            <a:off x="6053328" y="30175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1" name="Text 18"/>
          <p:cNvSpPr/>
          <p:nvPr/>
        </p:nvSpPr>
        <p:spPr>
          <a:xfrm>
            <a:off x="6199632" y="30540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6199632" y="32552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영등포/당산 배후 상권 기반 안정적 임대 수요</a:t>
            </a:r>
            <a:endParaRPr lang="en-US" sz="980" dirty="0"/>
          </a:p>
        </p:txBody>
      </p:sp>
      <p:sp>
        <p:nvSpPr>
          <p:cNvPr id="23" name="Text 20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 FLOW SNAPSHOT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현금흐름 요약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71600"/>
            <a:ext cx="5120640" cy="384048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5528" y="160020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10161F"/>
          </a:solidFill>
          <a:ln/>
        </p:spPr>
      </p:sp>
      <p:sp>
        <p:nvSpPr>
          <p:cNvPr id="8" name="Text 6"/>
          <p:cNvSpPr/>
          <p:nvPr/>
        </p:nvSpPr>
        <p:spPr>
          <a:xfrm>
            <a:off x="1024128" y="160020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임대수익률</a:t>
            </a:r>
            <a:endParaRPr lang="en-US" sz="16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(매매가−보증금) 대비 · 운영비 차감 전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487168" y="160020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2.03%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886968" y="28346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임대수입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127248" y="28346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2.3억원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5528" y="3182112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86968" y="3182112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127248" y="3182112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2.9억원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95528" y="3529584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" y="3529584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127248" y="3529584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115.0억원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95528" y="3877056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6968" y="3877056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보증금 차감 매입가 (매매가−보증금)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127248" y="3877056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112.1억원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95528" y="4224528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95528" y="4361688"/>
            <a:ext cx="4663440" cy="502920"/>
          </a:xfrm>
          <a:prstGeom prst="roundRect">
            <a:avLst>
              <a:gd name="adj" fmla="val 10909"/>
            </a:avLst>
          </a:prstGeom>
          <a:solidFill>
            <a:srgbClr val="F6F1E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2688" y="4361688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분석가정 · 안정화 임대수익률 (Stabilized)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해소 및 인근 시세 수준 정상화 임대 가정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944368" y="4361688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2.53%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6053328" y="1371600"/>
            <a:ext cx="5571439" cy="3840480"/>
          </a:xfrm>
          <a:prstGeom prst="roundRect">
            <a:avLst>
              <a:gd name="adj" fmla="val 142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9360" y="1591056"/>
            <a:ext cx="1554480" cy="219456"/>
          </a:xfrm>
          <a:prstGeom prst="roundRect">
            <a:avLst>
              <a:gd name="adj" fmla="val 50000"/>
            </a:avLst>
          </a:prstGeom>
          <a:solidFill>
            <a:srgbClr val="F3EBDA"/>
          </a:solidFill>
          <a:ln w="6350">
            <a:solidFill>
              <a:srgbClr val="97702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09360" y="1591056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공시지가 열람 안내 ]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309360" y="1883664"/>
            <a:ext cx="5059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토지 가치 평가 안내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309360" y="2194560"/>
            <a:ext cx="50593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 필지의 개별공시지가 연도별 이력 및 표준지 공시지가 대비 배율은 부동산 공시가격 알리미 및 감정평가 공적 자료를 통해 확인합니다.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309360" y="2633472"/>
            <a:ext cx="5059375" cy="0"/>
          </a:xfrm>
          <a:prstGeom prst="line">
            <a:avLst/>
          </a:prstGeom>
          <a:noFill/>
          <a:ln w="5080">
            <a:solidFill>
              <a:srgbClr val="CBD5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5936" y="2779776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2" name="Text 30"/>
          <p:cNvSpPr/>
          <p:nvPr/>
        </p:nvSpPr>
        <p:spPr>
          <a:xfrm>
            <a:off x="6473952" y="2724912"/>
            <a:ext cx="483991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최근 5~10개년 개별공시지가 변동 추이 및 연평균 상승률 분석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6345936" y="3346704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4" name="Text 32"/>
          <p:cNvSpPr/>
          <p:nvPr/>
        </p:nvSpPr>
        <p:spPr>
          <a:xfrm>
            <a:off x="6473952" y="3291840"/>
            <a:ext cx="483991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표준지 공시지가 대비 토지 특성(도로접면, 형상, 방위) 차이 분석</a:t>
            </a:r>
            <a:endParaRPr lang="en-US" sz="920" dirty="0"/>
          </a:p>
        </p:txBody>
      </p:sp>
      <p:sp>
        <p:nvSpPr>
          <p:cNvPr id="35" name="Shape 33"/>
          <p:cNvSpPr/>
          <p:nvPr/>
        </p:nvSpPr>
        <p:spPr>
          <a:xfrm>
            <a:off x="6345936" y="3913632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6" name="Text 34"/>
          <p:cNvSpPr/>
          <p:nvPr/>
        </p:nvSpPr>
        <p:spPr>
          <a:xfrm>
            <a:off x="6473952" y="3858768"/>
            <a:ext cx="483991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공시지가 대비 실거래가 매매 배율 및 평당 단가 프리미엄 검증</a:t>
            </a:r>
            <a:endParaRPr lang="en-US" sz="920" dirty="0"/>
          </a:p>
        </p:txBody>
      </p:sp>
      <p:sp>
        <p:nvSpPr>
          <p:cNvPr id="37" name="Shape 35"/>
          <p:cNvSpPr/>
          <p:nvPr/>
        </p:nvSpPr>
        <p:spPr>
          <a:xfrm>
            <a:off x="6345936" y="4480560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8" name="Text 36"/>
          <p:cNvSpPr/>
          <p:nvPr/>
        </p:nvSpPr>
        <p:spPr>
          <a:xfrm>
            <a:off x="6473952" y="4425696"/>
            <a:ext cx="483991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보유세(재산세·종합부동산세) 과세표준 기준액 산출 및 세무 영향 점검</a:t>
            </a:r>
            <a:endParaRPr lang="en-US" sz="920" dirty="0"/>
          </a:p>
        </p:txBody>
      </p:sp>
      <p:sp>
        <p:nvSpPr>
          <p:cNvPr id="39" name="Shape 37"/>
          <p:cNvSpPr/>
          <p:nvPr/>
        </p:nvSpPr>
        <p:spPr>
          <a:xfrm>
            <a:off x="566928" y="5349240"/>
            <a:ext cx="11057839" cy="438912"/>
          </a:xfrm>
          <a:prstGeom prst="roundRect">
            <a:avLst>
              <a:gd name="adj" fmla="val 12500"/>
            </a:avLst>
          </a:prstGeom>
          <a:solidFill>
            <a:srgbClr val="BEE3F8"/>
          </a:solidFill>
          <a:ln/>
        </p:spPr>
      </p:sp>
      <p:sp>
        <p:nvSpPr>
          <p:cNvPr id="40" name="Shape 38"/>
          <p:cNvSpPr/>
          <p:nvPr/>
        </p:nvSpPr>
        <p:spPr>
          <a:xfrm>
            <a:off x="566928" y="5404104"/>
            <a:ext cx="36576" cy="329184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41" name="Text 39"/>
          <p:cNvSpPr/>
          <p:nvPr/>
        </p:nvSpPr>
        <p:spPr>
          <a:xfrm>
            <a:off x="713232" y="5440680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판단 참고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713232" y="5641848"/>
            <a:ext cx="10801807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임대수익률 2.0%는 시장 평균 하회 — 토지가치 상승 또는 리모델링 후 임대료 증대 가능성 검토 필요</a:t>
            </a:r>
            <a:endParaRPr lang="en-US" sz="980" dirty="0"/>
          </a:p>
        </p:txBody>
      </p:sp>
      <p:sp>
        <p:nvSpPr>
          <p:cNvPr id="43" name="Text 4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3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INSTITUTIONAL PRO IM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24367" y="411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 ·  II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66928" y="1051560"/>
            <a:ext cx="54864" cy="489204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6" name="Text 4"/>
          <p:cNvSpPr/>
          <p:nvPr/>
        </p:nvSpPr>
        <p:spPr>
          <a:xfrm>
            <a:off x="886968" y="1188720"/>
            <a:ext cx="10737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02  ·  PART II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150047" y="100584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</a:t>
            </a:r>
            <a:endParaRPr lang="en-US" sz="11000" dirty="0"/>
          </a:p>
        </p:txBody>
      </p:sp>
      <p:sp>
        <p:nvSpPr>
          <p:cNvPr id="8" name="Text 6"/>
          <p:cNvSpPr/>
          <p:nvPr/>
        </p:nvSpPr>
        <p:spPr>
          <a:xfrm>
            <a:off x="886968" y="1508760"/>
            <a:ext cx="79945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Detailed Asset &amp; Building Specifications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86968" y="2606040"/>
            <a:ext cx="5029200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2724912"/>
            <a:ext cx="84517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제원, 토지 공법 규제, 스태킹 플랜 및 상세 렌트롤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86968" y="3337560"/>
            <a:ext cx="10737799" cy="2697480"/>
          </a:xfrm>
          <a:prstGeom prst="rect">
            <a:avLst/>
          </a:prstGeom>
          <a:solidFill>
            <a:srgbClr val="1A202C"/>
          </a:solidFill>
          <a:ln w="10160">
            <a:solidFill>
              <a:srgbClr val="4A55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6968" y="3337560"/>
            <a:ext cx="10737799" cy="347472"/>
          </a:xfrm>
          <a:prstGeom prst="rect">
            <a:avLst/>
          </a:prstGeom>
          <a:solidFill>
            <a:srgbClr val="2D3748"/>
          </a:solidFill>
          <a:ln/>
        </p:spPr>
      </p:sp>
      <p:sp>
        <p:nvSpPr>
          <p:cNvPr id="13" name="Text 11"/>
          <p:cNvSpPr/>
          <p:nvPr/>
        </p:nvSpPr>
        <p:spPr>
          <a:xfrm>
            <a:off x="1115568" y="3410712"/>
            <a:ext cx="102805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CONTENTS &amp; KEY DELIVERABLES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61288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847088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02.01  건축물 물리적 제원 및 면적 분석 (Building Specs)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161288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61288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847088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02.02  토지 제원 및 용도지역·공법상 규제 (Land &amp; Zoning)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161288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61288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847088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02.03  건축 입면 셋백 스태킹 플랜 (Setback Stacking Plan)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161288" y="5093208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61288" y="5111496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847088" y="5111496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02.04  층별 상세 임대차 렌트롤 (Detailed Tenant Roster Part 1)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93028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78828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02.05  임대차 만기 스케줄 및 WALE 분석 (Detailed Tenant Roster Part 2)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93028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93028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02.06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078828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02.06  설비(MEP) 및 물리적 시설 상태 점검 (Facility &amp; MEP)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393028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93028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02.07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078828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02.07  물건 내외부 현장 사진 갤러리 (Property Gallery)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393028" y="5093208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SPECS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물리적 제원 및 특성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 및 접근성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87168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 및 주요 간선도로와의 우수한 연계성을 갖추고 있어 풍부한 유동인구와 배후 임대 수요를 확보하고…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66928" y="4023360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4023360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476549" y="4023360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 원 (VAT 별도)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04088" y="4526280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9808" y="4526280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76549" y="4526280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7,501만 원/평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84287" y="1645920"/>
            <a:ext cx="3840480" cy="292608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7784287" y="4681728"/>
            <a:ext cx="3840480" cy="1508760"/>
          </a:xfrm>
          <a:prstGeom prst="roundRect">
            <a:avLst>
              <a:gd name="adj" fmla="val 3636"/>
            </a:avLst>
          </a:prstGeom>
          <a:solidFill>
            <a:srgbClr val="BEE3F8"/>
          </a:solidFill>
          <a:ln/>
        </p:spPr>
      </p:sp>
      <p:sp>
        <p:nvSpPr>
          <p:cNvPr id="18" name="Shape 15"/>
          <p:cNvSpPr/>
          <p:nvPr/>
        </p:nvSpPr>
        <p:spPr>
          <a:xfrm>
            <a:off x="7784287" y="4736592"/>
            <a:ext cx="36576" cy="1399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6"/>
          <p:cNvSpPr/>
          <p:nvPr/>
        </p:nvSpPr>
        <p:spPr>
          <a:xfrm>
            <a:off x="7930591" y="4773168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하이라이트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930591" y="4974336"/>
            <a:ext cx="358444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자산은 당산 권역 중심에 위치한 안정적 근생빌딩입니다. 1. 입지 가치 및 접근성: 대중교통 및 주요 간선도로와의 우수한 연계성을 갖추고 있어 풍부한 유동인구와 배후 임대 수요를 확보하고 있습니다. 2. 안정적인</a:t>
            </a:r>
            <a:endParaRPr lang="en-US" sz="980" dirty="0"/>
          </a:p>
        </p:txBody>
      </p:sp>
      <p:sp>
        <p:nvSpPr>
          <p:cNvPr id="21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&amp; ZONING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제원 및 용도지역·공법상 제한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제원 및 용도지역·공법상 제한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13232" y="1938528"/>
            <a:ext cx="660196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공적장부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2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30591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용도지역: 준공업지역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대지면적: 506.8㎡ (153.3평)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930591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30591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 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입면 셋백 스태킹 플랜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4983480" cy="4800600"/>
          </a:xfrm>
          <a:prstGeom prst="roundRect">
            <a:avLst>
              <a:gd name="adj" fmla="val 114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499616"/>
            <a:ext cx="4581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건축 입면 셋백 및 층별 단면 실루엣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68096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1E3A8A"/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0976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앵커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636776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19656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505456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0D9488"/>
          </a:solidFill>
          <a:ln w="6350">
            <a:solidFill>
              <a:srgbClr val="14B8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88336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리테일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374136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334155"/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57016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주차/기계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242816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F4444"/>
          </a:solidFill>
          <a:ln w="6350">
            <a:solidFill>
              <a:srgbClr val="F8717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25696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1092708" y="1993392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65860" y="1993392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5F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961388" y="1993392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내과</a:t>
            </a:r>
            <a:endParaRPr lang="en-US" sz="820" dirty="0"/>
          </a:p>
        </p:txBody>
      </p:sp>
      <p:sp>
        <p:nvSpPr>
          <p:cNvPr id="21" name="Shape 19"/>
          <p:cNvSpPr/>
          <p:nvPr/>
        </p:nvSpPr>
        <p:spPr>
          <a:xfrm>
            <a:off x="1092708" y="2235708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65860" y="2235708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4F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961388" y="2235708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와인매장</a:t>
            </a:r>
            <a:endParaRPr lang="en-US" sz="820" dirty="0"/>
          </a:p>
        </p:txBody>
      </p:sp>
      <p:sp>
        <p:nvSpPr>
          <p:cNvPr id="24" name="Shape 22"/>
          <p:cNvSpPr/>
          <p:nvPr/>
        </p:nvSpPr>
        <p:spPr>
          <a:xfrm>
            <a:off x="1092708" y="2478024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65860" y="2478024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4F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61388" y="247802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</a:t>
            </a:r>
            <a:endParaRPr lang="en-US" sz="820" dirty="0"/>
          </a:p>
        </p:txBody>
      </p:sp>
      <p:sp>
        <p:nvSpPr>
          <p:cNvPr id="27" name="Shape 25"/>
          <p:cNvSpPr/>
          <p:nvPr/>
        </p:nvSpPr>
        <p:spPr>
          <a:xfrm>
            <a:off x="1092708" y="2720340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65860" y="272034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3F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61388" y="272034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헬쓰장</a:t>
            </a:r>
            <a:endParaRPr lang="en-US" sz="820" dirty="0"/>
          </a:p>
        </p:txBody>
      </p:sp>
      <p:sp>
        <p:nvSpPr>
          <p:cNvPr id="30" name="Shape 28"/>
          <p:cNvSpPr/>
          <p:nvPr/>
        </p:nvSpPr>
        <p:spPr>
          <a:xfrm>
            <a:off x="1092708" y="2962656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65860" y="2962656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2F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61388" y="2962656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내과</a:t>
            </a:r>
            <a:endParaRPr lang="en-US" sz="820" dirty="0"/>
          </a:p>
        </p:txBody>
      </p:sp>
      <p:sp>
        <p:nvSpPr>
          <p:cNvPr id="33" name="Shape 31"/>
          <p:cNvSpPr/>
          <p:nvPr/>
        </p:nvSpPr>
        <p:spPr>
          <a:xfrm>
            <a:off x="1092708" y="3204972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0D9488"/>
          </a:solidFill>
          <a:ln w="6350">
            <a:solidFill>
              <a:srgbClr val="14B8A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65860" y="3204972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1F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61388" y="3204972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</a:t>
            </a:r>
            <a:endParaRPr lang="en-US" sz="820" dirty="0"/>
          </a:p>
        </p:txBody>
      </p:sp>
      <p:sp>
        <p:nvSpPr>
          <p:cNvPr id="36" name="Shape 34"/>
          <p:cNvSpPr/>
          <p:nvPr/>
        </p:nvSpPr>
        <p:spPr>
          <a:xfrm>
            <a:off x="1092708" y="3447288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65860" y="3447288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1F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61388" y="3447288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내과</a:t>
            </a:r>
            <a:endParaRPr lang="en-US" sz="820" dirty="0"/>
          </a:p>
        </p:txBody>
      </p:sp>
      <p:sp>
        <p:nvSpPr>
          <p:cNvPr id="39" name="Shape 37"/>
          <p:cNvSpPr/>
          <p:nvPr/>
        </p:nvSpPr>
        <p:spPr>
          <a:xfrm>
            <a:off x="841248" y="3781044"/>
            <a:ext cx="4434840" cy="0"/>
          </a:xfrm>
          <a:prstGeom prst="line">
            <a:avLst/>
          </a:prstGeom>
          <a:noFill/>
          <a:ln w="15240">
            <a:solidFill>
              <a:srgbClr val="4A5568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886968" y="3717036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지표면 (GL ±0.0m)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612648" y="38633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-3.5m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092708" y="3863340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0D9488"/>
          </a:solidFill>
          <a:ln w="6350">
            <a:solidFill>
              <a:srgbClr val="14B8A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165860" y="386334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1961388" y="386334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카페(자가)</a:t>
            </a:r>
            <a:endParaRPr lang="en-US" sz="820" dirty="0"/>
          </a:p>
        </p:txBody>
      </p:sp>
      <p:sp>
        <p:nvSpPr>
          <p:cNvPr id="45" name="Shape 43"/>
          <p:cNvSpPr/>
          <p:nvPr/>
        </p:nvSpPr>
        <p:spPr>
          <a:xfrm>
            <a:off x="5806440" y="1353312"/>
            <a:ext cx="5818327" cy="4800600"/>
          </a:xfrm>
          <a:prstGeom prst="roundRect">
            <a:avLst>
              <a:gd name="adj" fmla="val 114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007608" y="1499616"/>
            <a:ext cx="54159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층별 면적 및 임대차 제원 매트릭스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6007608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80760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6080760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345.2평</a:t>
            </a:r>
            <a:endParaRPr lang="en-US" sz="1350" dirty="0"/>
          </a:p>
        </p:txBody>
      </p:sp>
      <p:sp>
        <p:nvSpPr>
          <p:cNvPr id="50" name="Text 48"/>
          <p:cNvSpPr/>
          <p:nvPr/>
        </p:nvSpPr>
        <p:spPr>
          <a:xfrm>
            <a:off x="6080760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7389038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462190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전용률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7462190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50" dirty="0"/>
          </a:p>
        </p:txBody>
      </p:sp>
      <p:sp>
        <p:nvSpPr>
          <p:cNvPr id="54" name="Text 52"/>
          <p:cNvSpPr/>
          <p:nvPr/>
        </p:nvSpPr>
        <p:spPr>
          <a:xfrm>
            <a:off x="7462190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계약면적 대비</a:t>
            </a:r>
            <a:endParaRPr lang="en-US" sz="720" dirty="0"/>
          </a:p>
        </p:txBody>
      </p:sp>
      <p:sp>
        <p:nvSpPr>
          <p:cNvPr id="55" name="Shape 53"/>
          <p:cNvSpPr/>
          <p:nvPr/>
        </p:nvSpPr>
        <p:spPr>
          <a:xfrm>
            <a:off x="8770468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843620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WALE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8843620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50" dirty="0"/>
          </a:p>
        </p:txBody>
      </p:sp>
      <p:sp>
        <p:nvSpPr>
          <p:cNvPr id="58" name="Text 56"/>
          <p:cNvSpPr/>
          <p:nvPr/>
        </p:nvSpPr>
        <p:spPr>
          <a:xfrm>
            <a:off x="8843620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잔여 임대기간</a:t>
            </a:r>
            <a:endParaRPr lang="en-US" sz="720" dirty="0"/>
          </a:p>
        </p:txBody>
      </p:sp>
      <p:sp>
        <p:nvSpPr>
          <p:cNvPr id="59" name="Shape 57"/>
          <p:cNvSpPr/>
          <p:nvPr/>
        </p:nvSpPr>
        <p:spPr>
          <a:xfrm>
            <a:off x="10151897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225049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공실률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10225049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1350" dirty="0"/>
          </a:p>
        </p:txBody>
      </p:sp>
      <p:sp>
        <p:nvSpPr>
          <p:cNvPr id="62" name="Text 60"/>
          <p:cNvSpPr/>
          <p:nvPr/>
        </p:nvSpPr>
        <p:spPr>
          <a:xfrm>
            <a:off x="10225049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만실 운용</a:t>
            </a:r>
            <a:endParaRPr lang="en-US" sz="72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07608" y="2633472"/>
          <a:ext cx="5413248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1051560"/>
                <a:gridCol w="713232"/>
                <a:gridCol w="713232"/>
                <a:gridCol w="1792224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주용도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전용(평)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임대(평)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주요 </a:t>
                      </a:r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입주사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카페(자가)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헬쓰장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와인매장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전층 </a:t>
                      </a:r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만실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345.2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카페(자가)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64" name="Text 61"/>
          <p:cNvSpPr/>
          <p:nvPr/>
        </p:nvSpPr>
        <p:spPr>
          <a:xfrm>
            <a:off x="6007608" y="5861304"/>
            <a:ext cx="5413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제원은 건축물대장 및 임대차계약서 실측 기준입니다.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ROSTER (1/2)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임대차 현황 (저층부 및 주요 임차인)</a:t>
            </a:r>
            <a:endParaRPr lang="en-US" sz="2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721163"/>
                <a:gridCol w="721163"/>
                <a:gridCol w="1201939"/>
                <a:gridCol w="1201939"/>
                <a:gridCol w="1201939"/>
                <a:gridCol w="1201939"/>
                <a:gridCol w="1201939"/>
                <a:gridCol w="1201939"/>
                <a:gridCol w="1201939"/>
                <a:gridCol w="1201939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호실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주요업종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임대면적(㎡)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임대면적(평)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보증금(만원)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월임대료(만원)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만기일자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갱신옵션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96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23.7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2026-08-31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31.9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14,000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2026-08-31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76.3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2026-08-31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76.3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2026-04-17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51.1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2025-04-30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25.1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55.6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2026-08-31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8개사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436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8개사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436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FACILITY &amp; MEP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기계·전기·소방(MEP) 설비 및 관리 상태 점검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97280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승강기(EV) 정기안전검사 필증 확보 및 - 유지보수 계약 체결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97280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5년 주기 정밀안전진단 통과 및 의무 자주식 주차구획(2대 이상) 충족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97280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수전설비(-) 및 한국전기안전공사 판정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86220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소방시설 종합정밀점검·작동기능점검 필증 및 전 층 스프링클러 헤드 완비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86220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중앙/개별 냉난방 EHP·GHP 실외기 노후도 점검 및 각 실내기 냉난방 작동 상태 양호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255868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86220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입주업종 오수발생량 적합성 및 하수도 원인자부담금 추가 과세 없음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66928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PROPERTY GALLERY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내외부 현장 사진 갤러리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234440"/>
            <a:ext cx="5464912" cy="4709160"/>
          </a:xfrm>
          <a:prstGeom prst="roundRect">
            <a:avLst>
              <a:gd name="adj" fmla="val 116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234440"/>
            <a:ext cx="5464912" cy="47091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66928" y="5650992"/>
            <a:ext cx="546491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11" name="Text 8"/>
          <p:cNvSpPr/>
          <p:nvPr/>
        </p:nvSpPr>
        <p:spPr>
          <a:xfrm>
            <a:off x="676656" y="5650992"/>
            <a:ext cx="5245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외관 전경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159856" y="1234440"/>
            <a:ext cx="5464912" cy="4709160"/>
          </a:xfrm>
          <a:prstGeom prst="roundRect">
            <a:avLst>
              <a:gd name="adj" fmla="val 116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59856" y="1234440"/>
            <a:ext cx="5464912" cy="470916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233008" y="1307592"/>
            <a:ext cx="1252728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15" name="Text 11"/>
          <p:cNvSpPr/>
          <p:nvPr/>
        </p:nvSpPr>
        <p:spPr>
          <a:xfrm>
            <a:off x="6233008" y="1307592"/>
            <a:ext cx="1252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주변 도로/환경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6159856" y="5650992"/>
            <a:ext cx="546491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17" name="Text 13"/>
          <p:cNvSpPr/>
          <p:nvPr/>
        </p:nvSpPr>
        <p:spPr>
          <a:xfrm>
            <a:off x="6269584" y="5650992"/>
            <a:ext cx="5245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주변 도로 및 접근로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9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3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INSTITUTIONAL PRO IM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24367" y="411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 ·  III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66928" y="1051560"/>
            <a:ext cx="54864" cy="489204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6" name="Text 4"/>
          <p:cNvSpPr/>
          <p:nvPr/>
        </p:nvSpPr>
        <p:spPr>
          <a:xfrm>
            <a:off x="886968" y="1188720"/>
            <a:ext cx="10737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03  ·  PART III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150047" y="100584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</a:t>
            </a:r>
            <a:endParaRPr lang="en-US" sz="11000" dirty="0"/>
          </a:p>
        </p:txBody>
      </p:sp>
      <p:sp>
        <p:nvSpPr>
          <p:cNvPr id="8" name="Text 6"/>
          <p:cNvSpPr/>
          <p:nvPr/>
        </p:nvSpPr>
        <p:spPr>
          <a:xfrm>
            <a:off x="886968" y="1508760"/>
            <a:ext cx="79945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Comprehensive Financial Modeling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86968" y="2606040"/>
            <a:ext cx="5029200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2724912"/>
            <a:ext cx="84517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10개년 DCF 스케줄, OPEX 세부 내역, Exit Cap 감정평가 및 2D 민감도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86968" y="3337560"/>
            <a:ext cx="10737799" cy="2697480"/>
          </a:xfrm>
          <a:prstGeom prst="rect">
            <a:avLst/>
          </a:prstGeom>
          <a:solidFill>
            <a:srgbClr val="1A202C"/>
          </a:solidFill>
          <a:ln w="10160">
            <a:solidFill>
              <a:srgbClr val="4A55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6968" y="3337560"/>
            <a:ext cx="10737799" cy="347472"/>
          </a:xfrm>
          <a:prstGeom prst="rect">
            <a:avLst/>
          </a:prstGeom>
          <a:solidFill>
            <a:srgbClr val="2D3748"/>
          </a:solidFill>
          <a:ln/>
        </p:spPr>
      </p:sp>
      <p:sp>
        <p:nvSpPr>
          <p:cNvPr id="13" name="Text 11"/>
          <p:cNvSpPr/>
          <p:nvPr/>
        </p:nvSpPr>
        <p:spPr>
          <a:xfrm>
            <a:off x="1115568" y="3410712"/>
            <a:ext cx="102805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CONTENTS &amp; KEY DELIVERABLES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61288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03.01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847088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03.01  10개년 할인현금흐름(DCF) 추정 스케줄 (10-Yr Cash Flow)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161288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61288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03.02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847088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03.02  수익 및 운영비(OPEX) 세부 항목 분석 (OPEX Breakdown)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161288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61288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847088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03.03  Exit Cap Rate 및 매각 가치 환원 산정 (Terminal Valuation)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93028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78828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03.04  2차원 민감도 분석: Exit Cap vs 할인율 (2D Sensitivity Matrix)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93028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93028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03.05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78828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03.05  공실률 및 임대료 하향 스트레스 테스트 (Downside Stress Testing)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93028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93028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03.06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078828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03.06  자본 구조 및 차입(레버리지) 시뮬레이션 (Capital &amp; Debt Financing)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10-YEAR DCF SCHEDULE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10개년 현금흐름(DCF) 추정 스케줄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46304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10개년 잠재총수익(PGI) 및 순영업소득(NOI) 추정 스케줄 (단위: 백만 원)</a:t>
            </a:r>
            <a:endParaRPr lang="en-US" sz="11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834390"/>
                <a:gridCol w="834390"/>
                <a:gridCol w="834390"/>
                <a:gridCol w="834390"/>
                <a:gridCol w="834390"/>
                <a:gridCol w="834390"/>
                <a:gridCol w="834390"/>
                <a:gridCol w="83439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Y1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Y10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PGI </a:t>
                      </a:r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(잠재총수익)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263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279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손실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(3%)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EGI </a:t>
                      </a:r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(유효총수익)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227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231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236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271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운영비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(OPEX)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CapEx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적립금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순영업소득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(NOI)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196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221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세전현금흐름 </a:t>
                      </a:r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(BTCF)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-63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-59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-55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-51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-46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-38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-24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498080" y="17373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F3EBDA"/>
          </a:solidFill>
          <a:ln/>
        </p:spPr>
      </p:sp>
      <p:sp>
        <p:nvSpPr>
          <p:cNvPr id="9" name="Shape 6"/>
          <p:cNvSpPr/>
          <p:nvPr/>
        </p:nvSpPr>
        <p:spPr>
          <a:xfrm>
            <a:off x="7498080" y="1792224"/>
            <a:ext cx="36576" cy="181051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0" name="Text 7"/>
          <p:cNvSpPr/>
          <p:nvPr/>
        </p:nvSpPr>
        <p:spPr>
          <a:xfrm>
            <a:off x="7644384" y="18288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10-Yr Unlevered IRR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644384" y="20299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1.95% (무차입 기준 10개년 내부수익률)</a:t>
            </a:r>
            <a:endParaRPr lang="en-US" sz="980" dirty="0"/>
          </a:p>
        </p:txBody>
      </p:sp>
      <p:sp>
        <p:nvSpPr>
          <p:cNvPr id="12" name="Shape 9"/>
          <p:cNvSpPr/>
          <p:nvPr/>
        </p:nvSpPr>
        <p:spPr>
          <a:xfrm>
            <a:off x="7498080" y="37947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C6F6D5"/>
          </a:solidFill>
          <a:ln/>
        </p:spPr>
      </p:sp>
      <p:sp>
        <p:nvSpPr>
          <p:cNvPr id="13" name="Shape 10"/>
          <p:cNvSpPr/>
          <p:nvPr/>
        </p:nvSpPr>
        <p:spPr>
          <a:xfrm>
            <a:off x="7498080" y="3849624"/>
            <a:ext cx="36576" cy="1810512"/>
          </a:xfrm>
          <a:prstGeom prst="rect">
            <a:avLst/>
          </a:prstGeom>
          <a:solidFill>
            <a:srgbClr val="276749"/>
          </a:solidFill>
          <a:ln/>
        </p:spPr>
      </p:sp>
      <p:sp>
        <p:nvSpPr>
          <p:cNvPr id="14" name="Text 11"/>
          <p:cNvSpPr/>
          <p:nvPr/>
        </p:nvSpPr>
        <p:spPr>
          <a:xfrm>
            <a:off x="7644384" y="38862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67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Exit Net Proceeds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644384" y="40873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116억 원 (Exit Cap 2.03% 기준)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OPEX BREAKDOWN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및 운영비(OPEX) 세부 항목 분석</a:t>
            </a:r>
            <a:endParaRPr lang="en-US" sz="2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1842973"/>
                <a:gridCol w="1842973"/>
                <a:gridCol w="1842973"/>
                <a:gridCol w="1842973"/>
                <a:gridCol w="1842973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운영비(OPEX) </a:t>
                      </a:r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1년차 </a:t>
                      </a:r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(원)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3년차 </a:t>
                      </a:r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(원)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5년차 </a:t>
                      </a:r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(원)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구성비 </a:t>
                      </a:r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(%)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위탁관리비 </a:t>
                      </a:r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(PM/FM)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8,406,720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8,746,351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9,099,704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30.0%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시설 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자산관리 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용역비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재산세 </a:t>
                      </a:r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공과금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9,807,840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10,204,077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10,616,321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35.0%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보유세 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환경개선부담금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화재 </a:t>
                      </a:r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특수보험료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2,802,240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2,915,450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3,033,235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10.0%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영업배상 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화재보험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시설 </a:t>
                      </a:r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수선유지비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7,005,600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7,288,626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7,583,087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25.0%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소모품 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정기 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안전점검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 </a:t>
                      </a:r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(Total </a:t>
                      </a:r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OPEX)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28,022,400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29,154,504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30,332,347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100.0%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2.0% </a:t>
                      </a:r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물가상승 </a:t>
                      </a:r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반영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4370832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* 물가상승률(CPI) 연 2.0% 반영 추정치이며, 실제 관리비 부과 및 보유세는 실사 시 조정될 수 있습니다.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VALUATION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Exit Cap Rate 및 매각 가치 환원 산정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71600"/>
            <a:ext cx="5120640" cy="384048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5528" y="160020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10161F"/>
          </a:solidFill>
          <a:ln/>
        </p:spPr>
      </p:sp>
      <p:sp>
        <p:nvSpPr>
          <p:cNvPr id="8" name="Text 6"/>
          <p:cNvSpPr/>
          <p:nvPr/>
        </p:nvSpPr>
        <p:spPr>
          <a:xfrm>
            <a:off x="1024128" y="160020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임대수익률</a:t>
            </a:r>
            <a:endParaRPr lang="en-US" sz="16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(매매가−보증금) 대비 · 운영비 차감 전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487168" y="160020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2.03%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886968" y="28346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임대수입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127248" y="28346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2.3억원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5528" y="3182112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86968" y="3182112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127248" y="3182112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2.9억원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95528" y="3529584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" y="3529584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127248" y="3529584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115.0억원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95528" y="3877056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6968" y="3877056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보증금 차감 매입가 (매매가−보증금)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127248" y="3877056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112.1억원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95528" y="4224528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95528" y="4361688"/>
            <a:ext cx="4663440" cy="502920"/>
          </a:xfrm>
          <a:prstGeom prst="roundRect">
            <a:avLst>
              <a:gd name="adj" fmla="val 10909"/>
            </a:avLst>
          </a:prstGeom>
          <a:solidFill>
            <a:srgbClr val="F6F1E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2688" y="4361688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분석가정 · 안정화 임대수익률 (Stabilized)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공실층을 인근 시세 수준으로 임대 가정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944368" y="4361688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2.53%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6053328" y="1371600"/>
            <a:ext cx="5571439" cy="3840480"/>
          </a:xfrm>
          <a:prstGeom prst="roundRect">
            <a:avLst>
              <a:gd name="adj" fmla="val 142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9360" y="1591056"/>
            <a:ext cx="1554480" cy="219456"/>
          </a:xfrm>
          <a:prstGeom prst="roundRect">
            <a:avLst>
              <a:gd name="adj" fmla="val 50000"/>
            </a:avLst>
          </a:prstGeom>
          <a:solidFill>
            <a:srgbClr val="F3EBDA"/>
          </a:solidFill>
          <a:ln w="6350">
            <a:solidFill>
              <a:srgbClr val="97702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09360" y="1591056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공시지가 열람 안내 ]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309360" y="1883664"/>
            <a:ext cx="5059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토지 가치 평가 안내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309360" y="2194560"/>
            <a:ext cx="50593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 필지의 개별공시지가 연도별 이력 및 표준지 공시지가 대비 배율은 부동산 공시가격 알리미 및 감정평가 공적 자료를 통해 확인합니다.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309360" y="2633472"/>
            <a:ext cx="5059375" cy="0"/>
          </a:xfrm>
          <a:prstGeom prst="line">
            <a:avLst/>
          </a:prstGeom>
          <a:noFill/>
          <a:ln w="5080">
            <a:solidFill>
              <a:srgbClr val="CBD5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5936" y="2779776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2" name="Text 30"/>
          <p:cNvSpPr/>
          <p:nvPr/>
        </p:nvSpPr>
        <p:spPr>
          <a:xfrm>
            <a:off x="6473952" y="2724912"/>
            <a:ext cx="483991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최근 5~10개년 개별공시지가 변동 추이 및 연평균 상승률 분석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6345936" y="3346704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4" name="Text 32"/>
          <p:cNvSpPr/>
          <p:nvPr/>
        </p:nvSpPr>
        <p:spPr>
          <a:xfrm>
            <a:off x="6473952" y="3291840"/>
            <a:ext cx="483991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표준지 공시지가 대비 토지 특성(도로접면, 형상, 방위) 차이 분석</a:t>
            </a:r>
            <a:endParaRPr lang="en-US" sz="920" dirty="0"/>
          </a:p>
        </p:txBody>
      </p:sp>
      <p:sp>
        <p:nvSpPr>
          <p:cNvPr id="35" name="Shape 33"/>
          <p:cNvSpPr/>
          <p:nvPr/>
        </p:nvSpPr>
        <p:spPr>
          <a:xfrm>
            <a:off x="6345936" y="3913632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6" name="Text 34"/>
          <p:cNvSpPr/>
          <p:nvPr/>
        </p:nvSpPr>
        <p:spPr>
          <a:xfrm>
            <a:off x="6473952" y="3858768"/>
            <a:ext cx="483991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공시지가 대비 실거래가 매매 배율 및 평당 단가 프리미엄 검증</a:t>
            </a:r>
            <a:endParaRPr lang="en-US" sz="920" dirty="0"/>
          </a:p>
        </p:txBody>
      </p:sp>
      <p:sp>
        <p:nvSpPr>
          <p:cNvPr id="37" name="Shape 35"/>
          <p:cNvSpPr/>
          <p:nvPr/>
        </p:nvSpPr>
        <p:spPr>
          <a:xfrm>
            <a:off x="6345936" y="4480560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8" name="Text 36"/>
          <p:cNvSpPr/>
          <p:nvPr/>
        </p:nvSpPr>
        <p:spPr>
          <a:xfrm>
            <a:off x="6473952" y="4425696"/>
            <a:ext cx="483991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보유세(재산세·종합부동산세) 과세표준 기준액 산출 및 세무 영향 점검</a:t>
            </a:r>
            <a:endParaRPr lang="en-US" sz="920" dirty="0"/>
          </a:p>
        </p:txBody>
      </p:sp>
      <p:sp>
        <p:nvSpPr>
          <p:cNvPr id="39" name="Shape 37"/>
          <p:cNvSpPr/>
          <p:nvPr/>
        </p:nvSpPr>
        <p:spPr>
          <a:xfrm>
            <a:off x="566928" y="5349240"/>
            <a:ext cx="11057839" cy="438912"/>
          </a:xfrm>
          <a:prstGeom prst="roundRect">
            <a:avLst>
              <a:gd name="adj" fmla="val 12500"/>
            </a:avLst>
          </a:prstGeom>
          <a:solidFill>
            <a:srgbClr val="BEE3F8"/>
          </a:solidFill>
          <a:ln/>
        </p:spPr>
      </p:sp>
      <p:sp>
        <p:nvSpPr>
          <p:cNvPr id="40" name="Shape 38"/>
          <p:cNvSpPr/>
          <p:nvPr/>
        </p:nvSpPr>
        <p:spPr>
          <a:xfrm>
            <a:off x="566928" y="5404104"/>
            <a:ext cx="36576" cy="329184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41" name="Text 39"/>
          <p:cNvSpPr/>
          <p:nvPr/>
        </p:nvSpPr>
        <p:spPr>
          <a:xfrm>
            <a:off x="713232" y="5440680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판단 참고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713232" y="5641848"/>
            <a:ext cx="10801807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임대수익률 2.0%는 시장 평균 하회 — 토지가치 상승 또는 리모델링 후 임대료 증대 가능성 검토 필요</a:t>
            </a:r>
            <a:endParaRPr lang="en-US" sz="980" dirty="0"/>
          </a:p>
        </p:txBody>
      </p:sp>
      <p:sp>
        <p:nvSpPr>
          <p:cNvPr id="43" name="Text 4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2D SENSITIVITY MATRIX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2차원 민감도 분석 (Exit Cap vs 할인율)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46304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Exit Cap Rate vs 할인율 2D 민감도 분석 (Unlevered IRR %)</a:t>
            </a:r>
            <a:endParaRPr lang="en-US" sz="11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1112520"/>
                <a:gridCol w="1112520"/>
                <a:gridCol w="1112520"/>
                <a:gridCol w="1112520"/>
                <a:gridCol w="1112520"/>
                <a:gridCol w="11125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Exit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\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할인율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5.0%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5.5%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6.0%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6.5%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7.0%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1.53%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4.60%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4.60%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4.60%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4.60%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4.60%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1.78%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3.17%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3.17%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3.17%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3.17%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3.17%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2.03%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1.95%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1.95%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1.95%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1.95%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1.95%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2.28%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2.53%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-0.04%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-0.04%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-0.04%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-0.04%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-0.04%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498080" y="17373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FEEBC8"/>
          </a:solidFill>
          <a:ln/>
        </p:spPr>
      </p:sp>
      <p:sp>
        <p:nvSpPr>
          <p:cNvPr id="9" name="Shape 6"/>
          <p:cNvSpPr/>
          <p:nvPr/>
        </p:nvSpPr>
        <p:spPr>
          <a:xfrm>
            <a:off x="7498080" y="1792224"/>
            <a:ext cx="36576" cy="18105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10" name="Text 7"/>
          <p:cNvSpPr/>
          <p:nvPr/>
        </p:nvSpPr>
        <p:spPr>
          <a:xfrm>
            <a:off x="7644384" y="18288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보수적 시나리오 (Downside)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644384" y="20299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Exit Cap +50bps 확대 시 Unlevered IRR -0.04%</a:t>
            </a:r>
            <a:endParaRPr lang="en-US" sz="980" dirty="0"/>
          </a:p>
        </p:txBody>
      </p:sp>
      <p:sp>
        <p:nvSpPr>
          <p:cNvPr id="12" name="Shape 9"/>
          <p:cNvSpPr/>
          <p:nvPr/>
        </p:nvSpPr>
        <p:spPr>
          <a:xfrm>
            <a:off x="7498080" y="37947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C6F6D5"/>
          </a:solidFill>
          <a:ln/>
        </p:spPr>
      </p:sp>
      <p:sp>
        <p:nvSpPr>
          <p:cNvPr id="13" name="Shape 10"/>
          <p:cNvSpPr/>
          <p:nvPr/>
        </p:nvSpPr>
        <p:spPr>
          <a:xfrm>
            <a:off x="7498080" y="3849624"/>
            <a:ext cx="36576" cy="1810512"/>
          </a:xfrm>
          <a:prstGeom prst="rect">
            <a:avLst/>
          </a:prstGeom>
          <a:solidFill>
            <a:srgbClr val="276749"/>
          </a:solidFill>
          <a:ln/>
        </p:spPr>
      </p:sp>
      <p:sp>
        <p:nvSpPr>
          <p:cNvPr id="14" name="Text 11"/>
          <p:cNvSpPr/>
          <p:nvPr/>
        </p:nvSpPr>
        <p:spPr>
          <a:xfrm>
            <a:off x="7644384" y="38862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67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낙관적 시나리오 (Upside)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644384" y="40873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Exit Cap -50bps 축소 시 Unlevered IRR 4.60%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TESTING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공실률 및 임대료 하향 스트레스 테스트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46304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공실률 충격 시나리오별 순영업소득(NOI) 및 초기 수익률 영향 (단위: 백만 원)</a:t>
            </a:r>
            <a:endParaRPr lang="en-US" sz="11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1112520"/>
                <a:gridCol w="1112520"/>
                <a:gridCol w="1112520"/>
                <a:gridCol w="1112520"/>
                <a:gridCol w="1112520"/>
                <a:gridCol w="11125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적용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순영업소득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(NOI)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변동률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Unlevered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IRR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Base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196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1.95%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1.71%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Moderate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8.0%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-5.89%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1.28%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1.61%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Severe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-14.14%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1.47%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498080" y="17373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F3EBDA"/>
          </a:solidFill>
          <a:ln/>
        </p:spPr>
      </p:sp>
      <p:sp>
        <p:nvSpPr>
          <p:cNvPr id="9" name="Shape 6"/>
          <p:cNvSpPr/>
          <p:nvPr/>
        </p:nvSpPr>
        <p:spPr>
          <a:xfrm>
            <a:off x="7498080" y="1792224"/>
            <a:ext cx="36576" cy="181051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0" name="Text 7"/>
          <p:cNvSpPr/>
          <p:nvPr/>
        </p:nvSpPr>
        <p:spPr>
          <a:xfrm>
            <a:off x="7644384" y="18288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하방 방어력 (Buffer)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644384" y="20299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공실률 15% 심각 스트레스 상황에서도 연 순수익률 3%대 및 흑자 운용 유지</a:t>
            </a:r>
            <a:endParaRPr lang="en-US" sz="980" dirty="0"/>
          </a:p>
        </p:txBody>
      </p:sp>
      <p:sp>
        <p:nvSpPr>
          <p:cNvPr id="12" name="Shape 9"/>
          <p:cNvSpPr/>
          <p:nvPr/>
        </p:nvSpPr>
        <p:spPr>
          <a:xfrm>
            <a:off x="7498080" y="37947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7498080" y="3849624"/>
            <a:ext cx="36576" cy="18105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7644384" y="38862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스트레스 시나리오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644384" y="40873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 3%에서 최대 15%까지 공실 확대 충격을 반영한 손익 보수적 산출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&amp; DEBT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 구조 및 차입(레버리지) 시뮬레이션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65425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65425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5.29억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65425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1.03억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65425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121.3억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65425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2.9억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65425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57.5억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65425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60.9억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118.4억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2.03%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72.4억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2.05%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60.9억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49.4억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2.54%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BEE3F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3" name="Text 30"/>
          <p:cNvSpPr/>
          <p:nvPr/>
        </p:nvSpPr>
        <p:spPr>
          <a:xfrm>
            <a:off x="6607912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자본조달 가이드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07912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금융기관별 감정평가액 및 LTV 한도 조건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취득세(4.6%) 및 부대비용을 포함한 총소요자금 기반 에쿼티 조달 계획 수립 권장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3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INSTITUTIONAL PRO IM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24367" y="411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 ·  IV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66928" y="1051560"/>
            <a:ext cx="54864" cy="489204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6" name="Text 4"/>
          <p:cNvSpPr/>
          <p:nvPr/>
        </p:nvSpPr>
        <p:spPr>
          <a:xfrm>
            <a:off x="886968" y="1188720"/>
            <a:ext cx="10737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04  ·  PART IV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150047" y="100584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</a:t>
            </a:r>
            <a:endParaRPr lang="en-US" sz="11000" dirty="0"/>
          </a:p>
        </p:txBody>
      </p:sp>
      <p:sp>
        <p:nvSpPr>
          <p:cNvPr id="8" name="Text 6"/>
          <p:cNvSpPr/>
          <p:nvPr/>
        </p:nvSpPr>
        <p:spPr>
          <a:xfrm>
            <a:off x="886968" y="1508760"/>
            <a:ext cx="79945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Market Dynamics &amp; Comparable Transactions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86968" y="2606040"/>
            <a:ext cx="5029200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2724912"/>
            <a:ext cx="84517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거시 수급, 임대료·공실률 추이, 인근 실거래 사례 및 평당가 벤치마크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86968" y="3337560"/>
            <a:ext cx="10737799" cy="2697480"/>
          </a:xfrm>
          <a:prstGeom prst="rect">
            <a:avLst/>
          </a:prstGeom>
          <a:solidFill>
            <a:srgbClr val="1A202C"/>
          </a:solidFill>
          <a:ln w="10160">
            <a:solidFill>
              <a:srgbClr val="4A55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6968" y="3337560"/>
            <a:ext cx="10737799" cy="347472"/>
          </a:xfrm>
          <a:prstGeom prst="rect">
            <a:avLst/>
          </a:prstGeom>
          <a:solidFill>
            <a:srgbClr val="2D3748"/>
          </a:solidFill>
          <a:ln/>
        </p:spPr>
      </p:sp>
      <p:sp>
        <p:nvSpPr>
          <p:cNvPr id="13" name="Text 11"/>
          <p:cNvSpPr/>
          <p:nvPr/>
        </p:nvSpPr>
        <p:spPr>
          <a:xfrm>
            <a:off x="1115568" y="3410712"/>
            <a:ext cx="102805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CONTENTS &amp; KEY DELIVERABLES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61288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04.01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847088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04.01  권역 거시 시장 및 오피스 수급 동향 (Macro Submarket)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161288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61288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04.02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847088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04.02  권역 임대료 및 공실률 추이 벤치마크 (Rental &amp; Vacancy Trends)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161288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61288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847088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04.03  미시 입지 상권 및 대중교통 인프라 (Micro Catchment &amp; Transit)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93028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78828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04.04  인근 실거래 비교 사례 분석 (Recent Sales Comps)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93028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93028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04.05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78828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04.05  거래 배수 및 평당가 벤치마크 비교 (Comp Benchmarking Multiples)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93028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SUBMARKET OVERVIEW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거시 시장 및 수급 동향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거시 시장 오피스 수급 및 공실률 동향 분석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평균 공실률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307738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2330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명목 임대료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2330" y="2313432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048549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13141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실질 임대료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13141" y="2313432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66928" y="341071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F3EBDA"/>
          </a:solidFill>
          <a:ln/>
        </p:spPr>
      </p:sp>
      <p:sp>
        <p:nvSpPr>
          <p:cNvPr id="18" name="Shape 16"/>
          <p:cNvSpPr/>
          <p:nvPr/>
        </p:nvSpPr>
        <p:spPr>
          <a:xfrm>
            <a:off x="566928" y="3465576"/>
            <a:ext cx="36576" cy="117043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9" name="Text 17"/>
          <p:cNvSpPr/>
          <p:nvPr/>
        </p:nvSpPr>
        <p:spPr>
          <a:xfrm>
            <a:off x="713232" y="350215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 수요 추이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13232" y="370332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해당 권역 임차 수요 견고한 수준 유지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&amp; VACANCY TRENDS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임대료 및 공실률 추이 벤치마크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유사 프라임 빌딩 임대료 및 공실률 벤치마크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A급 평균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B급 평균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 자산 수준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487168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보증금 84만 원 / 월세 6만 원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285292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임대료 경쟁력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2487168" y="2852928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시세 대비 적정 수준 유지로 임차인 락인(Lock-in) 효과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30591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검토 대상 상업용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임대차 계약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인접 인프라 및 입지 환경 분석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22" name="Shape 20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3" name="Text 21"/>
          <p:cNvSpPr/>
          <p:nvPr/>
        </p:nvSpPr>
        <p:spPr>
          <a:xfrm>
            <a:off x="7930591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930591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검토 대상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계약 조건 및 운영비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매입 후 운용 계획에 따른 수익성 분석</a:t>
            </a:r>
            <a:endParaRPr lang="en-US" sz="980" dirty="0"/>
          </a:p>
        </p:txBody>
      </p:sp>
      <p:sp>
        <p:nvSpPr>
          <p:cNvPr id="25" name="Text 2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 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미시 입지 상권 및 대중교통 인프라 연결성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 접근성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지하철역 인접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간선 지하철역 도보 접근 권역 위치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38218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38218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456681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광역 간선도로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6681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간선도로 접근 양호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6681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도심 및 광역 간선도로망 연계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09509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09509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8" name="Text 16"/>
          <p:cNvSpPr/>
          <p:nvPr/>
        </p:nvSpPr>
        <p:spPr>
          <a:xfrm>
            <a:off x="8338109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업무권역 접근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338109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업무권역 접근 양호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338109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업무 권역과의 대중교통 연결 우수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상기 입지 평가는 공공 교통망 데이터 및 지적도 기준 분석 결과입니다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 BENCHMARKING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배수 및 평당가 벤치마크 비교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46304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실거래 벤치마크 및 밸류에이션 배수 비교</a:t>
            </a:r>
            <a:endParaRPr lang="en-US" sz="11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1335024"/>
                <a:gridCol w="1335024"/>
                <a:gridCol w="1335024"/>
                <a:gridCol w="1335024"/>
                <a:gridCol w="1335024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거래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하한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거래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거래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대상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자산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(제시가)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연면적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평당가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(만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3,331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대지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평당가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(만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6,752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7,502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8,252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7,502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(%)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2.03%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498080" y="17373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F3EBDA"/>
          </a:solidFill>
          <a:ln/>
        </p:spPr>
      </p:sp>
      <p:sp>
        <p:nvSpPr>
          <p:cNvPr id="9" name="Shape 6"/>
          <p:cNvSpPr/>
          <p:nvPr/>
        </p:nvSpPr>
        <p:spPr>
          <a:xfrm>
            <a:off x="7498080" y="1792224"/>
            <a:ext cx="36576" cy="181051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0" name="Text 7"/>
          <p:cNvSpPr/>
          <p:nvPr/>
        </p:nvSpPr>
        <p:spPr>
          <a:xfrm>
            <a:off x="7644384" y="18288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평당가 적정성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644384" y="20299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최근 실거래 평균 밴드 내에 위치하여 시장 수용성 확보</a:t>
            </a:r>
            <a:endParaRPr lang="en-US" sz="980" dirty="0"/>
          </a:p>
        </p:txBody>
      </p:sp>
      <p:sp>
        <p:nvSpPr>
          <p:cNvPr id="12" name="Shape 9"/>
          <p:cNvSpPr/>
          <p:nvPr/>
        </p:nvSpPr>
        <p:spPr>
          <a:xfrm>
            <a:off x="7498080" y="37947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C6F6D5"/>
          </a:solidFill>
          <a:ln/>
        </p:spPr>
      </p:sp>
      <p:sp>
        <p:nvSpPr>
          <p:cNvPr id="13" name="Shape 10"/>
          <p:cNvSpPr/>
          <p:nvPr/>
        </p:nvSpPr>
        <p:spPr>
          <a:xfrm>
            <a:off x="7498080" y="3849624"/>
            <a:ext cx="36576" cy="1810512"/>
          </a:xfrm>
          <a:prstGeom prst="rect">
            <a:avLst/>
          </a:prstGeom>
          <a:solidFill>
            <a:srgbClr val="276749"/>
          </a:solidFill>
          <a:ln/>
        </p:spPr>
      </p:sp>
      <p:sp>
        <p:nvSpPr>
          <p:cNvPr id="14" name="Text 11"/>
          <p:cNvSpPr/>
          <p:nvPr/>
        </p:nvSpPr>
        <p:spPr>
          <a:xfrm>
            <a:off x="7644384" y="38862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67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Cap Rate 스프레드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644384" y="40873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요구 수익률 대비 견조한 Cap Rate 스프레드(2.03%) 유지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3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INSTITUTIONAL PRO IM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24367" y="411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 ·  V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66928" y="1051560"/>
            <a:ext cx="54864" cy="489204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6" name="Text 4"/>
          <p:cNvSpPr/>
          <p:nvPr/>
        </p:nvSpPr>
        <p:spPr>
          <a:xfrm>
            <a:off x="886968" y="1188720"/>
            <a:ext cx="10737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05  ·  PART V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150047" y="100584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1000" dirty="0"/>
          </a:p>
        </p:txBody>
      </p:sp>
      <p:sp>
        <p:nvSpPr>
          <p:cNvPr id="8" name="Text 6"/>
          <p:cNvSpPr/>
          <p:nvPr/>
        </p:nvSpPr>
        <p:spPr>
          <a:xfrm>
            <a:off x="886968" y="1508760"/>
            <a:ext cx="79945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Legal, Technical &amp; Physical Due Diligence Annexes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86968" y="2606040"/>
            <a:ext cx="5029200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2724912"/>
            <a:ext cx="84517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지적도, 등기부 권리관계, 건축법규 적합성, 물리적 실사 및 투자심의 일정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86968" y="3337560"/>
            <a:ext cx="10737799" cy="2697480"/>
          </a:xfrm>
          <a:prstGeom prst="rect">
            <a:avLst/>
          </a:prstGeom>
          <a:solidFill>
            <a:srgbClr val="1A202C"/>
          </a:solidFill>
          <a:ln w="10160">
            <a:solidFill>
              <a:srgbClr val="4A55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6968" y="3337560"/>
            <a:ext cx="10737799" cy="347472"/>
          </a:xfrm>
          <a:prstGeom prst="rect">
            <a:avLst/>
          </a:prstGeom>
          <a:solidFill>
            <a:srgbClr val="2D3748"/>
          </a:solidFill>
          <a:ln/>
        </p:spPr>
      </p:sp>
      <p:sp>
        <p:nvSpPr>
          <p:cNvPr id="13" name="Text 11"/>
          <p:cNvSpPr/>
          <p:nvPr/>
        </p:nvSpPr>
        <p:spPr>
          <a:xfrm>
            <a:off x="1115568" y="3410712"/>
            <a:ext cx="102805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CONTENTS &amp; KEY DELIVERABLES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61288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05.01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847088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05.01  지적도 및 필지 경계·형상 분석 (Cadastral Boundaries)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161288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61288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05.02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847088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05.02  등기부 소유권 및 권리관계·제한물권 (Title &amp; Ownership)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161288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61288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847088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05.03  건축 법규, 건폐율·용적률 및 증축 타당성 (Code Compliance)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93028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78828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05.04  물리적 실사 점검표 및 리스크 매트릭스 (Physical Due Diligence)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93028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93028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05.05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78828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05.05  투자심의 의사결정 매트릭스 및 거래 일정 (Execution Roadmap)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93028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CADASTRAL MAP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지적도 및 필지 경계·형상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5120640" cy="4114800"/>
          </a:xfrm>
          <a:prstGeom prst="roundRect">
            <a:avLst>
              <a:gd name="adj" fmla="val 133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700784"/>
            <a:ext cx="1554480" cy="219456"/>
          </a:xfrm>
          <a:prstGeom prst="roundRect">
            <a:avLst>
              <a:gd name="adj" fmla="val 50000"/>
            </a:avLst>
          </a:prstGeom>
          <a:solidFill>
            <a:srgbClr val="F3EBDA"/>
          </a:solidFill>
          <a:ln w="6350">
            <a:solidFill>
              <a:srgbClr val="97702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700784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공적장부 열람 대상 ]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22960" y="1993392"/>
            <a:ext cx="4608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지적 및 토지이용계획 열람 안내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2304288"/>
            <a:ext cx="46085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자산의 지적경계 및 용도지역 지정 현황은 토지이음 및 부동산종합공부시스템 원장을 기반으로 대조·확인합니다.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822960" y="2770632"/>
            <a:ext cx="4608576" cy="0"/>
          </a:xfrm>
          <a:prstGeom prst="line">
            <a:avLst/>
          </a:prstGeom>
          <a:noFill/>
          <a:ln w="508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9536" y="2916936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987552" y="2862072"/>
            <a:ext cx="4389120" cy="5920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 상 용도지역·지구 행위제한 정합성 실사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859536" y="3545586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5" name="Text 13"/>
          <p:cNvSpPr/>
          <p:nvPr/>
        </p:nvSpPr>
        <p:spPr>
          <a:xfrm>
            <a:off x="987552" y="3490722"/>
            <a:ext cx="4389120" cy="5920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지적공부(토지대장·지적도)상 지목, 면적 및 필지 경계 실측 대조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859536" y="4174236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7" name="Text 15"/>
          <p:cNvSpPr/>
          <p:nvPr/>
        </p:nvSpPr>
        <p:spPr>
          <a:xfrm>
            <a:off x="987552" y="4119372"/>
            <a:ext cx="4389120" cy="5920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건축선 후퇴, 도로접면 조건(진입로 폭원) 및 일조사선 규제 점검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859536" y="4802886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9" name="Text 17"/>
          <p:cNvSpPr/>
          <p:nvPr/>
        </p:nvSpPr>
        <p:spPr>
          <a:xfrm>
            <a:off x="987552" y="4748022"/>
            <a:ext cx="4389120" cy="5920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지구단위계획구역 여부 및 지자체 도시계획조례 추가 완화 가능성 검토</a:t>
            </a:r>
            <a:endParaRPr lang="en-US" sz="920" dirty="0"/>
          </a:p>
        </p:txBody>
      </p:sp>
      <p:sp>
        <p:nvSpPr>
          <p:cNvPr id="20" name="Text 18"/>
          <p:cNvSpPr/>
          <p:nvPr/>
        </p:nvSpPr>
        <p:spPr>
          <a:xfrm>
            <a:off x="6053328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지번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613331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서울시 주요 권역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053328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53328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필지 형상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613331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...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053328" y="23957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053328" y="23957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접면 도로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613331" y="23957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...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053328" y="28529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53328" y="28529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 규제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7613331" y="28529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토지이용계획원 등재 기준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 &amp; OWNERSHIP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 갑구·을구 소유권 및 권리관계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517904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소유권 및 등기부등본 현황 요약</a:t>
            </a:r>
            <a:endParaRPr lang="en-US" sz="11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10512"/>
          <a:ext cx="6675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103120"/>
                <a:gridCol w="310896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권리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소유권자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단독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소유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(등기부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제한물권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잔금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상환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말소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조건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임차권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등기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해당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없음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을구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등재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내역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없음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가압류/가처분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소유권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분쟁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내역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없음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607808" y="1810512"/>
            <a:ext cx="4016959" cy="1133856"/>
          </a:xfrm>
          <a:prstGeom prst="roundRect">
            <a:avLst>
              <a:gd name="adj" fmla="val 483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90688" y="1947672"/>
            <a:ext cx="36511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제한물권 말소 확약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790688" y="2221992"/>
            <a:ext cx="3651199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잔금 시 근저당권 전액 동시 말소 조건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7607808" y="3072384"/>
            <a:ext cx="4016959" cy="1133856"/>
          </a:xfrm>
          <a:prstGeom prst="roundRect">
            <a:avLst>
              <a:gd name="adj" fmla="val 483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790688" y="3209544"/>
            <a:ext cx="36511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소유권 권리 관계 정상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790688" y="3483864"/>
            <a:ext cx="3651199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갑구 권리 제한 사항 부존재 확인 기준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COMPLIANCE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법규, 건폐율·용적률 및 증축 타당성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건축관계 법규 및 건폐율·용적률 적합성 검토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법정 건폐율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2450592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법정 용적률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852928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위반건축물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66928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3255264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정화조/소방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2487168" y="3255264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관련 법령 기준 충족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9" name="Shape 17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0" name="Text 18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930591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검토 대상 상업용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임대차 계약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인접 인프라 및 입지 환경 분석</a:t>
            </a:r>
            <a:endParaRPr lang="en-US" sz="980" dirty="0"/>
          </a:p>
        </p:txBody>
      </p:sp>
      <p:sp>
        <p:nvSpPr>
          <p:cNvPr id="22" name="Shape 20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23" name="Shape 21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4" name="Text 22"/>
          <p:cNvSpPr/>
          <p:nvPr/>
        </p:nvSpPr>
        <p:spPr>
          <a:xfrm>
            <a:off x="7930591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930591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검토 대상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계약 조건 및 운영비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매입 후 운용 계획에 따른 수익성 분석</a:t>
            </a:r>
            <a:endParaRPr lang="en-US" sz="980" dirty="0"/>
          </a:p>
        </p:txBody>
      </p:sp>
      <p:sp>
        <p:nvSpPr>
          <p:cNvPr id="26" name="Text 2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DUE DILIGENCE 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물리적 실사 점검표 및 리스크 매트릭스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97280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구조안전진단 이력 및 내진설계 반영 여부 점검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97280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옥상 방수, 외벽 석재/커튼월 코킹 노후도 및 누수 흔적 점검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97280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수전 용량(kVA) 및 전기실 고압차단기 교체 주기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86220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 주차장 배수펌프, 집수정 가동 및 결로 방지 환기 상태 점검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86220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와이어로프, 제어반 및 카 도어 세이프티 센서 점검 필증 확인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86220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소방 방화구획 완비, 감지기 및 유도등 점등 배터리 정상 상태 점검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ROADMAP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투자심의 의사결정 매트릭스 및 거래 일정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LOI 접수 및 우선협상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매수 의향서 제출 및 상호 협약 체결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86384" y="4315968"/>
            <a:ext cx="1325880" cy="25603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431596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D+0 ~ D+7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1485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228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422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6" name="Text 14"/>
          <p:cNvSpPr/>
          <p:nvPr/>
        </p:nvSpPr>
        <p:spPr>
          <a:xfrm>
            <a:off x="36422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6422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6422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정밀 실사 (DD)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법률, 회계, 물리적 정밀 실사 수행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42284" y="4315968"/>
            <a:ext cx="1325880" cy="25603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20" name="Text 18"/>
          <p:cNvSpPr/>
          <p:nvPr/>
        </p:nvSpPr>
        <p:spPr>
          <a:xfrm>
            <a:off x="3642284" y="431596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D+8 ~ D+21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0044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87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981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4" name="Text 22"/>
          <p:cNvSpPr/>
          <p:nvPr/>
        </p:nvSpPr>
        <p:spPr>
          <a:xfrm>
            <a:off x="64981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981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3단계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4981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매매계약 체결 (SPA)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본계약 체결 및 계약금 예치 (10%)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8184" y="4315968"/>
            <a:ext cx="1325880" cy="25603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28" name="Text 26"/>
          <p:cNvSpPr/>
          <p:nvPr/>
        </p:nvSpPr>
        <p:spPr>
          <a:xfrm>
            <a:off x="6498184" y="431596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D+22 ~ D+30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8860307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34627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354083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2" name="Text 30"/>
          <p:cNvSpPr/>
          <p:nvPr/>
        </p:nvSpPr>
        <p:spPr>
          <a:xfrm>
            <a:off x="9354083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9354083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4단계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354083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잔금 정산 및 소유권 이전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잔금 납부, 근저당 말소 및 등기 완료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354083" y="4315968"/>
            <a:ext cx="1325880" cy="25603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36" name="Text 34"/>
          <p:cNvSpPr/>
          <p:nvPr/>
        </p:nvSpPr>
        <p:spPr>
          <a:xfrm>
            <a:off x="9354083" y="431596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D+31 ~ D+60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66928" y="5047488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세부 거래 일정 및 조건은 매도인-매수인 상호 협의에 따라 조정될 수 있습니다.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 &amp; ADVISORY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파트너스 부동산중개법인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2026-10-04T02:37:27Z</dcterms:created>
  <dcterms:modified xsi:type="dcterms:W3CDTF">2026-10-04T02:37:27Z</dcterms:modified>
</cp:coreProperties>
</file>