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874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3874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43874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43874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52486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87168" y="521208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및 WALE 방어력이 입증된 기관급 프라임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07008" y="386791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2.1년(면적 기준 2.0년) 확보로 장기 현금흐름 안정성 견고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07008" y="4562856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2.8억 원(Cap Rate 1.56%) 달성 및 우량 임...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07008" y="525780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임대차 현황 및 공실률 기반 순영업소득(NOI) 구조가 확인됩니다.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수익형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해당 권역 소재 상업용 자산 — 임대 수익 구조와 자산 가치 상승 시나리오를 분석합니다. ### 3대 핵심 투자 포인트 (Investment Highlights) • 원금 안전판 확보: 해당 권역 소재 상업용 자산으로, 핵심 입지 및 교통 인프라 기반의 자산 가치가 형성되어 있습니다.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창출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극대화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주변 상권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주요 권역 내 주요 비즈니스 및 유동인구 풍부한 상권 입지 ### 성장 입지 평가...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53328" y="2468880"/>
            <a:ext cx="557143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주요 권역 내 위치하며 접근성과 가시성이 양호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07408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90288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90127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55568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55568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55568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81248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33008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15888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153248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07328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21647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07328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521647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07328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521647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15888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98768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47327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66928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 해소 및 인근 시세 수준 정상화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6128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47088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9302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 당산동5가 소재, 내과·약국 중심의 임대수익형 근린생활시설로 구성된 연면적 1,141.15㎡ 자산입니다. 서울특별시 해당 권역가 11-47에 위치하며, 대지면적 506.8㎡, 연면적 1,141.15㎡, 경과연수 24년의 준공업지역 내 건물입니다. 지하 1층부터 지상 5층까지 카페([임차인C]), 약국, 내과, 헬스장, 와인매장 등 생활밀착형 주요 임차인해 있으며, 특히 내과와 약국의 조합은 안정적인 방문수요를 바탕으로 한 임차수요 방어에 유리합니다. 월 임대료 합계는 1,946만 원, 임대보증금은 2억 9,000만 원으로 제시되어 있으며, 일부 [임차인C] 공간은 향후 임대 전환 또는 공간 재구성을 통한 추가 임대수익 확대 여지를 제공합니다. 다만 주요 임대차의 만기 현황 및 갱신 조건은 매수 전 확인이 필요합니다. | 항목 | 내용 |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506.8㎡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1,141.15㎡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경과연수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준공업지역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1,946만 원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임대보증금 합계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9,000만 원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370832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4370832"/>
            <a:ext cx="24003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967228" y="4370832"/>
            <a:ext cx="42748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04088" y="4873752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8737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67228" y="4873752"/>
            <a:ext cx="427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도심 비즈니스 권역 소재 우량 투자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 및 주변 상업·업무 인프라 밀집 지역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및 토지이용계획 기준 권리관계 정상 확인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7" name="Text 3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수익형 자산으로 안정적 캐시플로우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임차인 계약 유지 중으로 즉시 수익 실현 가능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및 수선유지 비용 정상 운영 상태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506.8㎡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1,141.15㎡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준공업지역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92708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65860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61388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841248" y="3781044"/>
            <a:ext cx="44348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86968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2027-12-31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(2/2)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(상층부 및 만기 스케줄)</a:t>
            </a:r>
            <a:endParaRPr lang="en-US" sz="2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면적(평)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월세(만원)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비중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비중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280.0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2027년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170.0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2028년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195.0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1,830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2029년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(WALE)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1,946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WALE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현대엘리베이터 유지보수 계약 체결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수전설비(변압기 용량 450 kVA)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0" y="39044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80960" y="41239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07408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90288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90127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55568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55568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55568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81248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33008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15888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153248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07328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21647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07328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521647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07328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521647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15888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98768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47327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66928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공실층을 인근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0" y="39044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80960" y="41239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0" y="39044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80960" y="41239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-0.57%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2.8%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11.5만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10.2만 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52044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견고한 임차 수요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9808" y="373989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IT, 바이오 및 금융 전문직 중심 신규 오피스 수요 지속 유입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100만 원 / 월세 11.2만 원 / 관리비 4.2만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85만 원 / 월세 9.8만 원 / 관리비 3.6만 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도심 비즈니스 권역 소재 우량 투자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 및 주변 상업·업무 인프라 밀집 지역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및 토지이용계획 기준 권리관계 정상 확인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수익형 자산으로 안정적 캐시플로우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임차인 계약 유지 중으로 즉시 수익 실현 가능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및 수선유지 비용 정상 운영 상태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도보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역세권 도보 3~5분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간선 지하철역 인접으로 임직원 출퇴근 편의성 극대화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간선도로망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간선대로변 5분 진입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고속화도로 신속 진입으로 물류 및 이동성 우수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업무권역 직결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CBD·GBD·YBD 20~30분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주요 핵심 업무 권역으로의 대중교통 직결 환승 체계 완비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서울 주요 핵심 업무권역(CBD·GBD·YBD) 환승망과 직결되어 우수 인재 확보 및 비즈니스 네트워크 최적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COMPARABLES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실거래 비교 사례 (Sales Comps)</a:t>
            </a:r>
            <a:endParaRPr lang="en-US" sz="2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(평)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(억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2025.11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오피스빌딩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1,420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285.0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2,007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2025.08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대로변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상업빌딩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2,086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2025.04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역세권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복합빌딩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1,680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350.0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2,083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2024.12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복합빌딩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190.0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1,938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4건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1,307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266.2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2,028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1,938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2,086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4.16%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0" y="39044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80960" y="41239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6492240" cy="914400"/>
        </p:xfrm>
        <a:graphic>
          <a:graphicData uri="http://schemas.openxmlformats.org/drawingml/2006/table">
            <a:tbl>
              <a:tblPr/>
              <a:tblGrid>
                <a:gridCol w="2164080"/>
                <a:gridCol w="2164080"/>
                <a:gridCol w="2164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소유 (법인/개인)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등기부등본 갑구 확인 완료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근저당권 채권최고액 잔액 있음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시 전액 상환 및 말소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사항 없음 (경합 임차권 부재)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열람 결과 이상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등재 이력 없음 (소유권 완전성 보장)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무효 사유 부재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15468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388352" y="1810512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993392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근저당권 잔금 시 동시 말소 확약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88352" y="3072384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2" name="Text 9"/>
          <p:cNvSpPr/>
          <p:nvPr/>
        </p:nvSpPr>
        <p:spPr>
          <a:xfrm>
            <a:off x="7571232" y="3255264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분쟁 및 처분금지 가처분 전무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 / 준공업지역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60.0% 이하 (현황 건폐율 기준 충족)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400.0% 이하 (기준 용적률 적합)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미등재 (적법 건축물)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오수정화시설 및 소방완비증명 정상 유지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도심 비즈니스 권역 소재 우량 투자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 및 주변 상업·업무 인프라 밀집 지역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및 토지이용계획 기준 권리관계 정상 확인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수익형 자산으로 안정적 캐시플로우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임차인 계약 유지 중으로 즉시 수익 실현 가능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및 수선유지 비용 정상 운영 상태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 (양호)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실사 (정상)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확인 (적정)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 (양호)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(적합)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(합격)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422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6422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81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981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54083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354083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2026-09-20T00:45:16Z</dcterms:created>
  <dcterms:modified xsi:type="dcterms:W3CDTF">2026-09-20T00:45:16Z</dcterms:modified>
</cp:coreProperties>
</file>