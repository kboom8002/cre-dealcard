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4" name="Shape 1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5" name="Shape 2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9593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9593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874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3874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43874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43874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87168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(NOI 기준)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13141" y="2404491"/>
            <a:ext cx="3247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18% 가정 · 공실충당 5%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안정적 임차인(우수 신용도) 위주의 임대차 구성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4807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578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2122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당산 권역 중심에 위치한 안정적 오피스빌딩입니다. 1. 입지 가치 및 접근성: 대중교통 및 주요 간선도로와의 우수한 연계성을 갖추고 있어 풍부한 유동인구와 배후 임대 수요를 확보하고 있습니다. 2. 안정적인 자산 가치: 115억 수준의 합리적인 매각가와 30평(약 99.2㎡) 규모의 건물 물리 스펙을 기반으로 안정적인 운영이 가능합니다. 3. 향후 가치개선(Value-add) 잠재력: 체계적인 임대 관리 및 자산 효율화를 통해 향후 중장기적인 자산 가치 상승을 기대할 수 있습니다. 가치개선(Value-add)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임차인(우수 신용도)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930591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가치개선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30591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제고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영등포구 당산동5가 11-47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613331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053328" y="29626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53328" y="30175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Text 18"/>
          <p:cNvSpPr/>
          <p:nvPr/>
        </p:nvSpPr>
        <p:spPr>
          <a:xfrm>
            <a:off x="6199632" y="30540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99632" y="32552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508760"/>
            <a:ext cx="4663440" cy="1115568"/>
          </a:xfrm>
          <a:prstGeom prst="roundRect">
            <a:avLst>
              <a:gd name="adj" fmla="val 6557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78408" y="20025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안정화 수익률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04488" y="20025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78408" y="22768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E8E0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분석가정: 공실 해소 및 인근 시세 수준 정상화 임대 가정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6968" y="2734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2734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081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0815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0815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42900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4290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4290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377647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37764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27248" y="37764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" y="412394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43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4533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453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3794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48840"/>
            <a:ext cx="505937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585923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32227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67736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29504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40176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85785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02990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20667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36580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BEE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 2.03% (운영비 차감 전), 공실·자가사용 면적 임대 가정 시 안정화 수익률 2.53%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임대수익률은 운영비 차감 전 기준, 보증금 승계 가정.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6128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47088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9302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 및 접근성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및 주요 간선도로와의 우수한 연계성을 갖추고 있어 풍부한 유동인구와 배후 임대 수요를 확보하고 있습니다. 2. 안정적인 자산 가치: 115억 수준의 합리적인 매각가와 30평(약 99.2㎡) 규모의…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7143" b="7143"/>
          <a:stretch/>
        </p:blipFill>
        <p:spPr>
          <a:xfrm>
            <a:off x="7784287" y="1645920"/>
            <a:ext cx="3840480" cy="2468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84287" y="4251960"/>
            <a:ext cx="3840480" cy="777240"/>
          </a:xfrm>
          <a:prstGeom prst="roundRect">
            <a:avLst>
              <a:gd name="adj" fmla="val 5882"/>
            </a:avLst>
          </a:prstGeom>
          <a:solidFill>
            <a:srgbClr val="F6F1E4"/>
          </a:solidFill>
          <a:ln w="9525">
            <a:solidFill>
              <a:srgbClr val="D4C89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84287" y="4325112"/>
            <a:ext cx="45720" cy="63093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67167" y="436168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85455" y="4777740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13471" y="4672584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당산 권역 중심에 위치한 안정적 근생빌딩입니다. 1. 입지 가치 및 접근성: 대중교통 및 주요 간선도로와의 우수한 연계성을 갖추고 있어 풍부한 유동인구와 배후 임대 수요를 확보하고 있습니다. 2. 안정적인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76549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04088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476549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용도지역: 준공업지역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대지면적: 506.8㎡ (153.3평)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2708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5860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61388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92708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65860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1388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92708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65860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61388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92708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5860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61388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92708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5860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1388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92708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65860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61388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92708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65860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61388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841248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86968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12648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92708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65860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61388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2026-04-17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2025-04-30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내외부 현장 사진 갤러리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5464912" cy="4709160"/>
          </a:xfrm>
          <a:prstGeom prst="roundRect">
            <a:avLst>
              <a:gd name="adj" fmla="val 116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9678"/>
            <a:ext cx="5464912" cy="40986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159856" y="1234440"/>
            <a:ext cx="5464912" cy="4709160"/>
          </a:xfrm>
          <a:prstGeom prst="roundRect">
            <a:avLst>
              <a:gd name="adj" fmla="val 116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856" y="1539678"/>
            <a:ext cx="5464912" cy="40986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159856" y="5650992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6269584" y="5650992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도로 및 접근로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508760"/>
            <a:ext cx="4663440" cy="841248"/>
          </a:xfrm>
          <a:prstGeom prst="roundRect">
            <a:avLst>
              <a:gd name="adj" fmla="val 8696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78408" y="20025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공실충당 제외 기준 (참고)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04488" y="20025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6968" y="245973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27248" y="245973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" y="280720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27248" y="280720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" y="315468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3154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27248" y="315468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" y="350215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350215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27248" y="350215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5528" y="384962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43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154533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15453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309360" y="183794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148840"/>
            <a:ext cx="505937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309360" y="2585923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45936" y="2732227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267736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345936" y="329504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3" name="Text 31"/>
          <p:cNvSpPr/>
          <p:nvPr/>
        </p:nvSpPr>
        <p:spPr>
          <a:xfrm>
            <a:off x="6473952" y="3240176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345936" y="385785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473952" y="3802990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345936" y="4420667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7" name="Text 35"/>
          <p:cNvSpPr/>
          <p:nvPr/>
        </p:nvSpPr>
        <p:spPr>
          <a:xfrm>
            <a:off x="6473952" y="436580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BEE3F8"/>
          </a:solidFill>
          <a:ln/>
        </p:spPr>
      </p:sp>
      <p:sp>
        <p:nvSpPr>
          <p:cNvPr id="39" name="Shape 37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0" name="Text 38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 2.03% (운영비 차감 전)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임대수익률은 운영비 차감 전 기준, 보증금 승계 가정.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조건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3232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견고한 수준 유지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권역 위치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도심 및 광역 간선도로망 연계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우수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공공 교통망 데이터 및 지적도 기준 분석 결과입니다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 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 및 필지 경계·형상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120640" cy="4114800"/>
          </a:xfrm>
          <a:prstGeom prst="roundRect">
            <a:avLst>
              <a:gd name="adj" fmla="val 133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0784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공적장부 열람 대상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993392"/>
            <a:ext cx="4608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 및 토지이용계획 열람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608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지적경계 및 용도지역 지정 현황은 토지이음 및 부동산종합공부시스템 원장을 기반으로 대조·확인합니다.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4608576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9169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8620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 상 용도지역·지구 행위제한 정합성 실사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455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4907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지적공부(토지대장·지적도)상 지목, 면적 및 필지 경계 실측 대조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1742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1193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건축선 후퇴, 도로접면 조건(진입로 폭원) 및 일조사선 규제 점검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48028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7480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지구단위계획구역 여부 및 지자체 도시계획조례 추가 완화 가능성 검토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지번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서울시 주요 권역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053328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53328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접면 도로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613331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53328" y="28529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53328" y="28529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 규제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613331" y="28529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토지이용계획원 등재 기준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6675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03120"/>
                <a:gridCol w="3108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권리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(등기부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말소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을구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분쟁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07808" y="1810512"/>
            <a:ext cx="4016959" cy="1133856"/>
          </a:xfrm>
          <a:prstGeom prst="roundRect">
            <a:avLst>
              <a:gd name="adj" fmla="val 483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90688" y="1947672"/>
            <a:ext cx="3651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말소 확약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90688" y="2221992"/>
            <a:ext cx="3651199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근저당권 전액 동시 말소 조건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607808" y="3072384"/>
            <a:ext cx="4016959" cy="1133856"/>
          </a:xfrm>
          <a:prstGeom prst="roundRect">
            <a:avLst>
              <a:gd name="adj" fmla="val 483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0688" y="3209544"/>
            <a:ext cx="3651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권리 관계 정상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90688" y="3483864"/>
            <a:ext cx="3651199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부존재 확인 기준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505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85292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법령 기준 충족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점검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확인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점검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422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6422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81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981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54083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354083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2026-10-05T15:08:45Z</dcterms:created>
  <dcterms:modified xsi:type="dcterms:W3CDTF">2026-10-05T15:08:45Z</dcterms:modified>
</cp:coreProperties>
</file>