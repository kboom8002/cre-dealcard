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0D2233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1A3A4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886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A3347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B4A5E"/>
          </a:solidFill>
          <a:ln/>
        </p:spPr>
      </p:sp>
      <p:sp>
        <p:nvSpPr>
          <p:cNvPr id="9" name="Text 7"/>
          <p:cNvSpPr/>
          <p:nvPr/>
        </p:nvSpPr>
        <p:spPr>
          <a:xfrm>
            <a:off x="502920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02920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표지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02920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 투자설명서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502920" y="3090672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02920" y="34747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" y="3895344"/>
            <a:ext cx="1243584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5" name="Text 13"/>
          <p:cNvSpPr/>
          <p:nvPr/>
        </p:nvSpPr>
        <p:spPr>
          <a:xfrm>
            <a:off x="502920" y="3895344"/>
            <a:ext cx="12435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근린생활시설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37944" y="3895344"/>
            <a:ext cx="1005840" cy="292608"/>
          </a:xfrm>
          <a:prstGeom prst="roundRect">
            <a:avLst>
              <a:gd name="adj" fmla="val 50000"/>
            </a:avLst>
          </a:prstGeom>
          <a:solidFill>
            <a:srgbClr val="132A3A"/>
          </a:solidFill>
          <a:ln/>
        </p:spPr>
      </p:sp>
      <p:sp>
        <p:nvSpPr>
          <p:cNvPr id="17" name="Text 15"/>
          <p:cNvSpPr/>
          <p:nvPr/>
        </p:nvSpPr>
        <p:spPr>
          <a:xfrm>
            <a:off x="1837944" y="3895344"/>
            <a:ext cx="1005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6858000" cy="1051560"/>
          </a:xfrm>
          <a:prstGeom prst="roundRect">
            <a:avLst>
              <a:gd name="adj" fmla="val 3478"/>
            </a:avLst>
          </a:prstGeom>
          <a:solidFill>
            <a:srgbClr val="8B6508"/>
          </a:solidFill>
          <a:ln w="12700">
            <a:solidFill>
              <a:srgbClr val="B886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58952" y="4443984"/>
            <a:ext cx="6345936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매각 희망가 760억 원</a:t>
            </a:r>
            <a:endParaRPr lang="en-US" sz="2100" dirty="0"/>
          </a:p>
        </p:txBody>
      </p:sp>
      <p:sp>
        <p:nvSpPr>
          <p:cNvPr id="20" name="Text 18"/>
          <p:cNvSpPr/>
          <p:nvPr/>
        </p:nvSpPr>
        <p:spPr>
          <a:xfrm>
            <a:off x="502920" y="1700784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02920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2026.09.22  |  담당자  |  CREDEAL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요약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6751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원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243730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08322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4408322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321.2평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7984541" y="1371600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149133" y="1499616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149133" y="1719072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1,010.9평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0292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51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건축규모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2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B2/F6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4243730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08322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공실 현황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408322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만실 운영 (공실 0%)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984541" y="2496312"/>
            <a:ext cx="3576218" cy="960120"/>
          </a:xfrm>
          <a:prstGeom prst="roundRect">
            <a:avLst>
              <a:gd name="adj" fmla="val 5714"/>
            </a:avLst>
          </a:prstGeom>
          <a:solidFill>
            <a:srgbClr val="F3F6F7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149133" y="2624328"/>
            <a:ext cx="324703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실투자금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8149133" y="2843784"/>
            <a:ext cx="324703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760억 원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502920" y="3712464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B650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02920" y="4041648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12648" y="4151376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2648" y="4151376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1143000" y="4078224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가치: 압구정역 도보 7분 역세권, 해당 권역 업무·상업 중심지 배후 수요 확보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502920" y="472287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12648" y="483260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2648" y="483260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1143000" y="4759452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자산 규모: 대지 321평·연면적 1011평·평당 약 7,518만 원 규모 단독 빌딩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502920" y="540410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12648" y="551383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6F1E4"/>
          </a:solidFill>
          <a:ln w="6350">
            <a:solidFill>
              <a:srgbClr val="C9A24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12648" y="551383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B650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1143000" y="5440680"/>
            <a:ext cx="1028059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 안정성: 안정적 임대수익 기반 투자 매물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물건 개요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02920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기본 정보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4592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423160" y="164592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197510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" y="197510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23160" y="197510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1061.9㎡ (321.2평)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30428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30428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연면적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423160" y="230428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3341.8㎡ (1010.9평)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63347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2920" y="2633472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2423160" y="2633472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2962656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2920" y="2962656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준공연도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2423160" y="2962656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1998년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291840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02920" y="3291840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층수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423160" y="3291840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 2층 ~ 지상 6층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3621024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621024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2423160" y="3621024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자주식 26대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3950208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3950208"/>
            <a:ext cx="1920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엘리베이터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2423160" y="3950208"/>
            <a:ext cx="4937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1대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02920" y="4389120"/>
            <a:ext cx="6858000" cy="1005840"/>
          </a:xfrm>
          <a:prstGeom prst="rect">
            <a:avLst/>
          </a:prstGeom>
          <a:solidFill>
            <a:srgbClr val="F6F1E4"/>
          </a:solidFill>
          <a:ln w="15240">
            <a:solidFill>
              <a:srgbClr val="B8860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85800" y="4389120"/>
            <a:ext cx="2726741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 희망가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412541" y="4389120"/>
            <a:ext cx="376549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760억 원 (VAT 별도)</a:t>
            </a:r>
            <a:endParaRPr lang="en-US" sz="1600" dirty="0"/>
          </a:p>
        </p:txBody>
      </p:sp>
      <p:sp>
        <p:nvSpPr>
          <p:cNvPr id="33" name="Shape 31"/>
          <p:cNvSpPr/>
          <p:nvPr/>
        </p:nvSpPr>
        <p:spPr>
          <a:xfrm>
            <a:off x="640080" y="4892040"/>
            <a:ext cx="6583680" cy="0"/>
          </a:xfrm>
          <a:prstGeom prst="line">
            <a:avLst/>
          </a:prstGeom>
          <a:noFill/>
          <a:ln w="6350">
            <a:solidFill>
              <a:srgbClr val="D4C89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85800" y="4892040"/>
            <a:ext cx="272674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3412541" y="4892040"/>
            <a:ext cx="376549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23,659만 원/평</a:t>
            </a:r>
            <a:endParaRPr lang="en-US" sz="1300" dirty="0"/>
          </a:p>
        </p:txBody>
      </p:sp>
      <p:sp>
        <p:nvSpPr>
          <p:cNvPr id="36" name="Shape 34"/>
          <p:cNvSpPr/>
          <p:nvPr/>
        </p:nvSpPr>
        <p:spPr>
          <a:xfrm>
            <a:off x="7540600" y="1371600"/>
            <a:ext cx="0" cy="4754880"/>
          </a:xfrm>
          <a:prstGeom prst="line">
            <a:avLst/>
          </a:prstGeom>
          <a:noFill/>
          <a:ln w="8890">
            <a:solidFill>
              <a:srgbClr val="B8860B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20279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E8F4F8"/>
          </a:solidFill>
          <a:ln/>
        </p:spPr>
      </p:sp>
      <p:sp>
        <p:nvSpPr>
          <p:cNvPr id="38" name="Shape 36"/>
          <p:cNvSpPr/>
          <p:nvPr/>
        </p:nvSpPr>
        <p:spPr>
          <a:xfrm>
            <a:off x="7720279" y="1700784"/>
            <a:ext cx="36576" cy="199339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39" name="Text 37"/>
          <p:cNvSpPr/>
          <p:nvPr/>
        </p:nvSpPr>
        <p:spPr>
          <a:xfrm>
            <a:off x="7866583" y="173736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및 자산 개요</a:t>
            </a:r>
            <a:endParaRPr lang="en-US" sz="1050" dirty="0"/>
          </a:p>
        </p:txBody>
      </p:sp>
      <p:sp>
        <p:nvSpPr>
          <p:cNvPr id="40" name="Text 38"/>
          <p:cNvSpPr/>
          <p:nvPr/>
        </p:nvSpPr>
        <p:spPr>
          <a:xfrm>
            <a:off x="7866583" y="1938528"/>
            <a:ext cx="358444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상업용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권리관계 및 임대차 계약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상세 인접 인프라 및 입지 환경 분석</a:t>
            </a:r>
            <a:endParaRPr lang="en-US" sz="980" dirty="0"/>
          </a:p>
        </p:txBody>
      </p:sp>
      <p:sp>
        <p:nvSpPr>
          <p:cNvPr id="41" name="Shape 39"/>
          <p:cNvSpPr/>
          <p:nvPr/>
        </p:nvSpPr>
        <p:spPr>
          <a:xfrm>
            <a:off x="7720279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E8F4F8"/>
          </a:solidFill>
          <a:ln/>
        </p:spPr>
      </p:sp>
      <p:sp>
        <p:nvSpPr>
          <p:cNvPr id="42" name="Shape 40"/>
          <p:cNvSpPr/>
          <p:nvPr/>
        </p:nvSpPr>
        <p:spPr>
          <a:xfrm>
            <a:off x="7720279" y="4032504"/>
            <a:ext cx="36576" cy="2039112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43" name="Text 41"/>
          <p:cNvSpPr/>
          <p:nvPr/>
        </p:nvSpPr>
        <p:spPr>
          <a:xfrm>
            <a:off x="7866583" y="4069080"/>
            <a:ext cx="35844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수익 및 운영 현황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7866583" y="4270248"/>
            <a:ext cx="358444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투자 검토 대상 자산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임대차 계약 조건 및 운영비 구조 분석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매입 후 운용 계획에 따른 수익성 분석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입지 정보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정보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소재지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서울특별시 강남구 신사동 590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대중교통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압구정역 3호선 도보 7분 (약 525m)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상권권역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주요 상업·업무 권역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토미아파트 도보 1분 (약 39m)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주요시설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압구정아인빌아파트 도보 1분 (약 66m)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648456"/>
            <a:ext cx="5571439" cy="877824"/>
          </a:xfrm>
          <a:prstGeom prst="roundRect">
            <a:avLst>
              <a:gd name="adj" fmla="val 6250"/>
            </a:avLst>
          </a:prstGeom>
          <a:solidFill>
            <a:srgbClr val="E8F4F8"/>
          </a:solidFill>
          <a:ln/>
        </p:spPr>
      </p:sp>
      <p:sp>
        <p:nvSpPr>
          <p:cNvPr id="23" name="Shape 20"/>
          <p:cNvSpPr/>
          <p:nvPr/>
        </p:nvSpPr>
        <p:spPr>
          <a:xfrm>
            <a:off x="5989320" y="3703320"/>
            <a:ext cx="36576" cy="768096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4" name="Text 21"/>
          <p:cNvSpPr/>
          <p:nvPr/>
        </p:nvSpPr>
        <p:spPr>
          <a:xfrm>
            <a:off x="6135624" y="3739896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종합 분석</a:t>
            </a:r>
            <a:endParaRPr lang="en-US" sz="1050" dirty="0"/>
          </a:p>
        </p:txBody>
      </p:sp>
      <p:sp>
        <p:nvSpPr>
          <p:cNvPr id="25" name="Text 22"/>
          <p:cNvSpPr/>
          <p:nvPr/>
        </p:nvSpPr>
        <p:spPr>
          <a:xfrm>
            <a:off x="6135624" y="3941064"/>
            <a:ext cx="531540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압구정역 3호선 도보 역세권으로 양호한 대중교통 접근성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GBD 배후 상권 기반 안정적 임대 수요</a:t>
            </a:r>
            <a:endParaRPr lang="en-US" sz="980" dirty="0"/>
          </a:p>
        </p:txBody>
      </p:sp>
      <p:sp>
        <p:nvSpPr>
          <p:cNvPr id="26" name="Text 23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7" name="Text 24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 &amp; Cadastral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정보</a:t>
            </a:r>
            <a:endParaRPr lang="en-US" sz="2300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481328"/>
            <a:ext cx="5120640" cy="411480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989320" y="1481328"/>
            <a:ext cx="55714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토지이용계획 · 규제 분석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989320" y="180136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대지면적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7549323" y="180136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1,061.9㎡ (321.2평)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5989320" y="2148840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989320" y="2148840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용도지역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7549323" y="2148840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5989320" y="2496312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989320" y="2496312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건폐율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7549323" y="2496312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50% 이하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989320" y="2843784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989320" y="2843784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용적률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549323" y="2843784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250% 이하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5989320" y="3191256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989320" y="3191256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지목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7549323" y="3191256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5989320" y="3538728"/>
            <a:ext cx="5571439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989320" y="3538728"/>
            <a:ext cx="1560003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토지평당가</a:t>
            </a:r>
            <a:endParaRPr lang="en-US" sz="1150" dirty="0"/>
          </a:p>
        </p:txBody>
      </p:sp>
      <p:sp>
        <p:nvSpPr>
          <p:cNvPr id="24" name="Text 21"/>
          <p:cNvSpPr/>
          <p:nvPr/>
        </p:nvSpPr>
        <p:spPr>
          <a:xfrm>
            <a:off x="7549323" y="3538728"/>
            <a:ext cx="40114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 23,659만 원/평</a:t>
            </a:r>
            <a:endParaRPr lang="en-US" sz="1150" dirty="0"/>
          </a:p>
        </p:txBody>
      </p:sp>
      <p:sp>
        <p:nvSpPr>
          <p:cNvPr id="25" name="Shape 22"/>
          <p:cNvSpPr/>
          <p:nvPr/>
        </p:nvSpPr>
        <p:spPr>
          <a:xfrm>
            <a:off x="5989320" y="3995928"/>
            <a:ext cx="5571439" cy="1316736"/>
          </a:xfrm>
          <a:prstGeom prst="roundRect">
            <a:avLst>
              <a:gd name="adj" fmla="val 4167"/>
            </a:avLst>
          </a:prstGeom>
          <a:solidFill>
            <a:srgbClr val="E8F4F8"/>
          </a:solidFill>
          <a:ln/>
        </p:spPr>
      </p:sp>
      <p:sp>
        <p:nvSpPr>
          <p:cNvPr id="26" name="Shape 23"/>
          <p:cNvSpPr/>
          <p:nvPr/>
        </p:nvSpPr>
        <p:spPr>
          <a:xfrm>
            <a:off x="5989320" y="4050792"/>
            <a:ext cx="36576" cy="1207008"/>
          </a:xfrm>
          <a:prstGeom prst="rect">
            <a:avLst/>
          </a:prstGeom>
          <a:solidFill>
            <a:srgbClr val="2E6E82"/>
          </a:solidFill>
          <a:ln/>
        </p:spPr>
      </p:sp>
      <p:sp>
        <p:nvSpPr>
          <p:cNvPr id="27" name="Text 24"/>
          <p:cNvSpPr/>
          <p:nvPr/>
        </p:nvSpPr>
        <p:spPr>
          <a:xfrm>
            <a:off x="6135624" y="4087368"/>
            <a:ext cx="531540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6E8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토지 규제 및 공법 분석</a:t>
            </a:r>
            <a:endParaRPr lang="en-US" sz="1050" dirty="0"/>
          </a:p>
        </p:txBody>
      </p:sp>
      <p:sp>
        <p:nvSpPr>
          <p:cNvPr id="28" name="Text 25"/>
          <p:cNvSpPr/>
          <p:nvPr/>
        </p:nvSpPr>
        <p:spPr>
          <a:xfrm>
            <a:off x="6135624" y="4288536"/>
            <a:ext cx="5315407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08000"/>
              </a:lnSpc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제3종일반주거지역 기준 법정 건폐율 50% 이하, 법정 용적률 250% 이하 적용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 특성에 부합하는 최적 토지이용 및 건축 규제 기준 충족</a:t>
            </a:r>
            <a:endParaRPr lang="en-US" sz="980" dirty="0"/>
          </a:p>
          <a:p>
            <a:pPr marL="342900" indent="-342900">
              <a:lnSpc>
                <a:spcPct val="108000"/>
              </a:lnSpc>
              <a:spcBef>
                <a:spcPts val="300"/>
              </a:spcBef>
              <a:buSzPct val="100000"/>
              <a:buChar char="•"/>
            </a:pPr>
            <a:r>
              <a:rPr lang="en-US" sz="980" dirty="0">
                <a:solidFill>
                  <a:srgbClr val="2B2B2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전면 도로 접면 조건 양호, 접근성 우수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5989320" y="5715000"/>
            <a:ext cx="557143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© V-World 국토교통부 | 2026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31" name="Text 2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수익률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수익률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371600"/>
            <a:ext cx="11057839" cy="1188720"/>
          </a:xfrm>
          <a:prstGeom prst="roundRect">
            <a:avLst>
              <a:gd name="adj" fmla="val 6154"/>
            </a:avLst>
          </a:prstGeom>
          <a:solidFill>
            <a:srgbClr val="F7FAFC"/>
          </a:solidFill>
          <a:ln w="9525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508760"/>
            <a:ext cx="3200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표면 임대수익률  =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343400" y="15087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 합계 (관리비 제외)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26280" y="1920240"/>
            <a:ext cx="4206240" cy="0"/>
          </a:xfrm>
          <a:prstGeom prst="line">
            <a:avLst/>
          </a:prstGeom>
          <a:noFill/>
          <a:ln w="25400">
            <a:solidFill>
              <a:srgbClr val="B886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9659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  −  승계 보증금 합계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726119" y="1508760"/>
            <a:ext cx="2697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0만원</a:t>
            </a:r>
            <a:pPr algn="r"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÷ (760.0억원 − 0만원)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02920" y="2834640"/>
            <a:ext cx="11057839" cy="3063240"/>
          </a:xfrm>
          <a:prstGeom prst="roundRect">
            <a:avLst>
              <a:gd name="adj" fmla="val 2388"/>
            </a:avLst>
          </a:prstGeom>
          <a:solidFill>
            <a:srgbClr val="FFFFFF"/>
          </a:solidFill>
          <a:ln w="12700">
            <a:solidFill>
              <a:srgbClr val="CBD5E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85800" y="3017520"/>
            <a:ext cx="1280160" cy="329184"/>
          </a:xfrm>
          <a:prstGeom prst="roundRect">
            <a:avLst>
              <a:gd name="adj" fmla="val 11111"/>
            </a:avLst>
          </a:prstGeom>
          <a:solidFill>
            <a:srgbClr val="F3F6F7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3017520"/>
            <a:ext cx="1280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32A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As-Is (현재)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777240" y="3520440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연간 임대료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9457639" y="3520440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77240" y="3922776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승계 보증금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457639" y="3922776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0만원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77240" y="4325112"/>
            <a:ext cx="27432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매매가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457639" y="4325112"/>
            <a:ext cx="182880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132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760.0억원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85800" y="4837176"/>
            <a:ext cx="10692079" cy="594360"/>
          </a:xfrm>
          <a:prstGeom prst="roundRect">
            <a:avLst>
              <a:gd name="adj" fmla="val 9231"/>
            </a:avLst>
          </a:prstGeom>
          <a:solidFill>
            <a:srgbClr val="132A3A"/>
          </a:solidFill>
          <a:ln/>
        </p:spPr>
      </p:sp>
      <p:sp>
        <p:nvSpPr>
          <p:cNvPr id="22" name="Text 20"/>
          <p:cNvSpPr/>
          <p:nvPr/>
        </p:nvSpPr>
        <p:spPr>
          <a:xfrm>
            <a:off x="868680" y="4837176"/>
            <a:ext cx="2286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Cap Rate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183319" y="4837176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0.00%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A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384048" cy="384048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069848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문의/유의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069848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문의 및 유의사항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02920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7" name="Shape 5"/>
          <p:cNvSpPr/>
          <p:nvPr/>
        </p:nvSpPr>
        <p:spPr>
          <a:xfrm>
            <a:off x="612648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8" name="Text 6"/>
          <p:cNvSpPr/>
          <p:nvPr/>
        </p:nvSpPr>
        <p:spPr>
          <a:xfrm>
            <a:off x="612648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161288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61288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091330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237634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3" name="Shape 11"/>
          <p:cNvSpPr/>
          <p:nvPr/>
        </p:nvSpPr>
        <p:spPr>
          <a:xfrm>
            <a:off x="4347362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14" name="Text 12"/>
          <p:cNvSpPr/>
          <p:nvPr/>
        </p:nvSpPr>
        <p:spPr>
          <a:xfrm>
            <a:off x="4347362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896002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96002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26045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8860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7972349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132A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082077" y="1572768"/>
            <a:ext cx="438912" cy="438912"/>
          </a:xfrm>
          <a:prstGeom prst="ellipse">
            <a:avLst/>
          </a:prstGeom>
          <a:solidFill>
            <a:srgbClr val="B8860B"/>
          </a:solidFill>
          <a:ln/>
        </p:spPr>
      </p:sp>
      <p:sp>
        <p:nvSpPr>
          <p:cNvPr id="20" name="Text 18"/>
          <p:cNvSpPr/>
          <p:nvPr/>
        </p:nvSpPr>
        <p:spPr>
          <a:xfrm>
            <a:off x="8082077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30717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30717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02920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5" name="Text 23"/>
          <p:cNvSpPr/>
          <p:nvPr/>
        </p:nvSpPr>
        <p:spPr>
          <a:xfrm>
            <a:off x="502920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29384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02920" y="312724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28" name="Text 26"/>
          <p:cNvSpPr/>
          <p:nvPr/>
        </p:nvSpPr>
        <p:spPr>
          <a:xfrm>
            <a:off x="502920" y="312724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29384" y="310896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02920" y="352958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1" name="Text 29"/>
          <p:cNvSpPr/>
          <p:nvPr/>
        </p:nvSpPr>
        <p:spPr>
          <a:xfrm>
            <a:off x="502920" y="352958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29384" y="3511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02920" y="393192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39319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29384" y="391363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02920" y="433425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132A3A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433425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29384" y="431596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 중개사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32A3A"/>
          </a:solidFill>
          <a:ln w="9525">
            <a:solidFill>
              <a:srgbClr val="B886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675120" y="2798064"/>
            <a:ext cx="4764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📞  담당자  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675120" y="3072384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☎ 010-0000-0000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6675120" y="3310128"/>
            <a:ext cx="476402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🏢 CREDEAL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492240" y="3895344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6492240" y="4206240"/>
            <a:ext cx="5129784" cy="1005840"/>
          </a:xfrm>
          <a:prstGeom prst="roundRect">
            <a:avLst>
              <a:gd name="adj" fmla="val 3636"/>
            </a:avLst>
          </a:prstGeom>
          <a:solidFill>
            <a:srgbClr val="1A3347"/>
          </a:solidFill>
          <a:ln/>
        </p:spPr>
      </p:sp>
      <p:sp>
        <p:nvSpPr>
          <p:cNvPr id="46" name="Text 44"/>
          <p:cNvSpPr/>
          <p:nvPr/>
        </p:nvSpPr>
        <p:spPr>
          <a:xfrm>
            <a:off x="6675120" y="4315968"/>
            <a:ext cx="476402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8A9A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502920" y="5760720"/>
            <a:ext cx="11057839" cy="457200"/>
          </a:xfrm>
          <a:prstGeom prst="rect">
            <a:avLst/>
          </a:prstGeom>
          <a:solidFill>
            <a:srgbClr val="8B6508"/>
          </a:solidFill>
          <a:ln/>
        </p:spPr>
      </p:sp>
      <p:sp>
        <p:nvSpPr>
          <p:cNvPr id="48" name="Text 46"/>
          <p:cNvSpPr/>
          <p:nvPr/>
        </p:nvSpPr>
        <p:spPr>
          <a:xfrm>
            <a:off x="685800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6F1E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CREDEAL · 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502920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B6B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CRE DEAL</a:t>
            </a:r>
            <a:endParaRPr lang="en-US" sz="800" dirty="0"/>
          </a:p>
        </p:txBody>
      </p:sp>
      <p:sp>
        <p:nvSpPr>
          <p:cNvPr id="50" name="Text 48"/>
          <p:cNvSpPr/>
          <p:nvPr/>
        </p:nvSpPr>
        <p:spPr>
          <a:xfrm>
            <a:off x="10774375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886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2026-09-22T04:17:43Z</dcterms:created>
  <dcterms:modified xsi:type="dcterms:W3CDTF">2026-09-22T04:17:43Z</dcterms:modified>
</cp:coreProperties>
</file>