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0D2233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1A3A4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32A3A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A3347"/>
          </a:solidFill>
          <a:ln/>
        </p:spPr>
      </p:sp>
      <p:sp>
        <p:nvSpPr>
          <p:cNvPr id="8" name="Shape 6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B4A5E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 투자설명서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66928" y="34107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6928" y="37947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215384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215384"/>
            <a:ext cx="1243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근린생활시설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01952" y="421538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132A3A"/>
          </a:solidFill>
          <a:ln/>
        </p:spPr>
      </p:sp>
      <p:sp>
        <p:nvSpPr>
          <p:cNvPr id="17" name="Text 15"/>
          <p:cNvSpPr/>
          <p:nvPr/>
        </p:nvSpPr>
        <p:spPr>
          <a:xfrm>
            <a:off x="1901952" y="421538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" y="4654296"/>
            <a:ext cx="6858000" cy="1051560"/>
          </a:xfrm>
          <a:prstGeom prst="roundRect">
            <a:avLst>
              <a:gd name="adj" fmla="val 3478"/>
            </a:avLst>
          </a:prstGeom>
          <a:solidFill>
            <a:srgbClr val="8B6508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764024"/>
            <a:ext cx="634593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매각 희망가 760억 원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66928" y="170078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5943600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2026.10.05  |  담당자  |  CREDEAL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제3종일반주거지역에 위치한 1998년 준공, 지하 2층·지상 6층 규모의 임대수익형 근린생활시설입니다.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480947"/>
            <a:ext cx="11057839" cy="0"/>
          </a:xfrm>
          <a:prstGeom prst="line">
            <a:avLst/>
          </a:prstGeom>
          <a:noFill/>
          <a:ln w="19050">
            <a:solidFill>
              <a:srgbClr val="B886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원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307738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2330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72330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321.2평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048549" y="1618107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3141" y="1746123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13141" y="1965579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1,010.9평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6692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건축규모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B2/F6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307738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2330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공실 현황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72330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만실 운영 (공실 0%)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048549" y="2742819"/>
            <a:ext cx="3576218" cy="960120"/>
          </a:xfrm>
          <a:prstGeom prst="roundRect">
            <a:avLst>
              <a:gd name="adj" fmla="val 571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13141" y="2870835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실투자금 (취득비용 포함)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13141" y="3090291"/>
            <a:ext cx="324703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760억 원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66928" y="3958971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4288155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4361371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4361371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4324731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역세권 입지 — 압구정역(3호선) 도보 7분(약 525m) 거리에 위치합니다.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66928" y="4882642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76656" y="495585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" y="495585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07008" y="4919218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— 제3종일반주거지역 대지 1,061.9㎡ 규모입니다.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5477129"/>
            <a:ext cx="11057839" cy="512191"/>
          </a:xfrm>
          <a:prstGeom prst="roundRect">
            <a:avLst>
              <a:gd name="adj" fmla="val 8926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" y="5550345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6F1E4"/>
          </a:solidFill>
          <a:ln w="6350">
            <a:solidFill>
              <a:srgbClr val="C9A2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" y="5550345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65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207008" y="5513705"/>
            <a:ext cx="10280599" cy="439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가치: 압구정역 도보 7분 역세권, 해당 권역 업무·상업 중심지 배후 수요 확보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 개요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기본 정보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87168" y="164592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197510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19751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87168" y="197510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1061.9㎡ (321.2평)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30428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042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연면적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87168" y="230428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3341.8㎡ (1010.9평)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2633472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63347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87168" y="26334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962656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9626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준공연도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87168" y="29626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1998년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291840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2918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층수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487168" y="32918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지하 2층 ~ 지상 6층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3621024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210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87168" y="362102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자주식 26대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66928" y="3950208"/>
            <a:ext cx="6858000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9502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487168" y="395020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B8860B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0000" b="10000"/>
          <a:stretch/>
        </p:blipFill>
        <p:spPr>
          <a:xfrm>
            <a:off x="7784287" y="1645920"/>
            <a:ext cx="3840480" cy="2304288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7784287" y="4087368"/>
            <a:ext cx="3840480" cy="1307592"/>
          </a:xfrm>
          <a:prstGeom prst="roundRect">
            <a:avLst>
              <a:gd name="adj" fmla="val 3497"/>
            </a:avLst>
          </a:prstGeom>
          <a:solidFill>
            <a:srgbClr val="F6F1E4"/>
          </a:solidFill>
          <a:ln w="9525">
            <a:solidFill>
              <a:srgbClr val="D4C89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784287" y="4160520"/>
            <a:ext cx="45720" cy="116128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967167" y="419709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하이라이트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985455" y="4613148"/>
            <a:ext cx="54864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13471" y="4507992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압구정역(3호선) 도보 7분 역세권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7985455" y="4878324"/>
            <a:ext cx="54864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13471" y="4773168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 1,061.9㎡ · 제3종일반주거지역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7985455" y="5143500"/>
            <a:ext cx="54864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113471" y="5038344"/>
            <a:ext cx="33832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1998년 준공 · 지하 2층·지상 6층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66928" y="4389120"/>
            <a:ext cx="6858000" cy="1005840"/>
          </a:xfrm>
          <a:prstGeom prst="rect">
            <a:avLst/>
          </a:prstGeom>
          <a:solidFill>
            <a:srgbClr val="F6F1E4"/>
          </a:solidFill>
          <a:ln w="15240">
            <a:solidFill>
              <a:srgbClr val="B8860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9808" y="4389120"/>
            <a:ext cx="272674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 희망가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3476549" y="4389120"/>
            <a:ext cx="376549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760억 원 (VAT 별도)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04088" y="4892040"/>
            <a:ext cx="6583680" cy="0"/>
          </a:xfrm>
          <a:prstGeom prst="line">
            <a:avLst/>
          </a:prstGeom>
          <a:noFill/>
          <a:ln w="6350">
            <a:solidFill>
              <a:srgbClr val="D4C89A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9808" y="4892040"/>
            <a:ext cx="27267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3476549" y="4892040"/>
            <a:ext cx="37654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23,659만 원/평</a:t>
            </a:r>
            <a:endParaRPr lang="en-US" sz="1300" dirty="0"/>
          </a:p>
        </p:txBody>
      </p:sp>
      <p:sp>
        <p:nvSpPr>
          <p:cNvPr id="46" name="Text 4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89504" y="2953512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132A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0800000">
            <a:off x="3072384" y="3163824"/>
            <a:ext cx="109728" cy="64008"/>
          </a:xfrm>
          <a:prstGeom prst="triangle">
            <a:avLst/>
          </a:prstGeom>
          <a:solidFill>
            <a:srgbClr val="132A3A"/>
          </a:solidFill>
          <a:ln w="12700">
            <a:solidFill>
              <a:srgbClr val="132A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9504" y="295351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본건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66928" y="5673852"/>
            <a:ext cx="155448" cy="155448"/>
          </a:xfrm>
          <a:prstGeom prst="ellipse">
            <a:avLst/>
          </a:prstGeom>
          <a:solidFill>
            <a:srgbClr val="1D4ED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" y="567385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68096" y="565099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압구정역(3호선) 북 0.5km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127248" y="5673852"/>
            <a:ext cx="155448" cy="155448"/>
          </a:xfrm>
          <a:prstGeom prst="ellipse">
            <a:avLst/>
          </a:prstGeom>
          <a:solidFill>
            <a:srgbClr val="132A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27248" y="5673852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328416" y="5650992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에듀카프 도보 2분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" y="5875020"/>
            <a:ext cx="155448" cy="155448"/>
          </a:xfrm>
          <a:prstGeom prst="ellipse">
            <a:avLst/>
          </a:prstGeom>
          <a:solidFill>
            <a:srgbClr val="132A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58750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768096" y="585216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강남을지대학교병원 도보 4분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127248" y="5875020"/>
            <a:ext cx="155448" cy="155448"/>
          </a:xfrm>
          <a:prstGeom prst="ellipse">
            <a:avLst/>
          </a:prstGeom>
          <a:solidFill>
            <a:srgbClr val="132A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27248" y="5875020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28416" y="5852160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뒤로수길 도보 4분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66928" y="6076188"/>
            <a:ext cx="155448" cy="155448"/>
          </a:xfrm>
          <a:prstGeom prst="ellipse">
            <a:avLst/>
          </a:prstGeom>
          <a:solidFill>
            <a:srgbClr val="132A3A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6928" y="6076188"/>
            <a:ext cx="1554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768096" y="605332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국제예술대학교 국제아트센터 남 0.5km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127248" y="6053328"/>
            <a:ext cx="155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╌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328416" y="605332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도보 5분 반경 (약 400m)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053328" y="18013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소재지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613331" y="18013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서울특별시 강남구 신사동 590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6053328" y="22585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53328" y="22585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대중교통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613331" y="22585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압구정역 3호선 도보 7분 (약 525m)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053328" y="271576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53328" y="2715768"/>
            <a:ext cx="156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상권권역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7613331" y="2715768"/>
            <a:ext cx="40114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주요 상업·업무 권역</a:t>
            </a:r>
            <a:endParaRPr lang="en-US" sz="1250" dirty="0"/>
          </a:p>
        </p:txBody>
      </p:sp>
      <p:sp>
        <p:nvSpPr>
          <p:cNvPr id="35" name="Shape 32"/>
          <p:cNvSpPr/>
          <p:nvPr/>
        </p:nvSpPr>
        <p:spPr>
          <a:xfrm>
            <a:off x="6053328" y="3282696"/>
            <a:ext cx="5571439" cy="877824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/>
        </p:spPr>
      </p:sp>
      <p:sp>
        <p:nvSpPr>
          <p:cNvPr id="36" name="Shape 33"/>
          <p:cNvSpPr/>
          <p:nvPr/>
        </p:nvSpPr>
        <p:spPr>
          <a:xfrm>
            <a:off x="6053328" y="3337560"/>
            <a:ext cx="36576" cy="768096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37" name="Text 34"/>
          <p:cNvSpPr/>
          <p:nvPr/>
        </p:nvSpPr>
        <p:spPr>
          <a:xfrm>
            <a:off x="6199632" y="3374136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종합 분석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6199632" y="3575304"/>
            <a:ext cx="53154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압구정역 3호선 도보 역세권으로 양호한 대중교통 접근성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GBD 배후 상권 기반 안정적 임대 수요</a:t>
            </a:r>
            <a:endParaRPr lang="en-US" sz="980" dirty="0"/>
          </a:p>
        </p:txBody>
      </p:sp>
      <p:sp>
        <p:nvSpPr>
          <p:cNvPr id="39" name="Text 3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정보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887054" y="3186662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DC262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 rot="10800000">
            <a:off x="3069934" y="3396974"/>
            <a:ext cx="109728" cy="64008"/>
          </a:xfrm>
          <a:prstGeom prst="triangl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7054" y="318666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본건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토지이용계획 · 규제 분석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53328" y="180136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대지면적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613331" y="180136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1,061.9㎡ (321.2평)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148840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용도지역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613331" y="2148840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2496312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건폐율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613331" y="2496312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50% 이하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2843784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법정 용적률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613331" y="2843784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250% 이하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53328" y="3191256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지목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613331" y="3191256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053328" y="3538728"/>
            <a:ext cx="5571439" cy="0"/>
          </a:xfrm>
          <a:prstGeom prst="line">
            <a:avLst/>
          </a:prstGeom>
          <a:noFill/>
          <a:ln w="3810">
            <a:solidFill>
              <a:srgbClr val="CBD5E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53328" y="3538728"/>
            <a:ext cx="156000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토지평당가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7613331" y="3538728"/>
            <a:ext cx="40114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23,659만 원/평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053328" y="3995928"/>
            <a:ext cx="5571439" cy="1316736"/>
          </a:xfrm>
          <a:prstGeom prst="roundRect">
            <a:avLst>
              <a:gd name="adj" fmla="val 4167"/>
            </a:avLst>
          </a:prstGeom>
          <a:solidFill>
            <a:srgbClr val="E8F4F8"/>
          </a:solidFill>
          <a:ln/>
        </p:spPr>
      </p:sp>
      <p:sp>
        <p:nvSpPr>
          <p:cNvPr id="28" name="Shape 25"/>
          <p:cNvSpPr/>
          <p:nvPr/>
        </p:nvSpPr>
        <p:spPr>
          <a:xfrm>
            <a:off x="6053328" y="4050792"/>
            <a:ext cx="36576" cy="1207008"/>
          </a:xfrm>
          <a:prstGeom prst="rect">
            <a:avLst/>
          </a:prstGeom>
          <a:solidFill>
            <a:srgbClr val="2E6E82"/>
          </a:solidFill>
          <a:ln/>
        </p:spPr>
      </p:sp>
      <p:sp>
        <p:nvSpPr>
          <p:cNvPr id="29" name="Text 26"/>
          <p:cNvSpPr/>
          <p:nvPr/>
        </p:nvSpPr>
        <p:spPr>
          <a:xfrm>
            <a:off x="6199632" y="4087368"/>
            <a:ext cx="5315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6E8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규제 및 공법 분석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199632" y="4288536"/>
            <a:ext cx="5315407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제3종일반주거지역 기준 법정 건폐율 50% 이하, 법정 용적률 250% 이하 적용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입지 특성에 부합하는 최적 토지이용 및 건축 규제 기준 충족</a:t>
            </a:r>
            <a:endParaRPr lang="en-US" sz="980" dirty="0"/>
          </a:p>
          <a:p>
            <a:pPr marL="342900" indent="-342900">
              <a:lnSpc>
                <a:spcPct val="108000"/>
              </a:lnSpc>
              <a:spcBef>
                <a:spcPts val="300"/>
              </a:spcBef>
              <a:buSzPct val="100000"/>
              <a:buChar char="•"/>
            </a:pPr>
            <a:r>
              <a:rPr lang="en-US" sz="98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전면 도로 접면 조건 양호, 접근성 우수</a:t>
            </a:r>
            <a:endParaRPr lang="en-US" sz="980" dirty="0"/>
          </a:p>
        </p:txBody>
      </p:sp>
      <p:sp>
        <p:nvSpPr>
          <p:cNvPr id="31" name="Text 28"/>
          <p:cNvSpPr/>
          <p:nvPr/>
        </p:nvSpPr>
        <p:spPr>
          <a:xfrm>
            <a:off x="6053328" y="5715000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렌트롤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11057839" cy="4389120"/>
          </a:xfrm>
          <a:prstGeom prst="roundRect">
            <a:avLst>
              <a:gd name="adj" fmla="val 1250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00784"/>
            <a:ext cx="1435608" cy="219456"/>
          </a:xfrm>
          <a:prstGeom prst="roundRect">
            <a:avLst>
              <a:gd name="adj" fmla="val 50000"/>
            </a:avLst>
          </a:prstGeom>
          <a:solidFill>
            <a:srgbClr val="F6F1E4"/>
          </a:solidFill>
          <a:ln w="6350">
            <a:solidFill>
              <a:srgbClr val="8B65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00784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임대차 실사 안내 ]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1993392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 및 렌트롤 상세 실사 프로토콜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304288"/>
            <a:ext cx="105457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자산의 세부 층별 임대차 계약 원장 및 정산 내역은 매수 의향 접수 및 비밀유지협약(NDA) 체결 후 실측 대조가 진행됩니다.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2798064"/>
            <a:ext cx="10545775" cy="0"/>
          </a:xfrm>
          <a:prstGeom prst="line">
            <a:avLst/>
          </a:prstGeom>
          <a:noFill/>
          <a:ln w="5080">
            <a:solidFill>
              <a:srgbClr val="CBD5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944368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889504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계약서 원본 전수 대조 (임대료, 관리비, 계약기간, 만기일 및 갱신 옵션)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859536" y="3634740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579876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보증금 및 월임대료 입금 금융 원장 대조·검증 (체납 내역 및 부가가치세 신고서 정합성)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59536" y="4325112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4270248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특약 사항 및 렌트프리(Rent-Free), 핏아웃(Fit-out) 등 실질 유효 임대료(Net Effective Rent) 산정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859536" y="5015484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960620"/>
            <a:ext cx="10326319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상가건물 임대차보호법상 계약갱신요구권 행사 가능 여부 및 명도/재계약 리스크 검토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수익률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CBD5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50876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132A3A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58191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임대수익률 (Gross, 매매가−보증금 대비)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904488" y="1581912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6968" y="21854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임대수입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27248" y="21854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0만원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95528" y="2532888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25328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승계 보증금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127248" y="25328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0만원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" y="2880360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8803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매매가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127248" y="28803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32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760.0억원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" y="3227832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32278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보증금 차감 매입가 (매매가−보증금)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27248" y="32278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760.0억원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" y="3575304"/>
            <a:ext cx="4663440" cy="0"/>
          </a:xfrm>
          <a:prstGeom prst="line">
            <a:avLst/>
          </a:prstGeom>
          <a:noFill/>
          <a:ln w="6350">
            <a:solidFill>
              <a:srgbClr val="E8E8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53328" y="1325880"/>
            <a:ext cx="5571439" cy="4023360"/>
          </a:xfrm>
          <a:prstGeom prst="roundRect">
            <a:avLst>
              <a:gd name="adj" fmla="val 1364"/>
            </a:avLst>
          </a:prstGeom>
          <a:solidFill>
            <a:srgbClr val="F3F6F7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9360" y="1545336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F6F1E4"/>
          </a:solidFill>
          <a:ln w="6350">
            <a:solidFill>
              <a:srgbClr val="8B650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9360" y="154533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650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 공시지가 열람 안내 ]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09360" y="1837944"/>
            <a:ext cx="5059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개별공시지가 및 토지 가치 평가 안내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09360" y="2148840"/>
            <a:ext cx="50593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필지의 개별공시지가 연도별 이력 및 표준지 공시지가 대비 배율은 부동산 공시가격 알리미 및 감정평가 공적 자료를 통해 확인합니다.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2606040"/>
            <a:ext cx="5059375" cy="0"/>
          </a:xfrm>
          <a:prstGeom prst="line">
            <a:avLst/>
          </a:prstGeom>
          <a:noFill/>
          <a:ln w="5080">
            <a:solidFill>
              <a:srgbClr val="CBD5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45936" y="2752344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2697480"/>
            <a:ext cx="48399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5~10개년 개별공시지가 변동 추이 및 연평균 상승률 분석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6345936" y="3360420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0" name="Text 28"/>
          <p:cNvSpPr/>
          <p:nvPr/>
        </p:nvSpPr>
        <p:spPr>
          <a:xfrm>
            <a:off x="6473952" y="3305556"/>
            <a:ext cx="48399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표준지 공시지가 대비 토지 특성(도로접면, 형상, 방위) 차이 분석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345936" y="3968496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2" name="Text 30"/>
          <p:cNvSpPr/>
          <p:nvPr/>
        </p:nvSpPr>
        <p:spPr>
          <a:xfrm>
            <a:off x="6473952" y="3913632"/>
            <a:ext cx="48399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토지 공시지가 대비 실거래가 매매 배율 및 평당 단가 프리미엄 검증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345936" y="4576572"/>
            <a:ext cx="64008" cy="6400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4" name="Text 32"/>
          <p:cNvSpPr/>
          <p:nvPr/>
        </p:nvSpPr>
        <p:spPr>
          <a:xfrm>
            <a:off x="6473952" y="4521708"/>
            <a:ext cx="4839919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보유세(재산세·종합부동산세) 과세표준 기준액 산출 및 세무 영향 점검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66928" y="5952744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운영비율 가정, 공실충당 5%, 보증금 승계 가정. 임대수익률은 운영비 차감 전, Cap Rate는 차감 후.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66344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3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사진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181" y="1234440"/>
            <a:ext cx="3054096" cy="22905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295546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00" y="1234440"/>
            <a:ext cx="3054096" cy="229057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295546" y="3232404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4405274" y="3232404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도로 및 접근로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24165" y="1234440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418" y="1234440"/>
            <a:ext cx="3054096" cy="229057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97317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6" name="Text 11"/>
          <p:cNvSpPr/>
          <p:nvPr/>
        </p:nvSpPr>
        <p:spPr>
          <a:xfrm>
            <a:off x="8097317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66928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181" y="3653028"/>
            <a:ext cx="3054096" cy="229057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66928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0" name="Text 14"/>
          <p:cNvSpPr/>
          <p:nvPr/>
        </p:nvSpPr>
        <p:spPr>
          <a:xfrm>
            <a:off x="676656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전용 공간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4295546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562" y="3653028"/>
            <a:ext cx="2290572" cy="229057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4295546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4" name="Text 17"/>
          <p:cNvSpPr/>
          <p:nvPr/>
        </p:nvSpPr>
        <p:spPr>
          <a:xfrm>
            <a:off x="4405274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전용 공간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8024165" y="3653028"/>
            <a:ext cx="360060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4165" y="3685217"/>
            <a:ext cx="3600602" cy="2226194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8024165" y="5650992"/>
            <a:ext cx="360060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8" name="Text 20"/>
          <p:cNvSpPr/>
          <p:nvPr/>
        </p:nvSpPr>
        <p:spPr>
          <a:xfrm>
            <a:off x="8133893" y="5650992"/>
            <a:ext cx="33811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실내 전용 공간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30" name="Text 22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38912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문의 및 유의사항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132A3A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12724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08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52958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5295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51129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393192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39319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33425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132A3A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33425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3159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 중개사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32A3A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75120" y="279806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담당자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675120" y="3072384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☎ 010-0000-0000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675120" y="331012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CREDEAL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92240" y="389534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92240" y="4206240"/>
            <a:ext cx="5129784" cy="1005840"/>
          </a:xfrm>
          <a:prstGeom prst="roundRect">
            <a:avLst>
              <a:gd name="adj" fmla="val 3636"/>
            </a:avLst>
          </a:prstGeom>
          <a:solidFill>
            <a:srgbClr val="1A3347"/>
          </a:solidFill>
          <a:ln/>
        </p:spPr>
      </p:sp>
      <p:sp>
        <p:nvSpPr>
          <p:cNvPr id="45" name="Text 43"/>
          <p:cNvSpPr/>
          <p:nvPr/>
        </p:nvSpPr>
        <p:spPr>
          <a:xfrm>
            <a:off x="6675120" y="4315968"/>
            <a:ext cx="4764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8A9AA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8B6508"/>
          </a:solidFill>
          <a:ln/>
        </p:spPr>
      </p:sp>
      <p:sp>
        <p:nvSpPr>
          <p:cNvPr id="47" name="Text 45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6F1E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CREDEAL · 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B7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CRE DEAL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2026-10-05T15:16:26Z</dcterms:created>
  <dcterms:modified xsi:type="dcterms:W3CDTF">2026-10-05T15:16:26Z</dcterms:modified>
</cp:coreProperties>
</file>