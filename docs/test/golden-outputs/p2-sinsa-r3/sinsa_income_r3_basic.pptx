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image" Target="../media/image-8-3.jpeg"/><Relationship Id="rId4" Type="http://schemas.openxmlformats.org/officeDocument/2006/relationships/image" Target="../media/image-8-4.jpeg"/><Relationship Id="rId5" Type="http://schemas.openxmlformats.org/officeDocument/2006/relationships/image" Target="../media/image-8-5.jpe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0D2233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1A3A4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132A3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B886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32A3A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A3347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B4A5E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신사동 590 ICL빌딩 임대수익형 매각 안내서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02920" y="30906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근린생활시설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34747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강남구 신사동 590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895344"/>
            <a:ext cx="1243584" cy="292608"/>
          </a:xfrm>
          <a:prstGeom prst="roundRect">
            <a:avLst>
              <a:gd name="adj" fmla="val 50000"/>
            </a:avLst>
          </a:prstGeom>
          <a:solidFill>
            <a:srgbClr val="132A3A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895344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근린생활시설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837944" y="3895344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132A3A"/>
          </a:solidFill>
          <a:ln/>
        </p:spPr>
      </p:sp>
      <p:sp>
        <p:nvSpPr>
          <p:cNvPr id="17" name="Text 15"/>
          <p:cNvSpPr/>
          <p:nvPr/>
        </p:nvSpPr>
        <p:spPr>
          <a:xfrm>
            <a:off x="1837944" y="389534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760억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4334256"/>
            <a:ext cx="6858000" cy="1051560"/>
          </a:xfrm>
          <a:prstGeom prst="roundRect">
            <a:avLst>
              <a:gd name="adj" fmla="val 3478"/>
            </a:avLst>
          </a:prstGeom>
          <a:solidFill>
            <a:srgbClr val="8B6508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" y="4443984"/>
            <a:ext cx="63459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6F1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매각 희망가 760억 원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502920" y="17007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투자자문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2026.09.20  |  수석 자문역  |  CREDEAL 투자자문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IM-SINSA-590-INC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요약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도산대로·을지병원 사거리 인근 코너 입지, 인근 실거래가(평당 2.8억~3.2억) 대비 현저한 저평가 갭투자 기회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11057839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965960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2093976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67512" y="2313432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760억 원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308528" y="1965960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3120" y="2093976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소재지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473120" y="2313432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강남구 신사동 590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114136" y="1965960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78728" y="2093976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278728" y="2313432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1,061.9㎡ (321.2평)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919743" y="1965960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84335" y="2093976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084335" y="2313432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3,341.8㎡ (1,010.9평)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02920" y="3090672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" y="3218688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67512" y="3438144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제3종일반주거지역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3308528" y="3090672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3120" y="3218688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규모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473120" y="3438144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지하 2층 ~ 지상 6층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6114136" y="3090672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78728" y="3218688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준공연도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78728" y="3438144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1998년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8919743" y="3090672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84335" y="3218688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주차대수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084335" y="3438144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자주식 5대 / 기계식 21대 (총 26대)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502920" y="430682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65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02920" y="4636008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2648" y="4709160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2648" y="4709160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43000" y="4672584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가치: 대중교통 역세권 입지, 해당 권역 업무·상업 중심지 배후 수요 확보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02920" y="5114544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2648" y="5187696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2648" y="5187696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43000" y="5151120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규모: 대지 321평·연면적 1011평·평당 약 7,518만 원 규모 단독 빌딩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02920" y="5593080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12648" y="5666232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2648" y="5666232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143000" y="5629656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 안정성: 안정적 임대수익 기반 투자 매물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IM-SINSA-590-INC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물건 개요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 개요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신사동 590 ICL빌딩 제원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소재지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23160" y="164592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강남구 신사동 590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97510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7510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23160" y="197510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1,061.9㎡ (321.2평)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304288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30428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23160" y="230428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3,341.8㎡ (1,010.9평)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263347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63347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23160" y="2633472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제3종일반주거지역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296265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96265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규모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423160" y="2962656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지하 2층 ~ 지상 6층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329184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29184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준공연도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423160" y="329184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1998년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4023360"/>
            <a:ext cx="6858000" cy="1005840"/>
          </a:xfrm>
          <a:prstGeom prst="rect">
            <a:avLst/>
          </a:prstGeom>
          <a:solidFill>
            <a:srgbClr val="F6F1E4"/>
          </a:solidFill>
          <a:ln w="15240">
            <a:solidFill>
              <a:srgbClr val="B886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023360"/>
            <a:ext cx="272674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 희망가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412541" y="4023360"/>
            <a:ext cx="376549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760억 원 (VAT 별도)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0080" y="4526280"/>
            <a:ext cx="6583680" cy="0"/>
          </a:xfrm>
          <a:prstGeom prst="line">
            <a:avLst/>
          </a:prstGeom>
          <a:noFill/>
          <a:ln w="6350">
            <a:solidFill>
              <a:srgbClr val="D4C8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526280"/>
            <a:ext cx="27267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토지평당가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412541" y="4526280"/>
            <a:ext cx="37654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23,659만 원/평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540600" y="1371600"/>
            <a:ext cx="0" cy="4754880"/>
          </a:xfrm>
          <a:prstGeom prst="line">
            <a:avLst/>
          </a:prstGeom>
          <a:noFill/>
          <a:ln w="8890">
            <a:solidFill>
              <a:srgbClr val="B8860B"/>
            </a:solidFill>
            <a:prstDash val="solid"/>
          </a:ln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20279" y="1645920"/>
            <a:ext cx="3840480" cy="2926080"/>
          </a:xfrm>
          <a:prstGeom prst="rect">
            <a:avLst/>
          </a:prstGeom>
        </p:spPr>
      </p:pic>
      <p:sp>
        <p:nvSpPr>
          <p:cNvPr id="32" name="Shape 29"/>
          <p:cNvSpPr/>
          <p:nvPr/>
        </p:nvSpPr>
        <p:spPr>
          <a:xfrm>
            <a:off x="7720279" y="4681728"/>
            <a:ext cx="3840480" cy="1508760"/>
          </a:xfrm>
          <a:prstGeom prst="roundRect">
            <a:avLst>
              <a:gd name="adj" fmla="val 3636"/>
            </a:avLst>
          </a:prstGeom>
          <a:solidFill>
            <a:srgbClr val="E8F4F8"/>
          </a:solidFill>
          <a:ln/>
        </p:spPr>
      </p:sp>
      <p:sp>
        <p:nvSpPr>
          <p:cNvPr id="33" name="Shape 30"/>
          <p:cNvSpPr/>
          <p:nvPr/>
        </p:nvSpPr>
        <p:spPr>
          <a:xfrm>
            <a:off x="7720279" y="4736592"/>
            <a:ext cx="36576" cy="1399032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34" name="Text 31"/>
          <p:cNvSpPr/>
          <p:nvPr/>
        </p:nvSpPr>
        <p:spPr>
          <a:xfrm>
            <a:off x="7866583" y="4773168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하이라이트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7866583" y="4974336"/>
            <a:ext cx="3584448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도심 비즈니스 권역 소재 핵심 입지 자산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안정적 임대수익 기반 투자 매물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대중교통 역세권 접근성 및 주변 상업 인프라 우수</a:t>
            </a:r>
            <a:endParaRPr lang="en-US" sz="980" dirty="0"/>
          </a:p>
        </p:txBody>
      </p:sp>
      <p:sp>
        <p:nvSpPr>
          <p:cNvPr id="36" name="Text 33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IM-SINSA-590-INC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입지 정보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정보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89320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및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89320" y="1801368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대중교통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549323" y="1801368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인접 지하철역 역세권 (상세 확인 필요)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989320" y="229514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89320" y="2295144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상권권역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549323" y="2295144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760억 주요 상업·업무 권역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989320" y="2926080"/>
            <a:ext cx="5571439" cy="658368"/>
          </a:xfrm>
          <a:prstGeom prst="roundRect">
            <a:avLst>
              <a:gd name="adj" fmla="val 8333"/>
            </a:avLst>
          </a:prstGeom>
          <a:solidFill>
            <a:srgbClr val="E8F4F8"/>
          </a:solidFill>
          <a:ln/>
        </p:spPr>
      </p:sp>
      <p:sp>
        <p:nvSpPr>
          <p:cNvPr id="14" name="Shape 11"/>
          <p:cNvSpPr/>
          <p:nvPr/>
        </p:nvSpPr>
        <p:spPr>
          <a:xfrm>
            <a:off x="5989320" y="2980944"/>
            <a:ext cx="36576" cy="548640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15" name="Text 12"/>
          <p:cNvSpPr/>
          <p:nvPr/>
        </p:nvSpPr>
        <p:spPr>
          <a:xfrm>
            <a:off x="6135624" y="3017520"/>
            <a:ext cx="53154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종합 분석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135624" y="3218688"/>
            <a:ext cx="531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760억 배후 상권 기반 안정적 임대 수요</a:t>
            </a:r>
            <a:endParaRPr lang="en-US" sz="980" dirty="0"/>
          </a:p>
        </p:txBody>
      </p:sp>
      <p:sp>
        <p:nvSpPr>
          <p:cNvPr id="17" name="Text 14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IM-SINSA-590-INC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토지 정보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정보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현황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423160" y="1645920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1,061.9㎡ (321.2평)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204825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04825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423160" y="2048256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3,341.8㎡ (1,010.9평)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02920" y="245059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45059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423160" y="2450592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제3종일반주거지역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540600" y="1371600"/>
            <a:ext cx="0" cy="4754880"/>
          </a:xfrm>
          <a:prstGeom prst="line">
            <a:avLst/>
          </a:prstGeom>
          <a:noFill/>
          <a:ln w="8890">
            <a:solidFill>
              <a:srgbClr val="B886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20279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E8F4F8"/>
          </a:solidFill>
          <a:ln/>
        </p:spPr>
      </p:sp>
      <p:sp>
        <p:nvSpPr>
          <p:cNvPr id="17" name="Shape 15"/>
          <p:cNvSpPr/>
          <p:nvPr/>
        </p:nvSpPr>
        <p:spPr>
          <a:xfrm>
            <a:off x="7720279" y="1700784"/>
            <a:ext cx="36576" cy="1993392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18" name="Text 16"/>
          <p:cNvSpPr/>
          <p:nvPr/>
        </p:nvSpPr>
        <p:spPr>
          <a:xfrm>
            <a:off x="7866583" y="1737360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및 건축 규제 포인트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866583" y="1938528"/>
            <a:ext cx="3584448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용도지역·용도지구 기준 건폐율/용적률 상한 확인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필지 형상 및 접도 조건에 따른 건축 가능 면적 검토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토지이용계획 열람 및 개발행위허가 제한 여부 확인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7720279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E8F4F8"/>
          </a:solidFill>
          <a:ln/>
        </p:spPr>
      </p:sp>
      <p:sp>
        <p:nvSpPr>
          <p:cNvPr id="21" name="Shape 19"/>
          <p:cNvSpPr/>
          <p:nvPr/>
        </p:nvSpPr>
        <p:spPr>
          <a:xfrm>
            <a:off x="7720279" y="4032504"/>
            <a:ext cx="36576" cy="2039112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22" name="Text 20"/>
          <p:cNvSpPr/>
          <p:nvPr/>
        </p:nvSpPr>
        <p:spPr>
          <a:xfrm>
            <a:off x="7866583" y="4069080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권리관계 및 공적장부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866583" y="4270248"/>
            <a:ext cx="3584448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등기부등본 갑구 소유권 및 을구 근저당·가압류 확인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건축물대장 기재 사항과 실물 현황 대조 점검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개별공시지가 및 실거래가 비교 분석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IM-SINSA-590-INC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렌트롤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렌트롤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645920"/>
            <a:ext cx="137160" cy="137160"/>
          </a:xfrm>
          <a:prstGeom prst="rect">
            <a:avLst/>
          </a:prstGeom>
          <a:solidFill>
            <a:srgbClr val="FBEFE8"/>
          </a:solidFill>
          <a:ln w="12700">
            <a:solidFill>
              <a:srgbClr val="B05A2E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749808" y="164592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05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66928" y="5364480"/>
            <a:ext cx="32004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1F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32815" y="5391912"/>
            <a:ext cx="3137306" cy="615696"/>
          </a:xfrm>
          <a:prstGeom prst="rect">
            <a:avLst/>
          </a:prstGeom>
          <a:solidFill>
            <a:srgbClr val="E2E8F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05967" y="5391912"/>
            <a:ext cx="1882384" cy="615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이탈로모토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915199" y="5391912"/>
            <a:ext cx="1098057" cy="615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150평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66928" y="4693920"/>
            <a:ext cx="32004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2F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32688" y="4721352"/>
            <a:ext cx="3337560" cy="615696"/>
          </a:xfrm>
          <a:prstGeom prst="rect">
            <a:avLst/>
          </a:prstGeom>
          <a:solidFill>
            <a:srgbClr val="E2E8F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721352"/>
            <a:ext cx="2002536" cy="615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모래공장보컬학원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935224" y="4721352"/>
            <a:ext cx="1168146" cy="615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160평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66928" y="4023360"/>
            <a:ext cx="32004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3F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32688" y="4050792"/>
            <a:ext cx="3337560" cy="615696"/>
          </a:xfrm>
          <a:prstGeom prst="rect">
            <a:avLst/>
          </a:prstGeom>
          <a:solidFill>
            <a:srgbClr val="E2E8F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4050792"/>
            <a:ext cx="2002536" cy="615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엑셀유학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935224" y="4050792"/>
            <a:ext cx="1168146" cy="615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160평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66928" y="3352800"/>
            <a:ext cx="32004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4F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32688" y="3380232"/>
            <a:ext cx="3337560" cy="615696"/>
          </a:xfrm>
          <a:prstGeom prst="rect">
            <a:avLst/>
          </a:prstGeom>
          <a:solidFill>
            <a:srgbClr val="FBEFE8"/>
          </a:solidFill>
          <a:ln w="15240">
            <a:solidFill>
              <a:srgbClr val="B05A2E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1005840" y="3380232"/>
            <a:ext cx="2002536" cy="615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935224" y="3380232"/>
            <a:ext cx="1168146" cy="615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160평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66928" y="2682240"/>
            <a:ext cx="32004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5F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32688" y="2709672"/>
            <a:ext cx="3337560" cy="615696"/>
          </a:xfrm>
          <a:prstGeom prst="rect">
            <a:avLst/>
          </a:prstGeom>
          <a:solidFill>
            <a:srgbClr val="E2E8F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2709672"/>
            <a:ext cx="2002536" cy="615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ST성형외과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935224" y="2709672"/>
            <a:ext cx="1168146" cy="615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160평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66928" y="2011680"/>
            <a:ext cx="32004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6F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349883" y="2039112"/>
            <a:ext cx="2503170" cy="615696"/>
          </a:xfrm>
          <a:prstGeom prst="rect">
            <a:avLst/>
          </a:prstGeom>
          <a:solidFill>
            <a:srgbClr val="E2E8F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423035" y="2039112"/>
            <a:ext cx="1501902" cy="615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하우연한의원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851785" y="2039112"/>
            <a:ext cx="876110" cy="615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120평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66928" y="6080760"/>
            <a:ext cx="4069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렌트롤 현황 기준 층별 공간 배치도</a:t>
            </a:r>
            <a:endParaRPr lang="en-US" sz="8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73168" y="1645920"/>
          <a:ext cx="68580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645920"/>
                <a:gridCol w="1188720"/>
                <a:gridCol w="1188720"/>
                <a:gridCol w="1005840"/>
                <a:gridCol w="109728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층수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임차인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면적(평)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보증금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월세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계약종료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하우연한의원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120평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10,000만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780만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ST성형외과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160평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30,000만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1,330만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공실 (밸류애드 가능)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160평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엑셀유학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160평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15,000만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1,575만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모래공장보컬학원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160평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15,000만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1,150만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이탈로모토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25,000만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1,627만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6개 호실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910.0평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95,000만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6,462만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Text 31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IM-SINSA-590-INC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수익률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수익률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11057839" cy="1188720"/>
          </a:xfrm>
          <a:prstGeom prst="roundRect">
            <a:avLst>
              <a:gd name="adj" fmla="val 6154"/>
            </a:avLst>
          </a:prstGeom>
          <a:solidFill>
            <a:srgbClr val="F7FAFC"/>
          </a:solidFill>
          <a:ln w="9525">
            <a:solidFill>
              <a:srgbClr val="CBD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5087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표면 임대수익률  =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343400" y="1508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임대료 합계 (관리비 제외)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26280" y="1920240"/>
            <a:ext cx="4206240" cy="0"/>
          </a:xfrm>
          <a:prstGeom prst="line">
            <a:avLst/>
          </a:prstGeom>
          <a:noFill/>
          <a:ln w="25400">
            <a:solidFill>
              <a:srgbClr val="B886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4340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매매가  −  승계 보증금 합계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726119" y="150876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7.8억원</a:t>
            </a:r>
            <a:pPr algn="r"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÷ (760.0억원 − 9.5억원)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834640"/>
            <a:ext cx="539176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3017520"/>
            <a:ext cx="1280160" cy="329184"/>
          </a:xfrm>
          <a:prstGeom prst="roundRect">
            <a:avLst>
              <a:gd name="adj" fmla="val 11111"/>
            </a:avLst>
          </a:prstGeom>
          <a:solidFill>
            <a:srgbClr val="F3F6F7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0175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As-Is (현재)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352044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임대료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91560" y="352044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7.8억원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" y="3922776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승계 보증금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91560" y="3922776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9.5억원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432511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매매가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91560" y="432511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760.0억원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5800" y="4837176"/>
            <a:ext cx="5026000" cy="594360"/>
          </a:xfrm>
          <a:prstGeom prst="roundRect">
            <a:avLst>
              <a:gd name="adj" fmla="val 9231"/>
            </a:avLst>
          </a:prstGeom>
          <a:solidFill>
            <a:srgbClr val="132A3A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837176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Cap Rate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517240" y="4837176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1.03%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6169000" y="2834640"/>
            <a:ext cx="539176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51880" y="3017520"/>
            <a:ext cx="1645920" cy="329184"/>
          </a:xfrm>
          <a:prstGeom prst="roundRect">
            <a:avLst>
              <a:gd name="adj" fmla="val 11111"/>
            </a:avLst>
          </a:prstGeom>
          <a:solidFill>
            <a:srgbClr val="F6F1E4"/>
          </a:solidFill>
          <a:ln/>
        </p:spPr>
      </p:sp>
      <p:sp>
        <p:nvSpPr>
          <p:cNvPr id="26" name="Text 24"/>
          <p:cNvSpPr/>
          <p:nvPr/>
        </p:nvSpPr>
        <p:spPr>
          <a:xfrm>
            <a:off x="6351880" y="3017520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Stabilized (안정화)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089240" y="301752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분석가정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43320" y="352044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임대료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457639" y="352044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9.2억원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43320" y="3922776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승계 보증금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457639" y="3922776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9.5억원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43320" y="432511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매매가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457639" y="432511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760.0억원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351880" y="4837176"/>
            <a:ext cx="5026000" cy="594360"/>
          </a:xfrm>
          <a:prstGeom prst="roundRect">
            <a:avLst>
              <a:gd name="adj" fmla="val 9231"/>
            </a:avLst>
          </a:prstGeom>
          <a:solidFill>
            <a:srgbClr val="B8860B"/>
          </a:solidFill>
          <a:ln/>
        </p:spPr>
      </p:sp>
      <p:sp>
        <p:nvSpPr>
          <p:cNvPr id="35" name="Text 33"/>
          <p:cNvSpPr/>
          <p:nvPr/>
        </p:nvSpPr>
        <p:spPr>
          <a:xfrm>
            <a:off x="6534760" y="4837176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Cap Rate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183319" y="4837176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1.23%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502920" y="5943600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가정: 공실층을 인근 동일 용도 시세 수준으로 임대 가정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IM-SINSA-590-INC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Gallery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사진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234440"/>
            <a:ext cx="3600602" cy="22905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6072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76072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02920" y="3232404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612648" y="3232404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신사동 590 ICL 빌딩 전경 및 대로변 코너 입지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231538" y="1234440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31538" y="1234440"/>
            <a:ext cx="3600602" cy="229057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304690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15" name="Text 11"/>
          <p:cNvSpPr/>
          <p:nvPr/>
        </p:nvSpPr>
        <p:spPr>
          <a:xfrm>
            <a:off x="4304690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 출입구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231538" y="3232404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7" name="Text 13"/>
          <p:cNvSpPr/>
          <p:nvPr/>
        </p:nvSpPr>
        <p:spPr>
          <a:xfrm>
            <a:off x="4341266" y="3232404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지상 진입로 및 1층 전면 상가부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7960157" y="1234440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960157" y="1234440"/>
            <a:ext cx="3600602" cy="2290572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8033309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21" name="Text 16"/>
          <p:cNvSpPr/>
          <p:nvPr/>
        </p:nvSpPr>
        <p:spPr>
          <a:xfrm>
            <a:off x="8033309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실내 공간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7960157" y="3232404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23" name="Text 18"/>
          <p:cNvSpPr/>
          <p:nvPr/>
        </p:nvSpPr>
        <p:spPr>
          <a:xfrm>
            <a:off x="8069885" y="3232404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측면부 및 도로 접면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502920" y="3653028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02920" y="3653028"/>
            <a:ext cx="3600602" cy="2290572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576072" y="3726180"/>
            <a:ext cx="82296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27" name="Text 21"/>
          <p:cNvSpPr/>
          <p:nvPr/>
        </p:nvSpPr>
        <p:spPr>
          <a:xfrm>
            <a:off x="576072" y="37261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주차장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502920" y="5650992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29" name="Text 23"/>
          <p:cNvSpPr/>
          <p:nvPr/>
        </p:nvSpPr>
        <p:spPr>
          <a:xfrm>
            <a:off x="612648" y="5650992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자주식/기계식 주차장 진입로 (총 26대)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4231538" y="3653028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231538" y="3653028"/>
            <a:ext cx="3600602" cy="2290572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4304690" y="3726180"/>
            <a:ext cx="996696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33" name="Text 26"/>
          <p:cNvSpPr/>
          <p:nvPr/>
        </p:nvSpPr>
        <p:spPr>
          <a:xfrm>
            <a:off x="4304690" y="3726180"/>
            <a:ext cx="996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옥상/테라스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4231538" y="5650992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35" name="Text 28"/>
          <p:cNvSpPr/>
          <p:nvPr/>
        </p:nvSpPr>
        <p:spPr>
          <a:xfrm>
            <a:off x="4341266" y="5650992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상층부 외관 및 옥상 공간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IM-SINSA-590-INC</a:t>
            </a:r>
            <a:endParaRPr lang="en-US" sz="800" dirty="0"/>
          </a:p>
        </p:txBody>
      </p:sp>
      <p:sp>
        <p:nvSpPr>
          <p:cNvPr id="37" name="Text 30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문의/유의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58368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및 유의사항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7" name="Shape 5"/>
          <p:cNvSpPr/>
          <p:nvPr/>
        </p:nvSpPr>
        <p:spPr>
          <a:xfrm>
            <a:off x="612648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612648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61288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61288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중개사에게 초기 관심 표명 및 상담 요청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091330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37634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13" name="Shape 11"/>
          <p:cNvSpPr/>
          <p:nvPr/>
        </p:nvSpPr>
        <p:spPr>
          <a:xfrm>
            <a:off x="4347362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4" name="Text 12"/>
          <p:cNvSpPr/>
          <p:nvPr/>
        </p:nvSpPr>
        <p:spPr>
          <a:xfrm>
            <a:off x="4347362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6002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6002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비밀유지계약 후 상세 임대차·재무 자료 제공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26045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972349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19" name="Shape 17"/>
          <p:cNvSpPr/>
          <p:nvPr/>
        </p:nvSpPr>
        <p:spPr>
          <a:xfrm>
            <a:off x="8082077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0" name="Text 18"/>
          <p:cNvSpPr/>
          <p:nvPr/>
        </p:nvSpPr>
        <p:spPr>
          <a:xfrm>
            <a:off x="8082077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30717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30717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컨디션 및 설비 직접 확인 후 의향서(LOI) 제출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공부확인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29384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2920" y="312724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31272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전문가검증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29384" y="31089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2920" y="352958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352958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매도인고지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29384" y="351129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02920" y="393192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39319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중개인입력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29384" y="39136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02920" y="433425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43342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AI추정·가정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929384" y="43159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2240" y="23957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중개사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2240" y="2724912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32A3A"/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75120" y="2798064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📞  수석 자문역  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675120" y="3072384"/>
            <a:ext cx="4764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☎ 02-555-8888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675120" y="3310128"/>
            <a:ext cx="4764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🏢 CREDEAL 투자자문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492240" y="389534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492240" y="4206240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A3347"/>
          </a:solidFill>
          <a:ln/>
        </p:spPr>
      </p:sp>
      <p:sp>
        <p:nvSpPr>
          <p:cNvPr id="46" name="Text 44"/>
          <p:cNvSpPr/>
          <p:nvPr/>
        </p:nvSpPr>
        <p:spPr>
          <a:xfrm>
            <a:off x="6675120" y="4315968"/>
            <a:ext cx="4764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투자 권유가 아니며, 기재된 정보의 정확성을 보증하지 않습니다.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02920" y="5760720"/>
            <a:ext cx="11057839" cy="457200"/>
          </a:xfrm>
          <a:prstGeom prst="rect">
            <a:avLst/>
          </a:prstGeom>
          <a:solidFill>
            <a:srgbClr val="8B6508"/>
          </a:solidFill>
          <a:ln/>
        </p:spPr>
      </p:sp>
      <p:sp>
        <p:nvSpPr>
          <p:cNvPr id="48" name="Text 46"/>
          <p:cNvSpPr/>
          <p:nvPr/>
        </p:nvSpPr>
        <p:spPr>
          <a:xfrm>
            <a:off x="685800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6F1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투자자문 · IM-SINSA-590-INC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IM-SINSA-590-INC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2026-09-20T23:54:40Z</dcterms:created>
  <dcterms:modified xsi:type="dcterms:W3CDTF">2026-09-20T23:54:40Z</dcterms:modified>
</cp:coreProperties>
</file>