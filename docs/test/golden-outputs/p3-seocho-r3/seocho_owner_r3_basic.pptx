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jpeg"/><Relationship Id="rId4" Type="http://schemas.openxmlformats.org/officeDocument/2006/relationships/image" Target="../media/image-7-4.jpeg"/><Relationship Id="rId5" Type="http://schemas.openxmlformats.org/officeDocument/2006/relationships/image" Target="../media/image-7-5.jpeg"/><Relationship Id="rId6" Type="http://schemas.openxmlformats.org/officeDocument/2006/relationships/image" Target="../media/image-7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 투자설명서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37947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21538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421538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901952" y="421538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901952" y="421538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" y="465429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76402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230억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2026.10.05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제3종일반주거지역에 위치한 2005년 준공, 지하 1층·지상 7층 규모의 사옥용 근린생활시설입니다.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372536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7128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37128" y="1965579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8144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42736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42736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596㎡ (180.3평)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983751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8343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8343" y="1965579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2104.88㎡ (636.7평)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66928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3090291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3372536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37128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537128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2005년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178144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42736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342736" y="3090291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0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1층 ~ 지상 7층</a:t>
            </a:r>
            <a:endParaRPr lang="en-US" sz="2050" dirty="0"/>
          </a:p>
        </p:txBody>
      </p:sp>
      <p:sp>
        <p:nvSpPr>
          <p:cNvPr id="28" name="Shape 26"/>
          <p:cNvSpPr/>
          <p:nvPr/>
        </p:nvSpPr>
        <p:spPr>
          <a:xfrm>
            <a:off x="8983751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8343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148343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20대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역세권 입지 — 양재역(3호선) 도보 7분(약 590m) 거리, 소로각지 도로에 접해 있습니다.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사옥 공간 — 2005년 준공 지하 1층·지상 7층, 연면적 2,104.9㎡ 규모로 단독 사옥 사용이 가능한 공간 구성입니다.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가치 — 제3종일반주거지역 대지 596㎡로, 개별공시지가가 최근 10년간 연평균 6.4% 상승했습니다.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87168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487168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596㎡ (180.3평)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87168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2104.88㎡ (636.7평)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87168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487168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2005년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487168" y="3291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1층 ~ 지상 7층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487168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20대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487168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1대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279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2793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 / 용적률 (법정)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487168" y="427939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50% / 250%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4286" b="4286"/>
          <a:stretch/>
        </p:blipFill>
        <p:spPr>
          <a:xfrm>
            <a:off x="7784287" y="1645920"/>
            <a:ext cx="3840480" cy="2633472"/>
          </a:xfrm>
          <a:prstGeom prst="rect">
            <a:avLst/>
          </a:prstGeom>
        </p:spPr>
      </p:pic>
      <p:sp>
        <p:nvSpPr>
          <p:cNvPr id="34" name="Shape 31"/>
          <p:cNvSpPr/>
          <p:nvPr/>
        </p:nvSpPr>
        <p:spPr>
          <a:xfrm>
            <a:off x="7784287" y="4416552"/>
            <a:ext cx="3840480" cy="1307592"/>
          </a:xfrm>
          <a:prstGeom prst="roundRect">
            <a:avLst>
              <a:gd name="adj" fmla="val 3497"/>
            </a:avLst>
          </a:prstGeom>
          <a:solidFill>
            <a:srgbClr val="F6F1E4"/>
          </a:solidFill>
          <a:ln w="9525">
            <a:solidFill>
              <a:srgbClr val="D4C89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784287" y="4489704"/>
            <a:ext cx="45720" cy="116128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67167" y="4526280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7985455" y="4942332"/>
            <a:ext cx="54864" cy="5486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113471" y="4837176"/>
            <a:ext cx="33832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양재역(3호선) 도보 7분 역세권 · 소로각지 접면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7985455" y="5207508"/>
            <a:ext cx="54864" cy="5486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13471" y="5102352"/>
            <a:ext cx="33832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 596㎡ · 제3종일반주거지역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7985455" y="5472684"/>
            <a:ext cx="54864" cy="5486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113471" y="5367528"/>
            <a:ext cx="33832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개별공시지가 연평균 6.4% 상승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66928" y="4718304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49808" y="4718304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3476549" y="4718304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 원 (VAT 별도)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704088" y="5221224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49808" y="5221224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3476549" y="5221224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12,757만 원/평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889504" y="2953512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132A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rot="10800000">
            <a:off x="3072384" y="3163824"/>
            <a:ext cx="109728" cy="64008"/>
          </a:xfrm>
          <a:prstGeom prst="triangle">
            <a:avLst/>
          </a:prstGeom>
          <a:solidFill>
            <a:srgbClr val="132A3A"/>
          </a:solidFill>
          <a:ln w="12700">
            <a:solidFill>
              <a:srgbClr val="13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889504" y="295351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본건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66928" y="5673852"/>
            <a:ext cx="155448" cy="155448"/>
          </a:xfrm>
          <a:prstGeom prst="ellipse">
            <a:avLst/>
          </a:prstGeom>
          <a:solidFill>
            <a:srgbClr val="1D4ED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5673852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768096" y="5650992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양재역(3호선·신분당선) 동 0.6km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127248" y="5673852"/>
            <a:ext cx="155448" cy="155448"/>
          </a:xfrm>
          <a:prstGeom prst="ellipse">
            <a:avLst/>
          </a:prstGeom>
          <a:solidFill>
            <a:srgbClr val="475569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127248" y="5673852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3328416" y="5650992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서초IC 도보 2분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66928" y="5875020"/>
            <a:ext cx="155448" cy="155448"/>
          </a:xfrm>
          <a:prstGeom prst="ellipse">
            <a:avLst/>
          </a:prstGeom>
          <a:solidFill>
            <a:srgbClr val="132A3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5875020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768096" y="5852160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한전아트센터 갤러리 도보 2분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3127248" y="5875020"/>
            <a:ext cx="155448" cy="155448"/>
          </a:xfrm>
          <a:prstGeom prst="ellipse">
            <a:avLst/>
          </a:prstGeom>
          <a:solidFill>
            <a:srgbClr val="132A3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127248" y="5875020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3328416" y="5852160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예명대학원대학교 도보 4분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6928" y="6076188"/>
            <a:ext cx="155448" cy="155448"/>
          </a:xfrm>
          <a:prstGeom prst="ellipse">
            <a:avLst/>
          </a:prstGeom>
          <a:solidFill>
            <a:srgbClr val="132A3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66928" y="6076188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768096" y="6053328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세계주류백화점 양재역점 동 0.6km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3127248" y="6053328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╌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328416" y="6053328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도보 5분 반경 (약 400m)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053328" y="18013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7613331" y="18013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6053328" y="22585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053328" y="22585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7613331" y="22585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양재역 3호선 도보 7분 (약 590m)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053328" y="27157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053328" y="27157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7613331" y="27157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주요 상업·업무 권역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6053328" y="3282696"/>
            <a:ext cx="5571439" cy="877824"/>
          </a:xfrm>
          <a:prstGeom prst="roundRect">
            <a:avLst>
              <a:gd name="adj" fmla="val 6250"/>
            </a:avLst>
          </a:prstGeom>
          <a:solidFill>
            <a:srgbClr val="E8F4F8"/>
          </a:solidFill>
          <a:ln/>
        </p:spPr>
      </p:sp>
      <p:sp>
        <p:nvSpPr>
          <p:cNvPr id="36" name="Shape 33"/>
          <p:cNvSpPr/>
          <p:nvPr/>
        </p:nvSpPr>
        <p:spPr>
          <a:xfrm>
            <a:off x="6053328" y="3337560"/>
            <a:ext cx="36576" cy="768096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7" name="Text 34"/>
          <p:cNvSpPr/>
          <p:nvPr/>
        </p:nvSpPr>
        <p:spPr>
          <a:xfrm>
            <a:off x="6199632" y="337413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6199632" y="3575304"/>
            <a:ext cx="53154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양재역 3호선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배후 상권 기반 안정적 임대 수요</a:t>
            </a:r>
            <a:endParaRPr lang="en-US" sz="980" dirty="0"/>
          </a:p>
        </p:txBody>
      </p:sp>
      <p:sp>
        <p:nvSpPr>
          <p:cNvPr id="39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2167" y="3279245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DC26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rot="10800000">
            <a:off x="2925047" y="3489557"/>
            <a:ext cx="109728" cy="64008"/>
          </a:xfrm>
          <a:prstGeom prst="triangl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742167" y="3279245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본건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053328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613331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596㎡ (180.3평)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053328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613331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53328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53328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7613331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50% 이하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053328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53328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7613331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250% 이하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053328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53328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7613331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소로각지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053328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53328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필지 형상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7613331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사다리형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053328" y="388620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053328" y="388620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7613331" y="388620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053328" y="4343400"/>
            <a:ext cx="5571439" cy="1234440"/>
          </a:xfrm>
          <a:prstGeom prst="roundRect">
            <a:avLst>
              <a:gd name="adj" fmla="val 4444"/>
            </a:avLst>
          </a:prstGeom>
          <a:solidFill>
            <a:srgbClr val="E8F4F8"/>
          </a:solidFill>
          <a:ln/>
        </p:spPr>
      </p:sp>
      <p:sp>
        <p:nvSpPr>
          <p:cNvPr id="31" name="Shape 28"/>
          <p:cNvSpPr/>
          <p:nvPr/>
        </p:nvSpPr>
        <p:spPr>
          <a:xfrm>
            <a:off x="6053328" y="4398264"/>
            <a:ext cx="36576" cy="11247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2" name="Text 29"/>
          <p:cNvSpPr/>
          <p:nvPr/>
        </p:nvSpPr>
        <p:spPr>
          <a:xfrm>
            <a:off x="6199632" y="443484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6199632" y="4636008"/>
            <a:ext cx="5315407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 기준 법정 건폐율 50% 이하, 법정 용적률 250%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소로각지 접면으로 보행자 접근성 및 차량 진출입 동선 우수</a:t>
            </a:r>
            <a:endParaRPr lang="en-US" sz="980" dirty="0"/>
          </a:p>
        </p:txBody>
      </p:sp>
      <p:sp>
        <p:nvSpPr>
          <p:cNvPr id="34" name="Text 31"/>
          <p:cNvSpPr/>
          <p:nvPr/>
        </p:nvSpPr>
        <p:spPr>
          <a:xfrm>
            <a:off x="6053328" y="571500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2011680" cy="329184"/>
          </a:xfrm>
          <a:prstGeom prst="rect">
            <a:avLst/>
          </a:prstGeom>
          <a:solidFill>
            <a:srgbClr val="132A3A"/>
          </a:solidFill>
          <a:ln w="6350">
            <a:solidFill>
              <a:srgbClr val="132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645920"/>
            <a:ext cx="20116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층별 스태킹 플랜 (㎡)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4279392"/>
            <a:ext cx="47548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115568" y="4311396"/>
            <a:ext cx="1444752" cy="265176"/>
          </a:xfrm>
          <a:prstGeom prst="rect">
            <a:avLst/>
          </a:prstGeom>
          <a:solidFill>
            <a:srgbClr val="E2E8F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4311396"/>
            <a:ext cx="1389888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66928" y="3950208"/>
            <a:ext cx="47548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115568" y="3982212"/>
            <a:ext cx="1444752" cy="265176"/>
          </a:xfrm>
          <a:prstGeom prst="rect">
            <a:avLst/>
          </a:prstGeom>
          <a:solidFill>
            <a:srgbClr val="E2E8F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3982212"/>
            <a:ext cx="1389888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66928" y="3621024"/>
            <a:ext cx="47548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115568" y="3653028"/>
            <a:ext cx="1444752" cy="265176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143000" y="3653028"/>
            <a:ext cx="1389888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66928" y="3291840"/>
            <a:ext cx="47548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115568" y="3323844"/>
            <a:ext cx="1444752" cy="265176"/>
          </a:xfrm>
          <a:prstGeom prst="rect">
            <a:avLst/>
          </a:prstGeom>
          <a:solidFill>
            <a:srgbClr val="E2E8F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" y="3323844"/>
            <a:ext cx="1389888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66928" y="2962656"/>
            <a:ext cx="47548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115568" y="2994660"/>
            <a:ext cx="1444752" cy="265176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143000" y="2994660"/>
            <a:ext cx="1389888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66928" y="2633472"/>
            <a:ext cx="47548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115568" y="2665476"/>
            <a:ext cx="1444752" cy="265176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1143000" y="2665476"/>
            <a:ext cx="1389888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66928" y="2304288"/>
            <a:ext cx="47548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6F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115568" y="2336292"/>
            <a:ext cx="1444752" cy="265176"/>
          </a:xfrm>
          <a:prstGeom prst="rect">
            <a:avLst/>
          </a:prstGeom>
          <a:solidFill>
            <a:srgbClr val="E2E8F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43000" y="2336292"/>
            <a:ext cx="1389888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66928" y="1975104"/>
            <a:ext cx="47548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7F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115568" y="2007108"/>
            <a:ext cx="1444752" cy="265176"/>
          </a:xfrm>
          <a:prstGeom prst="rect">
            <a:avLst/>
          </a:prstGeom>
          <a:solidFill>
            <a:srgbClr val="E2E8F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43000" y="2007108"/>
            <a:ext cx="1389888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1078992" y="4279392"/>
            <a:ext cx="1499616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566928" y="4206240"/>
            <a:ext cx="219456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603504" y="4718304"/>
            <a:ext cx="118872" cy="109728"/>
          </a:xfrm>
          <a:prstGeom prst="rect">
            <a:avLst/>
          </a:prstGeom>
          <a:solidFill>
            <a:srgbClr val="FBEFE8"/>
          </a:solidFill>
          <a:ln w="9525">
            <a:solidFill>
              <a:srgbClr val="B05A2E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758952" y="4608576"/>
            <a:ext cx="243332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07208" y="1645920"/>
          <a:ext cx="881755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896112"/>
                <a:gridCol w="1170432"/>
                <a:gridCol w="932688"/>
                <a:gridCol w="1170432"/>
                <a:gridCol w="932688"/>
                <a:gridCol w="932688"/>
                <a:gridCol w="950976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용도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임대면적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보증금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월임대료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관리비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월합계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만기일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A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B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C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D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E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 호실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sp>
        <p:nvSpPr>
          <p:cNvPr id="36" name="Text 33"/>
          <p:cNvSpPr/>
          <p:nvPr/>
        </p:nvSpPr>
        <p:spPr>
          <a:xfrm>
            <a:off x="2807208" y="1408176"/>
            <a:ext cx="88175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㎡ · 금액 만원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181" y="1234440"/>
            <a:ext cx="3054096" cy="22905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95546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8800" y="1234440"/>
            <a:ext cx="3054096" cy="229057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368698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2" name="Text 8"/>
          <p:cNvSpPr/>
          <p:nvPr/>
        </p:nvSpPr>
        <p:spPr>
          <a:xfrm>
            <a:off x="4368698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024165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7418" y="1234440"/>
            <a:ext cx="3054096" cy="229057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8097317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6" name="Text 11"/>
          <p:cNvSpPr/>
          <p:nvPr/>
        </p:nvSpPr>
        <p:spPr>
          <a:xfrm>
            <a:off x="8097317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56692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81" y="3653028"/>
            <a:ext cx="3054096" cy="2290572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40080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0" name="Text 14"/>
          <p:cNvSpPr/>
          <p:nvPr/>
        </p:nvSpPr>
        <p:spPr>
          <a:xfrm>
            <a:off x="640080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21" name="Shape 15"/>
          <p:cNvSpPr/>
          <p:nvPr/>
        </p:nvSpPr>
        <p:spPr>
          <a:xfrm>
            <a:off x="4295546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8800" y="3653028"/>
            <a:ext cx="3054096" cy="2290572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4368698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4" name="Text 17"/>
          <p:cNvSpPr/>
          <p:nvPr/>
        </p:nvSpPr>
        <p:spPr>
          <a:xfrm>
            <a:off x="4368698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25" name="Shape 18"/>
          <p:cNvSpPr/>
          <p:nvPr/>
        </p:nvSpPr>
        <p:spPr>
          <a:xfrm>
            <a:off x="8024165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418" y="3653028"/>
            <a:ext cx="3054096" cy="2290572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8097317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8" name="Text 20"/>
          <p:cNvSpPr/>
          <p:nvPr/>
        </p:nvSpPr>
        <p:spPr>
          <a:xfrm>
            <a:off x="8097317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38912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6" name="Shape 4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2" name="Shape 10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3" name="Text 11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9" name="Text 17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6" name="Text 34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5" name="Text 43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7" name="Text 45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2026-10-05T15:07:41Z</dcterms:created>
  <dcterms:modified xsi:type="dcterms:W3CDTF">2026-10-05T15:07:41Z</dcterms:modified>
</cp:coreProperties>
</file>