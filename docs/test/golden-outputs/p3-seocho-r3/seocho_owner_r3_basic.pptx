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jpeg"/><Relationship Id="rId3" Type="http://schemas.openxmlformats.org/officeDocument/2006/relationships/image" Target="../media/image-7-3.jpeg"/><Relationship Id="rId4" Type="http://schemas.openxmlformats.org/officeDocument/2006/relationships/image" Target="../media/image-7-4.jpeg"/><Relationship Id="rId5" Type="http://schemas.openxmlformats.org/officeDocument/2006/relationships/image" Target="../media/image-7-5.jpeg"/><Relationship Id="rId6" Type="http://schemas.openxmlformats.org/officeDocument/2006/relationships/image" Target="../media/image-7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서초동 1364-28 투자설명서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4747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서초동 1364-28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895344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895344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37944" y="3895344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837944" y="38953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230억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334256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44398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230억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2026.09.24  |  담당자  |  CREDEAL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사옥 즉시 입주 가능, 임대료 절감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230억 원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서초동 1364-28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596㎡ (180.3평)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2104.88㎡ (636.7평)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2005년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 1층 ~ 지상 7층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20대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양재역 도보 7분 역세권,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180평·연면적 637평·평당 약 3,612만 원 규모 단독 빌딩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서초동 1364-28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7510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7510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596㎡ (180.3평)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0428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0428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0428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2104.88㎡ (636.7평)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334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3347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334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96265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29626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2005년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2918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23160" y="32918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 1층 ~ 지상 7층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36210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6210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23160" y="36210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20대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39502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39502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엘리베이터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23160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1대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02920" y="438912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38912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12541" y="438912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230억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489204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89204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12541" y="489204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12,757만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20279" y="1645920"/>
            <a:ext cx="3840480" cy="292608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7720279" y="4681728"/>
            <a:ext cx="3840480" cy="1508760"/>
          </a:xfrm>
          <a:prstGeom prst="roundRect">
            <a:avLst>
              <a:gd name="adj" fmla="val 3636"/>
            </a:avLst>
          </a:prstGeom>
          <a:solidFill>
            <a:srgbClr val="E8F4F8"/>
          </a:solidFill>
          <a:ln/>
        </p:spPr>
      </p:sp>
      <p:sp>
        <p:nvSpPr>
          <p:cNvPr id="39" name="Shape 36"/>
          <p:cNvSpPr/>
          <p:nvPr/>
        </p:nvSpPr>
        <p:spPr>
          <a:xfrm>
            <a:off x="7720279" y="4736592"/>
            <a:ext cx="36576" cy="139903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0" name="Text 37"/>
          <p:cNvSpPr/>
          <p:nvPr/>
        </p:nvSpPr>
        <p:spPr>
          <a:xfrm>
            <a:off x="7866583" y="477316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7866583" y="4974336"/>
            <a:ext cx="35844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도심 비즈니스 권역 소재 핵심 입지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안정적 임대수익 기반 투자 매물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 역세권 접근성 및 주변 상업 인프라 우수</a:t>
            </a:r>
            <a:endParaRPr lang="en-US" sz="980" dirty="0"/>
          </a:p>
        </p:txBody>
      </p:sp>
      <p:sp>
        <p:nvSpPr>
          <p:cNvPr id="42" name="Text 3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서초동 1364-28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89320" y="21488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14884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49323" y="214884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양재역 3호선 도보 7분 (약 590m)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89320" y="249631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49631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49323" y="249631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GBD 주요 상업·업무 권역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989320" y="284378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2843784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주요시설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49323" y="2843784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우정에쉐르아파트 도보 1분 (약 101m)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89320" y="319125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89320" y="3191256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주요시설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549323" y="3191256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동원베네스트아파트 도보 2분 (약 153m)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989320" y="3648456"/>
            <a:ext cx="5571439" cy="877824"/>
          </a:xfrm>
          <a:prstGeom prst="roundRect">
            <a:avLst>
              <a:gd name="adj" fmla="val 6250"/>
            </a:avLst>
          </a:prstGeom>
          <a:solidFill>
            <a:srgbClr val="E8F4F8"/>
          </a:solidFill>
          <a:ln/>
        </p:spPr>
      </p:sp>
      <p:sp>
        <p:nvSpPr>
          <p:cNvPr id="23" name="Shape 20"/>
          <p:cNvSpPr/>
          <p:nvPr/>
        </p:nvSpPr>
        <p:spPr>
          <a:xfrm>
            <a:off x="5989320" y="3703320"/>
            <a:ext cx="36576" cy="768096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4" name="Text 21"/>
          <p:cNvSpPr/>
          <p:nvPr/>
        </p:nvSpPr>
        <p:spPr>
          <a:xfrm>
            <a:off x="6135624" y="3739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135624" y="3941064"/>
            <a:ext cx="53154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양재역 3호선 도보 역세권으로 양호한 대중교통 접근성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GBD 배후 상권 기반 안정적 임대 수요</a:t>
            </a:r>
            <a:endParaRPr lang="en-US" sz="980" dirty="0"/>
          </a:p>
        </p:txBody>
      </p:sp>
      <p:sp>
        <p:nvSpPr>
          <p:cNvPr id="26" name="Text 2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&amp; Cadastral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596㎡ (180.3평)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89320" y="21488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14884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49323" y="214884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89320" y="249631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49631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건폐율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49323" y="249631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50% 이하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989320" y="284378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2843784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용적률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49323" y="2843784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250% 이하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89320" y="319125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89320" y="3191256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549323" y="3191256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989320" y="3538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89320" y="353872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549323" y="353872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12,757만 원/평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989320" y="3995928"/>
            <a:ext cx="5571439" cy="1316736"/>
          </a:xfrm>
          <a:prstGeom prst="roundRect">
            <a:avLst>
              <a:gd name="adj" fmla="val 4167"/>
            </a:avLst>
          </a:prstGeom>
          <a:solidFill>
            <a:srgbClr val="E8F4F8"/>
          </a:solidFill>
          <a:ln/>
        </p:spPr>
      </p:sp>
      <p:sp>
        <p:nvSpPr>
          <p:cNvPr id="26" name="Shape 23"/>
          <p:cNvSpPr/>
          <p:nvPr/>
        </p:nvSpPr>
        <p:spPr>
          <a:xfrm>
            <a:off x="5989320" y="4050792"/>
            <a:ext cx="36576" cy="1207008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7" name="Text 24"/>
          <p:cNvSpPr/>
          <p:nvPr/>
        </p:nvSpPr>
        <p:spPr>
          <a:xfrm>
            <a:off x="6135624" y="4087368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6135624" y="4288536"/>
            <a:ext cx="5315407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 기준 법정 건폐율 50% 이하, 법정 용적률 250% 이하 적용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특성에 부합하는 최적 토지이용 및 건축 규제 기준 충족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전면 도로 접면 조건 양호, 접근성 우수</a:t>
            </a:r>
            <a:endParaRPr lang="en-US" sz="980" dirty="0"/>
          </a:p>
        </p:txBody>
      </p:sp>
      <p:sp>
        <p:nvSpPr>
          <p:cNvPr id="29" name="Text 26"/>
          <p:cNvSpPr/>
          <p:nvPr/>
        </p:nvSpPr>
        <p:spPr>
          <a:xfrm>
            <a:off x="5989320" y="5715000"/>
            <a:ext cx="55714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© V-World 국토교통부 | 2026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렌트롤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645920"/>
            <a:ext cx="137160" cy="137160"/>
          </a:xfrm>
          <a:prstGeom prst="rect">
            <a:avLst/>
          </a:prstGeom>
          <a:solidFill>
            <a:srgbClr val="FBEFE8"/>
          </a:solidFill>
          <a:ln w="12700">
            <a:solidFill>
              <a:srgbClr val="B05A2E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85800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5800" y="5532120"/>
            <a:ext cx="2560320" cy="0"/>
          </a:xfrm>
          <a:prstGeom prst="line">
            <a:avLst/>
          </a:prstGeom>
          <a:noFill/>
          <a:ln w="19050">
            <a:solidFill>
              <a:srgbClr val="CBD5E0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685800" y="534924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 (지상/지하 경계)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02920" y="553212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8680" y="5559552"/>
            <a:ext cx="219456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41832" y="5559552"/>
            <a:ext cx="13167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파티룸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02920" y="502920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68680" y="5056632"/>
            <a:ext cx="219456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41832" y="5056632"/>
            <a:ext cx="13167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상가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2920" y="452628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2F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68680" y="4553712"/>
            <a:ext cx="2194560" cy="448056"/>
          </a:xfrm>
          <a:prstGeom prst="rect">
            <a:avLst/>
          </a:prstGeom>
          <a:solidFill>
            <a:srgbClr val="FBEFE8"/>
          </a:solidFill>
          <a:ln w="15240">
            <a:solidFill>
              <a:srgbClr val="B05A2E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941832" y="4553712"/>
            <a:ext cx="13167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02920" y="402336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68680" y="4050792"/>
            <a:ext cx="219456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1832" y="4050792"/>
            <a:ext cx="13167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사무실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352044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4F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68680" y="3547872"/>
            <a:ext cx="2194560" cy="448056"/>
          </a:xfrm>
          <a:prstGeom prst="rect">
            <a:avLst/>
          </a:prstGeom>
          <a:solidFill>
            <a:srgbClr val="FBEFE8"/>
          </a:solidFill>
          <a:ln w="15240">
            <a:solidFill>
              <a:srgbClr val="B05A2E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941832" y="3547872"/>
            <a:ext cx="13167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02920" y="301752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5F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68680" y="3044952"/>
            <a:ext cx="2194560" cy="448056"/>
          </a:xfrm>
          <a:prstGeom prst="rect">
            <a:avLst/>
          </a:prstGeom>
          <a:solidFill>
            <a:srgbClr val="FBEFE8"/>
          </a:solidFill>
          <a:ln w="15240">
            <a:solidFill>
              <a:srgbClr val="B05A2E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941832" y="3044952"/>
            <a:ext cx="13167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02920" y="251460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6F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68680" y="2542032"/>
            <a:ext cx="219456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41832" y="2542032"/>
            <a:ext cx="13167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사무실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02920" y="201168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7F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68680" y="2039112"/>
            <a:ext cx="219456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41832" y="2039112"/>
            <a:ext cx="13167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사무실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608076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렌트롤 현황 기준 층별 공간 배치도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49040" y="1645920"/>
          <a:ext cx="6805879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57200"/>
                <a:gridCol w="868680"/>
                <a:gridCol w="1188720"/>
                <a:gridCol w="749808"/>
                <a:gridCol w="749808"/>
                <a:gridCol w="658368"/>
                <a:gridCol w="658368"/>
                <a:gridCol w="1161288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층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호실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용도/업종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임차인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전용면적(㎡)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보증금(만원)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월세(만원)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계약종료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파티룸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파티룸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8개 호실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 3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사진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234440"/>
            <a:ext cx="3600602" cy="22905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76072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576072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231538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31538" y="1234440"/>
            <a:ext cx="3600602" cy="229057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304690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13" name="Text 9"/>
          <p:cNvSpPr/>
          <p:nvPr/>
        </p:nvSpPr>
        <p:spPr>
          <a:xfrm>
            <a:off x="4304690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7960157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60157" y="1234440"/>
            <a:ext cx="3600602" cy="2290572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033309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17" name="Text 12"/>
          <p:cNvSpPr/>
          <p:nvPr/>
        </p:nvSpPr>
        <p:spPr>
          <a:xfrm>
            <a:off x="8033309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출입구</a:t>
            </a:r>
            <a:endParaRPr lang="en-US" sz="900" dirty="0"/>
          </a:p>
        </p:txBody>
      </p:sp>
      <p:sp>
        <p:nvSpPr>
          <p:cNvPr id="18" name="Shape 13"/>
          <p:cNvSpPr/>
          <p:nvPr/>
        </p:nvSpPr>
        <p:spPr>
          <a:xfrm>
            <a:off x="502920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02920" y="3653028"/>
            <a:ext cx="3600602" cy="2290572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576072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1" name="Text 15"/>
          <p:cNvSpPr/>
          <p:nvPr/>
        </p:nvSpPr>
        <p:spPr>
          <a:xfrm>
            <a:off x="576072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 공간</a:t>
            </a:r>
            <a:endParaRPr lang="en-US" sz="900" dirty="0"/>
          </a:p>
        </p:txBody>
      </p:sp>
      <p:sp>
        <p:nvSpPr>
          <p:cNvPr id="22" name="Shape 16"/>
          <p:cNvSpPr/>
          <p:nvPr/>
        </p:nvSpPr>
        <p:spPr>
          <a:xfrm>
            <a:off x="4231538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231538" y="3653028"/>
            <a:ext cx="3600602" cy="2290572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4304690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5" name="Text 18"/>
          <p:cNvSpPr/>
          <p:nvPr/>
        </p:nvSpPr>
        <p:spPr>
          <a:xfrm>
            <a:off x="4304690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 공간</a:t>
            </a:r>
            <a:endParaRPr lang="en-US" sz="900" dirty="0"/>
          </a:p>
        </p:txBody>
      </p:sp>
      <p:sp>
        <p:nvSpPr>
          <p:cNvPr id="26" name="Shape 19"/>
          <p:cNvSpPr/>
          <p:nvPr/>
        </p:nvSpPr>
        <p:spPr>
          <a:xfrm>
            <a:off x="7960157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960157" y="3653028"/>
            <a:ext cx="3600602" cy="2290572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8033309" y="3726180"/>
            <a:ext cx="82296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9" name="Text 21"/>
          <p:cNvSpPr/>
          <p:nvPr/>
        </p:nvSpPr>
        <p:spPr>
          <a:xfrm>
            <a:off x="8033309" y="37261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주차장</a:t>
            </a:r>
            <a:endParaRPr lang="en-US" sz="900" dirty="0"/>
          </a:p>
        </p:txBody>
      </p:sp>
      <p:sp>
        <p:nvSpPr>
          <p:cNvPr id="30" name="Text 2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1" name="Text 2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담당자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010-0000-0000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2026-09-24T11:42:34Z</dcterms:created>
  <dcterms:modified xsi:type="dcterms:W3CDTF">2026-09-24T11:42:34Z</dcterms:modified>
</cp:coreProperties>
</file>