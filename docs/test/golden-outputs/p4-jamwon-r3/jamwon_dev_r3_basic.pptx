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image" Target="../media/image-8-4.jpeg"/><Relationship Id="rId5" Type="http://schemas.openxmlformats.org/officeDocument/2006/relationships/image" Target="../media/image-8-5.jpeg"/><Relationship Id="rId6" Type="http://schemas.openxmlformats.org/officeDocument/2006/relationships/image" Target="../media/image-8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 투자설명서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37947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21538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421538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901952" y="421538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901952" y="421538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465429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76402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242.27억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2026.10.05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제2종일반주거지역에 위치한 1990년 준공, 지하 1층·지상 5층 규모의 임대수익형 근린생활시설입니다.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242.268억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186.4평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614.9평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3152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B1/F5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30773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7233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 (NOI 기준)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47233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1.27%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472330" y="3529203"/>
            <a:ext cx="3247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운영비·공실충당 차감 후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8048549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13141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13141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 현황 — 전 11개 호실 임차 중, 월 임대료 3,335만 원·보증금 10억 3,000만 원의 임대 수익이 발생하고 있습니다.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— 제2종일반주거지역 대지 616.1㎡ 규모입니다.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87168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487168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616.1㎡ (186.4평)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87168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2032.59㎡ (614.9평)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87168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87168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1990년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487168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B1~5F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487168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12대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487168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1대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10754" b="10754"/>
          <a:stretch/>
        </p:blipFill>
        <p:spPr>
          <a:xfrm>
            <a:off x="7784287" y="1645920"/>
            <a:ext cx="3840480" cy="2304288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7784287" y="4087368"/>
            <a:ext cx="3840480" cy="1307592"/>
          </a:xfrm>
          <a:prstGeom prst="roundRect">
            <a:avLst>
              <a:gd name="adj" fmla="val 3497"/>
            </a:avLst>
          </a:prstGeom>
          <a:solidFill>
            <a:srgbClr val="F6F1E4"/>
          </a:solidFill>
          <a:ln w="9525">
            <a:solidFill>
              <a:srgbClr val="D4C89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784287" y="4160520"/>
            <a:ext cx="45720" cy="116128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967167" y="4197096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7985455" y="4613148"/>
            <a:ext cx="54864" cy="5486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113471" y="4507992"/>
            <a:ext cx="33832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임차 11/11개 호실(100%) · 월 임대료 3,335만 원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7985455" y="4878324"/>
            <a:ext cx="54864" cy="5486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13471" y="4773168"/>
            <a:ext cx="33832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 616.1㎡ · 제2종일반주거지역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7985455" y="5143500"/>
            <a:ext cx="54864" cy="5486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113471" y="5038344"/>
            <a:ext cx="33832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1990년 준공 · 지하 1층·지상 5층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66928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49808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3476549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242.268억 원 (VAT 별도)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704088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49808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3476549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12,999만 원/평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04088" y="5184648"/>
            <a:ext cx="3200400" cy="320040"/>
          </a:xfrm>
          <a:prstGeom prst="roundRect">
            <a:avLst>
              <a:gd name="adj" fmla="val 11429"/>
            </a:avLst>
          </a:prstGeom>
          <a:solidFill>
            <a:srgbClr val="FFFFFF">
              <a:alpha val="90000"/>
            </a:srgbClr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9808" y="520293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</a:t>
            </a:r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자산(본건)   </a:t>
            </a:r>
            <a:pPr indent="0" marL="0">
              <a:buNone/>
            </a:pPr>
            <a:r>
              <a:rPr lang="en-US" sz="10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╌ </a:t>
            </a:r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도보 5분 반경 (약 400m)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715768" y="3739896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132A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715768" y="373989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본건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053328" y="18013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13331" y="18013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53328" y="22585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2585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613331" y="22585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53328" y="27157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53328" y="27157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613331" y="27157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주요 상업·업무 권역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053328" y="328269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20" name="Shape 17"/>
          <p:cNvSpPr/>
          <p:nvPr/>
        </p:nvSpPr>
        <p:spPr>
          <a:xfrm>
            <a:off x="6053328" y="3337560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1" name="Text 18"/>
          <p:cNvSpPr/>
          <p:nvPr/>
        </p:nvSpPr>
        <p:spPr>
          <a:xfrm>
            <a:off x="6199632" y="337413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199632" y="357530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배후 상권 기반 안정적 임대 수요</a:t>
            </a:r>
            <a:endParaRPr lang="en-US" sz="980" dirty="0"/>
          </a:p>
        </p:txBody>
      </p:sp>
      <p:sp>
        <p:nvSpPr>
          <p:cNvPr id="23" name="Text 2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616.1㎡ (186.4평)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487168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487168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200% 이하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487168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6576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487168" y="365760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12,999만 원/평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5" name="Shape 23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6" name="Text 24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 기준 법정 건폐율 60% 이하, 법정 용적률 200%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2011680" cy="329184"/>
          </a:xfrm>
          <a:prstGeom prst="rect">
            <a:avLst/>
          </a:prstGeom>
          <a:solidFill>
            <a:srgbClr val="132A3A"/>
          </a:solidFill>
          <a:ln w="6350">
            <a:solidFill>
              <a:srgbClr val="132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645920"/>
            <a:ext cx="20116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 스태킹 플랜 (㎡)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5143500"/>
            <a:ext cx="475488" cy="4526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115568" y="5175504"/>
            <a:ext cx="991362" cy="388620"/>
          </a:xfrm>
          <a:prstGeom prst="rect">
            <a:avLst/>
          </a:prstGeom>
          <a:solidFill>
            <a:srgbClr val="A6C1D9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5175504"/>
            <a:ext cx="936498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주점 318.8㎡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106930" y="5175504"/>
            <a:ext cx="453390" cy="388620"/>
          </a:xfrm>
          <a:prstGeom prst="rect">
            <a:avLst/>
          </a:prstGeom>
          <a:solidFill>
            <a:srgbClr val="93B3A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34362" y="5175504"/>
            <a:ext cx="39852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6928" y="4690872"/>
            <a:ext cx="475488" cy="4526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302851" y="4722876"/>
            <a:ext cx="467549" cy="388620"/>
          </a:xfrm>
          <a:prstGeom prst="rect">
            <a:avLst/>
          </a:prstGeom>
          <a:solidFill>
            <a:srgbClr val="A6C1D9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0283" y="4722876"/>
            <a:ext cx="412685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소매점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770400" y="4722876"/>
            <a:ext cx="419757" cy="388620"/>
          </a:xfrm>
          <a:prstGeom prst="rect">
            <a:avLst/>
          </a:prstGeom>
          <a:solidFill>
            <a:srgbClr val="93B3A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0157" y="4722876"/>
            <a:ext cx="182880" cy="388620"/>
          </a:xfrm>
          <a:prstGeom prst="rect">
            <a:avLst/>
          </a:prstGeom>
          <a:solidFill>
            <a:srgbClr val="C9A9A6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238244"/>
            <a:ext cx="475488" cy="4526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302851" y="4270248"/>
            <a:ext cx="1070187" cy="388620"/>
          </a:xfrm>
          <a:prstGeom prst="rect">
            <a:avLst/>
          </a:prstGeom>
          <a:solidFill>
            <a:srgbClr val="93B3A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30283" y="4270248"/>
            <a:ext cx="1015323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일반음식점 266.4㎡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3785616"/>
            <a:ext cx="475488" cy="4526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3F-1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02851" y="3817620"/>
            <a:ext cx="1070187" cy="388620"/>
          </a:xfrm>
          <a:prstGeom prst="rect">
            <a:avLst/>
          </a:prstGeom>
          <a:solidFill>
            <a:srgbClr val="E2E8F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30283" y="3817620"/>
            <a:ext cx="1015323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사무소 135.6㎡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3332988"/>
            <a:ext cx="475488" cy="4526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3F-2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324254" y="3364992"/>
            <a:ext cx="1027379" cy="388620"/>
          </a:xfrm>
          <a:prstGeom prst="rect">
            <a:avLst/>
          </a:prstGeom>
          <a:solidFill>
            <a:srgbClr val="E2E8F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51686" y="3364992"/>
            <a:ext cx="972515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의원 130.7㎡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66928" y="2880360"/>
            <a:ext cx="475488" cy="4526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302851" y="2912364"/>
            <a:ext cx="1070187" cy="388620"/>
          </a:xfrm>
          <a:prstGeom prst="rect">
            <a:avLst/>
          </a:prstGeom>
          <a:solidFill>
            <a:srgbClr val="E2E8F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30283" y="2912364"/>
            <a:ext cx="1015323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사무소 266.4㎡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66928" y="2427732"/>
            <a:ext cx="475488" cy="4526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5F-1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302851" y="2459736"/>
            <a:ext cx="1070187" cy="388620"/>
          </a:xfrm>
          <a:prstGeom prst="rect">
            <a:avLst/>
          </a:prstGeom>
          <a:solidFill>
            <a:srgbClr val="E2E8F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30283" y="2459736"/>
            <a:ext cx="1015323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 135.7㎡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66928" y="1975104"/>
            <a:ext cx="475488" cy="4526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5F-2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324254" y="2007108"/>
            <a:ext cx="1027379" cy="388620"/>
          </a:xfrm>
          <a:prstGeom prst="rect">
            <a:avLst/>
          </a:prstGeom>
          <a:solidFill>
            <a:srgbClr val="E2E8F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51686" y="2007108"/>
            <a:ext cx="972515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 130.6㎡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078992" y="5143500"/>
            <a:ext cx="1499616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566928" y="5070348"/>
            <a:ext cx="219456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603504" y="5596128"/>
            <a:ext cx="23266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872744" y="5705856"/>
            <a:ext cx="118872" cy="109728"/>
          </a:xfrm>
          <a:prstGeom prst="rect">
            <a:avLst/>
          </a:prstGeom>
          <a:solidFill>
            <a:srgbClr val="C9A9A6"/>
          </a:solidFill>
          <a:ln w="6350">
            <a:solidFill>
              <a:srgbClr val="5B6B7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8192" y="5596128"/>
            <a:ext cx="25044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315212" y="5705856"/>
            <a:ext cx="118872" cy="109728"/>
          </a:xfrm>
          <a:prstGeom prst="rect">
            <a:avLst/>
          </a:prstGeom>
          <a:solidFill>
            <a:srgbClr val="93B3A0"/>
          </a:solidFill>
          <a:ln w="6350">
            <a:solidFill>
              <a:srgbClr val="5B6B7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470660" y="5596128"/>
            <a:ext cx="25044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757680" y="5705856"/>
            <a:ext cx="118872" cy="109728"/>
          </a:xfrm>
          <a:prstGeom prst="rect">
            <a:avLst/>
          </a:prstGeom>
          <a:solidFill>
            <a:srgbClr val="A6C1D9"/>
          </a:solidFill>
          <a:ln w="6350">
            <a:solidFill>
              <a:srgbClr val="5B6B7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13128" y="5596128"/>
            <a:ext cx="25044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</a:t>
            </a:r>
            <a:endParaRPr lang="en-US" sz="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07208" y="1645920"/>
          <a:ext cx="8817559" cy="914400"/>
        </p:xfrm>
        <a:graphic>
          <a:graphicData uri="http://schemas.openxmlformats.org/drawingml/2006/table">
            <a:tbl>
              <a:tblPr/>
              <a:tblGrid>
                <a:gridCol w="539496"/>
                <a:gridCol w="877824"/>
                <a:gridCol w="978408"/>
                <a:gridCol w="1508760"/>
                <a:gridCol w="768096"/>
                <a:gridCol w="859536"/>
                <a:gridCol w="685800"/>
                <a:gridCol w="685800"/>
                <a:gridCol w="1042416"/>
                <a:gridCol w="8686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용도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임대면적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월임대료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관리비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월합계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만기일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A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318.8 (96.4평)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2027-03-31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협의 중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B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창고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145.8 (44.1평)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2026-12-31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합의 완료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C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소매점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103.7 (31.4평)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2027-09-30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미협의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D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휴게음식점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93.1 (28.1평)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2026-12-31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합의 완료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E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부동산중개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32.0 (9.7평)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2025-02-28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만기퇴거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266.4 (80.6평)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2026-04-30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3F-1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G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135.6 (41.0평)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3F-2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H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130.7 (39.5평)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I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266.4 (80.6평)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5F-1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J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135.7 (41.1평)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5F-2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K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130.6 (39.5평)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11개 호실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1,758.8 (532.0평)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103,000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3,335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159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3,494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45" name="Text 42"/>
          <p:cNvSpPr/>
          <p:nvPr/>
        </p:nvSpPr>
        <p:spPr>
          <a:xfrm>
            <a:off x="2807208" y="1408176"/>
            <a:ext cx="88175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㎡ (평) · 금액 만원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5120640" cy="3822192"/>
          </a:xfrm>
          <a:prstGeom prst="roundRect">
            <a:avLst>
              <a:gd name="adj" fmla="val 1914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" y="1508760"/>
            <a:ext cx="4663440" cy="1115568"/>
          </a:xfrm>
          <a:prstGeom prst="roundRect">
            <a:avLst>
              <a:gd name="adj" fmla="val 6557"/>
            </a:avLst>
          </a:prstGeom>
          <a:solidFill>
            <a:srgbClr val="132A3A"/>
          </a:solidFill>
          <a:ln/>
        </p:spPr>
      </p:sp>
      <p:sp>
        <p:nvSpPr>
          <p:cNvPr id="7" name="Text 5"/>
          <p:cNvSpPr/>
          <p:nvPr/>
        </p:nvSpPr>
        <p:spPr>
          <a:xfrm>
            <a:off x="978408" y="158191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임대수익률 (Gross, 매매가−보증금 대비)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904488" y="158191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1.73%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78408" y="200253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 (NOI 기준)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04488" y="20025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1.27%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78408" y="227685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공실충당 5% 제외 기준 (참고)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904488" y="227685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1.82%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86968" y="273405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임대수입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27248" y="27340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4.0억원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3081528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08152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27248" y="30815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10.3억원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5528" y="3429000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4290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27248" y="342900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242.3억원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5528" y="3776472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" y="377647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보증금 차감 매입가 (매매가−보증금)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27248" y="377647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232.0억원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5528" y="4123944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53328" y="1325880"/>
            <a:ext cx="5571439" cy="3822192"/>
          </a:xfrm>
          <a:prstGeom prst="roundRect">
            <a:avLst>
              <a:gd name="adj" fmla="val 1435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9360" y="1545336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6F1E4"/>
          </a:solidFill>
          <a:ln w="6350">
            <a:solidFill>
              <a:srgbClr val="8B650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154533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공시지가 열람 안내 ]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09360" y="1837944"/>
            <a:ext cx="5059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개별공시지가 및 토지 가치 평가 안내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2148840"/>
            <a:ext cx="5059375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필지의 개별공시지가 연도별 이력 및 표준지 공시지가 대비 배율은 부동산 공시가격 알리미 및 감정평가 공적 자료를 통해 확인합니다.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09360" y="2585923"/>
            <a:ext cx="50593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5936" y="2732227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2677363"/>
            <a:ext cx="4839919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5~10개년 개별공시지가 변동 추이 및 연평균 상승률 분석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345936" y="3295040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2" y="3240176"/>
            <a:ext cx="4839919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인근 표준지 공시지가 대비 토지 특성(도로접면, 형상, 방위) 차이 분석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6345936" y="3857854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3802990"/>
            <a:ext cx="4839919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공시지가 대비 실거래가 매매 배율 및 평당 단가 프리미엄 검증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6345936" y="4420667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8" name="Text 36"/>
          <p:cNvSpPr/>
          <p:nvPr/>
        </p:nvSpPr>
        <p:spPr>
          <a:xfrm>
            <a:off x="6473952" y="4365803"/>
            <a:ext cx="4839919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보유세(재산세·종합부동산세) 과세표준 기준액 산출 및 세무 영향 점검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566928" y="5285232"/>
            <a:ext cx="11057839" cy="612648"/>
          </a:xfrm>
          <a:prstGeom prst="roundRect">
            <a:avLst>
              <a:gd name="adj" fmla="val 8955"/>
            </a:avLst>
          </a:prstGeom>
          <a:solidFill>
            <a:srgbClr val="E8F4F8"/>
          </a:solidFill>
          <a:ln/>
        </p:spPr>
      </p:sp>
      <p:sp>
        <p:nvSpPr>
          <p:cNvPr id="40" name="Shape 38"/>
          <p:cNvSpPr/>
          <p:nvPr/>
        </p:nvSpPr>
        <p:spPr>
          <a:xfrm>
            <a:off x="566928" y="5340096"/>
            <a:ext cx="36576" cy="50292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1" name="Text 39"/>
          <p:cNvSpPr/>
          <p:nvPr/>
        </p:nvSpPr>
        <p:spPr>
          <a:xfrm>
            <a:off x="713232" y="5376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산출 요약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3232" y="5577840"/>
            <a:ext cx="1080180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임대수익률 1.73% (운영비 차감 전), Cap Rate 1.27% (운영비·공실충당 차감 후)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566928" y="595274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운영비율 18%(가정), 공실충당 5%, 보증금 승계 가정. 임대수익률은 운영비 차감 전, Cap Rate는 차감 후.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426" y="1234440"/>
            <a:ext cx="3211606" cy="22905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95546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7588" y="1234440"/>
            <a:ext cx="2996519" cy="229057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295546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4405274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 도로 및 접근로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024165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011" y="1234440"/>
            <a:ext cx="2908910" cy="229057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8097317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6" name="Text 11"/>
          <p:cNvSpPr/>
          <p:nvPr/>
        </p:nvSpPr>
        <p:spPr>
          <a:xfrm>
            <a:off x="8097317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 로비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56692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446" y="3653028"/>
            <a:ext cx="3001566" cy="2290572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66928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0" name="Text 14"/>
          <p:cNvSpPr/>
          <p:nvPr/>
        </p:nvSpPr>
        <p:spPr>
          <a:xfrm>
            <a:off x="676656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전용 공간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4295546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2896" y="3653028"/>
            <a:ext cx="2545902" cy="2290572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4295546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4" name="Text 17"/>
          <p:cNvSpPr/>
          <p:nvPr/>
        </p:nvSpPr>
        <p:spPr>
          <a:xfrm>
            <a:off x="4405274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전용 공간</a:t>
            </a:r>
            <a:endParaRPr lang="en-US" sz="900" dirty="0"/>
          </a:p>
        </p:txBody>
      </p:sp>
      <p:sp>
        <p:nvSpPr>
          <p:cNvPr id="25" name="Shape 18"/>
          <p:cNvSpPr/>
          <p:nvPr/>
        </p:nvSpPr>
        <p:spPr>
          <a:xfrm>
            <a:off x="8024165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2828" y="3653028"/>
            <a:ext cx="2443277" cy="2290572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8024165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8" name="Text 20"/>
          <p:cNvSpPr/>
          <p:nvPr/>
        </p:nvSpPr>
        <p:spPr>
          <a:xfrm>
            <a:off x="8133893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전용 공간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38912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6" name="Shape 4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2" name="Shape 10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3" name="Text 11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9" name="Text 17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6" name="Text 34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5" name="Text 43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7" name="Text 45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2026-10-05T15:10:33Z</dcterms:created>
  <dcterms:modified xsi:type="dcterms:W3CDTF">2026-10-05T15:10:33Z</dcterms:modified>
</cp:coreProperties>
</file>