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0D2233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1A3A4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8860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A3347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B4A5E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표지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" y="2304288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서초구 잠원동 26-14, 16번지 투자설명서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502920" y="327355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근린생활시설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02920" y="36576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서초구 잠원동 26-14, 16번지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02920" y="4078224"/>
            <a:ext cx="1243584" cy="292608"/>
          </a:xfrm>
          <a:prstGeom prst="roundRect">
            <a:avLst>
              <a:gd name="adj" fmla="val 50000"/>
            </a:avLst>
          </a:prstGeom>
          <a:solidFill>
            <a:srgbClr val="132A3A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" y="4078224"/>
            <a:ext cx="1243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근린생활시설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1837944" y="4078224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132A3A"/>
          </a:solidFill>
          <a:ln/>
        </p:spPr>
      </p:sp>
      <p:sp>
        <p:nvSpPr>
          <p:cNvPr id="17" name="Text 15"/>
          <p:cNvSpPr/>
          <p:nvPr/>
        </p:nvSpPr>
        <p:spPr>
          <a:xfrm>
            <a:off x="1837944" y="4078224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242억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02920" y="4517136"/>
            <a:ext cx="6858000" cy="1051560"/>
          </a:xfrm>
          <a:prstGeom prst="roundRect">
            <a:avLst>
              <a:gd name="adj" fmla="val 3478"/>
            </a:avLst>
          </a:prstGeom>
          <a:solidFill>
            <a:srgbClr val="8B6508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58952" y="4626864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6F1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매각 희망가 242억 원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502920" y="17007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CREDEAL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02920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2026.09.22  |  담당자  |  CREDEAL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요약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371600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67512" y="149961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667512" y="1719072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242.268억 원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243730" y="1371600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08322" y="149961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408322" y="1719072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186.4평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7984541" y="1371600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149133" y="149961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8149133" y="1719072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614.9평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502920" y="2496312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7512" y="262432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건축규모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667512" y="2843784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B1/F5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4243730" y="2496312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08322" y="262432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수익률(Cap Rate)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4408322" y="2843784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1.27%</a:t>
            </a:r>
            <a:endParaRPr lang="en-US" sz="2200" dirty="0"/>
          </a:p>
        </p:txBody>
      </p:sp>
      <p:sp>
        <p:nvSpPr>
          <p:cNvPr id="21" name="Shape 19"/>
          <p:cNvSpPr/>
          <p:nvPr/>
        </p:nvSpPr>
        <p:spPr>
          <a:xfrm>
            <a:off x="7984541" y="2496312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149133" y="262432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공실 현황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8149133" y="2843784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만실 운영 (공실 0%)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02920" y="371246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B650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502920" y="4041648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12648" y="4151376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6F1E4"/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12648" y="4151376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143000" y="4078224"/>
            <a:ext cx="1028059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가치: 대중교통 역세권 입지, 해당 권역 업무·상업 중심지 배후 수요 확보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02920" y="472287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12648" y="483260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6F1E4"/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12648" y="483260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143000" y="4759452"/>
            <a:ext cx="1028059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자산 규모: 대지 186평·연면적 615평·평당 약 3,940만 원 규모 단독 빌딩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502920" y="540410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2648" y="551383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6F1E4"/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12648" y="551383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143000" y="5440680"/>
            <a:ext cx="1028059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 안정성: 연 순수익률(Cap Rate) 1.27% 기반 안정적 임대수익 자산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물건 개요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기본 정보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소재지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서초구 잠원동 26-14, 16번지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02920" y="197510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1975104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423160" y="197510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616.1㎡ (186.4평)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02920" y="230428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304288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연면적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423160" y="2304288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2032.59㎡ (614.9평)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02920" y="263347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2633472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용도지역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423160" y="2633472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제2종일반주거지역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02920" y="29626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" y="2962656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준공연도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423160" y="2962656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1990년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02920" y="329184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" y="3291840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층수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2423160" y="3291840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B1~5F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02920" y="362102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2920" y="3621024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주차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423160" y="362102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자주식 12대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02920" y="395020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02920" y="3950208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엘리베이터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2423160" y="3950208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1대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02920" y="4389120"/>
            <a:ext cx="6858000" cy="1005840"/>
          </a:xfrm>
          <a:prstGeom prst="rect">
            <a:avLst/>
          </a:prstGeom>
          <a:solidFill>
            <a:srgbClr val="F6F1E4"/>
          </a:solidFill>
          <a:ln w="15240">
            <a:solidFill>
              <a:srgbClr val="B8860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85800" y="4389120"/>
            <a:ext cx="272674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 희망가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3412541" y="4389120"/>
            <a:ext cx="376549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242.268억 원 (VAT 별도)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640080" y="4892040"/>
            <a:ext cx="6583680" cy="0"/>
          </a:xfrm>
          <a:prstGeom prst="line">
            <a:avLst/>
          </a:prstGeom>
          <a:noFill/>
          <a:ln w="6350">
            <a:solidFill>
              <a:srgbClr val="D4C89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5800" y="4892040"/>
            <a:ext cx="272674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토지평당가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3412541" y="4892040"/>
            <a:ext cx="376549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12,999만 원/평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8860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720279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E8F4F8"/>
          </a:solidFill>
          <a:ln/>
        </p:spPr>
      </p:sp>
      <p:sp>
        <p:nvSpPr>
          <p:cNvPr id="38" name="Shape 36"/>
          <p:cNvSpPr/>
          <p:nvPr/>
        </p:nvSpPr>
        <p:spPr>
          <a:xfrm>
            <a:off x="7720279" y="1700784"/>
            <a:ext cx="36576" cy="1993392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39" name="Text 37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및 자산 개요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7866583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 검토 대상 상업용 자산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권리관계 및 임대차 계약 구조 분석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상세 인접 인프라 및 입지 환경 분석</a:t>
            </a:r>
            <a:endParaRPr lang="en-US" sz="980" dirty="0"/>
          </a:p>
        </p:txBody>
      </p:sp>
      <p:sp>
        <p:nvSpPr>
          <p:cNvPr id="41" name="Shape 39"/>
          <p:cNvSpPr/>
          <p:nvPr/>
        </p:nvSpPr>
        <p:spPr>
          <a:xfrm>
            <a:off x="7720279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E8F4F8"/>
          </a:solidFill>
          <a:ln/>
        </p:spPr>
      </p:sp>
      <p:sp>
        <p:nvSpPr>
          <p:cNvPr id="42" name="Shape 40"/>
          <p:cNvSpPr/>
          <p:nvPr/>
        </p:nvSpPr>
        <p:spPr>
          <a:xfrm>
            <a:off x="7720279" y="4032504"/>
            <a:ext cx="36576" cy="2039112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43" name="Text 41"/>
          <p:cNvSpPr/>
          <p:nvPr/>
        </p:nvSpPr>
        <p:spPr>
          <a:xfrm>
            <a:off x="7866583" y="406908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 수익 및 운영 현황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7866583" y="4270248"/>
            <a:ext cx="3584448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 검토 대상 자산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임대차 계약 조건 및 운영비 구조 분석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매입 후 운용 계획에 따른 수익성 분석</a:t>
            </a:r>
            <a:endParaRPr lang="en-US" sz="980" dirty="0"/>
          </a:p>
        </p:txBody>
      </p:sp>
      <p:sp>
        <p:nvSpPr>
          <p:cNvPr id="45" name="Text 4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입지 정보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정보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89320" y="1481328"/>
            <a:ext cx="55714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정보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989320" y="180136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소재지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549323" y="180136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서초구 잠원동 26-14, 16번지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989320" y="2258568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989320" y="225856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대중교통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7549323" y="225856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지하철 및 간선버스 인접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5989320" y="2715768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989320" y="271576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상권권역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7549323" y="271576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GBD 주요 상업·업무 권역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5989320" y="3282696"/>
            <a:ext cx="5571439" cy="658368"/>
          </a:xfrm>
          <a:prstGeom prst="roundRect">
            <a:avLst>
              <a:gd name="adj" fmla="val 8333"/>
            </a:avLst>
          </a:prstGeom>
          <a:solidFill>
            <a:srgbClr val="E8F4F8"/>
          </a:solidFill>
          <a:ln/>
        </p:spPr>
      </p:sp>
      <p:sp>
        <p:nvSpPr>
          <p:cNvPr id="17" name="Shape 14"/>
          <p:cNvSpPr/>
          <p:nvPr/>
        </p:nvSpPr>
        <p:spPr>
          <a:xfrm>
            <a:off x="5989320" y="3337560"/>
            <a:ext cx="36576" cy="548640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18" name="Text 15"/>
          <p:cNvSpPr/>
          <p:nvPr/>
        </p:nvSpPr>
        <p:spPr>
          <a:xfrm>
            <a:off x="6135624" y="3374136"/>
            <a:ext cx="53154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종합 분석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6135624" y="3575304"/>
            <a:ext cx="531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GBD 배후 상권 기반 안정적 임대 수요</a:t>
            </a:r>
            <a:endParaRPr lang="en-US" sz="980" dirty="0"/>
          </a:p>
        </p:txBody>
      </p:sp>
      <p:sp>
        <p:nvSpPr>
          <p:cNvPr id="20" name="Text 1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토지 정보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 정보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토지이용계획 · 규제 분석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616.1㎡ (186.4평)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4825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48256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제2종일반주거지역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02920" y="24505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450592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법정 건폐율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2423160" y="2450592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60% 이하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502920" y="285292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2852928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법정 용적률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2423160" y="2852928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200% 이하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502920" y="325526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" y="3255264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지목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2423160" y="3255264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502920" y="365760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" y="365760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토지평당가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2423160" y="365760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12,999만 원/평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8860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720279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E8F4F8"/>
          </a:solidFill>
          <a:ln/>
        </p:spPr>
      </p:sp>
      <p:sp>
        <p:nvSpPr>
          <p:cNvPr id="26" name="Shape 24"/>
          <p:cNvSpPr/>
          <p:nvPr/>
        </p:nvSpPr>
        <p:spPr>
          <a:xfrm>
            <a:off x="7720279" y="1700784"/>
            <a:ext cx="36576" cy="1993392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27" name="Text 25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 규제 및 공법 분석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7866583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제2종일반주거지역 기준 법정 건폐율 60% 이하, 법정 용적률 200% 이하 적용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특성에 부합하는 최적 토지이용 및 건축 규제 기준 충족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전면 도로 접면 조건 양호, 접근성 우수</a:t>
            </a:r>
            <a:endParaRPr lang="en-US" sz="980" dirty="0"/>
          </a:p>
        </p:txBody>
      </p:sp>
      <p:sp>
        <p:nvSpPr>
          <p:cNvPr id="29" name="Text 2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렌트롤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렌트롤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645920"/>
            <a:ext cx="137160" cy="137160"/>
          </a:xfrm>
          <a:prstGeom prst="rect">
            <a:avLst/>
          </a:prstGeom>
          <a:solidFill>
            <a:srgbClr val="C9A9A6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645920"/>
            <a:ext cx="54864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234440" y="1645920"/>
            <a:ext cx="137160" cy="137160"/>
          </a:xfrm>
          <a:prstGeom prst="rect">
            <a:avLst/>
          </a:prstGeom>
          <a:solidFill>
            <a:srgbClr val="93B3A0"/>
          </a:solidFill>
          <a:ln/>
        </p:spPr>
      </p:sp>
      <p:sp>
        <p:nvSpPr>
          <p:cNvPr id="9" name="Text 7"/>
          <p:cNvSpPr/>
          <p:nvPr/>
        </p:nvSpPr>
        <p:spPr>
          <a:xfrm>
            <a:off x="1417320" y="1645920"/>
            <a:ext cx="54864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965960" y="1645920"/>
            <a:ext cx="137160" cy="137160"/>
          </a:xfrm>
          <a:prstGeom prst="rect">
            <a:avLst/>
          </a:prstGeom>
          <a:solidFill>
            <a:srgbClr val="A6C1D9"/>
          </a:solidFill>
          <a:ln/>
        </p:spPr>
      </p:sp>
      <p:sp>
        <p:nvSpPr>
          <p:cNvPr id="11" name="Text 9"/>
          <p:cNvSpPr/>
          <p:nvPr/>
        </p:nvSpPr>
        <p:spPr>
          <a:xfrm>
            <a:off x="2148840" y="1645920"/>
            <a:ext cx="54864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697480" y="1645920"/>
            <a:ext cx="137160" cy="137160"/>
          </a:xfrm>
          <a:prstGeom prst="rect">
            <a:avLst/>
          </a:prstGeom>
          <a:solidFill>
            <a:srgbClr val="FBEFE8"/>
          </a:solidFill>
          <a:ln w="12700">
            <a:solidFill>
              <a:srgbClr val="B05A2E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2880360" y="1645920"/>
            <a:ext cx="54864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5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공실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85800" y="5303520"/>
            <a:ext cx="2560320" cy="0"/>
          </a:xfrm>
          <a:prstGeom prst="line">
            <a:avLst/>
          </a:prstGeom>
          <a:noFill/>
          <a:ln w="19050">
            <a:solidFill>
              <a:srgbClr val="CBD5E0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685800" y="5120640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GL (지상/지하 경계)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502920" y="5669280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B1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868680" y="5696712"/>
            <a:ext cx="2194560" cy="310896"/>
          </a:xfrm>
          <a:prstGeom prst="rect">
            <a:avLst/>
          </a:prstGeom>
          <a:solidFill>
            <a:srgbClr val="A6C1D9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41832" y="5696712"/>
            <a:ext cx="131673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주점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2185416" y="5696712"/>
            <a:ext cx="7680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319평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502920" y="5303520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B1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868680" y="5330952"/>
            <a:ext cx="2194560" cy="310896"/>
          </a:xfrm>
          <a:prstGeom prst="rect">
            <a:avLst/>
          </a:prstGeom>
          <a:solidFill>
            <a:srgbClr val="93B3A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41832" y="5330952"/>
            <a:ext cx="131673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창고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2185416" y="5330952"/>
            <a:ext cx="7680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146평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502920" y="4937760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1F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1472184" y="4965192"/>
            <a:ext cx="987552" cy="310896"/>
          </a:xfrm>
          <a:prstGeom prst="rect">
            <a:avLst/>
          </a:prstGeom>
          <a:solidFill>
            <a:srgbClr val="A6C1D9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517904" y="4965192"/>
            <a:ext cx="89611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소매점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502920" y="4572000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1F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1472184" y="4599432"/>
            <a:ext cx="987552" cy="310896"/>
          </a:xfrm>
          <a:prstGeom prst="rect">
            <a:avLst/>
          </a:prstGeom>
          <a:solidFill>
            <a:srgbClr val="93B3A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517904" y="4599432"/>
            <a:ext cx="89611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휴게음식점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502920" y="4206240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1F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1472184" y="4233672"/>
            <a:ext cx="987552" cy="310896"/>
          </a:xfrm>
          <a:prstGeom prst="rect">
            <a:avLst/>
          </a:prstGeom>
          <a:solidFill>
            <a:srgbClr val="C9A9A6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517904" y="4233672"/>
            <a:ext cx="89611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부동산중개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502920" y="3840480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2F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1044245" y="3867912"/>
            <a:ext cx="1843430" cy="310896"/>
          </a:xfrm>
          <a:prstGeom prst="rect">
            <a:avLst/>
          </a:prstGeom>
          <a:solidFill>
            <a:srgbClr val="93B3A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17397" y="3867912"/>
            <a:ext cx="110605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일반음식점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2150303" y="3867912"/>
            <a:ext cx="645201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266평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502920" y="3474720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3F-1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1472184" y="3502152"/>
            <a:ext cx="987552" cy="310896"/>
          </a:xfrm>
          <a:prstGeom prst="rect">
            <a:avLst/>
          </a:prstGeom>
          <a:solidFill>
            <a:srgbClr val="E2E8F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517904" y="3502152"/>
            <a:ext cx="89611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사무소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502920" y="3108960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3F-2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1472184" y="3136392"/>
            <a:ext cx="987552" cy="310896"/>
          </a:xfrm>
          <a:prstGeom prst="rect">
            <a:avLst/>
          </a:prstGeom>
          <a:solidFill>
            <a:srgbClr val="E2E8F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517904" y="3136392"/>
            <a:ext cx="89611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의원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502920" y="2743200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4F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1044245" y="2770632"/>
            <a:ext cx="1843430" cy="310896"/>
          </a:xfrm>
          <a:prstGeom prst="rect">
            <a:avLst/>
          </a:prstGeom>
          <a:solidFill>
            <a:srgbClr val="E2E8F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117397" y="2770632"/>
            <a:ext cx="110605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사무소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150303" y="2770632"/>
            <a:ext cx="645201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266평</a:t>
            </a:r>
            <a:endParaRPr lang="en-US" sz="700" dirty="0"/>
          </a:p>
        </p:txBody>
      </p:sp>
      <p:sp>
        <p:nvSpPr>
          <p:cNvPr id="47" name="Text 45"/>
          <p:cNvSpPr/>
          <p:nvPr/>
        </p:nvSpPr>
        <p:spPr>
          <a:xfrm>
            <a:off x="502920" y="2377440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5F-1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1472184" y="2404872"/>
            <a:ext cx="987552" cy="310896"/>
          </a:xfrm>
          <a:prstGeom prst="rect">
            <a:avLst/>
          </a:prstGeom>
          <a:solidFill>
            <a:srgbClr val="E2E8F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517904" y="2404872"/>
            <a:ext cx="89611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학원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502920" y="2011680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5F-2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1472184" y="2039112"/>
            <a:ext cx="987552" cy="310896"/>
          </a:xfrm>
          <a:prstGeom prst="rect">
            <a:avLst/>
          </a:prstGeom>
          <a:solidFill>
            <a:srgbClr val="E2E8F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1517904" y="2039112"/>
            <a:ext cx="89611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학원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502920" y="608076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A8A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렌트롤 현황 기준 층별 공간 배치도</a:t>
            </a:r>
            <a:endParaRPr lang="en-US" sz="8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749040" y="1645920"/>
          <a:ext cx="6805879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457200"/>
                <a:gridCol w="868680"/>
                <a:gridCol w="1188720"/>
                <a:gridCol w="749808"/>
                <a:gridCol w="749808"/>
                <a:gridCol w="658368"/>
                <a:gridCol w="658368"/>
                <a:gridCol w="658368"/>
                <a:gridCol w="502920"/>
              </a:tblGrid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층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호실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용도/업종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임차인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전용면적(㎡)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보증금(만원)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월세(만원)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관리비(만원)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계약종료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비고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B1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주점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주점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318.8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34,000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337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29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2027-03-31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협의 중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B1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창고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창고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145.8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6,000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88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2026-12-31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합의 완료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소매점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소매점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103.7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5,000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470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2027-09-30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미협의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휴게음식점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휴게음식점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93.1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8,000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2026-12-31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합의 완료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부동산중개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부동산중개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32.0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3,000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2025-02-28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만기퇴거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일반음식점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일반음식점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266.4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15,000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2026-04-30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3F-1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사무소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사무소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135.6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5,000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3F-2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의원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의원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130.7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7,000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사무소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사무소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266.4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10,000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5F-1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학원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학원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135.7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5,000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</a:tbl>
          </a:graphicData>
        </a:graphic>
      </p:graphicFrame>
      <p:sp>
        <p:nvSpPr>
          <p:cNvPr id="55" name="Text 52"/>
          <p:cNvSpPr/>
          <p:nvPr/>
        </p:nvSpPr>
        <p:spPr>
          <a:xfrm>
            <a:off x="3749040" y="5257800"/>
            <a:ext cx="6805879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879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(전체 12건 중 10건 표시)</a:t>
            </a:r>
            <a:endParaRPr lang="en-US" sz="900" dirty="0"/>
          </a:p>
        </p:txBody>
      </p:sp>
      <p:sp>
        <p:nvSpPr>
          <p:cNvPr id="56" name="Text 5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57" name="Text 5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수익률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371600"/>
            <a:ext cx="11057839" cy="1188720"/>
          </a:xfrm>
          <a:prstGeom prst="roundRect">
            <a:avLst>
              <a:gd name="adj" fmla="val 6154"/>
            </a:avLst>
          </a:prstGeom>
          <a:solidFill>
            <a:srgbClr val="F7FAFC"/>
          </a:solidFill>
          <a:ln w="9525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508760"/>
            <a:ext cx="3200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표면 임대수익률  =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343400" y="15087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연간 임대료 합계 (관리비 제외)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26280" y="1920240"/>
            <a:ext cx="4206240" cy="0"/>
          </a:xfrm>
          <a:prstGeom prst="line">
            <a:avLst/>
          </a:prstGeom>
          <a:noFill/>
          <a:ln w="25400">
            <a:solidFill>
              <a:srgbClr val="B886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43400" y="19659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매매가  −  승계 보증금 합계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726119" y="1508760"/>
            <a:ext cx="2697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4.0억원</a:t>
            </a:r>
            <a:pPr algn="r"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÷ (242.3억원 − 10.3억원)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2920" y="2834640"/>
            <a:ext cx="11057839" cy="306324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5800" y="3017520"/>
            <a:ext cx="1280160" cy="329184"/>
          </a:xfrm>
          <a:prstGeom prst="roundRect">
            <a:avLst>
              <a:gd name="adj" fmla="val 11111"/>
            </a:avLst>
          </a:prstGeom>
          <a:solidFill>
            <a:srgbClr val="F3F6F7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301752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As-Is (현재)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77240" y="3520440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연간 임대료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457639" y="3520440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4.0억원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77240" y="3922776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승계 보증금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9457639" y="3922776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10.3억원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77240" y="4325112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매매가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457639" y="4325112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242.3억원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85800" y="4837176"/>
            <a:ext cx="10692079" cy="594360"/>
          </a:xfrm>
          <a:prstGeom prst="roundRect">
            <a:avLst>
              <a:gd name="adj" fmla="val 9231"/>
            </a:avLst>
          </a:prstGeom>
          <a:solidFill>
            <a:srgbClr val="132A3A"/>
          </a:solidFill>
          <a:ln/>
        </p:spPr>
      </p:sp>
      <p:sp>
        <p:nvSpPr>
          <p:cNvPr id="22" name="Text 20"/>
          <p:cNvSpPr/>
          <p:nvPr/>
        </p:nvSpPr>
        <p:spPr>
          <a:xfrm>
            <a:off x="868680" y="4837176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Cap Rate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183319" y="4837176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1.73%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3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문의/유의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및 유의사항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02920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132A3A"/>
          </a:solidFill>
          <a:ln/>
        </p:spPr>
      </p:sp>
      <p:sp>
        <p:nvSpPr>
          <p:cNvPr id="7" name="Shape 5"/>
          <p:cNvSpPr/>
          <p:nvPr/>
        </p:nvSpPr>
        <p:spPr>
          <a:xfrm>
            <a:off x="612648" y="1572768"/>
            <a:ext cx="438912" cy="43891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8" name="Text 6"/>
          <p:cNvSpPr/>
          <p:nvPr/>
        </p:nvSpPr>
        <p:spPr>
          <a:xfrm>
            <a:off x="612648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61288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61288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091330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237634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132A3A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7362" y="1572768"/>
            <a:ext cx="438912" cy="43891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4" name="Text 12"/>
          <p:cNvSpPr/>
          <p:nvPr/>
        </p:nvSpPr>
        <p:spPr>
          <a:xfrm>
            <a:off x="4347362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96002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96002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26045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972349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132A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082077" y="1572768"/>
            <a:ext cx="438912" cy="43891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20" name="Text 18"/>
          <p:cNvSpPr/>
          <p:nvPr/>
        </p:nvSpPr>
        <p:spPr>
          <a:xfrm>
            <a:off x="8082077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30717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30717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02920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2920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25" name="Text 23"/>
          <p:cNvSpPr/>
          <p:nvPr/>
        </p:nvSpPr>
        <p:spPr>
          <a:xfrm>
            <a:off x="502920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29384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02920" y="312724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28" name="Text 26"/>
          <p:cNvSpPr/>
          <p:nvPr/>
        </p:nvSpPr>
        <p:spPr>
          <a:xfrm>
            <a:off x="50292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29384" y="31089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02920" y="352958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31" name="Text 29"/>
          <p:cNvSpPr/>
          <p:nvPr/>
        </p:nvSpPr>
        <p:spPr>
          <a:xfrm>
            <a:off x="502920" y="352958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29384" y="351129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02920" y="393192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34" name="Text 32"/>
          <p:cNvSpPr/>
          <p:nvPr/>
        </p:nvSpPr>
        <p:spPr>
          <a:xfrm>
            <a:off x="502920" y="3931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29384" y="391363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02920" y="433425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37" name="Text 35"/>
          <p:cNvSpPr/>
          <p:nvPr/>
        </p:nvSpPr>
        <p:spPr>
          <a:xfrm>
            <a:off x="502920" y="433425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29384" y="431596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중개사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32A3A"/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675120" y="2798064"/>
            <a:ext cx="4764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📞  담당자  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6675120" y="3072384"/>
            <a:ext cx="4764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☎ 010-0000-0000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6675120" y="3310128"/>
            <a:ext cx="4764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🏢 CREDEAL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492240" y="3895344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492240" y="4206240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A3347"/>
          </a:solidFill>
          <a:ln/>
        </p:spPr>
      </p:sp>
      <p:sp>
        <p:nvSpPr>
          <p:cNvPr id="46" name="Text 44"/>
          <p:cNvSpPr/>
          <p:nvPr/>
        </p:nvSpPr>
        <p:spPr>
          <a:xfrm>
            <a:off x="6675120" y="4315968"/>
            <a:ext cx="47640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02920" y="5760720"/>
            <a:ext cx="11057839" cy="457200"/>
          </a:xfrm>
          <a:prstGeom prst="rect">
            <a:avLst/>
          </a:prstGeom>
          <a:solidFill>
            <a:srgbClr val="8B6508"/>
          </a:solidFill>
          <a:ln/>
        </p:spPr>
      </p:sp>
      <p:sp>
        <p:nvSpPr>
          <p:cNvPr id="48" name="Text 46"/>
          <p:cNvSpPr/>
          <p:nvPr/>
        </p:nvSpPr>
        <p:spPr>
          <a:xfrm>
            <a:off x="685800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6F1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CREDEAL · 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2026-09-22T04:17:39Z</dcterms:created>
  <dcterms:modified xsi:type="dcterms:W3CDTF">2026-09-22T04:17:39Z</dcterms:modified>
</cp:coreProperties>
</file>