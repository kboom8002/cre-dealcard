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서초구 잠원동 26-14, 16번지 투자설명서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6576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서초구 잠원동 26-14, 16번지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078224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07822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37944" y="407822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1837944" y="4078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242억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517136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626864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242억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2026.09.29  |  담당자  |  CREDEAL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49961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67512" y="171907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242.268억 원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43730" y="137160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8322" y="149961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08322" y="171907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186.4평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984541" y="137160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9133" y="149961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149133" y="171907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614.9평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02920" y="249631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262432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67512" y="284378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B1/F5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243730" y="249631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08322" y="262432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408322" y="284378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1.27%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984541" y="249631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9133" y="262432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149133" y="284378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 (공실 0%)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371246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404164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" y="415137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" y="415137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" y="4078224"/>
            <a:ext cx="102805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대중교통 역세권 입지, 해당 권역 업무·상업 중심지 배후 수요 확보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4722876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" y="4832604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" y="483260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3000" y="4759452"/>
            <a:ext cx="102805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186평·연면적 615평·평당 약 3,940만 원 규모 단독 빌딩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" y="540410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" y="551383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" y="551383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" y="5440680"/>
            <a:ext cx="102805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1.27% 기반 안정적 임대수익 자산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기본 정보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서초구 잠원동 26-14, 16번지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7510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751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7510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616.1㎡ (186.4평)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0428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042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0428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2032.59㎡ (614.9평)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3347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334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3347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제2종일반주거지역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626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296265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1990년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29184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2918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2918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B1~5F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6210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6210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62102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12대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39502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9502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엘리베이터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395020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1대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4389120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389120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12541" y="4389120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242.268억 원 (VAT 별도)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080" y="4892040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892040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12541" y="4892040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12,999만 원/평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20279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E8F4F8"/>
          </a:solidFill>
          <a:ln/>
        </p:spPr>
      </p:sp>
      <p:sp>
        <p:nvSpPr>
          <p:cNvPr id="38" name="Shape 36"/>
          <p:cNvSpPr/>
          <p:nvPr/>
        </p:nvSpPr>
        <p:spPr>
          <a:xfrm>
            <a:off x="7720279" y="1700784"/>
            <a:ext cx="36576" cy="199339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9" name="Text 37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및 자산 개요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866583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검토 대상 상업용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권리관계 및 임대차 계약 구조 분석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인접 인프라 및 입지 환경 분석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7720279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E8F4F8"/>
          </a:solidFill>
          <a:ln/>
        </p:spPr>
      </p:sp>
      <p:sp>
        <p:nvSpPr>
          <p:cNvPr id="42" name="Shape 40"/>
          <p:cNvSpPr/>
          <p:nvPr/>
        </p:nvSpPr>
        <p:spPr>
          <a:xfrm>
            <a:off x="7720279" y="4032504"/>
            <a:ext cx="36576" cy="203911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3" name="Text 41"/>
          <p:cNvSpPr/>
          <p:nvPr/>
        </p:nvSpPr>
        <p:spPr>
          <a:xfrm>
            <a:off x="7866583" y="40690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수익 및 운영 현황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866583" y="4270248"/>
            <a:ext cx="358444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검토 대상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계약 조건 및 운영비 구조 분석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매입 후 운용 계획에 따른 수익성 분석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서초구 잠원동 26-14, 16번지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89320" y="225856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585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549323" y="22585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 및 간선버스 인접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89320" y="271576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157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549323" y="27157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주요 상업·업무 권역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89320" y="3282696"/>
            <a:ext cx="5571439" cy="658368"/>
          </a:xfrm>
          <a:prstGeom prst="roundRect">
            <a:avLst>
              <a:gd name="adj" fmla="val 8333"/>
            </a:avLst>
          </a:prstGeom>
          <a:solidFill>
            <a:srgbClr val="E8F4F8"/>
          </a:solidFill>
          <a:ln/>
        </p:spPr>
      </p:sp>
      <p:sp>
        <p:nvSpPr>
          <p:cNvPr id="17" name="Shape 14"/>
          <p:cNvSpPr/>
          <p:nvPr/>
        </p:nvSpPr>
        <p:spPr>
          <a:xfrm>
            <a:off x="5989320" y="3337560"/>
            <a:ext cx="36576" cy="548640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18" name="Text 15"/>
          <p:cNvSpPr/>
          <p:nvPr/>
        </p:nvSpPr>
        <p:spPr>
          <a:xfrm>
            <a:off x="6135624" y="3374136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135624" y="3575304"/>
            <a:ext cx="531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배후 상권 기반 안정적 임대 수요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616.1㎡ (186.4평)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23160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제2종일반주거지역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24505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505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건폐율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423160" y="24505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 이하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285292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529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용적률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423160" y="285292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200% 이하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32552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5526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423160" y="325526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02920" y="365760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576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423160" y="365760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12,999만 원/평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20279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E8F4F8"/>
          </a:solidFill>
          <a:ln/>
        </p:spPr>
      </p:sp>
      <p:sp>
        <p:nvSpPr>
          <p:cNvPr id="26" name="Shape 24"/>
          <p:cNvSpPr/>
          <p:nvPr/>
        </p:nvSpPr>
        <p:spPr>
          <a:xfrm>
            <a:off x="7720279" y="1700784"/>
            <a:ext cx="36576" cy="199339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7" name="Text 25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866583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제2종일반주거지역 기준 법정 건폐율 60% 이하, 법정 용적률 200% 이하 적용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특성에 부합하는 최적 토지이용 및 건축 규제 기준 충족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전면 도로 접면 조건 양호, 접근성 우수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5532120"/>
            <a:ext cx="2743200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85800" y="5349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 (지상/지하 경계)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553212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33272" y="5559552"/>
            <a:ext cx="1234440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5550408"/>
            <a:ext cx="116128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주점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67712" y="5559552"/>
            <a:ext cx="1234440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04288" y="5550408"/>
            <a:ext cx="116128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502920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33272" y="5056632"/>
            <a:ext cx="822960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047488"/>
            <a:ext cx="78638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소매점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56232" y="5056632"/>
            <a:ext cx="822960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5047488"/>
            <a:ext cx="78638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휴게음식점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679192" y="5056632"/>
            <a:ext cx="822960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7480" y="5047488"/>
            <a:ext cx="78638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부동산중개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" y="452628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33272" y="4553712"/>
            <a:ext cx="2468880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9848" y="4544568"/>
            <a:ext cx="23957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일반음식점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402336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3F-1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33272" y="4050792"/>
            <a:ext cx="2468880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9848" y="4041648"/>
            <a:ext cx="23957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사무소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352044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3F-2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33272" y="3547872"/>
            <a:ext cx="2468880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9848" y="3538728"/>
            <a:ext cx="23957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의원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301752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33272" y="3044952"/>
            <a:ext cx="2468880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9848" y="3035808"/>
            <a:ext cx="23957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사무소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251460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5F-1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33272" y="2542032"/>
            <a:ext cx="2468880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9848" y="2532888"/>
            <a:ext cx="23957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학원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" y="201168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5F-2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33272" y="2039112"/>
            <a:ext cx="2468880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69848" y="2029968"/>
            <a:ext cx="23957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학원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2920" y="60807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86200" y="1645920"/>
          <a:ext cx="7674559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411480"/>
                <a:gridCol w="640080"/>
                <a:gridCol w="1051560"/>
                <a:gridCol w="640080"/>
                <a:gridCol w="640080"/>
                <a:gridCol w="502920"/>
                <a:gridCol w="640080"/>
                <a:gridCol w="640080"/>
                <a:gridCol w="640080"/>
                <a:gridCol w="640080"/>
                <a:gridCol w="850392"/>
              </a:tblGrid>
              <a:tr h="33762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층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호실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임대(㎡)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전용(㎡)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전용률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월세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관리비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만기일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337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88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소매점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소매점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휴게음식점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휴게음식점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부동산중개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부동산중개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일반음식점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일반음식점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3F-1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사무소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사무소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3F-2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사무소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사무소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5F-1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5F-2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762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11개 호실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103,000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3,335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42" name="Text 39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1057839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10600639" cy="1005840"/>
          </a:xfrm>
          <a:prstGeom prst="roundRect">
            <a:avLst>
              <a:gd name="adj" fmla="val 7273"/>
            </a:avLst>
          </a:prstGeom>
          <a:solidFill>
            <a:srgbClr val="132A3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00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60359" y="1600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1.73%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임대수입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000439" y="2834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4.0억원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182112"/>
            <a:ext cx="10600639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821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000439" y="31821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10.3억원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529584"/>
            <a:ext cx="10600639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5295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00439" y="35295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242.3억원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877056"/>
            <a:ext cx="10600639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8770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순투자금 (매매가 − 보증금)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00439" y="38770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232.0억원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224528"/>
            <a:ext cx="10600639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5897880"/>
            <a:ext cx="11057839" cy="438912"/>
          </a:xfrm>
          <a:prstGeom prst="roundRect">
            <a:avLst>
              <a:gd name="adj" fmla="val 12500"/>
            </a:avLst>
          </a:prstGeom>
          <a:solidFill>
            <a:srgbClr val="E8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5952744"/>
            <a:ext cx="36576" cy="329184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" y="5989320"/>
            <a:ext cx="10801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판단 참고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" y="6190488"/>
            <a:ext cx="108018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 1.7%는 시장 평균 하회 — 토지가치 상승 또는 리모델링 후 임대료 증대 가능성 검토 필요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담당자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010-0000-0000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CREDEAL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2026-09-29T01:49:58Z</dcterms:created>
  <dcterms:modified xsi:type="dcterms:W3CDTF">2026-09-29T01:49:58Z</dcterms:modified>
</cp:coreProperties>
</file>