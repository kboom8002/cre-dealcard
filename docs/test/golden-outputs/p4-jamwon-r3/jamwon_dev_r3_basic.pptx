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01952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07738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72330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72330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048549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13141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66928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307738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2330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72330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048549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3141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213141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66928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186평·연면적 615평·평당 약 3,940만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1.27% 기반 안정적 임대수익 자산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87168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87168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87168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87168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87168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87168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87168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6549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04088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76549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87168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5532120"/>
            <a:ext cx="274320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49808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553212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97280" y="5559552"/>
            <a:ext cx="123444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33856" y="5550408"/>
            <a:ext cx="116128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331720" y="5559552"/>
            <a:ext cx="123444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68296" y="5550408"/>
            <a:ext cx="116128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97280" y="5056632"/>
            <a:ext cx="8229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5047488"/>
            <a:ext cx="786384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920240" y="5056632"/>
            <a:ext cx="8229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38528" y="5047488"/>
            <a:ext cx="786384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휴게음식점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0" y="5056632"/>
            <a:ext cx="8229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61488" y="5047488"/>
            <a:ext cx="786384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부동산중개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" y="452628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97280" y="4553712"/>
            <a:ext cx="246888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4544568"/>
            <a:ext cx="239572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6928" y="402336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97280" y="4050792"/>
            <a:ext cx="246888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33856" y="4041648"/>
            <a:ext cx="239572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352044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97280" y="3547872"/>
            <a:ext cx="246888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856" y="3538728"/>
            <a:ext cx="239572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301752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97280" y="3044952"/>
            <a:ext cx="246888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3856" y="3035808"/>
            <a:ext cx="239572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51460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97280" y="2542032"/>
            <a:ext cx="246888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33856" y="2532888"/>
            <a:ext cx="239572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201168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97280" y="2039112"/>
            <a:ext cx="246888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33856" y="2029968"/>
            <a:ext cx="2395728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66928" y="59618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50208" y="1645920"/>
          <a:ext cx="7674559" cy="914400"/>
        </p:xfrm>
        <a:graphic>
          <a:graphicData uri="http://schemas.openxmlformats.org/drawingml/2006/table">
            <a:tbl>
              <a:tblPr/>
              <a:tblGrid>
                <a:gridCol w="438912"/>
                <a:gridCol w="960120"/>
                <a:gridCol w="804672"/>
                <a:gridCol w="713232"/>
                <a:gridCol w="713232"/>
                <a:gridCol w="713232"/>
                <a:gridCol w="713232"/>
                <a:gridCol w="713232"/>
                <a:gridCol w="713232"/>
                <a:gridCol w="1188720"/>
              </a:tblGrid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32A3A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4361688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6F1E4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3616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분석가정 (Stabilized)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공실층을 인근 동일 용도 시세 수준으로 임대 가정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368" y="43616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E8F4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1.7%는 시장 평균 하회 — 토지가치 상승 또는 리모델링 후 임대료 증대 가능성 검토 필요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11057839" cy="4572000"/>
          </a:xfrm>
          <a:prstGeom prst="roundRect">
            <a:avLst>
              <a:gd name="adj" fmla="val 1200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E8F4F8"/>
          </a:solidFill>
          <a:ln w="6350">
            <a:solidFill>
              <a:srgbClr val="2E6E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현장 실사 예정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88366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 현황 및 물리적 실사 점검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내·외관 상태 및 주요 설비 사양은 매수 실사 절차 진행 시 현장 방문 조사를 통해 상세 확인 및 촬영이 진행됩니다.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0662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85292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79806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 파사드 마감재 보존 상태 및 균열·누수 흔적 정밀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8444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52958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승강기, 기계식 주차설비, 수배전반 등 핵심 설비 내구연한 및 정기검사 이력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31596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26110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옥상 방수 상태, 지하층 결로/누수 여부 및 공용부(계단실·화장실) 관리 컨디션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504748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99262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주차대수 확보 여부, 주차장 진입로 회전반경 및 층고 실측 검증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2026-10-02T04:25:11Z</dcterms:created>
  <dcterms:modified xsi:type="dcterms:W3CDTF">2026-10-02T04:25:11Z</dcterms:modified>
</cp:coreProperties>
</file>