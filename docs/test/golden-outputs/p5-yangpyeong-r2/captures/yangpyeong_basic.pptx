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image" Target="../media/image-8-4.jpeg"/><Relationship Id="rId5" Type="http://schemas.openxmlformats.org/officeDocument/2006/relationships/image" Target="../media/image-8-5.jpeg"/><Relationship Id="rId6" Type="http://schemas.openxmlformats.org/officeDocument/2006/relationships/image" Target="../media/image-8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125-2번지 투자설명서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" y="32735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업무시설 (사무용빌딩)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65760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125-2번지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4224528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2245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업무시설 (사무용빌딩)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06040" y="422452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2606040" y="42245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663440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4773168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250억 원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02920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제이에스부동산중개법인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2026.09.29  |  정현우 수석팀장  |  제이에스부동산중개법인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2018년 신축 무결점 자산 · 11개 우량 법인 분산 만실 · 선유도역 도보 1분 3필지 통합 코너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057839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7512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 원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243730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832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08322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156.9평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984541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49133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149133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753.5평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02920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건축규모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7512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B1/F10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243730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8322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수익률(Cap Rate)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08322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984541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9133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149133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만실 운영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2920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2920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3000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선유도역 도보 1분 역세권 및 25m 양평로 북측 접면, 10m 동측 도로 접면 (코너) 접면, 영등포/양평 업무·상업 중심지 배후 수요 확보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43000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규모: 대지 157평·연면적 753평·평당 약 3,318만 원 규모 단독 빌딩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43000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연 순수익률(Cap Rate) 1.9% 기반 안정적 임대수익 자산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물건 개요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기본 정보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 (3필지 통합)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1920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518.70㎡ (156.91평)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19456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94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23160" y="2194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2,490.88㎡ (753.49평) / 지상 2,068.60㎡ (625.75평)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4688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68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건축면적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23160" y="2468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302.92㎡ (91.63평, 건폐율 58.40%)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274320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23160" y="2743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398.80% (준공업지역 법정 400.0% 상한 근접 최적화)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01752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건물구조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23160" y="3017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철근콘크리트구조 / 평지붕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29184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291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23160" y="3291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356616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566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23160" y="3566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2018년 9월 (신축급 특A 컨디션)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4023360"/>
            <a:ext cx="6858000" cy="10058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023360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12541" y="4023360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 원 (VAT 별도)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0080" y="4526280"/>
            <a:ext cx="6583680" cy="0"/>
          </a:xfrm>
          <a:prstGeom prst="line">
            <a:avLst/>
          </a:prstGeom>
          <a:noFill/>
          <a:ln w="6350">
            <a:solidFill>
              <a:srgbClr val="D4C8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526280"/>
            <a:ext cx="2726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12541" y="4526280"/>
            <a:ext cx="3765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15,933만 원/평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0279" y="1645920"/>
            <a:ext cx="3840480" cy="2926080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7720279" y="4681728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E8F4F8"/>
          </a:solidFill>
          <a:ln/>
        </p:spPr>
      </p:sp>
      <p:sp>
        <p:nvSpPr>
          <p:cNvPr id="39" name="Shape 36"/>
          <p:cNvSpPr/>
          <p:nvPr/>
        </p:nvSpPr>
        <p:spPr>
          <a:xfrm>
            <a:off x="7720279" y="4736592"/>
            <a:ext cx="36576" cy="139903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40" name="Text 37"/>
          <p:cNvSpPr/>
          <p:nvPr/>
        </p:nvSpPr>
        <p:spPr>
          <a:xfrm>
            <a:off x="7866583" y="4773168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7866583" y="4974336"/>
            <a:ext cx="3584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도심 비즈니스 권역 소재 핵심 입지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 임대수익 기반 투자 매물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역세권 접근성 및 주변 상업 인프라 우수</a:t>
            </a:r>
            <a:endParaRPr lang="en-US" sz="980" dirty="0"/>
          </a:p>
        </p:txBody>
      </p:sp>
      <p:sp>
        <p:nvSpPr>
          <p:cNvPr id="42" name="Text 39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125-2번지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148840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49323" y="2148840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선유도역 9호선 도보 4분 (약 295m)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89320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496312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49323" y="2496312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989320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2843784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상권권역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549323" y="2843784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영등포/양평 주요 상업·업무 권역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989320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89320" y="3191256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549323" y="3191256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코쿤빌아파트 도보 1분 (약 25m)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989320" y="353872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89320" y="353872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549323" y="353872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계명아파트 도보 1분 (약 50m)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989320" y="3995928"/>
            <a:ext cx="5571439" cy="1316736"/>
          </a:xfrm>
          <a:prstGeom prst="roundRect">
            <a:avLst>
              <a:gd name="adj" fmla="val 4167"/>
            </a:avLst>
          </a:prstGeom>
          <a:solidFill>
            <a:srgbClr val="E8F4F8"/>
          </a:solidFill>
          <a:ln/>
        </p:spPr>
      </p:sp>
      <p:sp>
        <p:nvSpPr>
          <p:cNvPr id="26" name="Shape 23"/>
          <p:cNvSpPr/>
          <p:nvPr/>
        </p:nvSpPr>
        <p:spPr>
          <a:xfrm>
            <a:off x="5989320" y="4050792"/>
            <a:ext cx="36576" cy="12070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7" name="Text 24"/>
          <p:cNvSpPr/>
          <p:nvPr/>
        </p:nvSpPr>
        <p:spPr>
          <a:xfrm>
            <a:off x="6135624" y="4087368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135624" y="4288536"/>
            <a:ext cx="531540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선유도역 9호선 도보 역세권으로 양호한 대중교통 접근성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 접면 차량 진출입 양호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영등포/양평 배후 상권 기반 안정적 임대 수요</a:t>
            </a:r>
            <a:endParaRPr lang="en-US" sz="980" dirty="0"/>
          </a:p>
        </p:txBody>
      </p:sp>
      <p:sp>
        <p:nvSpPr>
          <p:cNvPr id="29" name="Text 26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&amp; Cadastral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· 규제 분석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518.7㎡ (156.9평)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148840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49323" y="2148840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89320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496312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49323" y="2496312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58.4% (법정 상한 60%)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989320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2843784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549323" y="2843784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398.8% (법정 상한 400%)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989320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89320" y="3191256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549323" y="3191256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989320" y="353872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89320" y="353872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지목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549323" y="353872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989320" y="388620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89320" y="3886200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7549323" y="3886200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15,933만 원/평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989320" y="4343400"/>
            <a:ext cx="5571439" cy="1234440"/>
          </a:xfrm>
          <a:prstGeom prst="roundRect">
            <a:avLst>
              <a:gd name="adj" fmla="val 4444"/>
            </a:avLst>
          </a:prstGeom>
          <a:solidFill>
            <a:srgbClr val="E8F4F8"/>
          </a:solidFill>
          <a:ln/>
        </p:spPr>
      </p:sp>
      <p:sp>
        <p:nvSpPr>
          <p:cNvPr id="29" name="Shape 26"/>
          <p:cNvSpPr/>
          <p:nvPr/>
        </p:nvSpPr>
        <p:spPr>
          <a:xfrm>
            <a:off x="5989320" y="4398264"/>
            <a:ext cx="36576" cy="112471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30" name="Text 27"/>
          <p:cNvSpPr/>
          <p:nvPr/>
        </p:nvSpPr>
        <p:spPr>
          <a:xfrm>
            <a:off x="6135624" y="4434840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135624" y="4636008"/>
            <a:ext cx="5315407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 건폐율 58.4%, 용적률 398.8% (법정 상한: 건폐율 60%, 용적률 400%)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 기준 법정 상한 대비 용적률 상향 및 밸류애드 잠재력 보유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 접면으로 보행자 접근성 및 차량 진출입 동선 우수</a:t>
            </a:r>
            <a:endParaRPr lang="en-US" sz="980" dirty="0"/>
          </a:p>
        </p:txBody>
      </p:sp>
      <p:sp>
        <p:nvSpPr>
          <p:cNvPr id="32" name="Text 29"/>
          <p:cNvSpPr/>
          <p:nvPr/>
        </p:nvSpPr>
        <p:spPr>
          <a:xfrm>
            <a:off x="5989320" y="5715000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렌트롤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렌트롤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137160" cy="137160"/>
          </a:xfrm>
          <a:prstGeom prst="rect">
            <a:avLst/>
          </a:prstGeom>
          <a:solidFill>
            <a:srgbClr val="FBEFE8"/>
          </a:solidFill>
          <a:ln w="12700">
            <a:solidFill>
              <a:srgbClr val="B05A2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5699760"/>
            <a:ext cx="2743200" cy="0"/>
          </a:xfrm>
          <a:prstGeom prst="line">
            <a:avLst/>
          </a:prstGeom>
          <a:noFill/>
          <a:ln w="19050">
            <a:solidFill>
              <a:srgbClr val="CBD5E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85800" y="55168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 (지상/지하 경계)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5699760"/>
            <a:ext cx="475488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33272" y="5727192"/>
            <a:ext cx="2468880" cy="280416"/>
          </a:xfrm>
          <a:prstGeom prst="rect">
            <a:avLst/>
          </a:prstGeom>
          <a:solidFill>
            <a:srgbClr val="FBEFE8"/>
          </a:solidFill>
          <a:ln w="15240">
            <a:solidFill>
              <a:srgbClr val="B05A2E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069848" y="5718048"/>
            <a:ext cx="2395728" cy="298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5364480"/>
            <a:ext cx="475488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33272" y="5391912"/>
            <a:ext cx="2468880" cy="28041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5382768"/>
            <a:ext cx="2395728" cy="298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카페(스타벅스)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5029200"/>
            <a:ext cx="475488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2F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33272" y="5056632"/>
            <a:ext cx="2468880" cy="28041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9848" y="5047488"/>
            <a:ext cx="2395728" cy="298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 스튜디오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2920" y="4693920"/>
            <a:ext cx="475488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3F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33272" y="4721352"/>
            <a:ext cx="2468880" cy="28041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4712208"/>
            <a:ext cx="2395728" cy="298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기업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2920" y="4358640"/>
            <a:ext cx="475488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4F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33272" y="4386072"/>
            <a:ext cx="2468880" cy="28041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9848" y="4376928"/>
            <a:ext cx="2395728" cy="298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 에이전시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2920" y="4023360"/>
            <a:ext cx="475488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5F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33272" y="4050792"/>
            <a:ext cx="2468880" cy="28041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9848" y="4041648"/>
            <a:ext cx="2395728" cy="298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법률사무소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2920" y="3688080"/>
            <a:ext cx="475488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6F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33272" y="3715512"/>
            <a:ext cx="2468880" cy="28041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9848" y="3706368"/>
            <a:ext cx="2395728" cy="298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회계법인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2920" y="3352800"/>
            <a:ext cx="475488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7F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33272" y="3380232"/>
            <a:ext cx="2468880" cy="28041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9848" y="3371088"/>
            <a:ext cx="2395728" cy="298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교육기관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02920" y="3017520"/>
            <a:ext cx="475488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8F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033272" y="3044952"/>
            <a:ext cx="2468880" cy="28041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69848" y="3035808"/>
            <a:ext cx="2395728" cy="298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핀테크 스타트업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2920" y="2682240"/>
            <a:ext cx="475488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9F-A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33272" y="2709672"/>
            <a:ext cx="2468880" cy="28041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69848" y="2700528"/>
            <a:ext cx="2395728" cy="298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컨설팅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02920" y="2346960"/>
            <a:ext cx="475488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9F-B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033272" y="2374392"/>
            <a:ext cx="2468880" cy="28041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69848" y="2365248"/>
            <a:ext cx="2395728" cy="298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02920" y="2011680"/>
            <a:ext cx="475488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10F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033272" y="2039112"/>
            <a:ext cx="2468880" cy="28041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69848" y="2029968"/>
            <a:ext cx="2395728" cy="298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건축설계사무소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02920" y="60807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렌트롤 현황 기준 층별 공간 배치도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86200" y="1645920"/>
          <a:ext cx="7674559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411480"/>
                <a:gridCol w="640080"/>
                <a:gridCol w="1051560"/>
                <a:gridCol w="640080"/>
                <a:gridCol w="640080"/>
                <a:gridCol w="502920"/>
                <a:gridCol w="640080"/>
                <a:gridCol w="640080"/>
                <a:gridCol w="640080"/>
                <a:gridCol w="640080"/>
                <a:gridCol w="850392"/>
              </a:tblGrid>
              <a:tr h="313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층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호실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용도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임차인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임대(㎡)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전용(㎡)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전용률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보증금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월세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관리비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만기일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(공실)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(공실)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카페(스타벅스)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카페(스타벅스)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7,600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715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디자인 스튜디오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디자인 스튜디오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5,400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507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기업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기업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마케팅 에이전시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마케팅 에이전시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5,200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495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법률사무소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법률사무소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5,500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510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회계법인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회계법인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5,300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교육기관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교육기관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4,800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핀테크 스타트업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핀테크 스타트업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485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9F-A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컨설팅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컨설팅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2,500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9F-B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세무사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세무사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2,400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245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건축설계사무소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건축설계사무소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490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12개 호실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53,700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5,147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" name="Text 45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11057839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10600639" cy="1005840"/>
          </a:xfrm>
          <a:prstGeom prst="roundRect">
            <a:avLst>
              <a:gd name="adj" fmla="val 7273"/>
            </a:avLst>
          </a:prstGeom>
          <a:solidFill>
            <a:srgbClr val="132A3A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600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60359" y="16002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2.52%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임대수입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000439" y="28346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6.2억원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182112"/>
            <a:ext cx="10600639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1821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000439" y="31821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5.4억원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529584"/>
            <a:ext cx="10600639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5295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00439" y="352958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250.0억원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877056"/>
            <a:ext cx="10600639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87705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순투자금 (매매가 − 보증금)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000439" y="387705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244.6억원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224528"/>
            <a:ext cx="10600639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361688"/>
            <a:ext cx="10600639" cy="502920"/>
          </a:xfrm>
          <a:prstGeom prst="roundRect">
            <a:avLst>
              <a:gd name="adj" fmla="val 10909"/>
            </a:avLst>
          </a:prstGeom>
          <a:solidFill>
            <a:srgbClr val="F6F1E4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36168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공실 정상화 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817559" y="436168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2.66%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02920" y="5897880"/>
            <a:ext cx="11057839" cy="438912"/>
          </a:xfrm>
          <a:prstGeom prst="roundRect">
            <a:avLst>
              <a:gd name="adj" fmla="val 12500"/>
            </a:avLst>
          </a:prstGeom>
          <a:solidFill>
            <a:srgbClr val="E8F4F8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5952744"/>
            <a:ext cx="36576" cy="329184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" y="5989320"/>
            <a:ext cx="10801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판단 참고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9224" y="6190488"/>
            <a:ext cx="108018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 2.5%는 시장 평균 하회 — 토지가치 상승 또는 리모델링 후 임대료 증대 가능성 검토 필요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사진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34440"/>
            <a:ext cx="3600602" cy="22905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12648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더레드빌딩 전면 외관 (B1~10F 대로변 코너)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231538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31538" y="1234440"/>
            <a:ext cx="3600602" cy="22905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231538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4341266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측면 및 보행자 접근로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960157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60157" y="1234440"/>
            <a:ext cx="3600602" cy="229057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7960157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8069885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 주출입구 및 접근 동선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02920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2920" y="3653028"/>
            <a:ext cx="3600602" cy="229057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576072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576072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02920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612648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측후면 및 주차타워 진입로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231538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31538" y="3653028"/>
            <a:ext cx="3600602" cy="2290572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4304690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3" name="Text 26"/>
          <p:cNvSpPr/>
          <p:nvPr/>
        </p:nvSpPr>
        <p:spPr>
          <a:xfrm>
            <a:off x="4304690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4231538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4341266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전경 및 주변 가로 환경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7960157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960157" y="3653028"/>
            <a:ext cx="3600602" cy="2290572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8033309" y="3726180"/>
            <a:ext cx="82296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9" name="Text 31"/>
          <p:cNvSpPr/>
          <p:nvPr/>
        </p:nvSpPr>
        <p:spPr>
          <a:xfrm>
            <a:off x="8033309" y="3726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주차장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7960157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1" name="Text 33"/>
          <p:cNvSpPr/>
          <p:nvPr/>
        </p:nvSpPr>
        <p:spPr>
          <a:xfrm>
            <a:off x="8069885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 및 기계식 주차타워 (총 23대)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43" name="Text 35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문의/유의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91330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37634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7362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347362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6002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6002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26045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72349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082077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8082077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30717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30717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9384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9384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9384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9384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29384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 정현우 수석팀장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010-3344-5566    ✉ js-cre@credeal.kr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제이에스부동산중개법인    등록번호: 11680-2024-00156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제이에스부동산중개법인 · 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2026-09-29T01:48:29Z</dcterms:created>
  <dcterms:modified xsi:type="dcterms:W3CDTF">2026-09-29T01:48:29Z</dcterms:modified>
</cp:coreProperties>
</file>