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image" Target="../media/image-8-4.jpeg"/><Relationship Id="rId5" Type="http://schemas.openxmlformats.org/officeDocument/2006/relationships/image" Target="../media/image-8-5.jpeg"/><Relationship Id="rId6" Type="http://schemas.openxmlformats.org/officeDocument/2006/relationships/image" Target="../media/image-8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양평동4가 117, 134, 125-2번지 투자설명서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02920" y="327355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업무시설 (사무용빌딩)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65760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양평동4가 117, 134, 125-2번지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4224528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422452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업무시설 (사무용빌딩)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606040" y="4224528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2606040" y="422452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663440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4773168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250억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제이에스부동산중개법인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2026.09.23  |  정현우 수석팀장  |  제이에스부동산중개법인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2018년 신축 무결점 자산 · 11개 우량 법인 분산 만실 · 선유도역 도보 1분 3필지 통합 코너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250억 원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243730" y="196596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0832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08322" y="231343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156.9평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984541" y="196596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49133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149133" y="231343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753.5평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02920" y="309067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" y="32186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건축규모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67512" y="343814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B1/F10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243730" y="309067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08322" y="32186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408322" y="343814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1.9%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7984541" y="309067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49133" y="32186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149133" y="343814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 운영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선유도역 도보 1분 역세권 및 25m 양평로 북측 접면, 10m 동측 도로 접면 (코너) 접면, 영등포/양평 업무·상업 중심지 배후 수요 확보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157평·연면적 753평·평당 약 3,318만 원 규모 단독 빌딩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연 순수익률(Cap Rate) 1.9% 기반 안정적 임대수익 자산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양평동4가 117, 134, 125-2 (3필지 통합)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19202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20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423160" y="1920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518.70㎡ (156.91평)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19456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194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23160" y="21945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2,490.88㎡ (753.49평) / 지상 2,068.60㎡ (625.75평)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24688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건축면적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423160" y="24688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302.92㎡ (91.63평, 건폐율 58.40%)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27432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743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용적률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423160" y="27432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398.80% (준공업지역 법정 400.0% 상한 근접 최적화)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301752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017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건물구조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423160" y="30175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철근콘크리트구조 / 평지붕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32918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291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423160" y="32918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02920" y="356616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35661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423160" y="3566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2018년 9월 (신축급 특A 컨디션)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4023360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4023360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12541" y="4023360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250억 원 (VAT 별도)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4526280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526280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412541" y="4526280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15,933만 원/평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20279" y="1645920"/>
            <a:ext cx="3840480" cy="292608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7720279" y="4681728"/>
            <a:ext cx="3840480" cy="1508760"/>
          </a:xfrm>
          <a:prstGeom prst="roundRect">
            <a:avLst>
              <a:gd name="adj" fmla="val 3636"/>
            </a:avLst>
          </a:prstGeom>
          <a:solidFill>
            <a:srgbClr val="E8F4F8"/>
          </a:solidFill>
          <a:ln/>
        </p:spPr>
      </p:sp>
      <p:sp>
        <p:nvSpPr>
          <p:cNvPr id="39" name="Shape 36"/>
          <p:cNvSpPr/>
          <p:nvPr/>
        </p:nvSpPr>
        <p:spPr>
          <a:xfrm>
            <a:off x="7720279" y="4736592"/>
            <a:ext cx="36576" cy="139903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0" name="Text 37"/>
          <p:cNvSpPr/>
          <p:nvPr/>
        </p:nvSpPr>
        <p:spPr>
          <a:xfrm>
            <a:off x="7866583" y="4773168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하이라이트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7866583" y="4974336"/>
            <a:ext cx="358444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도심 비즈니스 권역 소재 핵심 입지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안정적 임대수익 기반 투자 매물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 역세권 접근성 및 주변 상업 인프라 우수</a:t>
            </a:r>
            <a:endParaRPr lang="en-US" sz="980" dirty="0"/>
          </a:p>
        </p:txBody>
      </p:sp>
      <p:sp>
        <p:nvSpPr>
          <p:cNvPr id="42" name="Text 3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3" name="Text 4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 접근성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양평동4가 117, 134, 125-2번지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989320" y="214884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14884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549323" y="214884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선유도역 9호선 도보 4분 (약 295m)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989320" y="2496312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496312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도로접면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49323" y="2496312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25m 양평로 북측 접면, 10m 동측 도로 접면 (코너)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989320" y="284378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89320" y="2843784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549323" y="2843784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영등포/양평 주요 상업·업무 권역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89320" y="319125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89320" y="3191256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주요시설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7549323" y="3191256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코쿤빌아파트 도보 1분 (약 25m)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989320" y="35387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989320" y="353872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주요시설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7549323" y="353872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계명아파트 도보 1분 (약 50m)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989320" y="3995928"/>
            <a:ext cx="5571439" cy="1316736"/>
          </a:xfrm>
          <a:prstGeom prst="roundRect">
            <a:avLst>
              <a:gd name="adj" fmla="val 4167"/>
            </a:avLst>
          </a:prstGeom>
          <a:solidFill>
            <a:srgbClr val="E8F4F8"/>
          </a:solidFill>
          <a:ln/>
        </p:spPr>
      </p:sp>
      <p:sp>
        <p:nvSpPr>
          <p:cNvPr id="26" name="Shape 23"/>
          <p:cNvSpPr/>
          <p:nvPr/>
        </p:nvSpPr>
        <p:spPr>
          <a:xfrm>
            <a:off x="5989320" y="4050792"/>
            <a:ext cx="36576" cy="1207008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7" name="Text 24"/>
          <p:cNvSpPr/>
          <p:nvPr/>
        </p:nvSpPr>
        <p:spPr>
          <a:xfrm>
            <a:off x="6135624" y="4087368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6135624" y="4288536"/>
            <a:ext cx="5315407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선유도역 9호선 도보 역세권으로 양호한 대중교통 접근성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25m 양평로 북측 접면, 10m 동측 도로 접면 (코너) 접면 차량 진출입 양호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영등포/양평 배후 상권 기반 안정적 임대 수요</a:t>
            </a:r>
            <a:endParaRPr lang="en-US" sz="980" dirty="0"/>
          </a:p>
        </p:txBody>
      </p:sp>
      <p:sp>
        <p:nvSpPr>
          <p:cNvPr id="29" name="Text 2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&amp; Cadastral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518.7㎡ (156.9평)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989320" y="214884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14884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549323" y="214884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989320" y="2496312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496312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건폐율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49323" y="2496312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58.4% (법정 상한 60%)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989320" y="284378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89320" y="2843784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용적률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549323" y="2843784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398.8% (법정 상한 400%)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89320" y="319125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89320" y="3191256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도로접면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7549323" y="3191256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25m 양평로 북측 접면, 10m 동측 도로 접면 (코너)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989320" y="35387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989320" y="353872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7549323" y="353872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989320" y="388620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989320" y="388620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7549323" y="388620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15,933만 원/평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989320" y="4343400"/>
            <a:ext cx="5571439" cy="1234440"/>
          </a:xfrm>
          <a:prstGeom prst="roundRect">
            <a:avLst>
              <a:gd name="adj" fmla="val 4444"/>
            </a:avLst>
          </a:prstGeom>
          <a:solidFill>
            <a:srgbClr val="E8F4F8"/>
          </a:solidFill>
          <a:ln/>
        </p:spPr>
      </p:sp>
      <p:sp>
        <p:nvSpPr>
          <p:cNvPr id="29" name="Shape 26"/>
          <p:cNvSpPr/>
          <p:nvPr/>
        </p:nvSpPr>
        <p:spPr>
          <a:xfrm>
            <a:off x="5989320" y="4398264"/>
            <a:ext cx="36576" cy="112471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0" name="Text 27"/>
          <p:cNvSpPr/>
          <p:nvPr/>
        </p:nvSpPr>
        <p:spPr>
          <a:xfrm>
            <a:off x="6135624" y="4434840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6135624" y="4636008"/>
            <a:ext cx="5315407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 건폐율 58.4%, 용적률 398.8% (법정 상한: 건폐율 60%, 용적률 400%)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 기준 법정 상한 대비 용적률 상향 및 밸류애드 잠재력 보유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25m 양평로 북측 접면, 10m 동측 도로 접면 (코너) 접면으로 보행자 접근성 및 차량 진출입 동선 우수</a:t>
            </a:r>
            <a:endParaRPr lang="en-US" sz="980" dirty="0"/>
          </a:p>
        </p:txBody>
      </p:sp>
      <p:sp>
        <p:nvSpPr>
          <p:cNvPr id="32" name="Text 29"/>
          <p:cNvSpPr/>
          <p:nvPr/>
        </p:nvSpPr>
        <p:spPr>
          <a:xfrm>
            <a:off x="5989320" y="5715000"/>
            <a:ext cx="55714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© V-World 국토교통부 | 2026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렌트롤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렌트롤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645920"/>
            <a:ext cx="137160" cy="137160"/>
          </a:xfrm>
          <a:prstGeom prst="rect">
            <a:avLst/>
          </a:prstGeom>
          <a:solidFill>
            <a:srgbClr val="93B3A0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234440" y="1645920"/>
            <a:ext cx="137160" cy="137160"/>
          </a:xfrm>
          <a:prstGeom prst="rect">
            <a:avLst/>
          </a:prstGeom>
          <a:solidFill>
            <a:srgbClr val="A6C1D9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965960" y="1645920"/>
            <a:ext cx="137160" cy="137160"/>
          </a:xfrm>
          <a:prstGeom prst="rect">
            <a:avLst/>
          </a:prstGeom>
          <a:solidFill>
            <a:srgbClr val="C5B4E3"/>
          </a:solidFill>
          <a:ln/>
        </p:spPr>
      </p:sp>
      <p:sp>
        <p:nvSpPr>
          <p:cNvPr id="11" name="Text 9"/>
          <p:cNvSpPr/>
          <p:nvPr/>
        </p:nvSpPr>
        <p:spPr>
          <a:xfrm>
            <a:off x="2148840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2028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697480" y="1645920"/>
            <a:ext cx="137160" cy="137160"/>
          </a:xfrm>
          <a:prstGeom prst="rect">
            <a:avLst/>
          </a:prstGeom>
          <a:solidFill>
            <a:srgbClr val="FBEFE8"/>
          </a:solidFill>
          <a:ln w="12700">
            <a:solidFill>
              <a:srgbClr val="B05A2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2880360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5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85800" y="5699760"/>
            <a:ext cx="2560320" cy="0"/>
          </a:xfrm>
          <a:prstGeom prst="line">
            <a:avLst/>
          </a:prstGeom>
          <a:noFill/>
          <a:ln w="19050">
            <a:solidFill>
              <a:srgbClr val="CBD5E0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685800" y="551688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GL (지상/지하 경계)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02920" y="5699760"/>
            <a:ext cx="32004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68680" y="5727192"/>
            <a:ext cx="2194560" cy="280416"/>
          </a:xfrm>
          <a:prstGeom prst="rect">
            <a:avLst/>
          </a:prstGeom>
          <a:solidFill>
            <a:srgbClr val="FBEFE8"/>
          </a:solidFill>
          <a:ln w="15240">
            <a:solidFill>
              <a:srgbClr val="B05A2E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941832" y="5727192"/>
            <a:ext cx="1316736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B05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185416" y="5727192"/>
            <a:ext cx="768096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422평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02920" y="5364480"/>
            <a:ext cx="32004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472184" y="5391912"/>
            <a:ext cx="987552" cy="28041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17904" y="5391912"/>
            <a:ext cx="896112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카페(스타벅스)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02920" y="5029200"/>
            <a:ext cx="32004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2F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417320" y="5056632"/>
            <a:ext cx="1097280" cy="280416"/>
          </a:xfrm>
          <a:prstGeom prst="rect">
            <a:avLst/>
          </a:prstGeom>
          <a:solidFill>
            <a:srgbClr val="A6C1D9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463040" y="5056632"/>
            <a:ext cx="1005840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디자인 스튜디오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02920" y="4693920"/>
            <a:ext cx="32004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3F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1417320" y="4721352"/>
            <a:ext cx="1097280" cy="280416"/>
          </a:xfrm>
          <a:prstGeom prst="rect">
            <a:avLst/>
          </a:prstGeom>
          <a:solidFill>
            <a:srgbClr val="A6C1D9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463040" y="4721352"/>
            <a:ext cx="1005840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기업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502920" y="4358640"/>
            <a:ext cx="32004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4F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1417320" y="4386072"/>
            <a:ext cx="1097280" cy="28041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463040" y="4386072"/>
            <a:ext cx="1005840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마케팅 에이전시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02920" y="4023360"/>
            <a:ext cx="32004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5F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417320" y="4050792"/>
            <a:ext cx="1097280" cy="280416"/>
          </a:xfrm>
          <a:prstGeom prst="rect">
            <a:avLst/>
          </a:prstGeom>
          <a:solidFill>
            <a:srgbClr val="A6C1D9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463040" y="4050792"/>
            <a:ext cx="1005840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법률사무소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02920" y="3688080"/>
            <a:ext cx="32004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6F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417320" y="3715512"/>
            <a:ext cx="1097280" cy="280416"/>
          </a:xfrm>
          <a:prstGeom prst="rect">
            <a:avLst/>
          </a:prstGeom>
          <a:solidFill>
            <a:srgbClr val="A6C1D9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463040" y="3715512"/>
            <a:ext cx="1005840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회계법인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02920" y="3352800"/>
            <a:ext cx="32004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1417320" y="3380232"/>
            <a:ext cx="1097280" cy="280416"/>
          </a:xfrm>
          <a:prstGeom prst="rect">
            <a:avLst/>
          </a:prstGeom>
          <a:solidFill>
            <a:srgbClr val="A6C1D9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463040" y="3380232"/>
            <a:ext cx="1005840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교육기관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502920" y="3017520"/>
            <a:ext cx="32004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8F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1417320" y="3044952"/>
            <a:ext cx="1097280" cy="280416"/>
          </a:xfrm>
          <a:prstGeom prst="rect">
            <a:avLst/>
          </a:prstGeom>
          <a:solidFill>
            <a:srgbClr val="C5B4E3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463040" y="3044952"/>
            <a:ext cx="1005840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핀테크 스타트업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502920" y="2682240"/>
            <a:ext cx="32004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9F-A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1472184" y="2709672"/>
            <a:ext cx="987552" cy="280416"/>
          </a:xfrm>
          <a:prstGeom prst="rect">
            <a:avLst/>
          </a:prstGeom>
          <a:solidFill>
            <a:srgbClr val="C5B4E3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517904" y="2709672"/>
            <a:ext cx="896112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컨설팅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502920" y="2346960"/>
            <a:ext cx="32004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9F-B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1472184" y="2374392"/>
            <a:ext cx="987552" cy="280416"/>
          </a:xfrm>
          <a:prstGeom prst="rect">
            <a:avLst/>
          </a:prstGeom>
          <a:solidFill>
            <a:srgbClr val="C5B4E3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517904" y="2374392"/>
            <a:ext cx="896112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502920" y="2011680"/>
            <a:ext cx="32004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10F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1417320" y="2039112"/>
            <a:ext cx="1097280" cy="28041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463040" y="2039112"/>
            <a:ext cx="1005840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건축설계사무소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502920" y="608076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렌트롤 현황 기준 층별 공간 배치도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749040" y="1645920"/>
          <a:ext cx="6805879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57200"/>
                <a:gridCol w="868680"/>
                <a:gridCol w="1188720"/>
                <a:gridCol w="749808"/>
                <a:gridCol w="749808"/>
                <a:gridCol w="658368"/>
                <a:gridCol w="658368"/>
                <a:gridCol w="1161288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층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호실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용도/업종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임차인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전용면적(㎡)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보증금(만원)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월세(만원)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계약종료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(공실)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(공실)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422.1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카페(스타벅스)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카페(스타벅스)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181.8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7,600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715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2026-11-30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디자인 스튜디오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디자인 스튜디오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209.6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5,400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2027-03-31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기업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기업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209.6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2027-12-31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마케팅 에이전시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마케팅 에이전시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209.6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2026-05-31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법률사무소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법률사무소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209.6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5,500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2027-08-31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회계법인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회계법인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209.6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5,300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2027-12-31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교육기관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교육기관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209.6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4,800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2027-06-30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핀테크 스타트업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핀테크 스타트업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209.6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2028-02-28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9F-A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컨설팅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컨설팅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105.8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2,500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분할임대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</a:tbl>
          </a:graphicData>
        </a:graphic>
      </p:graphicFrame>
      <p:sp>
        <p:nvSpPr>
          <p:cNvPr id="55" name="Text 52"/>
          <p:cNvSpPr/>
          <p:nvPr/>
        </p:nvSpPr>
        <p:spPr>
          <a:xfrm>
            <a:off x="3749040" y="5257800"/>
            <a:ext cx="6805879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(전체 13건 중 10건 표시)</a:t>
            </a:r>
            <a:endParaRPr lang="en-US" sz="900" dirty="0"/>
          </a:p>
        </p:txBody>
      </p:sp>
      <p:sp>
        <p:nvSpPr>
          <p:cNvPr id="56" name="Text 5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57" name="Text 5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수익률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1057839" cy="1188720"/>
          </a:xfrm>
          <a:prstGeom prst="roundRect">
            <a:avLst>
              <a:gd name="adj" fmla="val 6154"/>
            </a:avLst>
          </a:prstGeom>
          <a:solidFill>
            <a:srgbClr val="F7FAFC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표면 임대수익률  =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4340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 합계 (관리비 제외)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4206240" cy="0"/>
          </a:xfrm>
          <a:prstGeom prst="line">
            <a:avLst/>
          </a:prstGeom>
          <a:noFill/>
          <a:ln w="25400">
            <a:solidFill>
              <a:srgbClr val="B886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  −  승계 보증금 합계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26119" y="150876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6.2억원</a:t>
            </a:r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÷ (250.0억원 − 5.4억원)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539176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017520"/>
            <a:ext cx="1280160" cy="329184"/>
          </a:xfrm>
          <a:prstGeom prst="roundRect">
            <a:avLst>
              <a:gd name="adj" fmla="val 11111"/>
            </a:avLst>
          </a:prstGeom>
          <a:solidFill>
            <a:srgbClr val="F3F6F7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17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(현재)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791560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6.2억원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791560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5.4억원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791560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4837176"/>
            <a:ext cx="5026000" cy="594360"/>
          </a:xfrm>
          <a:prstGeom prst="roundRect">
            <a:avLst>
              <a:gd name="adj" fmla="val 9231"/>
            </a:avLst>
          </a:prstGeom>
          <a:solidFill>
            <a:srgbClr val="132A3A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 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517240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2.52%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6169000" y="2834640"/>
            <a:ext cx="539176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51880" y="3017520"/>
            <a:ext cx="1645920" cy="329184"/>
          </a:xfrm>
          <a:prstGeom prst="roundRect">
            <a:avLst>
              <a:gd name="adj" fmla="val 11111"/>
            </a:avLst>
          </a:prstGeom>
          <a:solidFill>
            <a:srgbClr val="F6F1E4"/>
          </a:solidFill>
          <a:ln/>
        </p:spPr>
      </p:sp>
      <p:sp>
        <p:nvSpPr>
          <p:cNvPr id="26" name="Text 24"/>
          <p:cNvSpPr/>
          <p:nvPr/>
        </p:nvSpPr>
        <p:spPr>
          <a:xfrm>
            <a:off x="6351880" y="3017520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Stabilized (안정화)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089240" y="3017520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분석가정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4332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457639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6.7억원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4332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457639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5.4억원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4332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457639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250.0억원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351880" y="4837176"/>
            <a:ext cx="5026000" cy="594360"/>
          </a:xfrm>
          <a:prstGeom prst="roundRect">
            <a:avLst>
              <a:gd name="adj" fmla="val 9231"/>
            </a:avLst>
          </a:prstGeom>
          <a:solidFill>
            <a:srgbClr val="B8860B"/>
          </a:solidFill>
          <a:ln/>
        </p:spPr>
      </p:sp>
      <p:sp>
        <p:nvSpPr>
          <p:cNvPr id="35" name="Text 33"/>
          <p:cNvSpPr/>
          <p:nvPr/>
        </p:nvSpPr>
        <p:spPr>
          <a:xfrm>
            <a:off x="653476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 Rate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183319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2.75%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502920" y="5943600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가정: 공실층을 인근 동일 용도 시세 수준으로 임대 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Gallery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사진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234440"/>
            <a:ext cx="3600602" cy="22905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76072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576072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02920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11" name="Text 8"/>
          <p:cNvSpPr/>
          <p:nvPr/>
        </p:nvSpPr>
        <p:spPr>
          <a:xfrm>
            <a:off x="612648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더레드빌딩 전면 외관 (B1~10F 대로변 코너)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231538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31538" y="1234440"/>
            <a:ext cx="3600602" cy="2290572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4304690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15" name="Text 11"/>
          <p:cNvSpPr/>
          <p:nvPr/>
        </p:nvSpPr>
        <p:spPr>
          <a:xfrm>
            <a:off x="4304690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4231538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17" name="Text 13"/>
          <p:cNvSpPr/>
          <p:nvPr/>
        </p:nvSpPr>
        <p:spPr>
          <a:xfrm>
            <a:off x="4341266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측면 및 보행자 접근로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7960157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960157" y="1234440"/>
            <a:ext cx="3600602" cy="2290572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033309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1" name="Text 16"/>
          <p:cNvSpPr/>
          <p:nvPr/>
        </p:nvSpPr>
        <p:spPr>
          <a:xfrm>
            <a:off x="8033309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출입구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7960157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23" name="Text 18"/>
          <p:cNvSpPr/>
          <p:nvPr/>
        </p:nvSpPr>
        <p:spPr>
          <a:xfrm>
            <a:off x="8069885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 주출입구 및 접근 동선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502920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02920" y="3653028"/>
            <a:ext cx="3600602" cy="2290572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576072" y="3726180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7" name="Text 21"/>
          <p:cNvSpPr/>
          <p:nvPr/>
        </p:nvSpPr>
        <p:spPr>
          <a:xfrm>
            <a:off x="576072" y="37261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502920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29" name="Text 23"/>
          <p:cNvSpPr/>
          <p:nvPr/>
        </p:nvSpPr>
        <p:spPr>
          <a:xfrm>
            <a:off x="612648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측후면 및 주차타워 진입로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4231538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231538" y="3653028"/>
            <a:ext cx="3600602" cy="2290572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4304690" y="3726180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33" name="Text 26"/>
          <p:cNvSpPr/>
          <p:nvPr/>
        </p:nvSpPr>
        <p:spPr>
          <a:xfrm>
            <a:off x="4304690" y="37261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34" name="Shape 27"/>
          <p:cNvSpPr/>
          <p:nvPr/>
        </p:nvSpPr>
        <p:spPr>
          <a:xfrm>
            <a:off x="4231538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35" name="Text 28"/>
          <p:cNvSpPr/>
          <p:nvPr/>
        </p:nvSpPr>
        <p:spPr>
          <a:xfrm>
            <a:off x="4341266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전경 및 주변 가로 환경</a:t>
            </a:r>
            <a:endParaRPr lang="en-US" sz="900" dirty="0"/>
          </a:p>
        </p:txBody>
      </p:sp>
      <p:sp>
        <p:nvSpPr>
          <p:cNvPr id="36" name="Shape 29"/>
          <p:cNvSpPr/>
          <p:nvPr/>
        </p:nvSpPr>
        <p:spPr>
          <a:xfrm>
            <a:off x="7960157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7960157" y="3653028"/>
            <a:ext cx="3600602" cy="2290572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8033309" y="3726180"/>
            <a:ext cx="82296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39" name="Text 31"/>
          <p:cNvSpPr/>
          <p:nvPr/>
        </p:nvSpPr>
        <p:spPr>
          <a:xfrm>
            <a:off x="8033309" y="372618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주차장</a:t>
            </a:r>
            <a:endParaRPr lang="en-US" sz="900" dirty="0"/>
          </a:p>
        </p:txBody>
      </p:sp>
      <p:sp>
        <p:nvSpPr>
          <p:cNvPr id="40" name="Shape 32"/>
          <p:cNvSpPr/>
          <p:nvPr/>
        </p:nvSpPr>
        <p:spPr>
          <a:xfrm>
            <a:off x="7960157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41" name="Text 33"/>
          <p:cNvSpPr/>
          <p:nvPr/>
        </p:nvSpPr>
        <p:spPr>
          <a:xfrm>
            <a:off x="8069885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및 기계식 주차타워 (총 23대)</a:t>
            </a:r>
            <a:endParaRPr lang="en-US" sz="900" dirty="0"/>
          </a:p>
        </p:txBody>
      </p:sp>
      <p:sp>
        <p:nvSpPr>
          <p:cNvPr id="42" name="Text 3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3" name="Text 3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정현우 수석팀장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010-3344-5566    ✉ js-cre@credeal.kr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제이에스부동산중개법인    등록번호: 11680-2024-00156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제이에스부동산중개법인 · 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2026-09-23T02:56:43Z</dcterms:created>
  <dcterms:modified xsi:type="dcterms:W3CDTF">2026-09-23T02:56:43Z</dcterms:modified>
</cp:coreProperties>
</file>