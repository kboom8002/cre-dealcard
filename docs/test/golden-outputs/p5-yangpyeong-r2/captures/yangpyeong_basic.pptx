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jpeg"/><Relationship Id="rId4" Type="http://schemas.openxmlformats.org/officeDocument/2006/relationships/image" Target="../media/image-9-4.jpeg"/><Relationship Id="rId5" Type="http://schemas.openxmlformats.org/officeDocument/2006/relationships/image" Target="../media/image-9-5.jpeg"/><Relationship Id="rId6" Type="http://schemas.openxmlformats.org/officeDocument/2006/relationships/image" Target="../media/image-9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 투자설명서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업무시설 (사무용빌딩)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3931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34340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업무시설 (사무용빌딩)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06040" y="434340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43434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84632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95604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250억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2018년 신축 무결점 자산 · 11개 우량 법인 분산 만실 · 선유도역 도보 1분 3필지 통합 코너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156.9평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753.5평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B1/F10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1.9%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선유도역 도보 1분 역세권 및 25m 양평로 북측 접면, 10m 동측 도로 접면 (코너) 접면, 영등포/양평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157평·연면적 753평·평당 약 3,318만 원 규모 단독 빌딩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1.9% 기반 안정적 임대수익 자산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 (3필지 통합)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518.70㎡ (156.91평)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2,490.88㎡ (753.49평) / 지상 2,068.60㎡ (625.75평)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302.92㎡ (91.63평, 건폐율 58.40%)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398.80% (준공업지역 법정 400.0% 상한 근접 최적화)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철근콘크리트구조 / 평지붕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2018년 9월 (신축급 특A 컨디션)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42569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425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423160" y="442569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10층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4864608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64608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412541" y="4864608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 (VAT 별도)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5367528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5367528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412541" y="5367528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15,933만 원/평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42" name="Shape 39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0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 9호선 도보 4분 (약 295m)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88920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49323" y="2788920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영등포/양평 주요 상업·업무 권역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282696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549323" y="3282696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코쿤빌아파트 도보 1분 (약 25m)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989320" y="377647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776472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549323" y="3776472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계명아파트 도보 1분 (약 50m)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989320" y="440740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3" name="Shape 20"/>
          <p:cNvSpPr/>
          <p:nvPr/>
        </p:nvSpPr>
        <p:spPr>
          <a:xfrm>
            <a:off x="5989320" y="446227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4" name="Text 21"/>
          <p:cNvSpPr/>
          <p:nvPr/>
        </p:nvSpPr>
        <p:spPr>
          <a:xfrm>
            <a:off x="6135624" y="449884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35624" y="470001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영등포/양평 배후 상권 기반 안정적 임대 수요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518.7㎡ (156.9평)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58.4% (법정 상한 60%)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398.8% (법정 상한 400%)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15,933만 원/평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20279" y="1645920"/>
            <a:ext cx="3840480" cy="2688336"/>
          </a:xfrm>
          <a:prstGeom prst="roundRect">
            <a:avLst>
              <a:gd name="adj" fmla="val 2041"/>
            </a:avLst>
          </a:prstGeom>
          <a:solidFill>
            <a:srgbClr val="E8F4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720279" y="1700784"/>
            <a:ext cx="36576" cy="25786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3" name="Text 3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866583" y="1938528"/>
            <a:ext cx="358444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58.4%, 용적률 398.8%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 접면으로 보행자 접근성 및 차량 진출입 동선 우수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지적도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연속지적도 (V-World)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518.7㎡ (156.9평)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88920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49323" y="2788920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58.4% (법정 상한 60%)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282696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549323" y="3282696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398.8% (법정 상한 400%)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89320" y="4005072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98448" y="1645920"/>
            <a:ext cx="137160" cy="137160"/>
          </a:xfrm>
          <a:prstGeom prst="rect">
            <a:avLst/>
          </a:prstGeom>
          <a:solidFill>
            <a:srgbClr val="A6C1D9"/>
          </a:solidFill>
          <a:ln/>
        </p:spPr>
      </p:sp>
      <p:sp>
        <p:nvSpPr>
          <p:cNvPr id="9" name="Text 7"/>
          <p:cNvSpPr/>
          <p:nvPr/>
        </p:nvSpPr>
        <p:spPr>
          <a:xfrm>
            <a:off x="148132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29968" y="1645920"/>
            <a:ext cx="137160" cy="137160"/>
          </a:xfrm>
          <a:prstGeom prst="rect">
            <a:avLst/>
          </a:prstGeom>
          <a:solidFill>
            <a:srgbClr val="C5B4E3"/>
          </a:solidFill>
          <a:ln/>
        </p:spPr>
      </p:sp>
      <p:sp>
        <p:nvSpPr>
          <p:cNvPr id="11" name="Text 9"/>
          <p:cNvSpPr/>
          <p:nvPr/>
        </p:nvSpPr>
        <p:spPr>
          <a:xfrm>
            <a:off x="221284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61488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94436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9808" y="5699760"/>
            <a:ext cx="3703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49808" y="55168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66928" y="569976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32688" y="5727192"/>
            <a:ext cx="3337560" cy="28041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1005840" y="5727192"/>
            <a:ext cx="200253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935224" y="5727192"/>
            <a:ext cx="116814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128평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66928" y="536448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850517" y="5391912"/>
            <a:ext cx="1501902" cy="28041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3669" y="5391912"/>
            <a:ext cx="901141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카페(스타벅스)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751658" y="5391912"/>
            <a:ext cx="52566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55평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66928" y="502920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767078" y="5056632"/>
            <a:ext cx="16687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40230" y="505663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스튜디오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768346" y="505663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66928" y="469392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767078" y="4721352"/>
            <a:ext cx="16687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40230" y="472135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기업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68346" y="472135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66928" y="435864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767078" y="4386072"/>
            <a:ext cx="1668780" cy="28041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40230" y="438607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 에이전시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68346" y="438607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66928" y="402336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767078" y="4050792"/>
            <a:ext cx="16687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40230" y="405079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법률사무소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768346" y="405079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66928" y="368808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767078" y="3715512"/>
            <a:ext cx="16687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40230" y="371551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회계법인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768346" y="371551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66928" y="335280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767078" y="3380232"/>
            <a:ext cx="16687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840230" y="338023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교육기관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768346" y="338023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66928" y="301752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767078" y="3044952"/>
            <a:ext cx="1668780" cy="280416"/>
          </a:xfrm>
          <a:prstGeom prst="rect">
            <a:avLst/>
          </a:prstGeom>
          <a:solidFill>
            <a:srgbClr val="C5B4E3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840230" y="304495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핀테크 스타트업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768346" y="304495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66928" y="268224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9F-A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850517" y="2709672"/>
            <a:ext cx="1501902" cy="280416"/>
          </a:xfrm>
          <a:prstGeom prst="rect">
            <a:avLst/>
          </a:prstGeom>
          <a:solidFill>
            <a:srgbClr val="C5B4E3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23669" y="2709672"/>
            <a:ext cx="901141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컨설팅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751658" y="2709672"/>
            <a:ext cx="52566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32평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66928" y="234696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9F-B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850517" y="2374392"/>
            <a:ext cx="1501902" cy="280416"/>
          </a:xfrm>
          <a:prstGeom prst="rect">
            <a:avLst/>
          </a:prstGeom>
          <a:solidFill>
            <a:srgbClr val="C5B4E3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923669" y="2374392"/>
            <a:ext cx="901141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751658" y="2374392"/>
            <a:ext cx="52566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31평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66928" y="201168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10F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1767078" y="2039112"/>
            <a:ext cx="1668780" cy="28041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840230" y="203911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건축설계사무소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2768346" y="203911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6928" y="6080760"/>
            <a:ext cx="4069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73168" y="1645920"/>
          <a:ext cx="6858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188720"/>
                <a:gridCol w="1188720"/>
                <a:gridCol w="100584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층수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면적(평)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(공실)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127.7평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카페(스타벅스)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2026-11-30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디자인 스튜디오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5,400만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507만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2027-03-31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기업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2027-12-31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 에이전시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5,200만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2026-05-31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법률사무소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회계법인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5,300만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2027-12-31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교육기관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4,800만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2027-06-30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핀테크 스타트업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2028-02-28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9F-A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66" name="Text 63"/>
          <p:cNvSpPr/>
          <p:nvPr/>
        </p:nvSpPr>
        <p:spPr>
          <a:xfrm>
            <a:off x="4773168" y="52578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(전체 13건 중 10건 표시)</a:t>
            </a:r>
            <a:endParaRPr lang="en-US" sz="900" dirty="0"/>
          </a:p>
        </p:txBody>
      </p:sp>
      <p:sp>
        <p:nvSpPr>
          <p:cNvPr id="67" name="Text 6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68" name="Text 6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(250.0억원 − 5.4억원)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2.52%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6F1E4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8860B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2.75%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가정: 공실층을 인근 동일 용도 시세 수준으로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더레드빌딩 전면 외관 (B1~10F 대로변 코너)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및 보행자 접근로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 주출입구 및 접근 동선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측후면 및 주차타워 진입로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전경 및 주변 가로 환경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및 기계식 주차타워 (총 23대)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정현우 수석팀장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2026-09-20T10:07:28Z</dcterms:created>
  <dcterms:modified xsi:type="dcterms:W3CDTF">2026-09-20T10:07:28Z</dcterms:modified>
</cp:coreProperties>
</file>