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image" Target="../media/image-8-5.jpeg"/><Relationship Id="rId6" Type="http://schemas.openxmlformats.org/officeDocument/2006/relationships/image" Target="../media/image-8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 투자설명서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업무시설 (사무용빌딩)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79476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36168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43616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업무시설 (사무용빌딩)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70048" y="436168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2670048" y="43616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480060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91032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250억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 |  정현우 수석팀장  |  제이에스부동산중개법인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2018년 신축 무결점 자산 · 11개 우량 법인 분산 만실 · 선유도역 도보 1분 3필지 통합 코너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156.9평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13141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753.5평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692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152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B1/F10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30773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7233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7233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1.9%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048549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13141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13141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선유도역 도보 1분 역세권 및 25m 양평로 북측 접면, 10m 동측 도로 접면 (코너) 접면, 영등포/양평 업무·상업 중심지 배후 수요 확보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157평·연면적 753평·평당 약 3,318만 원 규모 단독 빌딩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1.9% 기반 안정적 임대수익 자산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 (3필지 통합)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19202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87168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518.70㎡ (156.91평)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1945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87168" y="2194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2,490.88㎡ (753.49평) / 지상 2,068.60㎡ (625.75평)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24688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건축면적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87168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302.92㎡ (91.63평, 건폐율 58.40%)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7432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87168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398.80% (준공업지역 법정 400.0% 상한 근접 최적화)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0175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건물구조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87168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철근콘크리트구조 / 평지붕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87168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35661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87168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2018년 9월 (신축급 특A 컨디션)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76549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04088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808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76549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15,933만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84287" y="1645920"/>
            <a:ext cx="3840480" cy="29260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784287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7784287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7930591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930591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13331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53328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613331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선유도역 9호선 도보 4분 (약 295m)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53328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613331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053328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53328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613331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영등포/양평 주요 상업·업무 권역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53328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53328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613331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코쿤빌아파트 도보 1분 (약 25m)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053328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53328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613331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계명아파트 도보 1분 (약 50m)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053328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053328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99632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99632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선유도역 9호선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영등포/양평 배후 상권 기반 안정적 임대 수요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13331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518.7㎡ (156.9평)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53328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613331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53328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613331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58.4% (법정 상한 60%)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053328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53328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613331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398.8% (법정 상한 400%)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53328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53328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613331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053328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53328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613331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053328" y="38862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053328" y="38862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613331" y="38862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15,933만 원/평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053328" y="4343400"/>
            <a:ext cx="5571439" cy="1234440"/>
          </a:xfrm>
          <a:prstGeom prst="roundRect">
            <a:avLst>
              <a:gd name="adj" fmla="val 4444"/>
            </a:avLst>
          </a:prstGeom>
          <a:solidFill>
            <a:srgbClr val="E8F4F8"/>
          </a:solidFill>
          <a:ln/>
        </p:spPr>
      </p:sp>
      <p:sp>
        <p:nvSpPr>
          <p:cNvPr id="29" name="Shape 26"/>
          <p:cNvSpPr/>
          <p:nvPr/>
        </p:nvSpPr>
        <p:spPr>
          <a:xfrm>
            <a:off x="6053328" y="4398264"/>
            <a:ext cx="36576" cy="11247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7"/>
          <p:cNvSpPr/>
          <p:nvPr/>
        </p:nvSpPr>
        <p:spPr>
          <a:xfrm>
            <a:off x="6199632" y="443484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199632" y="4636008"/>
            <a:ext cx="531540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58.4%, 용적률 398.8% (법정 상한: 건폐율 60%, 용적률 400%)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 접면으로 보행자 접근성 및 차량 진출입 동선 우수</a:t>
            </a:r>
            <a:endParaRPr lang="en-US" sz="980" dirty="0"/>
          </a:p>
        </p:txBody>
      </p:sp>
      <p:sp>
        <p:nvSpPr>
          <p:cNvPr id="32" name="Text 29"/>
          <p:cNvSpPr/>
          <p:nvPr/>
        </p:nvSpPr>
        <p:spPr>
          <a:xfrm>
            <a:off x="6053328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74980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5699760"/>
            <a:ext cx="274320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49808" y="55168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66928" y="5699760"/>
            <a:ext cx="475488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097280" y="5727192"/>
            <a:ext cx="2468880" cy="28041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133856" y="5718048"/>
            <a:ext cx="2395728" cy="298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66928" y="5364480"/>
            <a:ext cx="475488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97280" y="5391912"/>
            <a:ext cx="2468880" cy="28041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3856" y="5382768"/>
            <a:ext cx="2395728" cy="298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카페(스타벅스)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66928" y="5029200"/>
            <a:ext cx="475488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097280" y="5056632"/>
            <a:ext cx="2468880" cy="28041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" y="5047488"/>
            <a:ext cx="2395728" cy="298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 스튜디오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66928" y="4693920"/>
            <a:ext cx="475488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97280" y="4721352"/>
            <a:ext cx="2468880" cy="28041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33856" y="4712208"/>
            <a:ext cx="2395728" cy="298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기업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66928" y="4358640"/>
            <a:ext cx="475488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97280" y="4386072"/>
            <a:ext cx="2468880" cy="28041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4376928"/>
            <a:ext cx="2395728" cy="298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 에이전시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66928" y="4023360"/>
            <a:ext cx="475488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097280" y="4050792"/>
            <a:ext cx="2468880" cy="28041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33856" y="4041648"/>
            <a:ext cx="2395728" cy="298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법률사무소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66928" y="3688080"/>
            <a:ext cx="475488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6F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97280" y="3715512"/>
            <a:ext cx="2468880" cy="28041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33856" y="3706368"/>
            <a:ext cx="2395728" cy="298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회계법인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66928" y="3352800"/>
            <a:ext cx="475488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7F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097280" y="3380232"/>
            <a:ext cx="2468880" cy="28041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33856" y="3371088"/>
            <a:ext cx="2395728" cy="298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교육기관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66928" y="3017520"/>
            <a:ext cx="475488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097280" y="3044952"/>
            <a:ext cx="2468880" cy="28041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33856" y="3035808"/>
            <a:ext cx="2395728" cy="298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핀테크 스타트업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66928" y="2682240"/>
            <a:ext cx="475488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9F-A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97280" y="2709672"/>
            <a:ext cx="2468880" cy="28041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33856" y="2700528"/>
            <a:ext cx="2395728" cy="298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컨설팅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66928" y="2346960"/>
            <a:ext cx="475488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9F-B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097280" y="2374392"/>
            <a:ext cx="2468880" cy="28041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33856" y="2365248"/>
            <a:ext cx="2395728" cy="298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66928" y="2011680"/>
            <a:ext cx="475488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097280" y="2039112"/>
            <a:ext cx="2468880" cy="28041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33856" y="2029968"/>
            <a:ext cx="2395728" cy="298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건축설계사무소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66928" y="596188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50208" y="1645920"/>
          <a:ext cx="7674559" cy="914400"/>
        </p:xfrm>
        <a:graphic>
          <a:graphicData uri="http://schemas.openxmlformats.org/drawingml/2006/table">
            <a:tbl>
              <a:tblPr/>
              <a:tblGrid>
                <a:gridCol w="438912"/>
                <a:gridCol w="960120"/>
                <a:gridCol w="804672"/>
                <a:gridCol w="713232"/>
                <a:gridCol w="713232"/>
                <a:gridCol w="713232"/>
                <a:gridCol w="713232"/>
                <a:gridCol w="713232"/>
                <a:gridCol w="713232"/>
                <a:gridCol w="1188720"/>
              </a:tblGrid>
              <a:tr h="31350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용도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임대면적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전용면적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월임대료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관리비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월합계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만기일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(공실)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(공실)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카페(스타벅스)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카페(스타벅스)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7,600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디자인 스튜디오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디자인 스튜디오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5,400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기업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기업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마케팅 에이전시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마케팅 에이전시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법률사무소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법률사무소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회계법인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회계법인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5,300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교육기관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교육기관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4,800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핀테크 스타트업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핀테크 스타트업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9F-A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컨설팅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컨설팅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9F-B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세무사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세무사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건축설계사무소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건축설계사무소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1350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53,700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5,147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 4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512064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60020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132A3A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6002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87168" y="1600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2.52%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86968" y="2834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27248" y="28346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6.2억원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318211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31821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31821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5.4억원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52958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5295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35295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877056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877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순투자금 (매매가 − 보증금)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877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244.6억원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422452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5528" y="4361688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F6F1E4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36168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분석가정 (Stabilized)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공실층을 인근 동일 용도 시세 수준으로 임대 가정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44368" y="436168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2.66%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053328" y="1371600"/>
            <a:ext cx="5571439" cy="3840480"/>
          </a:xfrm>
          <a:prstGeom prst="roundRect">
            <a:avLst>
              <a:gd name="adj" fmla="val 1429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9360" y="1591056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6F1E4"/>
          </a:solidFill>
          <a:ln w="6350">
            <a:solidFill>
              <a:srgbClr val="8B65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15910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09360" y="1883664"/>
            <a:ext cx="5059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2194560"/>
            <a:ext cx="5059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필지의 개별공시지가 연도별 이력 및 표준지 공시지가 대비 배율은 부동산 공시가격 알리미 및 감정평가 공적 자료를 통해 확인합니다.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2633472"/>
            <a:ext cx="50593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5936" y="2779776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724912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5~10개년 개별공시지가 변동 추이 및 연평균 상승률 분석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345936" y="3346704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3291840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인근 표준지 공시지가 대비 토지 특성(도로접면, 형상, 방위) 차이 분석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345936" y="3913632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3858768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공시지가 대비 실거래가 매매 배율 및 평당 단가 프리미엄 검증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6345936" y="4480560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4425696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보유세(재산세·종합부동산세) 과세표준 기준액 산출 및 세무 영향 점검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566928" y="5349240"/>
            <a:ext cx="11057839" cy="438912"/>
          </a:xfrm>
          <a:prstGeom prst="roundRect">
            <a:avLst>
              <a:gd name="adj" fmla="val 12500"/>
            </a:avLst>
          </a:prstGeom>
          <a:solidFill>
            <a:srgbClr val="E8F4F8"/>
          </a:solidFill>
          <a:ln/>
        </p:spPr>
      </p:sp>
      <p:sp>
        <p:nvSpPr>
          <p:cNvPr id="40" name="Shape 38"/>
          <p:cNvSpPr/>
          <p:nvPr/>
        </p:nvSpPr>
        <p:spPr>
          <a:xfrm>
            <a:off x="566928" y="5404104"/>
            <a:ext cx="36576" cy="329184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544068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판단 참고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3232" y="5641848"/>
            <a:ext cx="1080180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2.5%는 시장 평균 하회 — 토지가치 상승 또는 리모델링 후 임대료 증대 가능성 검토 필요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6692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7665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더레드빌딩 전면 외관 (B1~10F 대로변 코너)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95546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5546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68698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68698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95546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405274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 및 보행자 접근로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8024165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24165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97317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97317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8024165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133893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 주출입구 및 접근 동선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6692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66928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008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64008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6692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7665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측후면 및 주차타워 진입로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95546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95546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68698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68698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95546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405274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전경 및 주변 가로 환경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8024165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24165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97317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97317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8024165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133893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및 기계식 주차타워 (총 23대)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정현우 수석팀장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010-3344-5566    ✉ js-cre@credeal.kr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제이에스부동산중개법인    등록번호: 11680-2024-00156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2026-10-02T04:23:47Z</dcterms:created>
  <dcterms:modified xsi:type="dcterms:W3CDTF">2026-10-02T04:23:47Z</dcterms:modified>
</cp:coreProperties>
</file>