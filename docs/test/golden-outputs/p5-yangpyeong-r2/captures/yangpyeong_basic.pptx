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36168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70048" y="436168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70048" y="43616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80060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1032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2026.10.05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준공업지역에 위치한 2018년 준공, 지하 1층·지상 10층 규모의 임대수익형 업무시설 (사무용빌딩)입니다.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72330" y="3529203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운영비·공실충당 차감 후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1개 호실 · 128평 (17.0%)</a:t>
            </a:r>
            <a:endParaRPr lang="en-US" sz="185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역세권 입지 — 선유도역(9호선) 도보 4분(약 295m) 거리, 25m 양평로 북측 접면, 10m 동측 도로 접면 (코너) 도로에 접해 있습니다.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 현황 — 12개 호실 중 11개 임차 중(공실 B1), 월 임대료 5,147만 원·보증금 5억 3,700만 원의 임대 수익이 발생하고 있습니다.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— 준공업지역 대지 518.7㎡ 규모입니다.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871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87168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87168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87168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8716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87168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87168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10층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840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 / 승강기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87168" y="3840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옥외 1대 + 기계식 22대 (총 23대) / 승강기 1대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87168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891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389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 / 용적률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87168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58.4% / 398.8%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84287" y="1645920"/>
            <a:ext cx="3840480" cy="2688336"/>
          </a:xfrm>
          <a:prstGeom prst="rect">
            <a:avLst/>
          </a:prstGeom>
          <a:solidFill>
            <a:srgbClr val="F3F1EC"/>
          </a:solidFill>
          <a:ln w="9525">
            <a:solidFill>
              <a:srgbClr val="E2DED3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0029" y="1645920"/>
            <a:ext cx="1968996" cy="268833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84287" y="4471416"/>
            <a:ext cx="3840480" cy="1307592"/>
          </a:xfrm>
          <a:prstGeom prst="roundRect">
            <a:avLst>
              <a:gd name="adj" fmla="val 3497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84287" y="4544568"/>
            <a:ext cx="45720" cy="116128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967167" y="458114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85455" y="4997196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113471" y="4892040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선유도역(9호선) 도보 4분 역세권 · 25m 양평로 북측 접면, 10m 동측 도로 접면 (코너) 접면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7985455" y="5262372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113471" y="5157216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11/12개 호실(91.7%) · 월 임대료 5,147만 원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7985455" y="5527548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113471" y="5422392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518.7㎡ · 준공업지역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566928" y="477316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477316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3476549" y="477316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704088" y="527608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49808" y="527608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476549" y="527608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89504" y="2953512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3072384" y="3163824"/>
            <a:ext cx="109728" cy="64008"/>
          </a:xfrm>
          <a:prstGeom prst="triangle">
            <a:avLst/>
          </a:prstGeom>
          <a:solidFill>
            <a:srgbClr val="132A3A"/>
          </a:solidFill>
          <a:ln w="12700">
            <a:solidFill>
              <a:srgbClr val="13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889504" y="29535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5673852"/>
            <a:ext cx="155448" cy="155448"/>
          </a:xfrm>
          <a:prstGeom prst="ellipse">
            <a:avLst/>
          </a:prstGeom>
          <a:solidFill>
            <a:srgbClr val="1D4ED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809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선유도역(9호선) 도보 4분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127248" y="5673852"/>
            <a:ext cx="155448" cy="155448"/>
          </a:xfrm>
          <a:prstGeom prst="ellipse">
            <a:avLst/>
          </a:prstGeom>
          <a:solidFill>
            <a:srgbClr val="1D4ED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2724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332841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당산역(2·9호선) 남동 0.6km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6692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76809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선유로운골목형상점가 도보 3분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12724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2841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호텔리버트리 도보 3분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6076188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6076188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76809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 공원 수생식물원 북동 0.7km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127248" y="6053328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╌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32841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3분 반경 (약 240m)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053328" y="1801368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613331" y="1801368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053328" y="22037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53328" y="2203704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613331" y="2203704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53328" y="26060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53328" y="2606040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613331" y="2606040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053328" y="300837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53328" y="3008376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613331" y="3008376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53328" y="3520440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6053328" y="3575304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6199632" y="36118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199632" y="3813048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04183" y="3327800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2987063" y="3538112"/>
            <a:ext cx="109728" cy="64008"/>
          </a:xfrm>
          <a:prstGeom prst="triangl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804183" y="332780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53328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53328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7613331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053328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3328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2" name="Text 29"/>
          <p:cNvSpPr/>
          <p:nvPr/>
        </p:nvSpPr>
        <p:spPr>
          <a:xfrm>
            <a:off x="6199632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199632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011680" cy="314815"/>
          </a:xfrm>
          <a:prstGeom prst="rect">
            <a:avLst/>
          </a:prstGeom>
          <a:solidFill>
            <a:srgbClr val="132A3A"/>
          </a:solidFill>
          <a:ln w="6350">
            <a:solidFill>
              <a:srgbClr val="13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645920"/>
            <a:ext cx="2011680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5395079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15568" y="5427083"/>
            <a:ext cx="1444752" cy="279426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43000" y="5427083"/>
            <a:ext cx="1389888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422.1㎡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051644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72413" y="5083648"/>
            <a:ext cx="931062" cy="279426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99845" y="5083648"/>
            <a:ext cx="876198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 181.8㎡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4708210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302851" y="4740214"/>
            <a:ext cx="1070187" cy="27942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0283" y="4740214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 209.6㎡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66928" y="4364776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02851" y="4396780"/>
            <a:ext cx="1070187" cy="27942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0283" y="4396780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 209.6㎡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4021341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02851" y="4053345"/>
            <a:ext cx="1070187" cy="279426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30283" y="4053345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 209.6㎡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" y="3677907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302851" y="3709911"/>
            <a:ext cx="1070187" cy="27942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30283" y="3709911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 209.6㎡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66928" y="3334472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302851" y="3366476"/>
            <a:ext cx="1070187" cy="27942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30283" y="3366476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 209.6㎡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" y="2991038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302851" y="3023042"/>
            <a:ext cx="1070187" cy="27942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30283" y="3023042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 209.6㎡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6928" y="2647604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302851" y="2679608"/>
            <a:ext cx="1070187" cy="279426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30283" y="2679608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 209.6㎡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66928" y="2304169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02851" y="2336173"/>
            <a:ext cx="540199" cy="279426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30283" y="2336173"/>
            <a:ext cx="485335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843050" y="2336173"/>
            <a:ext cx="529987" cy="279426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0482" y="2336173"/>
            <a:ext cx="4751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66928" y="1960735"/>
            <a:ext cx="475488" cy="343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302851" y="1992739"/>
            <a:ext cx="1070187" cy="279426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30283" y="1992739"/>
            <a:ext cx="1015323" cy="279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 209.6㎡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78992" y="5395079"/>
            <a:ext cx="1499616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566928" y="5321927"/>
            <a:ext cx="219456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603504" y="5841057"/>
            <a:ext cx="118872" cy="109728"/>
          </a:xfrm>
          <a:prstGeom prst="rect">
            <a:avLst/>
          </a:prstGeom>
          <a:solidFill>
            <a:srgbClr val="FBEFE8"/>
          </a:solidFill>
          <a:ln w="9525">
            <a:solidFill>
              <a:srgbClr val="B05A2E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758952" y="5738513"/>
            <a:ext cx="243332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038860" y="5738513"/>
            <a:ext cx="232664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308100" y="5841057"/>
            <a:ext cx="118872" cy="109728"/>
          </a:xfrm>
          <a:prstGeom prst="rect">
            <a:avLst/>
          </a:prstGeom>
          <a:solidFill>
            <a:srgbClr val="93B3A0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463548" y="5738513"/>
            <a:ext cx="183769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683893" y="5841057"/>
            <a:ext cx="118872" cy="109728"/>
          </a:xfrm>
          <a:prstGeom prst="rect">
            <a:avLst/>
          </a:prstGeom>
          <a:solidFill>
            <a:srgbClr val="A6C1D9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39341" y="5738513"/>
            <a:ext cx="183769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'27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059686" y="5841057"/>
            <a:ext cx="118872" cy="109728"/>
          </a:xfrm>
          <a:prstGeom prst="rect">
            <a:avLst/>
          </a:prstGeom>
          <a:solidFill>
            <a:srgbClr val="C5B4E3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15134" y="5738513"/>
            <a:ext cx="183769" cy="314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'28</a:t>
            </a:r>
            <a:endParaRPr lang="en-US" sz="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539496"/>
                <a:gridCol w="859536"/>
                <a:gridCol w="1307592"/>
                <a:gridCol w="1463040"/>
                <a:gridCol w="667512"/>
                <a:gridCol w="832104"/>
                <a:gridCol w="667512"/>
                <a:gridCol w="667512"/>
                <a:gridCol w="1014984"/>
                <a:gridCol w="795528"/>
              </a:tblGrid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422.1 (127.7평)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181.8 (55.0평)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C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2026-05-31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E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G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H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105.8 (32.0평)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분할임대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세무사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103.8 (31.4평)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2028-05-31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분할임대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J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건축설계사무소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 (63.4평)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48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2,490.3 (753.3평)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5,147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5,798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2807208" y="1408176"/>
            <a:ext cx="88175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㎡ (평) · 금액 만원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508760"/>
            <a:ext cx="4663440" cy="1115568"/>
          </a:xfrm>
          <a:prstGeom prst="roundRect">
            <a:avLst>
              <a:gd name="adj" fmla="val 6557"/>
            </a:avLst>
          </a:prstGeom>
          <a:solidFill>
            <a:srgbClr val="132A3A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8408" y="20025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04488" y="20025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2768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공실충당 5% 제외 기준 (참고)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04488" y="22768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734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734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081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0815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42900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4290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4290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77647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7764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7764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244.6억원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412394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435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48840"/>
            <a:ext cx="505937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585923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3222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67736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2950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40176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85785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02990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2066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36580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2.52% (운영비 차감 전), Cap Rate 1.90% (운영비·공실충당 차감 후)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운영비율 18%(가정), 공실충당 5%, 보증금 승계 가정. 임대수익률은 운영비 차감 전, Cap Rate는 차감 후.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397" y="1234440"/>
            <a:ext cx="1677665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8800" y="1234440"/>
            <a:ext cx="3054096" cy="22905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로비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620" y="1234440"/>
            <a:ext cx="1715692" cy="22905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317" y="1307592"/>
            <a:ext cx="996696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8097317" y="1307592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엘리베이터홀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81" y="3653028"/>
            <a:ext cx="3054096" cy="22905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0080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0" name="Text 14"/>
          <p:cNvSpPr/>
          <p:nvPr/>
        </p:nvSpPr>
        <p:spPr>
          <a:xfrm>
            <a:off x="640080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800" y="3653028"/>
            <a:ext cx="3054096" cy="22905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368698" y="3726180"/>
            <a:ext cx="1252728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4" name="Text 17"/>
          <p:cNvSpPr/>
          <p:nvPr/>
        </p:nvSpPr>
        <p:spPr>
          <a:xfrm>
            <a:off x="4368698" y="3726180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도로/환경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6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정현우 수석팀장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5" name="Text 43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2026-10-05T15:07:39Z</dcterms:created>
  <dcterms:modified xsi:type="dcterms:W3CDTF">2026-10-05T15:07:39Z</dcterms:modified>
</cp:coreProperties>
</file>