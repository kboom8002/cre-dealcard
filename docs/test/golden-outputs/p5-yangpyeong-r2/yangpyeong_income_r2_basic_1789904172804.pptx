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image" Target="../media/image-9-3.jpeg"/><Relationship Id="rId4" Type="http://schemas.openxmlformats.org/officeDocument/2006/relationships/image" Target="../media/image-9-4.jpeg"/><Relationship Id="rId5" Type="http://schemas.openxmlformats.org/officeDocument/2006/relationships/image" Target="../media/image-9-5.jpeg"/><Relationship Id="rId6" Type="http://schemas.openxmlformats.org/officeDocument/2006/relationships/image" Target="../media/image-9-6.jpe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0D2233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1A3A4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132A3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886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32A3A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A3347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B4A5E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304288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영등포구 양평동4가 117, 134, 125-2번지 투자설명서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02920" y="32735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업무시설 (사무용빌딩)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363931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영등포구 양평동4가 117, 134, 125-2번지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434340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32A3A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43434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업무시설 (사무용빌딩)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606040" y="434340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132A3A"/>
          </a:solidFill>
          <a:ln/>
        </p:spPr>
      </p:sp>
      <p:sp>
        <p:nvSpPr>
          <p:cNvPr id="17" name="Text 15"/>
          <p:cNvSpPr/>
          <p:nvPr/>
        </p:nvSpPr>
        <p:spPr>
          <a:xfrm>
            <a:off x="2606040" y="43434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250억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4846320"/>
            <a:ext cx="6858000" cy="1051560"/>
          </a:xfrm>
          <a:prstGeom prst="roundRect">
            <a:avLst>
              <a:gd name="adj" fmla="val 3478"/>
            </a:avLst>
          </a:prstGeom>
          <a:solidFill>
            <a:srgbClr val="8B6508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" y="4956048"/>
            <a:ext cx="63459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6F1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매각 희망가 250억 원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502920" y="17007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제이에스부동산중개법인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2026.09.20  |  정현우 수석팀장  |  제이에스부동산중개법인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요약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2018년 신축 무결점 자산 · 11개 우량 법인 분산 만실 · 선유도역 도보 1분 3필지 통합 코너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11057839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965960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67512" y="2313432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250억 원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243730" y="1965960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08322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408322" y="2313432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156.9평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984541" y="1965960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49133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149133" y="2313432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753.5평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02920" y="3090672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" y="32186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건축규모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67512" y="3438144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B1/F10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4243730" y="3090672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08322" y="32186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수익률(Cap Rate)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408322" y="3438144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1.9%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7984541" y="3090672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9133" y="32186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 현황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149133" y="3438144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만실 운영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502920" y="430682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65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02920" y="4636008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2648" y="4709160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" y="4709160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43000" y="4672584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가치: 선유도역 도보 1분 역세권 및 25m 양평로 북측 접면, 10m 동측 도로 접면 (코너) 접면, 영등포/양평 업무·상업 중심지 배후 수요 확보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" y="5114544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2648" y="5187696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" y="5187696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43000" y="5151120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규모: 대지 157평·연면적 753평·평당 약 3,318만 원 규모 단독 빌딩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2920" y="5593080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2648" y="5666232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2648" y="5666232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43000" y="5629656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 안정성: 연 순수익률(Cap Rate) 1.9% 기반 안정적 임대수익 자산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물건 개요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 개요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기본 정보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소재지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23160" y="164592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영등포구 양평동4가 117, 134, 125-2 (3필지 통합)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99339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933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23160" y="199339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518.70㎡ (156.91평)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34086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34086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23160" y="234086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2,490.88㎡ (753.49평) / 지상 2,068.60㎡ (625.75평)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268833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68833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건축면적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23160" y="268833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302.92㎡ (91.63평, 건폐율 58.40%)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3035808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0358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용적률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23160" y="303580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398.80% (준공업지역 법정 400.0% 상한 근접 최적화)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338328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3832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건물구조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423160" y="338328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철근콘크리트구조 / 평지붕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373075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7307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423160" y="373075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준공업지역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" y="407822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07822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준공연도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423160" y="407822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2018년 9월 (신축급 특A 컨디션)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02920" y="442569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42569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층수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423160" y="442569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지하 1층 ~ 지상 10층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02920" y="4864608"/>
            <a:ext cx="6858000" cy="1005840"/>
          </a:xfrm>
          <a:prstGeom prst="rect">
            <a:avLst/>
          </a:prstGeom>
          <a:solidFill>
            <a:srgbClr val="F6F1E4"/>
          </a:solidFill>
          <a:ln w="15240">
            <a:solidFill>
              <a:srgbClr val="B886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4864608"/>
            <a:ext cx="272674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 희망가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412541" y="4864608"/>
            <a:ext cx="376549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250억 원 (VAT 별도)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0080" y="5367528"/>
            <a:ext cx="6583680" cy="0"/>
          </a:xfrm>
          <a:prstGeom prst="line">
            <a:avLst/>
          </a:prstGeom>
          <a:noFill/>
          <a:ln w="6350">
            <a:solidFill>
              <a:srgbClr val="D4C89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5367528"/>
            <a:ext cx="27267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토지평당가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412541" y="5367528"/>
            <a:ext cx="37654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15,933만 원/평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7540600" y="1371600"/>
            <a:ext cx="0" cy="4754880"/>
          </a:xfrm>
          <a:prstGeom prst="line">
            <a:avLst/>
          </a:prstGeom>
          <a:noFill/>
          <a:ln w="8890">
            <a:solidFill>
              <a:srgbClr val="B8860B"/>
            </a:solidFill>
            <a:prstDash val="solid"/>
          </a:ln>
        </p:spPr>
      </p:sp>
      <p:pic>
        <p:nvPicPr>
          <p:cNvPr id="4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20279" y="1645920"/>
            <a:ext cx="3840480" cy="2926080"/>
          </a:xfrm>
          <a:prstGeom prst="rect">
            <a:avLst/>
          </a:prstGeom>
        </p:spPr>
      </p:pic>
      <p:sp>
        <p:nvSpPr>
          <p:cNvPr id="41" name="Shape 38"/>
          <p:cNvSpPr/>
          <p:nvPr/>
        </p:nvSpPr>
        <p:spPr>
          <a:xfrm>
            <a:off x="7720279" y="4681728"/>
            <a:ext cx="3840480" cy="1508760"/>
          </a:xfrm>
          <a:prstGeom prst="roundRect">
            <a:avLst>
              <a:gd name="adj" fmla="val 3636"/>
            </a:avLst>
          </a:prstGeom>
          <a:solidFill>
            <a:srgbClr val="E8F4F8"/>
          </a:solidFill>
          <a:ln/>
        </p:spPr>
      </p:sp>
      <p:sp>
        <p:nvSpPr>
          <p:cNvPr id="42" name="Shape 39"/>
          <p:cNvSpPr/>
          <p:nvPr/>
        </p:nvSpPr>
        <p:spPr>
          <a:xfrm>
            <a:off x="7720279" y="4736592"/>
            <a:ext cx="36576" cy="1399032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43" name="Text 40"/>
          <p:cNvSpPr/>
          <p:nvPr/>
        </p:nvSpPr>
        <p:spPr>
          <a:xfrm>
            <a:off x="7866583" y="4773168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하이라이트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7866583" y="4974336"/>
            <a:ext cx="3584448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도심 비즈니스 권역 소재 핵심 입지 자산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안정적 임대수익 기반 투자 매물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대중교통 역세권 접근성 및 주변 상업 인프라 우수</a:t>
            </a:r>
            <a:endParaRPr lang="en-US" sz="980" dirty="0"/>
          </a:p>
        </p:txBody>
      </p:sp>
      <p:sp>
        <p:nvSpPr>
          <p:cNvPr id="45" name="Text 42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입지 정보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정보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대중교통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89320" y="1801368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대중교통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549323" y="1801368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선유도역 9호선 도보 4분 (약 295m)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989320" y="229514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89320" y="2295144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도로접면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549323" y="2295144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25m 양평로 북측 접면, 10m 동측 도로 접면 (코너)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989320" y="278892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9320" y="2788920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상권권역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549323" y="2788920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영등포/양평 주요 상업·업무 권역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989320" y="328269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89320" y="3282696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주요시설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549323" y="3282696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코쿤빌아파트 도보 1분 (약 25m)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989320" y="3776472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89320" y="3776472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주요시설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549323" y="3776472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계명아파트 도보 1분 (약 50m)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989320" y="4407408"/>
            <a:ext cx="5571439" cy="1316736"/>
          </a:xfrm>
          <a:prstGeom prst="roundRect">
            <a:avLst>
              <a:gd name="adj" fmla="val 4167"/>
            </a:avLst>
          </a:prstGeom>
          <a:solidFill>
            <a:srgbClr val="E8F4F8"/>
          </a:solidFill>
          <a:ln/>
        </p:spPr>
      </p:sp>
      <p:sp>
        <p:nvSpPr>
          <p:cNvPr id="23" name="Shape 20"/>
          <p:cNvSpPr/>
          <p:nvPr/>
        </p:nvSpPr>
        <p:spPr>
          <a:xfrm>
            <a:off x="5989320" y="4462272"/>
            <a:ext cx="36576" cy="1207008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24" name="Text 21"/>
          <p:cNvSpPr/>
          <p:nvPr/>
        </p:nvSpPr>
        <p:spPr>
          <a:xfrm>
            <a:off x="6135624" y="4498848"/>
            <a:ext cx="53154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종합 분석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135624" y="4700016"/>
            <a:ext cx="5315407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선유도역 9호선 도보 역세권으로 양호한 대중교통 접근성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25m 양평로 북측 접면, 10m 동측 도로 접면 (코너) 접면 차량 진출입 양호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영등포/양평 배후 상권 기반 안정적 임대 수요</a:t>
            </a:r>
            <a:endParaRPr lang="en-US" sz="980" dirty="0"/>
          </a:p>
        </p:txBody>
      </p:sp>
      <p:sp>
        <p:nvSpPr>
          <p:cNvPr id="26" name="Text 23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토지 정보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정보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토지이용계획 · 규제 분석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23160" y="164592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518.7㎡ (156.9평)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99339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933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23160" y="199339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준공업지역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34086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34086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건폐율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23160" y="234086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 58.4% (법정 상한 60%)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268833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68833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용적률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23160" y="268833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 398.8% (법정 상한 400%)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3035808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0358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도로접면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23160" y="303580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25m 양평로 북측 접면, 10m 동측 도로 접면 (코너)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338328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3832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필지 형상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423160" y="338328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[필지 형상 확인 필요]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373075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7307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지목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423160" y="373075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" y="407822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07822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토지평당가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423160" y="407822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15,933만 원/평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540600" y="1371600"/>
            <a:ext cx="0" cy="4754880"/>
          </a:xfrm>
          <a:prstGeom prst="line">
            <a:avLst/>
          </a:prstGeom>
          <a:noFill/>
          <a:ln w="8890">
            <a:solidFill>
              <a:srgbClr val="B8860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20279" y="1645920"/>
            <a:ext cx="3840480" cy="2688336"/>
          </a:xfrm>
          <a:prstGeom prst="roundRect">
            <a:avLst>
              <a:gd name="adj" fmla="val 2041"/>
            </a:avLst>
          </a:prstGeom>
          <a:solidFill>
            <a:srgbClr val="E8F4F8"/>
          </a:solidFill>
          <a:ln/>
        </p:spPr>
      </p:sp>
      <p:sp>
        <p:nvSpPr>
          <p:cNvPr id="32" name="Shape 30"/>
          <p:cNvSpPr/>
          <p:nvPr/>
        </p:nvSpPr>
        <p:spPr>
          <a:xfrm>
            <a:off x="7720279" y="1700784"/>
            <a:ext cx="36576" cy="2578608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33" name="Text 31"/>
          <p:cNvSpPr/>
          <p:nvPr/>
        </p:nvSpPr>
        <p:spPr>
          <a:xfrm>
            <a:off x="7866583" y="173736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규제 및 공법 분석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866583" y="1938528"/>
            <a:ext cx="3584448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 건폐율 58.4%, 용적률 398.8% (법정 상한: 건폐율 60%, 용적률 400%)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준공업지역 기준 법정 상한 대비 용적률 상향 및 밸류애드 잠재력 보유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25m 양평로 북측 접면, 10m 동측 도로 접면 (코너) 접면으로 보행자 접근성 및 차량 진출입 동선 우수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지적도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연속지적도 (V-World)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89320" y="1801368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549323" y="1801368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518.7㎡ (156.9평)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989320" y="229514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89320" y="2295144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549323" y="2295144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준공업지역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989320" y="278892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9320" y="2788920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건폐율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549323" y="2788920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 58.4% (법정 상한 60%)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989320" y="328269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89320" y="3282696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용적률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549323" y="3282696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 398.8% (법정 상한 400%)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989320" y="4005072"/>
            <a:ext cx="55714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© V-World 국토교통부 | 2026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렌트롤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렌트롤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645920"/>
            <a:ext cx="137160" cy="137160"/>
          </a:xfrm>
          <a:prstGeom prst="rect">
            <a:avLst/>
          </a:prstGeom>
          <a:solidFill>
            <a:srgbClr val="93B3A0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64592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298448" y="1645920"/>
            <a:ext cx="137160" cy="137160"/>
          </a:xfrm>
          <a:prstGeom prst="rect">
            <a:avLst/>
          </a:prstGeom>
          <a:solidFill>
            <a:srgbClr val="A6C1D9"/>
          </a:solidFill>
          <a:ln/>
        </p:spPr>
      </p:sp>
      <p:sp>
        <p:nvSpPr>
          <p:cNvPr id="9" name="Text 7"/>
          <p:cNvSpPr/>
          <p:nvPr/>
        </p:nvSpPr>
        <p:spPr>
          <a:xfrm>
            <a:off x="1481328" y="164592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29968" y="1645920"/>
            <a:ext cx="137160" cy="137160"/>
          </a:xfrm>
          <a:prstGeom prst="rect">
            <a:avLst/>
          </a:prstGeom>
          <a:solidFill>
            <a:srgbClr val="C5B4E3"/>
          </a:solidFill>
          <a:ln/>
        </p:spPr>
      </p:sp>
      <p:sp>
        <p:nvSpPr>
          <p:cNvPr id="11" name="Text 9"/>
          <p:cNvSpPr/>
          <p:nvPr/>
        </p:nvSpPr>
        <p:spPr>
          <a:xfrm>
            <a:off x="2212848" y="164592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2028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61488" y="1645920"/>
            <a:ext cx="137160" cy="137160"/>
          </a:xfrm>
          <a:prstGeom prst="rect">
            <a:avLst/>
          </a:prstGeom>
          <a:solidFill>
            <a:srgbClr val="FBEFE8"/>
          </a:solidFill>
          <a:ln w="12700">
            <a:solidFill>
              <a:srgbClr val="B05A2E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2944368" y="164592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05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49808" y="5699760"/>
            <a:ext cx="3703320" cy="0"/>
          </a:xfrm>
          <a:prstGeom prst="line">
            <a:avLst/>
          </a:prstGeom>
          <a:noFill/>
          <a:ln w="19050">
            <a:solidFill>
              <a:srgbClr val="CBD5E0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749808" y="55168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GL (지상/지하 경계)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66928" y="569976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B1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32688" y="5727192"/>
            <a:ext cx="3337560" cy="280416"/>
          </a:xfrm>
          <a:prstGeom prst="rect">
            <a:avLst/>
          </a:prstGeom>
          <a:solidFill>
            <a:srgbClr val="FBEFE8"/>
          </a:solidFill>
          <a:ln w="15240">
            <a:solidFill>
              <a:srgbClr val="B05A2E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1005840" y="5727192"/>
            <a:ext cx="2002536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05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935224" y="5727192"/>
            <a:ext cx="1168146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128평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66928" y="536448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1F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850517" y="5391912"/>
            <a:ext cx="1501902" cy="280416"/>
          </a:xfrm>
          <a:prstGeom prst="rect">
            <a:avLst/>
          </a:prstGeom>
          <a:solidFill>
            <a:srgbClr val="93B3A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23669" y="5391912"/>
            <a:ext cx="901141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카페(스타벅스)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751658" y="5391912"/>
            <a:ext cx="525666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55평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566928" y="502920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2F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767078" y="5056632"/>
            <a:ext cx="1668780" cy="280416"/>
          </a:xfrm>
          <a:prstGeom prst="rect">
            <a:avLst/>
          </a:prstGeom>
          <a:solidFill>
            <a:srgbClr val="A6C1D9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40230" y="505663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디자인 스튜디오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768346" y="505663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566928" y="469392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3F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767078" y="4721352"/>
            <a:ext cx="1668780" cy="280416"/>
          </a:xfrm>
          <a:prstGeom prst="rect">
            <a:avLst/>
          </a:prstGeom>
          <a:solidFill>
            <a:srgbClr val="A6C1D9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40230" y="472135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 기업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768346" y="472135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566928" y="435864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4F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767078" y="4386072"/>
            <a:ext cx="1668780" cy="280416"/>
          </a:xfrm>
          <a:prstGeom prst="rect">
            <a:avLst/>
          </a:prstGeom>
          <a:solidFill>
            <a:srgbClr val="93B3A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40230" y="438607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마케팅 에이전시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768346" y="438607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566928" y="402336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5F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767078" y="4050792"/>
            <a:ext cx="1668780" cy="280416"/>
          </a:xfrm>
          <a:prstGeom prst="rect">
            <a:avLst/>
          </a:prstGeom>
          <a:solidFill>
            <a:srgbClr val="A6C1D9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840230" y="405079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법률사무소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768346" y="405079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66928" y="368808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6F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767078" y="3715512"/>
            <a:ext cx="1668780" cy="280416"/>
          </a:xfrm>
          <a:prstGeom prst="rect">
            <a:avLst/>
          </a:prstGeom>
          <a:solidFill>
            <a:srgbClr val="A6C1D9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840230" y="371551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회계법인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768346" y="371551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66928" y="335280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7F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767078" y="3380232"/>
            <a:ext cx="1668780" cy="280416"/>
          </a:xfrm>
          <a:prstGeom prst="rect">
            <a:avLst/>
          </a:prstGeom>
          <a:solidFill>
            <a:srgbClr val="A6C1D9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840230" y="338023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교육기관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768346" y="338023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566928" y="301752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8F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767078" y="3044952"/>
            <a:ext cx="1668780" cy="280416"/>
          </a:xfrm>
          <a:prstGeom prst="rect">
            <a:avLst/>
          </a:prstGeom>
          <a:solidFill>
            <a:srgbClr val="C5B4E3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840230" y="304495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핀테크 스타트업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768346" y="304495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566928" y="268224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9F-A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1850517" y="2709672"/>
            <a:ext cx="1501902" cy="280416"/>
          </a:xfrm>
          <a:prstGeom prst="rect">
            <a:avLst/>
          </a:prstGeom>
          <a:solidFill>
            <a:srgbClr val="C5B4E3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923669" y="2709672"/>
            <a:ext cx="901141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컨설팅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751658" y="2709672"/>
            <a:ext cx="525666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32평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566928" y="234696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9F-B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1850517" y="2374392"/>
            <a:ext cx="1501902" cy="280416"/>
          </a:xfrm>
          <a:prstGeom prst="rect">
            <a:avLst/>
          </a:prstGeom>
          <a:solidFill>
            <a:srgbClr val="C5B4E3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923669" y="2374392"/>
            <a:ext cx="901141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2751658" y="2374392"/>
            <a:ext cx="525666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31평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566928" y="201168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10F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1767078" y="2039112"/>
            <a:ext cx="1668780" cy="280416"/>
          </a:xfrm>
          <a:prstGeom prst="rect">
            <a:avLst/>
          </a:prstGeom>
          <a:solidFill>
            <a:srgbClr val="93B3A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840230" y="203911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건축설계사무소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2768346" y="203911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566928" y="6080760"/>
            <a:ext cx="4069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렌트롤 현황 기준 층별 공간 배치도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73168" y="1645920"/>
          <a:ext cx="68580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645920"/>
                <a:gridCol w="1188720"/>
                <a:gridCol w="1188720"/>
                <a:gridCol w="1005840"/>
                <a:gridCol w="109728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층수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임차인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면적(평)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보증금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월세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계약종료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(공실)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127.7평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카페(스타벅스)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55평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7,600만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715만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2026-11-30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디자인 스튜디오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63.4평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5,400만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507만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2027-03-31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 기업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63.4평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5,000만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480만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2027-12-31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마케팅 에이전시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63.4평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5,200만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495만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2026-05-31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법률사무소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63.4평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5,500만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510만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2027-08-31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회계법인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63.4평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5,300만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2027-12-31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교육기관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63.4평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4,800만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470만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2027-06-30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핀테크 스타트업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63.4평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5,000만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485만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2028-02-28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9F-A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컨설팅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32평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2,500만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2028-12-31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</a:tbl>
          </a:graphicData>
        </a:graphic>
      </p:graphicFrame>
      <p:sp>
        <p:nvSpPr>
          <p:cNvPr id="66" name="Text 63"/>
          <p:cNvSpPr/>
          <p:nvPr/>
        </p:nvSpPr>
        <p:spPr>
          <a:xfrm>
            <a:off x="4773168" y="52578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(전체 13건 중 10건 표시)</a:t>
            </a:r>
            <a:endParaRPr lang="en-US" sz="900" dirty="0"/>
          </a:p>
        </p:txBody>
      </p:sp>
      <p:sp>
        <p:nvSpPr>
          <p:cNvPr id="67" name="Text 64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68" name="Text 65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수익률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수익률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11057839" cy="1188720"/>
          </a:xfrm>
          <a:prstGeom prst="roundRect">
            <a:avLst>
              <a:gd name="adj" fmla="val 6154"/>
            </a:avLst>
          </a:prstGeom>
          <a:solidFill>
            <a:srgbClr val="F7FAFC"/>
          </a:solidFill>
          <a:ln w="9525">
            <a:solidFill>
              <a:srgbClr val="CB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5087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표면 임대수익률  =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343400" y="1508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임대료 합계 (관리비 제외)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26280" y="1920240"/>
            <a:ext cx="4206240" cy="0"/>
          </a:xfrm>
          <a:prstGeom prst="line">
            <a:avLst/>
          </a:prstGeom>
          <a:noFill/>
          <a:ln w="25400">
            <a:solidFill>
              <a:srgbClr val="B886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4340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매매가  −  승계 보증금 합계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726119" y="150876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6.2억원</a:t>
            </a:r>
            <a:pPr algn="r"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÷ (250.0억원 − 5.4억원)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834640"/>
            <a:ext cx="539176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017520"/>
            <a:ext cx="1280160" cy="329184"/>
          </a:xfrm>
          <a:prstGeom prst="roundRect">
            <a:avLst>
              <a:gd name="adj" fmla="val 11111"/>
            </a:avLst>
          </a:prstGeom>
          <a:solidFill>
            <a:srgbClr val="F3F6F7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017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As-Is (현재)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352044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임대료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91560" y="352044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6.2억원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3922776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승계 보증금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91560" y="3922776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5.4억원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432511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매매가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91560" y="432511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250.0억원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" y="4837176"/>
            <a:ext cx="5026000" cy="594360"/>
          </a:xfrm>
          <a:prstGeom prst="roundRect">
            <a:avLst>
              <a:gd name="adj" fmla="val 9231"/>
            </a:avLst>
          </a:prstGeom>
          <a:solidFill>
            <a:srgbClr val="132A3A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837176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Cap Rate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17240" y="4837176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2.52%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6169000" y="2834640"/>
            <a:ext cx="539176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51880" y="3017520"/>
            <a:ext cx="1645920" cy="329184"/>
          </a:xfrm>
          <a:prstGeom prst="roundRect">
            <a:avLst>
              <a:gd name="adj" fmla="val 11111"/>
            </a:avLst>
          </a:prstGeom>
          <a:solidFill>
            <a:srgbClr val="F6F1E4"/>
          </a:solidFill>
          <a:ln/>
        </p:spPr>
      </p:sp>
      <p:sp>
        <p:nvSpPr>
          <p:cNvPr id="26" name="Text 24"/>
          <p:cNvSpPr/>
          <p:nvPr/>
        </p:nvSpPr>
        <p:spPr>
          <a:xfrm>
            <a:off x="6351880" y="3017520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Stabilized (안정화)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089240" y="301752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분석가정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43320" y="352044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임대료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457639" y="352044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6.7억원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43320" y="3922776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승계 보증금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457639" y="3922776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5.4억원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43320" y="432511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매매가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457639" y="432511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250.0억원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351880" y="4837176"/>
            <a:ext cx="5026000" cy="594360"/>
          </a:xfrm>
          <a:prstGeom prst="roundRect">
            <a:avLst>
              <a:gd name="adj" fmla="val 9231"/>
            </a:avLst>
          </a:prstGeom>
          <a:solidFill>
            <a:srgbClr val="B8860B"/>
          </a:solidFill>
          <a:ln/>
        </p:spPr>
      </p:sp>
      <p:sp>
        <p:nvSpPr>
          <p:cNvPr id="35" name="Text 33"/>
          <p:cNvSpPr/>
          <p:nvPr/>
        </p:nvSpPr>
        <p:spPr>
          <a:xfrm>
            <a:off x="6534760" y="4837176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Cap Rate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183319" y="4837176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2.75%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502920" y="5943600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가정: 공실층을 인근 동일 용도 시세 수준으로 임대 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Gallery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사진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234440"/>
            <a:ext cx="3600602" cy="22905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6072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76072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02920" y="3232404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612648" y="3232404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더레드빌딩 전면 외관 (B1~10F 대로변 코너)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231538" y="1234440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31538" y="1234440"/>
            <a:ext cx="3600602" cy="229057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304690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4304690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231538" y="3232404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4341266" y="3232404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측면 및 보행자 접근로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7960157" y="1234440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960157" y="1234440"/>
            <a:ext cx="3600602" cy="2290572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8033309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21" name="Text 16"/>
          <p:cNvSpPr/>
          <p:nvPr/>
        </p:nvSpPr>
        <p:spPr>
          <a:xfrm>
            <a:off x="8033309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 출입구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7960157" y="3232404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23" name="Text 18"/>
          <p:cNvSpPr/>
          <p:nvPr/>
        </p:nvSpPr>
        <p:spPr>
          <a:xfrm>
            <a:off x="8069885" y="3232404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1층 주출입구 및 접근 동선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502920" y="3653028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02920" y="3653028"/>
            <a:ext cx="3600602" cy="2290572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576072" y="3726180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27" name="Text 21"/>
          <p:cNvSpPr/>
          <p:nvPr/>
        </p:nvSpPr>
        <p:spPr>
          <a:xfrm>
            <a:off x="576072" y="37261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502920" y="5650992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29" name="Text 23"/>
          <p:cNvSpPr/>
          <p:nvPr/>
        </p:nvSpPr>
        <p:spPr>
          <a:xfrm>
            <a:off x="612648" y="5650992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측후면 및 주차타워 진입로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4231538" y="3653028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231538" y="3653028"/>
            <a:ext cx="3600602" cy="2290572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4304690" y="3726180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33" name="Text 26"/>
          <p:cNvSpPr/>
          <p:nvPr/>
        </p:nvSpPr>
        <p:spPr>
          <a:xfrm>
            <a:off x="4304690" y="37261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4231538" y="5650992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35" name="Text 28"/>
          <p:cNvSpPr/>
          <p:nvPr/>
        </p:nvSpPr>
        <p:spPr>
          <a:xfrm>
            <a:off x="4341266" y="5650992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전경 및 주변 가로 환경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7960157" y="3653028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960157" y="3653028"/>
            <a:ext cx="3600602" cy="2290572"/>
          </a:xfrm>
          <a:prstGeom prst="rect">
            <a:avLst/>
          </a:prstGeom>
        </p:spPr>
      </p:pic>
      <p:sp>
        <p:nvSpPr>
          <p:cNvPr id="38" name="Shape 30"/>
          <p:cNvSpPr/>
          <p:nvPr/>
        </p:nvSpPr>
        <p:spPr>
          <a:xfrm>
            <a:off x="8033309" y="3726180"/>
            <a:ext cx="82296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39" name="Text 31"/>
          <p:cNvSpPr/>
          <p:nvPr/>
        </p:nvSpPr>
        <p:spPr>
          <a:xfrm>
            <a:off x="8033309" y="37261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주차장</a:t>
            </a:r>
            <a:endParaRPr lang="en-US" sz="900" dirty="0"/>
          </a:p>
        </p:txBody>
      </p:sp>
      <p:sp>
        <p:nvSpPr>
          <p:cNvPr id="40" name="Shape 32"/>
          <p:cNvSpPr/>
          <p:nvPr/>
        </p:nvSpPr>
        <p:spPr>
          <a:xfrm>
            <a:off x="7960157" y="5650992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41" name="Text 33"/>
          <p:cNvSpPr/>
          <p:nvPr/>
        </p:nvSpPr>
        <p:spPr>
          <a:xfrm>
            <a:off x="8069885" y="5650992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자주식 및 기계식 주차타워 (총 23대)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43" name="Text 35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문의/유의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및 유의사항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7" name="Shape 5"/>
          <p:cNvSpPr/>
          <p:nvPr/>
        </p:nvSpPr>
        <p:spPr>
          <a:xfrm>
            <a:off x="612648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612648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61288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61288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091330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37634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13" name="Shape 11"/>
          <p:cNvSpPr/>
          <p:nvPr/>
        </p:nvSpPr>
        <p:spPr>
          <a:xfrm>
            <a:off x="4347362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4" name="Text 12"/>
          <p:cNvSpPr/>
          <p:nvPr/>
        </p:nvSpPr>
        <p:spPr>
          <a:xfrm>
            <a:off x="4347362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6002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6002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26045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972349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19" name="Shape 17"/>
          <p:cNvSpPr/>
          <p:nvPr/>
        </p:nvSpPr>
        <p:spPr>
          <a:xfrm>
            <a:off x="8082077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0" name="Text 18"/>
          <p:cNvSpPr/>
          <p:nvPr/>
        </p:nvSpPr>
        <p:spPr>
          <a:xfrm>
            <a:off x="8082077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30717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30717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29384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2920" y="312724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31272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29384" y="31089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2920" y="352958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352958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29384" y="351129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02920" y="393192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39319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29384" y="39136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02920" y="433425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43342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929384" y="43159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중개사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2724912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32A3A"/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75120" y="2798064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📞  정현우 수석팀장  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675120" y="3072384"/>
            <a:ext cx="4764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☎ 010-3344-5566    ✉ js-cre@credeal.kr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675120" y="3310128"/>
            <a:ext cx="4764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🏢 제이에스부동산중개법인    등록번호: 11680-2024-00156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92240" y="389534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492240" y="4206240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A3347"/>
          </a:solidFill>
          <a:ln/>
        </p:spPr>
      </p:sp>
      <p:sp>
        <p:nvSpPr>
          <p:cNvPr id="46" name="Text 44"/>
          <p:cNvSpPr/>
          <p:nvPr/>
        </p:nvSpPr>
        <p:spPr>
          <a:xfrm>
            <a:off x="6675120" y="4315968"/>
            <a:ext cx="4764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02920" y="5760720"/>
            <a:ext cx="11057839" cy="457200"/>
          </a:xfrm>
          <a:prstGeom prst="rect">
            <a:avLst/>
          </a:prstGeom>
          <a:solidFill>
            <a:srgbClr val="8B6508"/>
          </a:solidFill>
          <a:ln/>
        </p:spPr>
      </p:sp>
      <p:sp>
        <p:nvSpPr>
          <p:cNvPr id="48" name="Text 46"/>
          <p:cNvSpPr/>
          <p:nvPr/>
        </p:nvSpPr>
        <p:spPr>
          <a:xfrm>
            <a:off x="685800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6F1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제이에스부동산중개법인 · 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2026-09-20T11:36:07Z</dcterms:created>
  <dcterms:modified xsi:type="dcterms:W3CDTF">2026-09-20T11:36:07Z</dcterms:modified>
</cp:coreProperties>
</file>