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 투자설명서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63931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125-2번지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43434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3434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업무시설 (사무용빌딩)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06040" y="4343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343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846320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956048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250억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2026.09.20  |  정현우 수석팀장  |  제이에스부동산중개법인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신축 무결점 자산 · 11개 우량 법인 분산 만실 · 선유도역 도보 1분 3필지 통합 코너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156.9평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753.5평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0292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751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B1/F10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243730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08322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수익률(Cap Rate)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08322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984541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9133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149133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선유도역 도보 1분 역세권 및 25m 양평로 북측 접면, 10m 동측 도로 접면 (코너) 접면, 영등포/양평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157평·연면적 753평·평당 약 3,318만 원 규모 단독 빌딩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연 순수익률(Cap Rate) 1.9% 기반 안정적 임대수익 자산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영등포구 양평동4가 117, 134, 125-2 (3필지 통합)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518.70㎡ (156.91평)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2,490.88㎡ (753.49평) / 지상 2,068.60㎡ (625.75평)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건축면적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302.92㎡ (91.63평, 건폐율 58.40%)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398.80% (준공업지역 법정 400.0% 상한 근접 최적화)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건물구조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철근콘크리트구조 / 평지붕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2018년 9월 (신축급 특A 컨디션)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2569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4256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423160" y="442569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1층 ~ 지상 10층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864608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64608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412541" y="4864608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250억 원 (VAT 별도)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0080" y="5367528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367528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12541" y="5367528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20279" y="1645920"/>
            <a:ext cx="3840480" cy="29260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720279" y="4681728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E8F4F8"/>
          </a:solidFill>
          <a:ln/>
        </p:spPr>
      </p:sp>
      <p:sp>
        <p:nvSpPr>
          <p:cNvPr id="42" name="Shape 39"/>
          <p:cNvSpPr/>
          <p:nvPr/>
        </p:nvSpPr>
        <p:spPr>
          <a:xfrm>
            <a:off x="7720279" y="4736592"/>
            <a:ext cx="36576" cy="139903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0"/>
          <p:cNvSpPr/>
          <p:nvPr/>
        </p:nvSpPr>
        <p:spPr>
          <a:xfrm>
            <a:off x="7866583" y="4773168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866583" y="4974336"/>
            <a:ext cx="35844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도심 비즈니스 권역 소재 핵심 입지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 임대수익 기반 투자 매물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역세권 접근성 및 주변 상업 인프라 우수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4분 (약 295m)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주요 상업·업무 권역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코쿤빌아파트 도보 1분 (약 25m)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7647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776472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549323" y="3776472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계명아파트 도보 1분 (약 50m)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89320" y="440740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446227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449884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470001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선유도역 9호선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 차량 진출입 양호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영등포/양평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9339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408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883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8833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0358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358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도로접면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03580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3832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필지 형상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3832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[필지 형상 확인 필요]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73075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7307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730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0782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782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407822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15,933만 원/평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0279" y="1645920"/>
            <a:ext cx="3840480" cy="2688336"/>
          </a:xfrm>
          <a:prstGeom prst="roundRect">
            <a:avLst>
              <a:gd name="adj" fmla="val 2041"/>
            </a:avLst>
          </a:prstGeom>
          <a:solidFill>
            <a:srgbClr val="E8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7720279" y="1700784"/>
            <a:ext cx="36576" cy="25786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3" name="Text 3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66583" y="1938528"/>
            <a:ext cx="3584448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건폐율 58.4%, 용적률 398.8% (법정 상한: 건폐율 60%, 용적률 400%)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 기준 법정 상한 대비 용적률 상향 및 밸류애드 잠재력 보유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25m 양평로 북측 접면, 10m 동측 도로 접면 (코너) 접면으로 보행자 접근성 및 차량 진출입 동선 우수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518.7㎡ (156.9평)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89320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295144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549323" y="2295144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788920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건폐율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9323" y="2788920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58.4% (법정 상한 60%)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89320" y="328269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3282696"/>
            <a:ext cx="156000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용적률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549323" y="3282696"/>
            <a:ext cx="40114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현행 398.8% (법정 상한 400%)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89320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렌트롤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137160" cy="137160"/>
          </a:xfrm>
          <a:prstGeom prst="rect">
            <a:avLst/>
          </a:prstGeom>
          <a:solidFill>
            <a:srgbClr val="93B3A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98448" y="1645920"/>
            <a:ext cx="137160" cy="137160"/>
          </a:xfrm>
          <a:prstGeom prst="rect">
            <a:avLst/>
          </a:prstGeom>
          <a:solidFill>
            <a:srgbClr val="A6C1D9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29968" y="1645920"/>
            <a:ext cx="137160" cy="137160"/>
          </a:xfrm>
          <a:prstGeom prst="rect">
            <a:avLst/>
          </a:prstGeom>
          <a:solidFill>
            <a:srgbClr val="C5B4E3"/>
          </a:solidFill>
          <a:ln/>
        </p:spPr>
      </p:sp>
      <p:sp>
        <p:nvSpPr>
          <p:cNvPr id="11" name="Text 9"/>
          <p:cNvSpPr/>
          <p:nvPr/>
        </p:nvSpPr>
        <p:spPr>
          <a:xfrm>
            <a:off x="221284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1645920"/>
            <a:ext cx="137160" cy="137160"/>
          </a:xfrm>
          <a:prstGeom prst="rect">
            <a:avLst/>
          </a:prstGeom>
          <a:solidFill>
            <a:srgbClr val="FBEFE8"/>
          </a:solidFill>
          <a:ln w="12700">
            <a:solidFill>
              <a:srgbClr val="B05A2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944368" y="164592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" y="5699760"/>
            <a:ext cx="3703320" cy="0"/>
          </a:xfrm>
          <a:prstGeom prst="line">
            <a:avLst/>
          </a:prstGeom>
          <a:noFill/>
          <a:ln w="19050">
            <a:solidFill>
              <a:srgbClr val="CBD5E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49808" y="5516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 (지상/지하 경계)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66928" y="56997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32688" y="5727192"/>
            <a:ext cx="3337560" cy="280416"/>
          </a:xfrm>
          <a:prstGeom prst="rect">
            <a:avLst/>
          </a:prstGeom>
          <a:solidFill>
            <a:srgbClr val="FBEFE8"/>
          </a:solidFill>
          <a:ln w="15240">
            <a:solidFill>
              <a:srgbClr val="B05A2E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1005840" y="5727192"/>
            <a:ext cx="200253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05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935224" y="5727192"/>
            <a:ext cx="116814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128평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66928" y="53644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50517" y="5391912"/>
            <a:ext cx="1501902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3669" y="539191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카페(스타벅스)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51658" y="539191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55평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66928" y="50292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67078" y="50566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40230" y="50566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스튜디오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8346" y="50566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66928" y="46939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7078" y="472135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40230" y="47213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기업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68346" y="47213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6928" y="43586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4F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767078" y="438607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40230" y="438607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 에이전시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68346" y="438607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6928" y="40233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67078" y="405079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40230" y="405079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법률사무소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768346" y="405079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6928" y="36880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6F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67078" y="371551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40230" y="37155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회계법인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768346" y="37155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66928" y="335280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767078" y="3380232"/>
            <a:ext cx="1668780" cy="280416"/>
          </a:xfrm>
          <a:prstGeom prst="rect">
            <a:avLst/>
          </a:prstGeom>
          <a:solidFill>
            <a:srgbClr val="A6C1D9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40230" y="338023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교육기관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768346" y="338023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66928" y="301752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767078" y="3044952"/>
            <a:ext cx="1668780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40230" y="304495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핀테크 스타트업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768346" y="304495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6928" y="268224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50517" y="270967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3669" y="270967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2751658" y="270967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32평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6928" y="234696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9F-B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850517" y="2374392"/>
            <a:ext cx="1501902" cy="280416"/>
          </a:xfrm>
          <a:prstGeom prst="rect">
            <a:avLst/>
          </a:prstGeom>
          <a:solidFill>
            <a:srgbClr val="C5B4E3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23669" y="2374392"/>
            <a:ext cx="901141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751658" y="2374392"/>
            <a:ext cx="525666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31평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6928" y="2011680"/>
            <a:ext cx="320040" cy="335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67078" y="2039112"/>
            <a:ext cx="1668780" cy="280416"/>
          </a:xfrm>
          <a:prstGeom prst="rect">
            <a:avLst/>
          </a:prstGeom>
          <a:solidFill>
            <a:srgbClr val="93B3A0"/>
          </a:solidFill>
          <a:ln w="13970">
            <a:solidFill>
              <a:srgbClr val="5B6B7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40230" y="2039112"/>
            <a:ext cx="1001268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건축설계사무소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768346" y="2039112"/>
            <a:ext cx="584073" cy="280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63평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6928" y="608076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렌트롤 현황 기준 층별 공간 배치도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164592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1188720"/>
                <a:gridCol w="1188720"/>
                <a:gridCol w="100584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층수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임차인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면적(평)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월세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계약종료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(공실)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127.7평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05A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카페(스타벅스)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7,600만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2026-11-30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디자인 스튜디오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5,400만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507만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2027-03-31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기업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마케팅 에이전시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5,200만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2026-05-31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법률사무소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2027-08-31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회계법인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5,300만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교육기관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4,800만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2027-06-30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8F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핀테크 스타트업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63.4평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5,000만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485만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2028-02-28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9F-A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컨설팅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32평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2,500만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250만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2028-12-31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7"/>
                    </a:solidFill>
                  </a:tcPr>
                </a:tc>
              </a:tr>
            </a:tbl>
          </a:graphicData>
        </a:graphic>
      </p:graphicFrame>
      <p:sp>
        <p:nvSpPr>
          <p:cNvPr id="66" name="Text 63"/>
          <p:cNvSpPr/>
          <p:nvPr/>
        </p:nvSpPr>
        <p:spPr>
          <a:xfrm>
            <a:off x="4773168" y="525780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879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(전체 13건 중 10건 표시)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1188720"/>
          </a:xfrm>
          <a:prstGeom prst="roundRect">
            <a:avLst>
              <a:gd name="adj" fmla="val 6154"/>
            </a:avLst>
          </a:prstGeom>
          <a:solidFill>
            <a:srgbClr val="F7FAFC"/>
          </a:solidFill>
          <a:ln w="9525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08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임대수익률  =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34340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 합계 (관리비 제외)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920240"/>
            <a:ext cx="4206240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  −  승계 보증금 합계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26119" y="150876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6.2억원</a:t>
            </a:r>
            <a:pPr algn="r"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÷ (250.0억원 − 5.4억원)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017520"/>
            <a:ext cx="1280160" cy="329184"/>
          </a:xfrm>
          <a:prstGeom prst="roundRect">
            <a:avLst>
              <a:gd name="adj" fmla="val 11111"/>
            </a:avLst>
          </a:prstGeom>
          <a:solidFill>
            <a:srgbClr val="F3F6F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17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(현재)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1560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6.2억원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91560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91560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132A3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17240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69000" y="2834640"/>
            <a:ext cx="53917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1880" y="3017520"/>
            <a:ext cx="1645920" cy="329184"/>
          </a:xfrm>
          <a:prstGeom prst="roundRect">
            <a:avLst>
              <a:gd name="adj" fmla="val 11111"/>
            </a:avLst>
          </a:prstGeom>
          <a:solidFill>
            <a:srgbClr val="F6F1E4"/>
          </a:solidFill>
          <a:ln/>
        </p:spPr>
      </p:sp>
      <p:sp>
        <p:nvSpPr>
          <p:cNvPr id="26" name="Text 24"/>
          <p:cNvSpPr/>
          <p:nvPr/>
        </p:nvSpPr>
        <p:spPr>
          <a:xfrm>
            <a:off x="6351880" y="301752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Stabilized (안정화)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89240" y="30175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분석가정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3320" y="35204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임대료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57639" y="35204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6.7억원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43320" y="39227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457639" y="392277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5.4억원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3320" y="432511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57639" y="432511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250.0억원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51880" y="4837176"/>
            <a:ext cx="5026000" cy="594360"/>
          </a:xfrm>
          <a:prstGeom prst="roundRect">
            <a:avLst>
              <a:gd name="adj" fmla="val 9231"/>
            </a:avLst>
          </a:prstGeom>
          <a:solidFill>
            <a:srgbClr val="B8860B"/>
          </a:solidFill>
          <a:ln/>
        </p:spPr>
      </p:sp>
      <p:sp>
        <p:nvSpPr>
          <p:cNvPr id="35" name="Text 33"/>
          <p:cNvSpPr/>
          <p:nvPr/>
        </p:nvSpPr>
        <p:spPr>
          <a:xfrm>
            <a:off x="6534760" y="4837176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 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3319" y="483717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2.75%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02920" y="5943600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가정: 공실층을 인근 동일 용도 시세 수준으로 임대 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34440"/>
            <a:ext cx="360060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76072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2920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12648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더레드빌딩 전면 외관 (B1~10F 대로변 코너)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3153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31538" y="1234440"/>
            <a:ext cx="3600602" cy="229057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430469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31538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4341266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측면 및 보행자 접근로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60157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60157" y="1234440"/>
            <a:ext cx="3600602" cy="229057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8033309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출입구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7960157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8069885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주출입구 및 접근 동선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02920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" y="3653028"/>
            <a:ext cx="3600602" cy="229057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7" name="Text 21"/>
          <p:cNvSpPr/>
          <p:nvPr/>
        </p:nvSpPr>
        <p:spPr>
          <a:xfrm>
            <a:off x="576072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502920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612648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측후면 및 주차타워 진입로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3153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31538" y="3653028"/>
            <a:ext cx="3600602" cy="22905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430469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23153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434126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전경 및 주변 가로 환경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960157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960157" y="3653028"/>
            <a:ext cx="3600602" cy="2290572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39" name="Text 31"/>
          <p:cNvSpPr/>
          <p:nvPr/>
        </p:nvSpPr>
        <p:spPr>
          <a:xfrm>
            <a:off x="8033309" y="37261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주차장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7960157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1" name="Text 33"/>
          <p:cNvSpPr/>
          <p:nvPr/>
        </p:nvSpPr>
        <p:spPr>
          <a:xfrm>
            <a:off x="8069885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및 기계식 주차타워 (총 23대)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43" name="Text 35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정현우 수석팀장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010-3344-5566    ✉ js-cre@credeal.kr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제이에스부동산중개법인    등록번호: 11680-2024-00156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   |   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2026-09-20T11:52:04Z</dcterms:created>
  <dcterms:modified xsi:type="dcterms:W3CDTF">2026-09-20T11:52:04Z</dcterms:modified>
</cp:coreProperties>
</file>