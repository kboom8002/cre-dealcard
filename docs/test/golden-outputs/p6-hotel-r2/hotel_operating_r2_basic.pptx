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 투자설명서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37947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21538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421538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901952" y="421538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901952" y="421538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465429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76402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300억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07738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72330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72330" y="171907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147.1평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048549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3141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13141" y="171907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1,162.4평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66928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31520" y="2843784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B2/F12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307738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2330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72330" y="2843784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8048549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3141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213141" y="2843784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300억 원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66928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147평·연면적 1162평·평당 약 2,581만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87168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486.2㎡ (147.1평)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87168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3842.6㎡ (1162.4평)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87168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87168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87168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B2~12F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87168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18대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87168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76549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04088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9808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76549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20,398만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613331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53328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13331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53328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613331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서대문구 대현동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53328" y="328269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6053328" y="3337560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8" name="Text 15"/>
          <p:cNvSpPr/>
          <p:nvPr/>
        </p:nvSpPr>
        <p:spPr>
          <a:xfrm>
            <a:off x="6199632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99632" y="357530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서대문구 대현동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486.2㎡ (147.1평)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87168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87168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87168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87168" y="36576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20,398만 원/평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5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 기준 법정 건폐율 60% 이하, 법정 용적률 800%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11057839" cy="4389120"/>
          </a:xfrm>
          <a:prstGeom prst="roundRect">
            <a:avLst>
              <a:gd name="adj" fmla="val 1250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00784"/>
            <a:ext cx="1435608" cy="219456"/>
          </a:xfrm>
          <a:prstGeom prst="roundRect">
            <a:avLst>
              <a:gd name="adj" fmla="val 50000"/>
            </a:avLst>
          </a:prstGeom>
          <a:solidFill>
            <a:srgbClr val="F6F1E4"/>
          </a:solidFill>
          <a:ln w="6350">
            <a:solidFill>
              <a:srgbClr val="8B650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00784"/>
            <a:ext cx="1435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임대차 실사 안내 ]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99339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및 렌트롤 상세 실사 프로토콜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304288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자산의 세부 층별 임대차 계약 원장 및 정산 내역은 매수 의향 접수 및 비밀유지협약(NDA) 체결 후 실측 대조가 진행됩니다.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" y="2798064"/>
            <a:ext cx="105457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2944368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2889504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계약서 원본 전수 대조 (임대료, 관리비, 계약기간, 만기일 및 갱신 옵션)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59536" y="3634740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3579876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보증금 및 월임대료 입금 금융 원장 대조·검증 (체납 내역 및 부가가치세 신고서 정합성)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859536" y="4325112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987552" y="4270248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 사항 및 렌트프리(Rent-Free), 핏아웃(Fit-out) 등 실질 유효 임대료(Net Effective Rent) 산정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59536" y="5015484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9" name="Text 17"/>
          <p:cNvSpPr/>
          <p:nvPr/>
        </p:nvSpPr>
        <p:spPr>
          <a:xfrm>
            <a:off x="987552" y="4960620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상가건물 임대차보호법상 계약갱신요구권 행사 가능 여부 및 명도/재계약 리스크 검토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512064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60020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132A3A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6002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87168" y="1600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86968" y="2834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27248" y="28346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318211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31821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27248" y="31821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52958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52958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27248" y="35295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300.0억원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" y="3877056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87705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순투자금 (매매가 − 보증금)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27248" y="38770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" y="422452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3328" y="1371600"/>
            <a:ext cx="5571439" cy="3840480"/>
          </a:xfrm>
          <a:prstGeom prst="roundRect">
            <a:avLst>
              <a:gd name="adj" fmla="val 1429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09360" y="1591056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6F1E4"/>
          </a:solidFill>
          <a:ln w="6350">
            <a:solidFill>
              <a:srgbClr val="8B65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159105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공시지가 열람 안내 ]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309360" y="1883664"/>
            <a:ext cx="5059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개별공시지가 및 토지 가치 평가 안내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09360" y="2194560"/>
            <a:ext cx="50593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필지의 개별공시지가 연도별 이력 및 표준지 공시지가 대비 배율은 부동산 공시가격 알리미 및 감정평가 공적 자료를 통해 확인합니다.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309360" y="2633472"/>
            <a:ext cx="50593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45936" y="2779776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29" name="Text 27"/>
          <p:cNvSpPr/>
          <p:nvPr/>
        </p:nvSpPr>
        <p:spPr>
          <a:xfrm>
            <a:off x="6473952" y="2724912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5~10개년 개별공시지가 변동 추이 및 연평균 상승률 분석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345936" y="3346704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1" name="Text 29"/>
          <p:cNvSpPr/>
          <p:nvPr/>
        </p:nvSpPr>
        <p:spPr>
          <a:xfrm>
            <a:off x="6473952" y="3291840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인근 표준지 공시지가 대비 토지 특성(도로접면, 형상, 방위) 차이 분석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6345936" y="3913632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3" name="Text 31"/>
          <p:cNvSpPr/>
          <p:nvPr/>
        </p:nvSpPr>
        <p:spPr>
          <a:xfrm>
            <a:off x="6473952" y="3858768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공시지가 대비 실거래가 매매 배율 및 평당 단가 프리미엄 검증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345936" y="4480560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5" name="Text 33"/>
          <p:cNvSpPr/>
          <p:nvPr/>
        </p:nvSpPr>
        <p:spPr>
          <a:xfrm>
            <a:off x="6473952" y="4425696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보유세(재산세·종합부동산세) 과세표준 기준액 산출 및 세무 영향 점검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11057839" cy="4572000"/>
          </a:xfrm>
          <a:prstGeom prst="roundRect">
            <a:avLst>
              <a:gd name="adj" fmla="val 1200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91056"/>
            <a:ext cx="1316736" cy="219456"/>
          </a:xfrm>
          <a:prstGeom prst="roundRect">
            <a:avLst>
              <a:gd name="adj" fmla="val 50000"/>
            </a:avLst>
          </a:prstGeom>
          <a:solidFill>
            <a:srgbClr val="E8F4F8"/>
          </a:solidFill>
          <a:ln w="6350">
            <a:solidFill>
              <a:srgbClr val="2E6E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9105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현장 실사 예정 ]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88366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건축물 현황 및 물리적 실사 점검 안내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1945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자산의 내·외관 상태 및 주요 설비 사양은 매수 실사 절차 진행 시 현장 방문 조사를 통해 상세 확인 및 촬영이 진행됩니다.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" y="2706624"/>
            <a:ext cx="105457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2852928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279806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외관 파사드 마감재 보존 상태 및 균열·누수 흔적 정밀 점검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59536" y="3584448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352958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승강기, 기계식 주차설비, 수배전반 등 핵심 설비 내구연한 및 정기검사 이력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859536" y="4315968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987552" y="426110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옥상 방수 상태, 지하층 결로/누수 여부 및 공용부(계단실·화장실) 관리 컨디션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59536" y="5047488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9" name="Text 17"/>
          <p:cNvSpPr/>
          <p:nvPr/>
        </p:nvSpPr>
        <p:spPr>
          <a:xfrm>
            <a:off x="987552" y="499262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주차대수 확보 여부, 주차장 진입로 회전반경 및 층고 실측 검증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2026-10-02T04:25:22Z</dcterms:created>
  <dcterms:modified xsi:type="dcterms:W3CDTF">2026-10-02T04:25:22Z</dcterms:modified>
</cp:coreProperties>
</file>