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6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0D2233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1A3A4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132A3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8860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32A3A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A3347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B4A5E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02920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표지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02920" y="2304288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경기도 구리시 수택동 419-19 외 2필지 투자설명서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502920" y="3273552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근린생활시설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02920" y="36576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경기도 구리시 수택동 419-19 외 2필지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02920" y="4078224"/>
            <a:ext cx="1243584" cy="292608"/>
          </a:xfrm>
          <a:prstGeom prst="roundRect">
            <a:avLst>
              <a:gd name="adj" fmla="val 50000"/>
            </a:avLst>
          </a:prstGeom>
          <a:solidFill>
            <a:srgbClr val="132A3A"/>
          </a:solidFill>
          <a:ln/>
        </p:spPr>
      </p:sp>
      <p:sp>
        <p:nvSpPr>
          <p:cNvPr id="15" name="Text 13"/>
          <p:cNvSpPr/>
          <p:nvPr/>
        </p:nvSpPr>
        <p:spPr>
          <a:xfrm>
            <a:off x="502920" y="4078224"/>
            <a:ext cx="1243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근린생활시설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1837944" y="4078224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132A3A"/>
          </a:solidFill>
          <a:ln/>
        </p:spPr>
      </p:sp>
      <p:sp>
        <p:nvSpPr>
          <p:cNvPr id="17" name="Text 15"/>
          <p:cNvSpPr/>
          <p:nvPr/>
        </p:nvSpPr>
        <p:spPr>
          <a:xfrm>
            <a:off x="1837944" y="4078224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89억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502920" y="4517136"/>
            <a:ext cx="6858000" cy="1051560"/>
          </a:xfrm>
          <a:prstGeom prst="roundRect">
            <a:avLst>
              <a:gd name="adj" fmla="val 3478"/>
            </a:avLst>
          </a:prstGeom>
          <a:solidFill>
            <a:srgbClr val="8B6508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58952" y="4626864"/>
            <a:ext cx="6345936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6F1E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매각 희망가 89억 원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502920" y="17007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CREDEAL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02920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2026.09.24  |  담당자  |  CREDEAL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요약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요약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371600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67512" y="149961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667512" y="1719072"/>
            <a:ext cx="324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89억 원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4243730" y="1371600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408322" y="149961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대지면적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4408322" y="1719072"/>
            <a:ext cx="324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197평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7984541" y="1371600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149133" y="149961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공실 현황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8149133" y="1719072"/>
            <a:ext cx="324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만실 운영 (공실 0%)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02920" y="2496312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67512" y="2624328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실투자금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667512" y="2843784"/>
            <a:ext cx="324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89억 원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4243730" y="2496312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408322" y="2624328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수익률(Cap Rate)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4408322" y="2843784"/>
            <a:ext cx="324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3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2200" dirty="0"/>
          </a:p>
        </p:txBody>
      </p:sp>
      <p:sp>
        <p:nvSpPr>
          <p:cNvPr id="21" name="Shape 19"/>
          <p:cNvSpPr/>
          <p:nvPr/>
        </p:nvSpPr>
        <p:spPr>
          <a:xfrm>
            <a:off x="7984541" y="2496312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149133" y="2624328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연면적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8149133" y="2843784"/>
            <a:ext cx="324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3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502920" y="3712464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B650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502920" y="4041648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12648" y="4151376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6F1E4"/>
          </a:solidFill>
          <a:ln w="6350">
            <a:solidFill>
              <a:srgbClr val="C9A24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12648" y="4151376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B65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143000" y="4078224"/>
            <a:ext cx="1028059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입지 가치: 대중교통 역세권 입지, 해당 권역 업무·상업 중심지 배후 수요 확보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02920" y="472287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12648" y="483260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6F1E4"/>
          </a:solidFill>
          <a:ln w="6350">
            <a:solidFill>
              <a:srgbClr val="C9A24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12648" y="483260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B65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143000" y="4759452"/>
            <a:ext cx="1028059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자산 규모: 대지 197평 규모 단독 빌딩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502920" y="540410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12648" y="551383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6F1E4"/>
          </a:solidFill>
          <a:ln w="6350">
            <a:solidFill>
              <a:srgbClr val="C9A24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12648" y="551383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B65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1143000" y="5440680"/>
            <a:ext cx="1028059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 안정성: 안정적 임대수익 기반 투자 매물</a:t>
            </a:r>
            <a:endParaRPr lang="en-US" sz="1150" dirty="0"/>
          </a:p>
        </p:txBody>
      </p:sp>
      <p:sp>
        <p:nvSpPr>
          <p:cNvPr id="37" name="Text 35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물건 개요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물건 개요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건물 기본 정보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645920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소재지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2423160" y="1645920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경기도 구리시 수택동 419-19 외 2필지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02920" y="197510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1975104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대지면적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423160" y="197510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651.2㎡ (197.0평)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02920" y="2304288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" y="2304288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연면적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423160" y="2304288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 (-)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02920" y="263347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2920" y="2633472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용도지역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2423160" y="2633472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도시지역·상업지역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02920" y="29626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2920" y="2962656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준공연도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2423160" y="2962656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-년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02920" y="3291840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2920" y="3291840"/>
            <a:ext cx="6858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층수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02920" y="362102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02920" y="3621024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주차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2423160" y="362102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자주식 -대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02920" y="3950208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02920" y="3950208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엘리베이터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2423160" y="3950208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-대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502920" y="4389120"/>
            <a:ext cx="6858000" cy="1005840"/>
          </a:xfrm>
          <a:prstGeom prst="rect">
            <a:avLst/>
          </a:prstGeom>
          <a:solidFill>
            <a:srgbClr val="F6F1E4"/>
          </a:solidFill>
          <a:ln w="15240">
            <a:solidFill>
              <a:srgbClr val="B8860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85800" y="4389120"/>
            <a:ext cx="272674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매매 희망가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3412541" y="4389120"/>
            <a:ext cx="376549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B886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89억 원 (VAT 별도)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40080" y="4892040"/>
            <a:ext cx="6583680" cy="0"/>
          </a:xfrm>
          <a:prstGeom prst="line">
            <a:avLst/>
          </a:prstGeom>
          <a:noFill/>
          <a:ln w="6350">
            <a:solidFill>
              <a:srgbClr val="D4C89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85800" y="4892040"/>
            <a:ext cx="272674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토지평당가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3412541" y="4892040"/>
            <a:ext cx="376549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B886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4,518만 원/평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8860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720279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E8F4F8"/>
          </a:solidFill>
          <a:ln/>
        </p:spPr>
      </p:sp>
      <p:sp>
        <p:nvSpPr>
          <p:cNvPr id="37" name="Shape 35"/>
          <p:cNvSpPr/>
          <p:nvPr/>
        </p:nvSpPr>
        <p:spPr>
          <a:xfrm>
            <a:off x="7720279" y="1700784"/>
            <a:ext cx="36576" cy="1993392"/>
          </a:xfrm>
          <a:prstGeom prst="rect">
            <a:avLst/>
          </a:prstGeom>
          <a:solidFill>
            <a:srgbClr val="2E6E82"/>
          </a:solidFill>
          <a:ln/>
        </p:spPr>
      </p:sp>
      <p:sp>
        <p:nvSpPr>
          <p:cNvPr id="38" name="Text 36"/>
          <p:cNvSpPr/>
          <p:nvPr/>
        </p:nvSpPr>
        <p:spPr>
          <a:xfrm>
            <a:off x="7866583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6E8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입지 및 자산 개요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7866583" y="1938528"/>
            <a:ext cx="3584448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투자 검토 대상 상업용 자산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권리관계 및 임대차 계약 구조 분석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상세 인접 인프라 및 입지 환경 분석</a:t>
            </a:r>
            <a:endParaRPr lang="en-US" sz="980" dirty="0"/>
          </a:p>
        </p:txBody>
      </p:sp>
      <p:sp>
        <p:nvSpPr>
          <p:cNvPr id="40" name="Shape 38"/>
          <p:cNvSpPr/>
          <p:nvPr/>
        </p:nvSpPr>
        <p:spPr>
          <a:xfrm>
            <a:off x="7720279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E8F4F8"/>
          </a:solidFill>
          <a:ln/>
        </p:spPr>
      </p:sp>
      <p:sp>
        <p:nvSpPr>
          <p:cNvPr id="41" name="Shape 39"/>
          <p:cNvSpPr/>
          <p:nvPr/>
        </p:nvSpPr>
        <p:spPr>
          <a:xfrm>
            <a:off x="7720279" y="4032504"/>
            <a:ext cx="36576" cy="2039112"/>
          </a:xfrm>
          <a:prstGeom prst="rect">
            <a:avLst/>
          </a:prstGeom>
          <a:solidFill>
            <a:srgbClr val="2E6E82"/>
          </a:solidFill>
          <a:ln/>
        </p:spPr>
      </p:sp>
      <p:sp>
        <p:nvSpPr>
          <p:cNvPr id="42" name="Text 40"/>
          <p:cNvSpPr/>
          <p:nvPr/>
        </p:nvSpPr>
        <p:spPr>
          <a:xfrm>
            <a:off x="7866583" y="406908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6E8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투자 수익 및 운영 현황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7866583" y="4270248"/>
            <a:ext cx="3584448" cy="1819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투자 검토 대상 자산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임대차 계약 조건 및 운영비 구조 분석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매입 후 운용 계획에 따른 수익성 분석</a:t>
            </a:r>
            <a:endParaRPr lang="en-US" sz="980" dirty="0"/>
          </a:p>
        </p:txBody>
      </p:sp>
      <p:sp>
        <p:nvSpPr>
          <p:cNvPr id="44" name="Text 42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입지 정보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입지 정보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481328"/>
            <a:ext cx="512064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989320" y="1481328"/>
            <a:ext cx="55714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입지 정보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989320" y="1801368"/>
            <a:ext cx="156000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소재지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549323" y="1801368"/>
            <a:ext cx="40114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경기도 구리시 수택동 419-19 외 2필지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5989320" y="2258568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989320" y="2258568"/>
            <a:ext cx="156000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대중교통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7549323" y="2258568"/>
            <a:ext cx="40114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지하철 및 간선버스 인접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5989320" y="2715768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989320" y="2715768"/>
            <a:ext cx="156000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상권권역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7549323" y="2715768"/>
            <a:ext cx="40114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경기도 구리시 수택동 주요 상업·업무 권역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5989320" y="3282696"/>
            <a:ext cx="5571439" cy="877824"/>
          </a:xfrm>
          <a:prstGeom prst="roundRect">
            <a:avLst>
              <a:gd name="adj" fmla="val 6250"/>
            </a:avLst>
          </a:prstGeom>
          <a:solidFill>
            <a:srgbClr val="E8F4F8"/>
          </a:solidFill>
          <a:ln/>
        </p:spPr>
      </p:sp>
      <p:sp>
        <p:nvSpPr>
          <p:cNvPr id="17" name="Shape 14"/>
          <p:cNvSpPr/>
          <p:nvPr/>
        </p:nvSpPr>
        <p:spPr>
          <a:xfrm>
            <a:off x="5989320" y="3337560"/>
            <a:ext cx="36576" cy="768096"/>
          </a:xfrm>
          <a:prstGeom prst="rect">
            <a:avLst/>
          </a:prstGeom>
          <a:solidFill>
            <a:srgbClr val="2E6E82"/>
          </a:solidFill>
          <a:ln/>
        </p:spPr>
      </p:sp>
      <p:sp>
        <p:nvSpPr>
          <p:cNvPr id="18" name="Text 15"/>
          <p:cNvSpPr/>
          <p:nvPr/>
        </p:nvSpPr>
        <p:spPr>
          <a:xfrm>
            <a:off x="6135624" y="3374136"/>
            <a:ext cx="53154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6E8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입지 종합 분석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6135624" y="3575304"/>
            <a:ext cx="531540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경기도 구리시 수택동 배후 상권 기반 안정적 임대 수요</a:t>
            </a:r>
            <a:endParaRPr lang="en-US" sz="980" dirty="0"/>
          </a:p>
        </p:txBody>
      </p:sp>
      <p:sp>
        <p:nvSpPr>
          <p:cNvPr id="20" name="Text 17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</a:t>
            </a:r>
            <a:endParaRPr lang="en-US" sz="800" dirty="0"/>
          </a:p>
        </p:txBody>
      </p:sp>
      <p:sp>
        <p:nvSpPr>
          <p:cNvPr id="21" name="Text 18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토지 정보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 정보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토지이용계획 · 규제 분석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645920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대지면적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2423160" y="1645920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651.2㎡ (197.0평)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02920" y="20482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2048256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용도지역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2423160" y="2048256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도시지역·상업지역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02920" y="245059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" y="2450592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법정 건폐율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2423160" y="2450592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60% 이하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502920" y="2852928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2920" y="2852928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법정 용적률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2423160" y="2852928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400% 이하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502920" y="325526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2920" y="3255264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지목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2423160" y="3255264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502920" y="3657600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2920" y="3657600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토지평당가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2423160" y="3657600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4,518만 원/평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8860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720279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E8F4F8"/>
          </a:solidFill>
          <a:ln/>
        </p:spPr>
      </p:sp>
      <p:sp>
        <p:nvSpPr>
          <p:cNvPr id="26" name="Shape 24"/>
          <p:cNvSpPr/>
          <p:nvPr/>
        </p:nvSpPr>
        <p:spPr>
          <a:xfrm>
            <a:off x="7720279" y="1700784"/>
            <a:ext cx="36576" cy="1993392"/>
          </a:xfrm>
          <a:prstGeom prst="rect">
            <a:avLst/>
          </a:prstGeom>
          <a:solidFill>
            <a:srgbClr val="2E6E82"/>
          </a:solidFill>
          <a:ln/>
        </p:spPr>
      </p:sp>
      <p:sp>
        <p:nvSpPr>
          <p:cNvPr id="27" name="Text 25"/>
          <p:cNvSpPr/>
          <p:nvPr/>
        </p:nvSpPr>
        <p:spPr>
          <a:xfrm>
            <a:off x="7866583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6E8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 규제 및 공법 분석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7866583" y="1938528"/>
            <a:ext cx="3584448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도시지역·상업지역 기준 법정 건폐율 60% 이하, 법정 용적률 400% 이하 적용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입지 특성에 부합하는 최적 토지이용 및 건축 규제 기준 충족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전면 도로 접면 조건 양호, 접근성 우수</a:t>
            </a:r>
            <a:endParaRPr lang="en-US" sz="980" dirty="0"/>
          </a:p>
        </p:txBody>
      </p:sp>
      <p:sp>
        <p:nvSpPr>
          <p:cNvPr id="29" name="Text 27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수익률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수익률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371600"/>
            <a:ext cx="11057839" cy="1188720"/>
          </a:xfrm>
          <a:prstGeom prst="roundRect">
            <a:avLst>
              <a:gd name="adj" fmla="val 6154"/>
            </a:avLst>
          </a:prstGeom>
          <a:solidFill>
            <a:srgbClr val="F7FAFC"/>
          </a:solidFill>
          <a:ln w="9525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1508760"/>
            <a:ext cx="3200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표면 임대수익률  =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343400" y="15087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연간 임대료 합계 (관리비 제외)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26280" y="1920240"/>
            <a:ext cx="4206240" cy="0"/>
          </a:xfrm>
          <a:prstGeom prst="line">
            <a:avLst/>
          </a:prstGeom>
          <a:noFill/>
          <a:ln w="25400">
            <a:solidFill>
              <a:srgbClr val="B8860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343400" y="19659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매매가  −  승계 보증금 합계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8726119" y="1508760"/>
            <a:ext cx="2697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B886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0만원</a:t>
            </a:r>
            <a:pPr algn="r" indent="0" marL="0"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÷ (89.0억원 − 0만원)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02920" y="2834640"/>
            <a:ext cx="11057839" cy="3063240"/>
          </a:xfrm>
          <a:prstGeom prst="roundRect">
            <a:avLst>
              <a:gd name="adj" fmla="val 2388"/>
            </a:avLst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5800" y="3017520"/>
            <a:ext cx="1280160" cy="329184"/>
          </a:xfrm>
          <a:prstGeom prst="roundRect">
            <a:avLst>
              <a:gd name="adj" fmla="val 11111"/>
            </a:avLst>
          </a:prstGeom>
          <a:solidFill>
            <a:srgbClr val="F3F6F7"/>
          </a:solidFill>
          <a:ln/>
        </p:spPr>
      </p:sp>
      <p:sp>
        <p:nvSpPr>
          <p:cNvPr id="14" name="Text 12"/>
          <p:cNvSpPr/>
          <p:nvPr/>
        </p:nvSpPr>
        <p:spPr>
          <a:xfrm>
            <a:off x="685800" y="3017520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As-Is (현재)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77240" y="3520440"/>
            <a:ext cx="2743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연간 임대료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9457639" y="3520440"/>
            <a:ext cx="1828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3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0만원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77240" y="3922776"/>
            <a:ext cx="2743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승계 보증금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9457639" y="3922776"/>
            <a:ext cx="1828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3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0만원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77240" y="4325112"/>
            <a:ext cx="2743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매매가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9457639" y="4325112"/>
            <a:ext cx="1828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3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89.0억원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85800" y="4837176"/>
            <a:ext cx="10692079" cy="594360"/>
          </a:xfrm>
          <a:prstGeom prst="roundRect">
            <a:avLst>
              <a:gd name="adj" fmla="val 9231"/>
            </a:avLst>
          </a:prstGeom>
          <a:solidFill>
            <a:srgbClr val="132A3A"/>
          </a:solidFill>
          <a:ln/>
        </p:spPr>
      </p:sp>
      <p:sp>
        <p:nvSpPr>
          <p:cNvPr id="22" name="Text 20"/>
          <p:cNvSpPr/>
          <p:nvPr/>
        </p:nvSpPr>
        <p:spPr>
          <a:xfrm>
            <a:off x="868680" y="4837176"/>
            <a:ext cx="2286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Cap Rate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9183319" y="4837176"/>
            <a:ext cx="2011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0.00%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3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문의/유의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및 유의사항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02920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132A3A"/>
          </a:solidFill>
          <a:ln/>
        </p:spPr>
      </p:sp>
      <p:sp>
        <p:nvSpPr>
          <p:cNvPr id="7" name="Shape 5"/>
          <p:cNvSpPr/>
          <p:nvPr/>
        </p:nvSpPr>
        <p:spPr>
          <a:xfrm>
            <a:off x="612648" y="1572768"/>
            <a:ext cx="438912" cy="438912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8" name="Text 6"/>
          <p:cNvSpPr/>
          <p:nvPr/>
        </p:nvSpPr>
        <p:spPr>
          <a:xfrm>
            <a:off x="612648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161288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61288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091330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886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237634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132A3A"/>
          </a:solidFill>
          <a:ln/>
        </p:spPr>
      </p:sp>
      <p:sp>
        <p:nvSpPr>
          <p:cNvPr id="13" name="Shape 11"/>
          <p:cNvSpPr/>
          <p:nvPr/>
        </p:nvSpPr>
        <p:spPr>
          <a:xfrm>
            <a:off x="4347362" y="1572768"/>
            <a:ext cx="438912" cy="438912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14" name="Text 12"/>
          <p:cNvSpPr/>
          <p:nvPr/>
        </p:nvSpPr>
        <p:spPr>
          <a:xfrm>
            <a:off x="4347362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896002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896002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26045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886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7972349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132A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082077" y="1572768"/>
            <a:ext cx="438912" cy="438912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20" name="Text 18"/>
          <p:cNvSpPr/>
          <p:nvPr/>
        </p:nvSpPr>
        <p:spPr>
          <a:xfrm>
            <a:off x="8082077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30717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30717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02920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02920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132A3A"/>
          </a:solidFill>
          <a:ln/>
        </p:spPr>
      </p:sp>
      <p:sp>
        <p:nvSpPr>
          <p:cNvPr id="25" name="Text 23"/>
          <p:cNvSpPr/>
          <p:nvPr/>
        </p:nvSpPr>
        <p:spPr>
          <a:xfrm>
            <a:off x="502920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29384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02920" y="312724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132A3A"/>
          </a:solidFill>
          <a:ln/>
        </p:spPr>
      </p:sp>
      <p:sp>
        <p:nvSpPr>
          <p:cNvPr id="28" name="Text 26"/>
          <p:cNvSpPr/>
          <p:nvPr/>
        </p:nvSpPr>
        <p:spPr>
          <a:xfrm>
            <a:off x="50292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29384" y="310896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02920" y="352958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132A3A"/>
          </a:solidFill>
          <a:ln/>
        </p:spPr>
      </p:sp>
      <p:sp>
        <p:nvSpPr>
          <p:cNvPr id="31" name="Text 29"/>
          <p:cNvSpPr/>
          <p:nvPr/>
        </p:nvSpPr>
        <p:spPr>
          <a:xfrm>
            <a:off x="502920" y="352958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29384" y="351129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02920" y="393192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132A3A"/>
          </a:solidFill>
          <a:ln/>
        </p:spPr>
      </p:sp>
      <p:sp>
        <p:nvSpPr>
          <p:cNvPr id="34" name="Text 32"/>
          <p:cNvSpPr/>
          <p:nvPr/>
        </p:nvSpPr>
        <p:spPr>
          <a:xfrm>
            <a:off x="502920" y="393192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29384" y="391363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02920" y="433425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132A3A"/>
          </a:solidFill>
          <a:ln/>
        </p:spPr>
      </p:sp>
      <p:sp>
        <p:nvSpPr>
          <p:cNvPr id="37" name="Text 35"/>
          <p:cNvSpPr/>
          <p:nvPr/>
        </p:nvSpPr>
        <p:spPr>
          <a:xfrm>
            <a:off x="502920" y="433425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29384" y="431596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 중개사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005840"/>
          </a:xfrm>
          <a:prstGeom prst="roundRect">
            <a:avLst>
              <a:gd name="adj" fmla="val 3636"/>
            </a:avLst>
          </a:prstGeom>
          <a:solidFill>
            <a:srgbClr val="132A3A"/>
          </a:solidFill>
          <a:ln w="9525">
            <a:solidFill>
              <a:srgbClr val="B8860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675120" y="2798064"/>
            <a:ext cx="4764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📞  담당자  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6675120" y="3072384"/>
            <a:ext cx="47640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☎ 010-0000-0000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6675120" y="3310128"/>
            <a:ext cx="47640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🏢 CREDEAL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492240" y="3895344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6492240" y="4206240"/>
            <a:ext cx="5129784" cy="1005840"/>
          </a:xfrm>
          <a:prstGeom prst="roundRect">
            <a:avLst>
              <a:gd name="adj" fmla="val 3636"/>
            </a:avLst>
          </a:prstGeom>
          <a:solidFill>
            <a:srgbClr val="1A3347"/>
          </a:solidFill>
          <a:ln/>
        </p:spPr>
      </p:sp>
      <p:sp>
        <p:nvSpPr>
          <p:cNvPr id="46" name="Text 44"/>
          <p:cNvSpPr/>
          <p:nvPr/>
        </p:nvSpPr>
        <p:spPr>
          <a:xfrm>
            <a:off x="6675120" y="4315968"/>
            <a:ext cx="476402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02920" y="5760720"/>
            <a:ext cx="11057839" cy="457200"/>
          </a:xfrm>
          <a:prstGeom prst="rect">
            <a:avLst/>
          </a:prstGeom>
          <a:solidFill>
            <a:srgbClr val="8B6508"/>
          </a:solidFill>
          <a:ln/>
        </p:spPr>
      </p:sp>
      <p:sp>
        <p:nvSpPr>
          <p:cNvPr id="48" name="Text 46"/>
          <p:cNvSpPr/>
          <p:nvPr/>
        </p:nvSpPr>
        <p:spPr>
          <a:xfrm>
            <a:off x="685800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6F1E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CREDEAL · 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</a:t>
            </a: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2026-09-24T11:24:17Z</dcterms:created>
  <dcterms:modified xsi:type="dcterms:W3CDTF">2026-09-24T11:24:17Z</dcterms:modified>
</cp:coreProperties>
</file>