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구리시 수택동 419-19 외 2필지 투자설명서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구리시 수택동 419-19 외 2필지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1538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15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421538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6402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89억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2026.10.02  |  담당자  |  CREDEAL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89억 원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07738" y="137160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2330" y="149961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72330" y="171907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197평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48549" y="137160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3141" y="149961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13141" y="171907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66928" y="249631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2432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2843784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89억 원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07738" y="249631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2330" y="262432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72330" y="2843784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48549" y="249631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3141" y="262432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13141" y="2843784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371246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404164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415137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41513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07008" y="4078224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72287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" y="483260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8326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07008" y="4759452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197평 규모 단독 빌딩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540410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551383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55138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5440680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안정적 임대수익 기반 투자 매물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구리시 수택동 419-19 외 2필지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87168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651.2㎡ (197.0평)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7168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(-)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87168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도시지역·상업지역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87168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9184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6210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87168" y="36210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-대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39502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7168" y="3950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38912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38912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6549" y="438912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89억 원 (VAT 별도)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4088" y="489204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89204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76549" y="489204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4,518만 원/평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37" name="Shape 35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8" name="Text 36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상업용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권리관계 및 임대차 계약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인접 인프라 및 입지 환경 분석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8F4F8"/>
          </a:solidFill>
          <a:ln/>
        </p:spPr>
      </p:sp>
      <p:sp>
        <p:nvSpPr>
          <p:cNvPr id="41" name="Shape 39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2" name="Text 40"/>
          <p:cNvSpPr/>
          <p:nvPr/>
        </p:nvSpPr>
        <p:spPr>
          <a:xfrm>
            <a:off x="7930591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930591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조건 및 운영비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후 운용 계획에 따른 수익성 분석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구리시 수택동 419-19 외 2필지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53328" y="22585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585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22585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27157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157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27157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구리시 수택동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877824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3337560"/>
            <a:ext cx="36576" cy="768096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337413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9632" y="3575304"/>
            <a:ext cx="53154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구리시 수택동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651.2㎡ (197.0평)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도시지역·상업지역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87168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487168" y="28529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400% 이하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487168" y="32552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487168" y="36576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4,518만 원/평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5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도시지역·상업지역 기준 법정 건폐율 60% 이하, 법정 용적률 400%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4389120"/>
          </a:xfrm>
          <a:prstGeom prst="roundRect">
            <a:avLst>
              <a:gd name="adj" fmla="val 1250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00784"/>
            <a:ext cx="1435608" cy="219456"/>
          </a:xfrm>
          <a:prstGeom prst="roundRect">
            <a:avLst>
              <a:gd name="adj" fmla="val 50000"/>
            </a:avLst>
          </a:prstGeom>
          <a:solidFill>
            <a:srgbClr val="F6F1E4"/>
          </a:solidFill>
          <a:ln w="6350">
            <a:solidFill>
              <a:srgbClr val="8B65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00784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임대차 실사 안내 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9933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및 렌트롤 상세 실사 프로토콜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105457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자산의 세부 층별 임대차 계약 원장 및 정산 내역은 매수 의향 접수 및 비밀유지협약(NDA) 체결 후 실측 대조가 진행됩니다.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2798064"/>
            <a:ext cx="105457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294436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89504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계약서 원본 전수 대조 (임대료, 관리비, 계약기간, 만기일 및 갱신 옵션)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59536" y="3634740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579876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보증금 및 월임대료 입금 금융 원장 대조·검증 (체납 내역 및 부가가치세 신고서 정합성)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59536" y="4325112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4270248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사항 및 렌트프리(Rent-Free), 핏아웃(Fit-out) 등 실질 유효 임대료(Net Effective Rent) 산정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59536" y="5015484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960620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상가건물 임대차보호법상 계약갱신요구권 행사 가능 여부 및 명도/재계약 리스크 검토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168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0만원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18211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0만원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52958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27248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877056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422452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371600"/>
            <a:ext cx="5571439" cy="3840480"/>
          </a:xfrm>
          <a:prstGeom prst="roundRect">
            <a:avLst>
              <a:gd name="adj" fmla="val 1429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591056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F6F1E4"/>
          </a:solidFill>
          <a:ln w="6350">
            <a:solidFill>
              <a:srgbClr val="8B650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591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공시지가 열람 안내 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9360" y="1883664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및 토지 가치 평가 안내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194560"/>
            <a:ext cx="5059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필지의 개별공시지가 연도별 이력 및 표준지 공시지가 대비 배율은 부동산 공시가격 알리미 및 감정평가 공적 자료를 통해 확인합니다.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2633472"/>
            <a:ext cx="50593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5936" y="2779776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2724912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5~10개년 개별공시지가 변동 추이 및 연평균 상승률 분석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345936" y="3346704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3291840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표준지 공시지가 대비 토지 특성(도로접면, 형상, 방위) 차이 분석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345936" y="3913632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73952" y="3858768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공시지가 대비 실거래가 매매 배율 및 평당 단가 프리미엄 검증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345936" y="4480560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73952" y="4425696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보유세(재산세·종합부동산세) 과세표준 기준액 산출 및 세무 영향 점검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1057839" cy="4572000"/>
          </a:xfrm>
          <a:prstGeom prst="roundRect">
            <a:avLst>
              <a:gd name="adj" fmla="val 1200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91056"/>
            <a:ext cx="1316736" cy="219456"/>
          </a:xfrm>
          <a:prstGeom prst="roundRect">
            <a:avLst>
              <a:gd name="adj" fmla="val 50000"/>
            </a:avLst>
          </a:prstGeom>
          <a:solidFill>
            <a:srgbClr val="E8F4F8"/>
          </a:solidFill>
          <a:ln w="6350">
            <a:solidFill>
              <a:srgbClr val="2E6E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910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 실사 예정 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88366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 현황 및 물리적 실사 점검 안내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자산의 내·외관 상태 및 주요 설비 사양은 매수 실사 절차 진행 시 현장 방문 조사를 통해 상세 확인 및 촬영이 진행됩니다.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2706624"/>
            <a:ext cx="105457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285292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79806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외관 파사드 마감재 보존 상태 및 균열·누수 흔적 정밀 점검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59536" y="358444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52958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승강기, 기계식 주차설비, 수배전반 등 핵심 설비 내구연한 및 정기검사 이력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59536" y="431596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426110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옥상 방수 상태, 지하층 결로/누수 여부 및 공용부(계단실·화장실) 관리 컨디션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59536" y="504748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99262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주차대수 확보 여부, 주차장 진입로 회전반경 및 층고 실측 검증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담당자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010-0000-0000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2026-10-02T04:25:10Z</dcterms:created>
  <dcterms:modified xsi:type="dcterms:W3CDTF">2026-10-02T04:25:10Z</dcterms:modified>
</cp:coreProperties>
</file>