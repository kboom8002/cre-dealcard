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0D223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1A3A4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886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A3347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B4A5E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당산권역 근생빌딩 매각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02920" y="316382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당산동5가 11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931920"/>
            <a:ext cx="6858000" cy="1051560"/>
          </a:xfrm>
          <a:prstGeom prst="roundRect">
            <a:avLst>
              <a:gd name="adj" fmla="val 3478"/>
            </a:avLst>
          </a:prstGeom>
          <a:solidFill>
            <a:srgbClr val="8B6508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4041648"/>
            <a:ext cx="63459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매각 희망가 115억 원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502920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2026.09.25  |  E2E 테스트 브로커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636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2026-09-25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IM-8F5386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요약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당산역 도보 5분 거리의 근생빌딩. 메디컬 업종 임차와 자가사용 면적이 함께 구성돼 있습니다.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11057839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96596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67512" y="231343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115억 원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243730" y="196596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08322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수익률(Cap Rate)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408322" y="231343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1.56%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984541" y="196596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49133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 현황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149133" y="231343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중개사 메모상 공실률 0%, 자가사용 면적 포함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309067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" y="32186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실투자금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67512" y="3438144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118.4억 원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243730" y="309067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08322" y="32186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408322" y="3438144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7984541" y="309067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9133" y="32186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149133" y="3438144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02920" y="43068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65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02920" y="4636008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" y="4709160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" y="4709160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43000" y="4672584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가치: 대중교통 역세권 입지, 당산권역 업무·상업 중심지 배후 수요 확보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" y="5114544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2648" y="5187696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" y="5187696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43000" y="5151120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 안정성: 연 순수익률(Cap Rate) 1.56% 기반 안정적 임대수익 자산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" y="5593080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2648" y="5666232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" y="5666232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43000" y="5629656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희소성: 역세권 단독 빌딩으로 사옥 및 임대수익형 최적 자산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2026-09-25</a:t>
            </a:r>
            <a:endParaRPr lang="en-US" sz="3600" dirty="0"/>
          </a:p>
        </p:txBody>
      </p:sp>
      <p:sp>
        <p:nvSpPr>
          <p:cNvPr id="40" name="Text 38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IM-8F5386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물건 개요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 개요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개요 당산역 도보 5분권, 메디컬 임차수요와 자가사용 공간을 함께 갖춘 지하 1층~지상 5층 [건물명 비공개]입니다. 서울 해당 권역가 11 소재로, 당산권역의 생활·업무 수요를 기반으로 임대수익과 실사용 니즈를 병행할 수 있는 자산입니다. 중개사 메모상 공실률 0%이며 자가사용 면적이 포함되어 있어, 향후 자가사용분의 임대 전환 가능성과 기존 임차 수익의 안정성을 함께 검토할 수 있습니다. | 항목 | 내용 |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권역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423160" y="164592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당산권역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20482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4825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유형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423160" y="2048256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근린생활시설([건물명 비공개])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245059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45059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규모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423160" y="2450592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 1층~지상 5층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02920" y="285292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85292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 현황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423160" y="2852928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메디컬 업종 임차 및 자가사용 면적 구성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02920" y="325526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25526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 현황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2423160" y="3255264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중개사 메모상 공실률 0%·자가사용 면적 포함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02920" y="365760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65760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필요 사항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2423160" y="365760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준공연도·연면적·구조·용도 등 건축물대장 확인 필요 / 임대·자가사용 면적 구분 및 임대차 조건 별도 실사 필요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02920" y="4169664"/>
            <a:ext cx="6858000" cy="548640"/>
          </a:xfrm>
          <a:prstGeom prst="rect">
            <a:avLst/>
          </a:prstGeom>
          <a:solidFill>
            <a:srgbClr val="F6F1E4"/>
          </a:solidFill>
          <a:ln w="15240">
            <a:solidFill>
              <a:srgbClr val="B886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169664"/>
            <a:ext cx="272674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412541" y="4169664"/>
            <a:ext cx="376549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115억 원 (VAT 별도)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540600" y="1371600"/>
            <a:ext cx="0" cy="4754880"/>
          </a:xfrm>
          <a:prstGeom prst="line">
            <a:avLst/>
          </a:prstGeom>
          <a:noFill/>
          <a:ln w="8890">
            <a:solidFill>
              <a:srgbClr val="B886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20279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E8F4F8"/>
          </a:solidFill>
          <a:ln/>
        </p:spPr>
      </p:sp>
      <p:sp>
        <p:nvSpPr>
          <p:cNvPr id="29" name="Shape 27"/>
          <p:cNvSpPr/>
          <p:nvPr/>
        </p:nvSpPr>
        <p:spPr>
          <a:xfrm>
            <a:off x="7720279" y="1700784"/>
            <a:ext cx="36576" cy="1993392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30" name="Text 28"/>
          <p:cNvSpPr/>
          <p:nvPr/>
        </p:nvSpPr>
        <p:spPr>
          <a:xfrm>
            <a:off x="7866583" y="173736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및 자산 개요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866583" y="1938528"/>
            <a:ext cx="3584448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 검토 대상 상업용 자산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권리관계 및 임대차 계약 구조 분석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인접 인프라 및 입지 환경 분석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7720279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E8F4F8"/>
          </a:solidFill>
          <a:ln/>
        </p:spPr>
      </p:sp>
      <p:sp>
        <p:nvSpPr>
          <p:cNvPr id="33" name="Shape 31"/>
          <p:cNvSpPr/>
          <p:nvPr/>
        </p:nvSpPr>
        <p:spPr>
          <a:xfrm>
            <a:off x="7720279" y="4032504"/>
            <a:ext cx="36576" cy="2039112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34" name="Text 32"/>
          <p:cNvSpPr/>
          <p:nvPr/>
        </p:nvSpPr>
        <p:spPr>
          <a:xfrm>
            <a:off x="7866583" y="406908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 수익 및 운영 현황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866583" y="4270248"/>
            <a:ext cx="3584448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 검토 대상 자산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임대차 계약 조건 및 운영비 구조 분석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매입 후 운용 계획에 따른 수익성 분석</a:t>
            </a:r>
            <a:endParaRPr lang="en-US" sz="980" dirty="0"/>
          </a:p>
        </p:txBody>
      </p:sp>
      <p:sp>
        <p:nvSpPr>
          <p:cNvPr id="36" name="Text 34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2026-09-25</a:t>
            </a:r>
            <a:endParaRPr lang="en-US" sz="3600" dirty="0"/>
          </a:p>
        </p:txBody>
      </p:sp>
      <p:sp>
        <p:nvSpPr>
          <p:cNvPr id="37" name="Text 35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IM-8F5386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입지 정보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정보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1481328"/>
            <a:ext cx="1560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549323" y="1481328"/>
            <a:ext cx="401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당산동5가 11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989320" y="1938528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89320" y="1938528"/>
            <a:ext cx="1560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549323" y="1938528"/>
            <a:ext cx="401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지하철 및 간선버스 인접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2026-09-25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IM-8F5386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토지 정보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정보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현황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 현황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423160" y="164592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메디컬 업종 임차 및 자가사용 면적 구성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20482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4825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 현황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423160" y="2048256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중개사 메모상 공실률 0%·자가사용 면적 포함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245059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45059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필요 사항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423160" y="2450592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준공연도·연면적·구조·용도 등 건축물대장 확인 필요 / 임대·자가사용 면적 구분 및 임대차 조건 별도 실사 필요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540600" y="1371600"/>
            <a:ext cx="0" cy="4754880"/>
          </a:xfrm>
          <a:prstGeom prst="line">
            <a:avLst/>
          </a:prstGeom>
          <a:noFill/>
          <a:ln w="8890">
            <a:solidFill>
              <a:srgbClr val="B886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20279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E8F4F8"/>
          </a:solidFill>
          <a:ln/>
        </p:spPr>
      </p:sp>
      <p:sp>
        <p:nvSpPr>
          <p:cNvPr id="17" name="Shape 15"/>
          <p:cNvSpPr/>
          <p:nvPr/>
        </p:nvSpPr>
        <p:spPr>
          <a:xfrm>
            <a:off x="7720279" y="1700784"/>
            <a:ext cx="36576" cy="1993392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18" name="Text 16"/>
          <p:cNvSpPr/>
          <p:nvPr/>
        </p:nvSpPr>
        <p:spPr>
          <a:xfrm>
            <a:off x="7866583" y="173736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및 건축 규제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866583" y="1938528"/>
            <a:ext cx="3584448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토지이용계획 열람 및 건축 규제 확인 필요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7720279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E8F4F8"/>
          </a:solidFill>
          <a:ln/>
        </p:spPr>
      </p:sp>
      <p:sp>
        <p:nvSpPr>
          <p:cNvPr id="21" name="Shape 19"/>
          <p:cNvSpPr/>
          <p:nvPr/>
        </p:nvSpPr>
        <p:spPr>
          <a:xfrm>
            <a:off x="7720279" y="4032504"/>
            <a:ext cx="36576" cy="2039112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22" name="Text 20"/>
          <p:cNvSpPr/>
          <p:nvPr/>
        </p:nvSpPr>
        <p:spPr>
          <a:xfrm>
            <a:off x="7866583" y="406908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권리관계 및 공적장부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866583" y="4270248"/>
            <a:ext cx="3584448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등기부등본 갑구 소유권 확인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건축물대장 기재 사항 실물 대조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개별공시지가 및 실거래가 비교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2026-09-25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IM-8F5386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렌트롤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렌트롤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60807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렌트롤 현황 기준 층별 공간 배치도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749040" y="1645920"/>
          <a:ext cx="6805879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457200"/>
                <a:gridCol w="868680"/>
                <a:gridCol w="1188720"/>
                <a:gridCol w="749808"/>
                <a:gridCol w="749808"/>
                <a:gridCol w="658368"/>
                <a:gridCol w="658368"/>
                <a:gridCol w="1161288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층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호실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용도/업종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임차인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전용면적(㎡)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보증금(만원)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월세(만원)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계약종료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비고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공실 현황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만실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 임대료 합계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1946만 원/월 (추정)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 임대 수입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2.3억 원/년 (추정)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임차인 정보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NDA 체결 후 공개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4개 호실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2026-09-25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IM-8F5386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수익률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11057839" cy="1188720"/>
          </a:xfrm>
          <a:prstGeom prst="roundRect">
            <a:avLst>
              <a:gd name="adj" fmla="val 6154"/>
            </a:avLst>
          </a:prstGeom>
          <a:solidFill>
            <a:srgbClr val="F7FAFC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087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표면 임대수익률  =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43400" y="1508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임대료 합계 (관리비 제외)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26280" y="1920240"/>
            <a:ext cx="4206240" cy="0"/>
          </a:xfrm>
          <a:prstGeom prst="line">
            <a:avLst/>
          </a:prstGeom>
          <a:noFill/>
          <a:ln w="25400">
            <a:solidFill>
              <a:srgbClr val="B886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  −  승계 보증금 합계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726119" y="150876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2.3억원</a:t>
            </a:r>
            <a:pPr algn="r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÷ (115.0억원 − 2.9억원)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834640"/>
            <a:ext cx="11057839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017520"/>
            <a:ext cx="1280160" cy="329184"/>
          </a:xfrm>
          <a:prstGeom prst="roundRect">
            <a:avLst>
              <a:gd name="adj" fmla="val 11111"/>
            </a:avLst>
          </a:prstGeom>
          <a:solidFill>
            <a:srgbClr val="F3F6F7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017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As-Is (현재)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352044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임대료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457639" y="352044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2.3억원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3922776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승계 보증금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457639" y="392277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2.9억원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432511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457639" y="432511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115.0억원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" y="4837176"/>
            <a:ext cx="10692079" cy="594360"/>
          </a:xfrm>
          <a:prstGeom prst="roundRect">
            <a:avLst>
              <a:gd name="adj" fmla="val 9231"/>
            </a:avLst>
          </a:prstGeom>
          <a:solidFill>
            <a:srgbClr val="132A3A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837176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Cap Rate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83319" y="4837176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2.08%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IM-8F5386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문의/유의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및 유의사항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612648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61288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61288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091330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37634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3" name="Shape 11"/>
          <p:cNvSpPr/>
          <p:nvPr/>
        </p:nvSpPr>
        <p:spPr>
          <a:xfrm>
            <a:off x="4347362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4" name="Text 12"/>
          <p:cNvSpPr/>
          <p:nvPr/>
        </p:nvSpPr>
        <p:spPr>
          <a:xfrm>
            <a:off x="4347362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6002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6002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26045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972349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9" name="Shape 17"/>
          <p:cNvSpPr/>
          <p:nvPr/>
        </p:nvSpPr>
        <p:spPr>
          <a:xfrm>
            <a:off x="8082077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0" name="Text 18"/>
          <p:cNvSpPr/>
          <p:nvPr/>
        </p:nvSpPr>
        <p:spPr>
          <a:xfrm>
            <a:off x="8082077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30717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30717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29384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" y="312724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31272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29384" y="3108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" y="352958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352958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29384" y="35112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2920" y="393192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39319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29384" y="39136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02920" y="433425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43342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29384" y="43159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32A3A"/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0" y="2798064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📞  E2E 테스트 브로커  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675120" y="3072384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☎ [연락처]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675120" y="3310128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🏢 [중개법인명]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92240" y="389534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92240" y="4206240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A3347"/>
          </a:solidFill>
          <a:ln/>
        </p:spPr>
      </p:sp>
      <p:sp>
        <p:nvSpPr>
          <p:cNvPr id="46" name="Text 44"/>
          <p:cNvSpPr/>
          <p:nvPr/>
        </p:nvSpPr>
        <p:spPr>
          <a:xfrm>
            <a:off x="6675120" y="4315968"/>
            <a:ext cx="4764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02920" y="5760720"/>
            <a:ext cx="11057839" cy="457200"/>
          </a:xfrm>
          <a:prstGeom prst="rect">
            <a:avLst/>
          </a:prstGeom>
          <a:solidFill>
            <a:srgbClr val="8B6508"/>
          </a:solidFill>
          <a:ln/>
        </p:spPr>
      </p:sp>
      <p:sp>
        <p:nvSpPr>
          <p:cNvPr id="48" name="Text 46"/>
          <p:cNvSpPr/>
          <p:nvPr/>
        </p:nvSpPr>
        <p:spPr>
          <a:xfrm>
            <a:off x="685800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IM-8F5386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636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2026-09-25</a:t>
            </a:r>
            <a:endParaRPr lang="en-US" sz="3600" dirty="0"/>
          </a:p>
        </p:txBody>
      </p:sp>
      <p:sp>
        <p:nvSpPr>
          <p:cNvPr id="50" name="Text 48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IM-8F5386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2026-09-25T07:29:45Z</dcterms:created>
  <dcterms:modified xsi:type="dcterms:W3CDTF">2026-09-25T07:29:45Z</dcterms:modified>
</cp:coreProperties>
</file>