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역삼 테헤란 프라임 타워 투자설명서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341071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794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역삼동 736-1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215384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21538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901952" y="421538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1901952" y="42153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4654296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764024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150억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66928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프라임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5943600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2026.09.29  |  김수석  |  CREDEAL 프라임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테헤란로 초역세권 우량 임차인 만실 운영 자산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480947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150억 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07738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330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72330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136.3평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48549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3141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13141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862.2평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66928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B2/F10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307738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72330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72330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2.77%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048549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13141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13141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 (공실 0%)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66928" y="3958971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288155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4361371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4361371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4324731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대중교통 역세권 입지, 해당 권역 업무·상업 중심지 배후 수요 확보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4882642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" y="495585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" y="495585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07008" y="4919218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136평·연면적 862평·평당 약 1,740만 원 규모 단독 빌딩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5477129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" y="5550345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5550345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07008" y="5513705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2.77% 기반 안정적 임대수익 자산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역삼동 736-1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87168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2,850.2㎡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023360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023360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6549" y="4023360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150억 원 (VAT 별도)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4088" y="4526280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526280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6549" y="4526280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11,007만 원/평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E8F4F8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1" name="Text 19"/>
          <p:cNvSpPr/>
          <p:nvPr/>
        </p:nvSpPr>
        <p:spPr>
          <a:xfrm>
            <a:off x="7930591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및 자산 개요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30591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검토 대상 상업용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권리관계 및 임대차 계약 구조 분석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인접 인프라 및 입지 환경 분석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E8F4F8"/>
          </a:solidFill>
          <a:ln/>
        </p:spPr>
      </p:sp>
      <p:sp>
        <p:nvSpPr>
          <p:cNvPr id="24" name="Shape 22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5" name="Text 23"/>
          <p:cNvSpPr/>
          <p:nvPr/>
        </p:nvSpPr>
        <p:spPr>
          <a:xfrm>
            <a:off x="7930591" y="40690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수익 및 운영 현황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930591" y="4270248"/>
            <a:ext cx="358444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검토 대상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계약 조건 및 운영비 구조 분석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매입 후 운용 계획에 따른 수익성 분석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13331" y="18013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역삼동 736-1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53328" y="225856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585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613331" y="22585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 및 간선버스 인접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53328" y="271576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157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613331" y="27157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주요 상업·업무 권역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658368"/>
          </a:xfrm>
          <a:prstGeom prst="roundRect">
            <a:avLst>
              <a:gd name="adj" fmla="val 8333"/>
            </a:avLst>
          </a:prstGeom>
          <a:solidFill>
            <a:srgbClr val="E8F4F8"/>
          </a:solidFill>
          <a:ln/>
        </p:spPr>
      </p:sp>
      <p:sp>
        <p:nvSpPr>
          <p:cNvPr id="17" name="Shape 14"/>
          <p:cNvSpPr/>
          <p:nvPr/>
        </p:nvSpPr>
        <p:spPr>
          <a:xfrm>
            <a:off x="6053328" y="3337560"/>
            <a:ext cx="36576" cy="548640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18" name="Text 15"/>
          <p:cNvSpPr/>
          <p:nvPr/>
        </p:nvSpPr>
        <p:spPr>
          <a:xfrm>
            <a:off x="6199632" y="3374136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199632" y="3575304"/>
            <a:ext cx="531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배후 상권 기반 안정적 임대 수요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6053328" y="571500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Location Macro Transit Engine (1600x1200 px, 266.7 DPI)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&amp; 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613331" y="180136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450.5㎡ (136.3평)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613331" y="214884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일반상업지역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건폐율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613331" y="2496312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 이하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용적률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613331" y="2843784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800% 이하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613331" y="3191256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053328" y="35387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53328" y="353872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613331" y="353872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11,007만 원/평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053328" y="399592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6" name="Shape 23"/>
          <p:cNvSpPr/>
          <p:nvPr/>
        </p:nvSpPr>
        <p:spPr>
          <a:xfrm>
            <a:off x="6053328" y="405079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7" name="Text 24"/>
          <p:cNvSpPr/>
          <p:nvPr/>
        </p:nvSpPr>
        <p:spPr>
          <a:xfrm>
            <a:off x="6199632" y="408736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199632" y="428853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일반상업지역 기준 법정 건폐율 60% 이하, 법정 용적률 800% 이하 적용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특성에 부합하는 최적 토지이용 및 건축 규제 기준 충족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전면 도로 접면 조건 양호, 접근성 우수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6053328" y="571500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4980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4693920"/>
            <a:ext cx="475488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4721352"/>
            <a:ext cx="2468880" cy="12862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4712208"/>
            <a:ext cx="2395728" cy="1304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스타벅스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3352800"/>
            <a:ext cx="475488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3380232"/>
            <a:ext cx="2468880" cy="12862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3371088"/>
            <a:ext cx="2395728" cy="1304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올리브영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2011680"/>
            <a:ext cx="475488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2039112"/>
            <a:ext cx="2468880" cy="12862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029968"/>
            <a:ext cx="2395728" cy="1304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치과의원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5961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50208" y="1645920"/>
          <a:ext cx="7674559" cy="914400"/>
        </p:xfrm>
        <a:graphic>
          <a:graphicData uri="http://schemas.openxmlformats.org/drawingml/2006/table">
            <a:tbl>
              <a:tblPr/>
              <a:tblGrid>
                <a:gridCol w="438912"/>
                <a:gridCol w="960120"/>
                <a:gridCol w="804672"/>
                <a:gridCol w="713232"/>
                <a:gridCol w="713232"/>
                <a:gridCol w="713232"/>
                <a:gridCol w="713232"/>
                <a:gridCol w="713232"/>
                <a:gridCol w="713232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층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임대면적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전용면적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월임대료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관리비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월합계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만기일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스타벅스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스타벅스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올리브영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올리브영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1,100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치과의원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치과의원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950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 호실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3,550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60020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132A3A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600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87168" y="1600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86968" y="2834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임대수입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27248" y="2834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" y="3182112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1821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27248" y="31821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15.0억원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" y="3529584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5295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27248" y="35295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150.0억원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" y="3877056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8770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순투자금 (매매가 − 보증금)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27248" y="38770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5528" y="4224528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" y="4361688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6F1E4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43616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분석가정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44368" y="43616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4.21%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053328" y="1371600"/>
            <a:ext cx="5571439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1508760"/>
            <a:ext cx="52056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공시지가 추이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90488" y="192024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84848" y="1956816"/>
            <a:ext cx="2595658" cy="219456"/>
          </a:xfrm>
          <a:prstGeom prst="rect">
            <a:avLst/>
          </a:prstGeom>
          <a:solidFill>
            <a:srgbClr val="5B6B73"/>
          </a:solidFill>
          <a:ln/>
        </p:spPr>
      </p:sp>
      <p:sp>
        <p:nvSpPr>
          <p:cNvPr id="29" name="Text 27"/>
          <p:cNvSpPr/>
          <p:nvPr/>
        </p:nvSpPr>
        <p:spPr>
          <a:xfrm>
            <a:off x="9426226" y="19202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35,000,000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90488" y="221284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84848" y="2249424"/>
            <a:ext cx="2818143" cy="219456"/>
          </a:xfrm>
          <a:prstGeom prst="rect">
            <a:avLst/>
          </a:prstGeom>
          <a:solidFill>
            <a:srgbClr val="5B6B73"/>
          </a:solidFill>
          <a:ln/>
        </p:spPr>
      </p:sp>
      <p:sp>
        <p:nvSpPr>
          <p:cNvPr id="32" name="Text 30"/>
          <p:cNvSpPr/>
          <p:nvPr/>
        </p:nvSpPr>
        <p:spPr>
          <a:xfrm>
            <a:off x="9648711" y="22128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38,000,000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90488" y="2505456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84848" y="2542032"/>
            <a:ext cx="3114789" cy="219456"/>
          </a:xfrm>
          <a:prstGeom prst="rect">
            <a:avLst/>
          </a:prstGeom>
          <a:solidFill>
            <a:srgbClr val="5B6B73"/>
          </a:solidFill>
          <a:ln/>
        </p:spPr>
      </p:sp>
      <p:sp>
        <p:nvSpPr>
          <p:cNvPr id="35" name="Text 33"/>
          <p:cNvSpPr/>
          <p:nvPr/>
        </p:nvSpPr>
        <p:spPr>
          <a:xfrm>
            <a:off x="9945357" y="250545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42,000,000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90488" y="279806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84848" y="2834640"/>
            <a:ext cx="3337274" cy="219456"/>
          </a:xfrm>
          <a:prstGeom prst="rect">
            <a:avLst/>
          </a:prstGeom>
          <a:solidFill>
            <a:srgbClr val="5B6B73"/>
          </a:solidFill>
          <a:ln/>
        </p:spPr>
      </p:sp>
      <p:sp>
        <p:nvSpPr>
          <p:cNvPr id="38" name="Text 36"/>
          <p:cNvSpPr/>
          <p:nvPr/>
        </p:nvSpPr>
        <p:spPr>
          <a:xfrm>
            <a:off x="10167842" y="279806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45,000,000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90488" y="309067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84848" y="3127248"/>
            <a:ext cx="3559759" cy="21945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1" name="Text 39"/>
          <p:cNvSpPr/>
          <p:nvPr/>
        </p:nvSpPr>
        <p:spPr>
          <a:xfrm>
            <a:off x="10390327" y="30906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48,000,000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90488" y="4892040"/>
            <a:ext cx="529711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국토교통부 개별공시지가 기준 (투자 판단 참고 자료)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66928" y="5349240"/>
            <a:ext cx="11057839" cy="438912"/>
          </a:xfrm>
          <a:prstGeom prst="roundRect">
            <a:avLst>
              <a:gd name="adj" fmla="val 12500"/>
            </a:avLst>
          </a:prstGeom>
          <a:solidFill>
            <a:srgbClr val="E8F4F8"/>
          </a:solidFill>
          <a:ln/>
        </p:spPr>
      </p:sp>
      <p:sp>
        <p:nvSpPr>
          <p:cNvPr id="44" name="Shape 42"/>
          <p:cNvSpPr/>
          <p:nvPr/>
        </p:nvSpPr>
        <p:spPr>
          <a:xfrm>
            <a:off x="566928" y="5404104"/>
            <a:ext cx="36576" cy="329184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5" name="Text 43"/>
          <p:cNvSpPr/>
          <p:nvPr/>
        </p:nvSpPr>
        <p:spPr>
          <a:xfrm>
            <a:off x="713232" y="5440680"/>
            <a:ext cx="10801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판단 참고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13232" y="5641848"/>
            <a:ext cx="108018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 4.0%는 시장 평균 하회 — 토지가치 상승 또는 리모델링 후 임대료 증대 가능성 검토 필요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11057839" cy="4572000"/>
          </a:xfrm>
          <a:prstGeom prst="roundRect">
            <a:avLst>
              <a:gd name="adj" fmla="val 1200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91056"/>
            <a:ext cx="1316736" cy="219456"/>
          </a:xfrm>
          <a:prstGeom prst="roundRect">
            <a:avLst>
              <a:gd name="adj" fmla="val 50000"/>
            </a:avLst>
          </a:prstGeom>
          <a:solidFill>
            <a:srgbClr val="E8F4F8"/>
          </a:solidFill>
          <a:ln w="6350">
            <a:solidFill>
              <a:srgbClr val="2E6E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9105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현장 실사 예정 ]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88366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건축물 현황 및 물리적 실사 점검 안내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19456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자산의 내·외관 상태 및 주요 설비 사양은 매수 실사 절차 진행 시 현장 방문 조사를 통해 상세 확인 및 촬영이 진행됩니다.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" y="2706624"/>
            <a:ext cx="10545775" cy="0"/>
          </a:xfrm>
          <a:prstGeom prst="line">
            <a:avLst/>
          </a:prstGeom>
          <a:noFill/>
          <a:ln w="508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" y="2852928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2798064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외관 파사드 마감재 보존 상태 및 균열·누수 흔적 정밀 점검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59536" y="3584448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3529584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승강기, 기계식 주차설비, 수배전반 등 핵심 설비 내구연한 및 정기검사 이력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859536" y="4315968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" y="4261104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옥상 방수 상태, 지하층 결로/누수 여부 및 공용부(계단실·화장실) 관리 컨디션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859536" y="5047488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4992624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주차대수 확보 여부, 주차장 진입로 회전반경 및 층고 실측 검증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김수석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010-1234-5678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CREDEAL 프라임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프라임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2026-09-29T08:26:16Z</dcterms:created>
  <dcterms:modified xsi:type="dcterms:W3CDTF">2026-09-29T08:26:16Z</dcterms:modified>
</cp:coreProperties>
</file>