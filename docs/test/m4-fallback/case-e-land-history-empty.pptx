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D22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886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A3347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B4A5E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역삼 테헤란 프라임 타워 투자설명서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66928" y="341071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근린생활시설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37947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강남구 역삼동 736-1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4215384"/>
            <a:ext cx="1243584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4215384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근린생활시설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901952" y="4215384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7" name="Text 15"/>
          <p:cNvSpPr/>
          <p:nvPr/>
        </p:nvSpPr>
        <p:spPr>
          <a:xfrm>
            <a:off x="1901952" y="421538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150억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6928" y="4654296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8B6508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764024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희망가 150억 원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566928" y="17007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프라임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" y="5943600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2026.09.29  |  김수석  |  CREDEAL 프라임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테헤란로 초역세권 우량 임차인 만실 운영 자산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480947"/>
            <a:ext cx="11057839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618107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746123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1965579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150억 원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307738" y="1618107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72330" y="1746123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72330" y="1965579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136.3평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048549" y="1618107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13141" y="1746123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13141" y="1965579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862.2평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66928" y="2742819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870835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건축규모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31520" y="3090291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B2/F10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307738" y="2742819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72330" y="2870835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수익률(Cap Rate)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472330" y="3090291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2.77%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8048549" y="2742819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13141" y="2870835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 현황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213141" y="3090291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만실 운영 (공실 0%)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66928" y="3958971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66928" y="4288155"/>
            <a:ext cx="11057839" cy="512191"/>
          </a:xfrm>
          <a:prstGeom prst="roundRect">
            <a:avLst>
              <a:gd name="adj" fmla="val 8926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656" y="4361371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" y="4361371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07008" y="4324731"/>
            <a:ext cx="10280599" cy="439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가치: 대중교통 역세권 입지, 해당 권역 업무·상업 중심지 배후 수요 확보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66928" y="4882642"/>
            <a:ext cx="11057839" cy="512191"/>
          </a:xfrm>
          <a:prstGeom prst="roundRect">
            <a:avLst>
              <a:gd name="adj" fmla="val 8926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6656" y="4955858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" y="495585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207008" y="4919218"/>
            <a:ext cx="10280599" cy="439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규모: 대지 136평·연면적 862평·평당 약 1,740만 원 규모 단독 빌딩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66928" y="5477129"/>
            <a:ext cx="11057839" cy="512191"/>
          </a:xfrm>
          <a:prstGeom prst="roundRect">
            <a:avLst>
              <a:gd name="adj" fmla="val 8926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6656" y="5550345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" y="5550345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207008" y="5513705"/>
            <a:ext cx="10280599" cy="439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안정성: 연 순수익률(Cap Rate) 2.77% 기반 안정적 임대수익 자산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물건 개요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기본 정보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487168" y="164592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강남구 역삼동 736-1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487168" y="204825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2,850.2㎡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4023360"/>
            <a:ext cx="6858000" cy="1005840"/>
          </a:xfrm>
          <a:prstGeom prst="rect">
            <a:avLst/>
          </a:prstGeom>
          <a:solidFill>
            <a:srgbClr val="F6F1E4"/>
          </a:solidFill>
          <a:ln w="15240">
            <a:solidFill>
              <a:srgbClr val="B886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4023360"/>
            <a:ext cx="27267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6549" y="4023360"/>
            <a:ext cx="376549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150억 원 (VAT 별도)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04088" y="4526280"/>
            <a:ext cx="6583680" cy="0"/>
          </a:xfrm>
          <a:prstGeom prst="line">
            <a:avLst/>
          </a:prstGeom>
          <a:noFill/>
          <a:ln w="6350">
            <a:solidFill>
              <a:srgbClr val="D4C8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526280"/>
            <a:ext cx="27267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6549" y="4526280"/>
            <a:ext cx="37654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11,007만 원/평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84287" y="1645920"/>
            <a:ext cx="3840480" cy="292608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7784287" y="4681728"/>
            <a:ext cx="3840480" cy="1508760"/>
          </a:xfrm>
          <a:prstGeom prst="roundRect">
            <a:avLst>
              <a:gd name="adj" fmla="val 3636"/>
            </a:avLst>
          </a:prstGeom>
          <a:solidFill>
            <a:srgbClr val="E8F4F8"/>
          </a:solidFill>
          <a:ln/>
        </p:spPr>
      </p:sp>
      <p:sp>
        <p:nvSpPr>
          <p:cNvPr id="21" name="Shape 18"/>
          <p:cNvSpPr/>
          <p:nvPr/>
        </p:nvSpPr>
        <p:spPr>
          <a:xfrm>
            <a:off x="7784287" y="4736592"/>
            <a:ext cx="36576" cy="139903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22" name="Text 19"/>
          <p:cNvSpPr/>
          <p:nvPr/>
        </p:nvSpPr>
        <p:spPr>
          <a:xfrm>
            <a:off x="7930591" y="4773168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930591" y="4974336"/>
            <a:ext cx="358444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도심 비즈니스 권역 소재 핵심 입지 자산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안정적 임대수익 기반 투자 매물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 역세권 접근성 및 주변 상업 인프라 우수</a:t>
            </a:r>
            <a:endParaRPr lang="en-US" sz="980" dirty="0"/>
          </a:p>
        </p:txBody>
      </p:sp>
      <p:sp>
        <p:nvSpPr>
          <p:cNvPr id="24" name="Text 2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156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613331" y="1801368"/>
            <a:ext cx="401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강남구 역삼동 736-1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053328" y="2258568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258568"/>
            <a:ext cx="156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613331" y="2258568"/>
            <a:ext cx="401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지하철 및 간선버스 인접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053328" y="2715768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715768"/>
            <a:ext cx="156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상권권역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613331" y="2715768"/>
            <a:ext cx="401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GBD 주요 상업·업무 권역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053328" y="3282696"/>
            <a:ext cx="5571439" cy="658368"/>
          </a:xfrm>
          <a:prstGeom prst="roundRect">
            <a:avLst>
              <a:gd name="adj" fmla="val 8333"/>
            </a:avLst>
          </a:prstGeom>
          <a:solidFill>
            <a:srgbClr val="E8F4F8"/>
          </a:solidFill>
          <a:ln/>
        </p:spPr>
      </p:sp>
      <p:sp>
        <p:nvSpPr>
          <p:cNvPr id="17" name="Shape 14"/>
          <p:cNvSpPr/>
          <p:nvPr/>
        </p:nvSpPr>
        <p:spPr>
          <a:xfrm>
            <a:off x="6053328" y="3337560"/>
            <a:ext cx="36576" cy="548640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18" name="Text 15"/>
          <p:cNvSpPr/>
          <p:nvPr/>
        </p:nvSpPr>
        <p:spPr>
          <a:xfrm>
            <a:off x="6199632" y="3374136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종합 분석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199632" y="3575304"/>
            <a:ext cx="531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GBD 배후 상권 기반 안정적 임대 수요</a:t>
            </a:r>
            <a:endParaRPr lang="en-US" sz="980" dirty="0"/>
          </a:p>
        </p:txBody>
      </p:sp>
      <p:sp>
        <p:nvSpPr>
          <p:cNvPr id="20" name="Text 17"/>
          <p:cNvSpPr/>
          <p:nvPr/>
        </p:nvSpPr>
        <p:spPr>
          <a:xfrm>
            <a:off x="6053328" y="5715000"/>
            <a:ext cx="5571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Location Macro Transit Engine (1600x1200 px, 266.7 DPI)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&amp; Cadastral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정보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토지이용계획 · 규제 분석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613331" y="1801368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450.5㎡ (136.3평)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613331" y="2148840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일반상업지역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법정 건폐율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613331" y="2496312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60% 이하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법정 용적률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613331" y="2843784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800% 이하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91256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지목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613331" y="3191256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053328" y="3538728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53328" y="3538728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613331" y="3538728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11,007만 원/평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053328" y="3995928"/>
            <a:ext cx="5571439" cy="1316736"/>
          </a:xfrm>
          <a:prstGeom prst="roundRect">
            <a:avLst>
              <a:gd name="adj" fmla="val 4167"/>
            </a:avLst>
          </a:prstGeom>
          <a:solidFill>
            <a:srgbClr val="E8F4F8"/>
          </a:solidFill>
          <a:ln/>
        </p:spPr>
      </p:sp>
      <p:sp>
        <p:nvSpPr>
          <p:cNvPr id="26" name="Shape 23"/>
          <p:cNvSpPr/>
          <p:nvPr/>
        </p:nvSpPr>
        <p:spPr>
          <a:xfrm>
            <a:off x="6053328" y="4050792"/>
            <a:ext cx="36576" cy="1207008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27" name="Text 24"/>
          <p:cNvSpPr/>
          <p:nvPr/>
        </p:nvSpPr>
        <p:spPr>
          <a:xfrm>
            <a:off x="6199632" y="4087368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규제 및 공법 분석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199632" y="4288536"/>
            <a:ext cx="5315407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일반상업지역 기준 법정 건폐율 60% 이하, 법정 용적률 800% 이하 적용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특성에 부합하는 최적 토지이용 및 건축 규제 기준 충족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전면 도로 접면 조건 양호, 접근성 우수</a:t>
            </a:r>
            <a:endParaRPr lang="en-US" sz="980" dirty="0"/>
          </a:p>
        </p:txBody>
      </p:sp>
      <p:sp>
        <p:nvSpPr>
          <p:cNvPr id="29" name="Text 26"/>
          <p:cNvSpPr/>
          <p:nvPr/>
        </p:nvSpPr>
        <p:spPr>
          <a:xfrm>
            <a:off x="6053328" y="5715000"/>
            <a:ext cx="5571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© V-World 국토교통부 | 2026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렌트롤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렌트롤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137160" cy="137160"/>
          </a:xfrm>
          <a:prstGeom prst="rect">
            <a:avLst/>
          </a:prstGeom>
          <a:solidFill>
            <a:srgbClr val="FBEFE8"/>
          </a:solidFill>
          <a:ln w="12700">
            <a:solidFill>
              <a:srgbClr val="B05A2E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74980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5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4693920"/>
            <a:ext cx="475488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1F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97280" y="4721352"/>
            <a:ext cx="2468880" cy="128625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33856" y="4712208"/>
            <a:ext cx="2395728" cy="1304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스타벅스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3352800"/>
            <a:ext cx="475488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2F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97280" y="3380232"/>
            <a:ext cx="2468880" cy="128625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33856" y="3371088"/>
            <a:ext cx="2395728" cy="1304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올리브영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2011680"/>
            <a:ext cx="475488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3F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97280" y="2039112"/>
            <a:ext cx="2468880" cy="128625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3856" y="2029968"/>
            <a:ext cx="2395728" cy="1304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치과의원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" y="596188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렌트롤 현황 기준 층별 공간 배치도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50208" y="1645920"/>
          <a:ext cx="7674559" cy="914400"/>
        </p:xfrm>
        <a:graphic>
          <a:graphicData uri="http://schemas.openxmlformats.org/drawingml/2006/table">
            <a:tbl>
              <a:tblPr/>
              <a:tblGrid>
                <a:gridCol w="438912"/>
                <a:gridCol w="960120"/>
                <a:gridCol w="804672"/>
                <a:gridCol w="713232"/>
                <a:gridCol w="713232"/>
                <a:gridCol w="713232"/>
                <a:gridCol w="713232"/>
                <a:gridCol w="713232"/>
                <a:gridCol w="713232"/>
                <a:gridCol w="11887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층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임차인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용도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임대면적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전용면적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보증금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월임대료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관리비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월합계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만기일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스타벅스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스타벅스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1,500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올리브영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올리브영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1,100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치과의원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치과의원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950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3개 호실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65,000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3,550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수익률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512064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1600200"/>
            <a:ext cx="4663440" cy="1005840"/>
          </a:xfrm>
          <a:prstGeom prst="roundRect">
            <a:avLst>
              <a:gd name="adj" fmla="val 7273"/>
            </a:avLst>
          </a:prstGeom>
          <a:solidFill>
            <a:srgbClr val="132A3A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16002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487168" y="16002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86968" y="28346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임대수입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27248" y="28346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5.4억원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" y="3182112"/>
            <a:ext cx="46634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318211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승계 보증금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27248" y="318211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15.0억원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5528" y="3529584"/>
            <a:ext cx="46634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352958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127248" y="352958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150.0억원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5528" y="3877056"/>
            <a:ext cx="46634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" y="387705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순투자금 (매매가 − 보증금)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27248" y="387705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135.0억원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95528" y="4224528"/>
            <a:ext cx="46634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5528" y="4361688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F6F1E4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" y="436168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분석가정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944368" y="436168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4.21%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053328" y="1371600"/>
            <a:ext cx="5571439" cy="3840480"/>
          </a:xfrm>
          <a:prstGeom prst="roundRect">
            <a:avLst>
              <a:gd name="adj" fmla="val 1429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1591056"/>
            <a:ext cx="1554480" cy="219456"/>
          </a:xfrm>
          <a:prstGeom prst="roundRect">
            <a:avLst>
              <a:gd name="adj" fmla="val 50000"/>
            </a:avLst>
          </a:prstGeom>
          <a:solidFill>
            <a:srgbClr val="F6F1E4"/>
          </a:solidFill>
          <a:ln w="6350">
            <a:solidFill>
              <a:srgbClr val="8B650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15910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공시지가 열람 안내 ]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309360" y="1883664"/>
            <a:ext cx="5059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개별공시지가 및 토지 가치 평가 안내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09360" y="2194560"/>
            <a:ext cx="50593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필지의 개별공시지가 연도별 이력 및 표준지 공시지가 대비 배율은 부동산 공시가격 알리미 및 감정평가 공적 자료를 통해 확인합니다.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309360" y="2633472"/>
            <a:ext cx="5059375" cy="0"/>
          </a:xfrm>
          <a:prstGeom prst="line">
            <a:avLst/>
          </a:prstGeom>
          <a:noFill/>
          <a:ln w="5080">
            <a:solidFill>
              <a:srgbClr val="CBD5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45936" y="2779776"/>
            <a:ext cx="64008" cy="6400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2" name="Text 30"/>
          <p:cNvSpPr/>
          <p:nvPr/>
        </p:nvSpPr>
        <p:spPr>
          <a:xfrm>
            <a:off x="6473952" y="2724912"/>
            <a:ext cx="483991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5~10개년 개별공시지가 변동 추이 및 연평균 상승률 분석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6345936" y="3346704"/>
            <a:ext cx="64008" cy="6400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4" name="Text 32"/>
          <p:cNvSpPr/>
          <p:nvPr/>
        </p:nvSpPr>
        <p:spPr>
          <a:xfrm>
            <a:off x="6473952" y="3291840"/>
            <a:ext cx="483991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표준지 공시지가 대비 토지 특성(도로접면, 형상, 방위) 차이 분석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6345936" y="3913632"/>
            <a:ext cx="64008" cy="6400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6" name="Text 34"/>
          <p:cNvSpPr/>
          <p:nvPr/>
        </p:nvSpPr>
        <p:spPr>
          <a:xfrm>
            <a:off x="6473952" y="3858768"/>
            <a:ext cx="483991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공시지가 대비 실거래가 매매 배율 및 평당 단가 프리미엄 검증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6345936" y="4480560"/>
            <a:ext cx="64008" cy="6400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8" name="Text 36"/>
          <p:cNvSpPr/>
          <p:nvPr/>
        </p:nvSpPr>
        <p:spPr>
          <a:xfrm>
            <a:off x="6473952" y="4425696"/>
            <a:ext cx="483991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보유세(재산세·종합부동산세) 과세표준 기준액 산출 및 세무 영향 점검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566928" y="5349240"/>
            <a:ext cx="11057839" cy="438912"/>
          </a:xfrm>
          <a:prstGeom prst="roundRect">
            <a:avLst>
              <a:gd name="adj" fmla="val 12500"/>
            </a:avLst>
          </a:prstGeom>
          <a:solidFill>
            <a:srgbClr val="E8F4F8"/>
          </a:solidFill>
          <a:ln/>
        </p:spPr>
      </p:sp>
      <p:sp>
        <p:nvSpPr>
          <p:cNvPr id="40" name="Shape 38"/>
          <p:cNvSpPr/>
          <p:nvPr/>
        </p:nvSpPr>
        <p:spPr>
          <a:xfrm>
            <a:off x="566928" y="5404104"/>
            <a:ext cx="36576" cy="329184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41" name="Text 39"/>
          <p:cNvSpPr/>
          <p:nvPr/>
        </p:nvSpPr>
        <p:spPr>
          <a:xfrm>
            <a:off x="713232" y="5440680"/>
            <a:ext cx="108018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판단 참고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13232" y="5641848"/>
            <a:ext cx="1080180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 4.0%는 시장 평균 하회 — 토지가치 상승 또는 리모델링 후 임대료 증대 가능성 검토 필요</a:t>
            </a:r>
            <a:endParaRPr lang="en-US" sz="980" dirty="0"/>
          </a:p>
        </p:txBody>
      </p:sp>
      <p:sp>
        <p:nvSpPr>
          <p:cNvPr id="43" name="Text 4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사진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234440"/>
            <a:ext cx="11057839" cy="4709160"/>
          </a:xfrm>
          <a:prstGeom prst="roundRect">
            <a:avLst>
              <a:gd name="adj" fmla="val 116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234440"/>
            <a:ext cx="11057839" cy="4709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6928" y="5650992"/>
            <a:ext cx="11057839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76656" y="5650992"/>
            <a:ext cx="108383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전면 외관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문의/유의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및 유의사항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3" name="Shape 11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4" name="Text 12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9" name="Shape 17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" y="312724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93392" y="3108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352958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5295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93392" y="35112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" y="393192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3931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93392" y="3913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" y="433425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4334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93392" y="43159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32A3A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279806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📞  김수석  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75120" y="3072384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☎ 010-1234-5678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675120" y="3310128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CREDEAL 프라임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92240" y="389534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92240" y="4206240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A3347"/>
          </a:solidFill>
          <a:ln/>
        </p:spPr>
      </p:sp>
      <p:sp>
        <p:nvSpPr>
          <p:cNvPr id="46" name="Text 44"/>
          <p:cNvSpPr/>
          <p:nvPr/>
        </p:nvSpPr>
        <p:spPr>
          <a:xfrm>
            <a:off x="6675120" y="4315968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8B6508"/>
          </a:solidFill>
          <a:ln/>
        </p:spPr>
      </p:sp>
      <p:sp>
        <p:nvSpPr>
          <p:cNvPr id="48" name="Text 46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프라임 · 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2026-09-29T08:26:20Z</dcterms:created>
  <dcterms:modified xsi:type="dcterms:W3CDTF">2026-09-29T08:26:20Z</dcterms:modified>
</cp:coreProperties>
</file>