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4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5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역세권 근생빌딩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/>
        </p:spPr>
      </p:sp>
      <p:sp>
        <p:nvSpPr>
          <p:cNvPr id="13" name="Text 10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016687"/>
          </a:solidFill>
          <a:ln w="12700">
            <a:solidFill>
              <a:srgbClr val="0284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33008" y="1307592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233008" y="13075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항공/드론뷰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1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5" name="Text 1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도보 5분 · 용적률 여유 178%p · 임대료 현실화 시 47% 증가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284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57.5억 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NOI)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66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153.31평 (506.8㎡)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435.9평 (1,441.15㎡) — 렌트롤 행별 합산 기준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CFFAFE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5층, 자주식 주차 8대, 승강기 1대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교통 접근성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역세권 · 아파트 밀집 배후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당산역(2호선·9호선) 도보 5분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아파트 단지 밀집 → 근린상업 수요 안정적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국회대로·올림픽대로 접근 용이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 개선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제도개선(2024.10) — 용도지역 변경 추진 중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당산동5가 11-47 근린생활시설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153.31평 (506.8㎡)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435.9평 (1,441.15㎡) — 렌트롤 행별 합산 기준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5층, 자주식 주차 8대, 승강기 1대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2002년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51.9% / 221.8%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 (법정 상한 400%, 여유 178.2%p)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115억 원 (토지 평당가 7,500만원)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 형태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구분등기 · 소유자 2인(형제)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284A8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34" name="Shape 31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2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행별 합산(1,441.15㎡)과 표기 계(1,141.15㎡) 간 300㎡ 불일치. 건축물대장 미첨부로 미확정.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8" name="Shape 3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005258"/>
                <a:gridCol w="1675430"/>
                <a:gridCol w="1675430"/>
                <a:gridCol w="1675430"/>
                <a:gridCol w="1675430"/>
                <a:gridCol w="1675430"/>
                <a:gridCol w="167543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만료일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317.22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고은약국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78.39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183만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1F+2F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로뎀나무내과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357.69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883만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통합계약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헬쓰장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252.09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2026-04-17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국제와인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169.06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2025-04-30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(자가)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83.03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로뎀나무내과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183.67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24865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[주의] 최초계약일 미기재 → 갱신요구권 잔여 연수 확인 필요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분석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Cap Rate 2.03% → 임대료 현실화 시 2.99% (총임대료 기준)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0284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현실화 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현실화 기준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 헬쓰장 평당 62.4천원을 기준…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816만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환산보증금 초과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7233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10.23억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692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현실화 계획은 가정입니다 (가정 0.30)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18728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6187288" y="4681728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637016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7016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현실화 계획은 가정입니다 (가정 0.30)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45720" cy="36576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66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사항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미확정: 행별 합산 vs 표기 계 300㎡ 차이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구분등기 소유자 2인: 매각 시 2인 전원 동의 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최초계약일 미기재: 갱신요구권 잔여 확인 불가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국제와인 만료: 4F 계약 2025-04-30 이미 만료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대출·근저당: 원본에 정보 없음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5193792"/>
            <a:ext cx="45720" cy="621792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07008" y="932688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여유 178%p + 임대료 현실화 47% 업사이드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AFAFA"/>
          </a:solidFill>
          <a:ln w="10160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도보 5분, 아파트 밀집 배후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AFAFA"/>
          </a:solidFill>
          <a:ln w="10160">
            <a:solidFill>
              <a:srgbClr val="E4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여유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221.8% vs 400% → 178.2%p 개발 여력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AFAFA"/>
          </a:solidFill>
          <a:ln w="10160">
            <a:solidFill>
              <a:srgbClr val="E4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현실화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대비 저평가 → 47.3% 인상 여력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AFAFA"/>
          </a:solidFill>
          <a:ln w="10160">
            <a:solidFill>
              <a:srgbClr val="E4E4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8" name="Shape 26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시세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89~162백만 대비 본건 75백만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CFFAFE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668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진행 일정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취득 및 연면적 확정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E4E4E7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2828" y="1572768"/>
            <a:ext cx="45720" cy="3200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16" name="Shape 14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17" name="Text 15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 2인 매각 동의 확인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E4E4E7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1572768"/>
            <a:ext cx="45720" cy="3200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24" name="Text 22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실사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E4E4E7"/>
          </a:solidFill>
          <a:ln w="6350">
            <a:solidFill>
              <a:srgbClr val="7171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34627" y="1572768"/>
            <a:ext cx="45720" cy="3200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0" name="Shape 28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31" name="Text 29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지급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7272A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72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15" name="Text 13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4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72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0284A8"/>
          </a:solidFill>
          <a:ln/>
        </p:spPr>
      </p:sp>
      <p:sp>
        <p:nvSpPr>
          <p:cNvPr id="21" name="Text 19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7272A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8181B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016687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284A8"/>
          </a:solidFill>
          <a:ln/>
        </p:spPr>
      </p:sp>
      <p:sp>
        <p:nvSpPr>
          <p:cNvPr id="47" name="Text 4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8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2026-08-26T06:02:45Z</dcterms:created>
  <dcterms:modified xsi:type="dcterms:W3CDTF">2026-08-26T06:02:45Z</dcterms:modified>
</cp:coreProperties>
</file>