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097280"/>
            <a:ext cx="9445752" cy="4663440"/>
          </a:xfrm>
          <a:prstGeom prst="roundRect">
            <a:avLst>
              <a:gd name="adj" fmla="val 2353"/>
            </a:avLst>
          </a:prstGeom>
          <a:solidFill>
            <a:srgbClr val="334155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1097280"/>
            <a:ext cx="9445752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920240" y="1554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920240" y="1828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입지 근생빌딩 매각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IM-36300A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636">
                    <a:alpha val="1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핵심요약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서울 핵심 권역 소재 근생빌딩 물건입니다.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276856"/>
            <a:ext cx="107286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6692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3666744"/>
            <a:ext cx="36576" cy="9875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980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 매물은 서울 핵심 권역 핵심 입지의 안정적인 수익형 자산입니다.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618728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6" name="Shape 14"/>
          <p:cNvSpPr/>
          <p:nvPr/>
        </p:nvSpPr>
        <p:spPr>
          <a:xfrm>
            <a:off x="6187288" y="3666744"/>
            <a:ext cx="36576" cy="9875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637016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7016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🔍 건축물대장 조회 미완료 —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📍 이 입지, 투자할 만한 곳인가?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교통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148840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170475" y="2148840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496312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170475" y="2496312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53328" y="2843784"/>
            <a:ext cx="5571439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2843784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170475" y="2843784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53328" y="3191256"/>
            <a:ext cx="5571439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53328" y="3191256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권역 권역 우수 입지, 안정적 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170475" y="3191256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권역 권역 우수 입지, 안정적 임대 수요 유지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23" name="Text 20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토지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토지 현황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🏢 이 건물, 어떤 자산인가?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항목 · 내용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5966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3" name="Shape 11"/>
          <p:cNvSpPr/>
          <p:nvPr/>
        </p:nvSpPr>
        <p:spPr>
          <a:xfrm>
            <a:off x="7784287" y="1755648"/>
            <a:ext cx="36576" cy="9875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7967167" y="181051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967167" y="2029968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 매물은 서울 핵심 권역 핵심 입지의 안정적인 수익형 자산입니다.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7784287" y="296265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7" name="Shape 15"/>
          <p:cNvSpPr/>
          <p:nvPr/>
        </p:nvSpPr>
        <p:spPr>
          <a:xfrm>
            <a:off x="7784287" y="3017520"/>
            <a:ext cx="36576" cy="9875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7967167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967167" y="3291840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🔍 건축물대장 조회 미완료 —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 Roll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📊 임대 현황과 공실, 실제로 어떤가?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201168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121408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임대 현황 데이터 준비 중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2340864"/>
            <a:ext cx="107286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임대차 현황 데이터는 상세 입력 완료 후 자동으로 업데이트됩니다.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566928" y="2212848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🔒 **임대차 상세 현황 자료가 아직 확보되지 않았습니다.**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566928" y="2487168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2542032"/>
            <a:ext cx="36576" cy="9875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2596896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9808" y="2816352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🔒 임대차 상세 현황 자료가 아직 확보되지 않았습니다.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6187288" y="2487168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6" name="Shape 14"/>
          <p:cNvSpPr/>
          <p:nvPr/>
        </p:nvSpPr>
        <p:spPr>
          <a:xfrm>
            <a:off x="6187288" y="2542032"/>
            <a:ext cx="36576" cy="9875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6370168" y="2596896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70168" y="2816352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[인명 비공개]게 문의하시면 임대 현황 자료를 제공해 드립니다.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Stability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임대안정성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5966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2" name="Shape 10"/>
          <p:cNvSpPr/>
          <p:nvPr/>
        </p:nvSpPr>
        <p:spPr>
          <a:xfrm>
            <a:off x="7784287" y="1755648"/>
            <a:ext cx="36576" cy="9875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7967167" y="181051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967167" y="2029968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🔒 임대차 상세 현황 자료가 아직 확보되지 않았습니다.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7784287" y="296265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6" name="Shape 14"/>
          <p:cNvSpPr/>
          <p:nvPr/>
        </p:nvSpPr>
        <p:spPr>
          <a:xfrm>
            <a:off x="7784287" y="3017520"/>
            <a:ext cx="36576" cy="9875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7967167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967167" y="3291840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[인명 비공개]게 문의하시면 임대 현황 자료를 제공해 드립니다.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💰 수익률이 진짜로 나오는 딜인가?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수익 분석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7007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------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72968" y="170078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---:---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5966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48879" y="182880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 순영업소득(NOI)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948879" y="2011680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유효총수입(EGI) − 운영비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7948879" y="2377440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 불가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7784287" y="2944368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48879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Gross Yield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948879" y="3255264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연간 총임대수입 ÷ 매입가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7948879" y="3621024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 불가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7784287" y="4187952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48879" y="43159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Cap Rate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948879" y="4498848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NOI ÷ 매입가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7948879" y="4864608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 불가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784287" y="543153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48879" y="555955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WACC(자본비용)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948879" y="5742432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차입·자기자본 비용의 가중평균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7948879" y="6108192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 불가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7784287" y="667512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48879" y="6803136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개별공시지가 상승률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948879" y="6986016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(당기 공시지가 ÷ 전기 공시지가) − 1</a:t>
            </a:r>
            <a:endParaRPr lang="en-US" sz="2500" dirty="0"/>
          </a:p>
        </p:txBody>
      </p:sp>
      <p:sp>
        <p:nvSpPr>
          <p:cNvPr id="29" name="Text 27"/>
          <p:cNvSpPr/>
          <p:nvPr/>
        </p:nvSpPr>
        <p:spPr>
          <a:xfrm>
            <a:off x="7948879" y="7351776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 불가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자본구조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17904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자본구조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10512"/>
          <a:ext cx="6675120" cy="914400"/>
        </p:xfrm>
        <a:graphic>
          <a:graphicData uri="http://schemas.openxmlformats.org/drawingml/2006/table">
            <a:tbl>
              <a:tblPr/>
              <a:tblGrid>
                <a:gridCol w="1668780"/>
                <a:gridCol w="1668780"/>
                <a:gridCol w="1668780"/>
                <a:gridCol w="16687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WACC(자본비용)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차입·자기자본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비용의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가중평균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산출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불가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LTV,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금리,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대출조건,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요구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자기자본수익률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🎯 왜 지금 이 건물을 사야 하는가?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건물을 사야 하는 이유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7007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상가 전문 임대 운영사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72968" y="170078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⭐⭐⭐⭐⭐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4825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자산가 임대수익 목적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72968" y="2048256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⭐⭐⭐⭐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2395728"/>
            <a:ext cx="6858000" cy="0"/>
          </a:xfrm>
          <a:prstGeom prst="line">
            <a:avLst/>
          </a:prstGeom>
          <a:noFill/>
          <a:ln w="381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39572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프랜차이즈 본사 직매장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72968" y="2395728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⭐⭐⭐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대출 구조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17904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대출 구조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10512"/>
          <a:ext cx="6675120" cy="914400"/>
        </p:xfrm>
        <a:graphic>
          <a:graphicData uri="http://schemas.openxmlformats.org/drawingml/2006/table">
            <a:tbl>
              <a:tblPr/>
              <a:tblGrid>
                <a:gridCol w="3337560"/>
                <a:gridCol w="33375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항목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4A3B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값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WACC(자본비용)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차입·자기자본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비용의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가중평균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산출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불가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LTV,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금리,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대출조건,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요구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자기자본수익률</a:t>
                      </a:r>
                      <a:endParaRPr lang="en-US" sz="10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세금 추정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⚠️ 숨은 리스크는 없는가?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3503066" cy="3200400"/>
          </a:xfrm>
          <a:prstGeom prst="rect">
            <a:avLst/>
          </a:prstGeom>
          <a:solidFill>
            <a:srgbClr val="F8FAFC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📋 검토 후 다음 단계는?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32688" y="438912"/>
            <a:ext cx="1069207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표기 기준 및 면책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66928" y="1060704"/>
            <a:ext cx="228600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475569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475569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475569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475569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475569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334155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IM-36300A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636">
                    <a:alpha val="1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11076127" y="64190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2026-08-12T23:11:21Z</dcterms:created>
  <dcterms:modified xsi:type="dcterms:W3CDTF">2026-08-12T23:11:21Z</dcterms:modified>
</cp:coreProperties>
</file>