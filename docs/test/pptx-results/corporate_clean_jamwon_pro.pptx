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1097280"/>
            <a:ext cx="9445752" cy="4663440"/>
          </a:xfrm>
          <a:prstGeom prst="roundRect">
            <a:avLst>
              <a:gd name="adj" fmla="val 2353"/>
            </a:avLst>
          </a:prstGeom>
          <a:solidFill>
            <a:srgbClr val="334155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0" y="1097280"/>
            <a:ext cx="9445752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65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920240" y="1554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MEMORANDUM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920240" y="18288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입지 상가빌딩 매각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IM-FE5CBA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2636">
                    <a:alpha val="1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11076127" y="6419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32688" y="438912"/>
            <a:ext cx="106920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핵심요약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060704"/>
            <a:ext cx="2286000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1887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서울 핵심 권역 소재 상가빌딩 물건입니다.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1691640"/>
            <a:ext cx="11057839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965960"/>
            <a:ext cx="11057839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093976"/>
            <a:ext cx="10728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등급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31520" y="2276856"/>
            <a:ext cx="1072865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66928" y="3611880"/>
            <a:ext cx="5437480" cy="109728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3666744"/>
            <a:ext cx="36576" cy="9875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3721608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49808" y="3941064"/>
            <a:ext cx="510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 매물은 서울 핵심 권역 핵심 입지의 안정적인 수익형 자산입니다.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6187288" y="3611880"/>
            <a:ext cx="5437480" cy="109728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/>
        </p:spPr>
      </p:sp>
      <p:sp>
        <p:nvSpPr>
          <p:cNvPr id="16" name="Shape 14"/>
          <p:cNvSpPr/>
          <p:nvPr/>
        </p:nvSpPr>
        <p:spPr>
          <a:xfrm>
            <a:off x="6187288" y="3666744"/>
            <a:ext cx="36576" cy="9875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6370168" y="3721608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370168" y="3941064"/>
            <a:ext cx="510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🔍 건축물대장 조회 미완료 —</a:t>
            </a:r>
            <a:endParaRPr lang="en-US" sz="930" dirty="0"/>
          </a:p>
        </p:txBody>
      </p:sp>
      <p:sp>
        <p:nvSpPr>
          <p:cNvPr id="19" name="Text 17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11076127" y="6419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32688" y="438912"/>
            <a:ext cx="106920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📍 이 입지, 투자할 만한 곳인가?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060704"/>
            <a:ext cx="2286000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교통 접근성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53328" y="1801368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인근 주요 대중교통 노선 양호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170475" y="1801368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인근 주요 대중교통 노선 양호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053328" y="2148840"/>
            <a:ext cx="5571439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53328" y="2148840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업무 권역 접근성 확보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170475" y="2148840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업무 권역 접근성 확보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053328" y="2496312"/>
            <a:ext cx="5571439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53328" y="2496312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풍부한 유동인구 및 배후 상권 형성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170475" y="2496312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풍부한 유동인구 및 배후 상권 형성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053328" y="2843784"/>
            <a:ext cx="5571439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53328" y="2843784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편의시설 집중 입지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170475" y="2843784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편의시설 집중 입지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053328" y="3191256"/>
            <a:ext cx="5571439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053328" y="3191256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권역 권역 우수 입지, 안정적 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170475" y="3191256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권역 권역 우수 입지, 안정적 임대 수요 유지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23" name="Text 20"/>
          <p:cNvSpPr/>
          <p:nvPr/>
        </p:nvSpPr>
        <p:spPr>
          <a:xfrm>
            <a:off x="11076127" y="6419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32688" y="438912"/>
            <a:ext cx="106920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토지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060704"/>
            <a:ext cx="2286000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토지 현황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011680"/>
            <a:ext cx="6858000" cy="1280160"/>
          </a:xfrm>
          <a:prstGeom prst="roundRect">
            <a:avLst>
              <a:gd name="adj" fmla="val 4286"/>
            </a:avLst>
          </a:prstGeom>
          <a:solidFill>
            <a:srgbClr val="DBEAFE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121408"/>
            <a:ext cx="6528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업데이트 예정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9808" y="2340864"/>
            <a:ext cx="65288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상세 건물 정보는 건축물대장 조회 완료 후 자동으로 업데이트됩니다.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11076127" y="6419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32688" y="438912"/>
            <a:ext cx="106920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🏢 이 건물, 어떤 자산인가?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060704"/>
            <a:ext cx="2286000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항목 · 내용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011680"/>
            <a:ext cx="6858000" cy="1280160"/>
          </a:xfrm>
          <a:prstGeom prst="roundRect">
            <a:avLst>
              <a:gd name="adj" fmla="val 4286"/>
            </a:avLst>
          </a:prstGeom>
          <a:solidFill>
            <a:srgbClr val="DBEAFE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121408"/>
            <a:ext cx="6528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업데이트 예정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9808" y="2340864"/>
            <a:ext cx="65288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상세 건물 정보는 건축물대장 조회 완료 후 자동으로 업데이트됩니다.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05966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84287" y="1700784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/>
        </p:spPr>
      </p:sp>
      <p:sp>
        <p:nvSpPr>
          <p:cNvPr id="13" name="Shape 11"/>
          <p:cNvSpPr/>
          <p:nvPr/>
        </p:nvSpPr>
        <p:spPr>
          <a:xfrm>
            <a:off x="7784287" y="1755648"/>
            <a:ext cx="36576" cy="9875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7967167" y="1810512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967167" y="2029968"/>
            <a:ext cx="3511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 매물은 서울 핵심 권역 핵심 입지의 안정적인 수익형 자산입니다.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7784287" y="2962656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/>
        </p:spPr>
      </p:sp>
      <p:sp>
        <p:nvSpPr>
          <p:cNvPr id="17" name="Shape 15"/>
          <p:cNvSpPr/>
          <p:nvPr/>
        </p:nvSpPr>
        <p:spPr>
          <a:xfrm>
            <a:off x="7784287" y="3017520"/>
            <a:ext cx="36576" cy="9875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7967167" y="3072384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967167" y="3291840"/>
            <a:ext cx="3511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🔍 건축물대장 조회 미완료 —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11076127" y="6419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32688" y="438912"/>
            <a:ext cx="106920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 Detail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📐 개발 부지로서 대지 조건은 어떠한가?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060704"/>
            <a:ext cx="2286000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대지 및 신축 개발 여력 분석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70078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대지면적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172968" y="1700784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" y="2048256"/>
            <a:ext cx="6858000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048256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용도지역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172968" y="2048256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 필요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2395728"/>
            <a:ext cx="6858000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39572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명도 상태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172968" y="2395728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[임차인 업종 정보로 대체됨] 현황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2743200"/>
            <a:ext cx="6858000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74320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 잠재력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172968" y="2743200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신축 시 연면적 증대 가능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05966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84287" y="1700784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/>
        </p:spPr>
      </p:sp>
      <p:sp>
        <p:nvSpPr>
          <p:cNvPr id="20" name="Shape 18"/>
          <p:cNvSpPr/>
          <p:nvPr/>
        </p:nvSpPr>
        <p:spPr>
          <a:xfrm>
            <a:off x="7784287" y="1755648"/>
            <a:ext cx="36576" cy="9875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7967167" y="1810512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967167" y="2029968"/>
            <a:ext cx="3511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건축물대장 및 토지이용계획확인서 기준 | 신축 설계 검토 필요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11076127" y="6419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32688" y="438912"/>
            <a:ext cx="106920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신축규모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060704"/>
            <a:ext cx="2286000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대지 및 신축 개발 여력 분석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70078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--------------------------------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172968" y="1700784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05966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84287" y="1700784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48879" y="1828800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대지면적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948879" y="2011680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7948879" y="2377440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미정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7784287" y="2944368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48879" y="3072384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용도지역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948879" y="3255264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 필요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7948879" y="3621024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법정 건폐율/용적률 상한 적용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7784287" y="4187952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48879" y="431596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명도 상태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948879" y="4498848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[임차인 업종 정보로 대체됨] 현황</a:t>
            </a:r>
            <a:endParaRPr lang="en-US" sz="2500" dirty="0"/>
          </a:p>
        </p:txBody>
      </p:sp>
      <p:sp>
        <p:nvSpPr>
          <p:cNvPr id="21" name="Text 19"/>
          <p:cNvSpPr/>
          <p:nvPr/>
        </p:nvSpPr>
        <p:spPr>
          <a:xfrm>
            <a:off x="7948879" y="4864608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착공 전 명도 협의 필요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7784287" y="5431536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48879" y="5559552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 잠재력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948879" y="5742432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신축 시 연면적 증대 가능</a:t>
            </a:r>
            <a:endParaRPr lang="en-US" sz="2500" dirty="0"/>
          </a:p>
        </p:txBody>
      </p:sp>
      <p:sp>
        <p:nvSpPr>
          <p:cNvPr id="25" name="Text 23"/>
          <p:cNvSpPr/>
          <p:nvPr/>
        </p:nvSpPr>
        <p:spPr>
          <a:xfrm>
            <a:off x="7948879" y="6108192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상업/업무 시설 기획 가능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7784287" y="6675120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/>
        </p:spPr>
      </p:sp>
      <p:sp>
        <p:nvSpPr>
          <p:cNvPr id="27" name="Shape 25"/>
          <p:cNvSpPr/>
          <p:nvPr/>
        </p:nvSpPr>
        <p:spPr>
          <a:xfrm>
            <a:off x="7784287" y="6729984"/>
            <a:ext cx="36576" cy="9875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8" name="Text 26"/>
          <p:cNvSpPr/>
          <p:nvPr/>
        </p:nvSpPr>
        <p:spPr>
          <a:xfrm>
            <a:off x="7967167" y="67848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967167" y="7004304"/>
            <a:ext cx="3511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건축물대장 및 토지이용계획확인서 기준 | 신축 설계 검토 필요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31" name="Text 29"/>
          <p:cNvSpPr/>
          <p:nvPr/>
        </p:nvSpPr>
        <p:spPr>
          <a:xfrm>
            <a:off x="11076127" y="6419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32688" y="438912"/>
            <a:ext cx="106920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Eviction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명도계획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060704"/>
            <a:ext cx="2286000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대지 및 신축 개발 여력 분석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70078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대지면적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172968" y="1700784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" y="2048256"/>
            <a:ext cx="6858000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048256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용도지역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172968" y="2048256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 필요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2395728"/>
            <a:ext cx="6858000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39572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명도 상태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172968" y="2395728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[임차인 업종 정보로 대체됨] 현황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2743200"/>
            <a:ext cx="6858000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74320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 잠재력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172968" y="2743200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신축 시 연면적 증대 가능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05966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84287" y="1700784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/>
        </p:spPr>
      </p:sp>
      <p:sp>
        <p:nvSpPr>
          <p:cNvPr id="20" name="Shape 18"/>
          <p:cNvSpPr/>
          <p:nvPr/>
        </p:nvSpPr>
        <p:spPr>
          <a:xfrm>
            <a:off x="7784287" y="1755648"/>
            <a:ext cx="36576" cy="9875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7967167" y="1810512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967167" y="2029968"/>
            <a:ext cx="3511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건축물대장 및 토지이용계획확인서 기준 | 신축 설계 검토 필요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11076127" y="6419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32688" y="438912"/>
            <a:ext cx="106920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투입비용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060704"/>
            <a:ext cx="2286000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810512"/>
          <a:ext cx="6675120" cy="914400"/>
        </p:xfrm>
        <a:graphic>
          <a:graphicData uri="http://schemas.openxmlformats.org/drawingml/2006/table">
            <a:tbl>
              <a:tblPr/>
              <a:tblGrid>
                <a:gridCol w="2225040"/>
                <a:gridCol w="2225040"/>
                <a:gridCol w="222504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94A3B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구분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94A3B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추정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94A3B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금액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94A3B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비고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토지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매입비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희망가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기준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사업비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내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비중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산출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추정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신축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공사비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평당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공사비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산정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신축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연면적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기준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예상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총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사업비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토지비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+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공사비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+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금융/기타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총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투자금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예상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개발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이익률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15%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~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25%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수준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시장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상황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연동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498080" y="1810512"/>
            <a:ext cx="4123944" cy="1737360"/>
          </a:xfrm>
          <a:prstGeom prst="roundRect">
            <a:avLst>
              <a:gd name="adj" fmla="val 3158"/>
            </a:avLst>
          </a:prstGeom>
          <a:solidFill>
            <a:srgbClr val="FEF3C7"/>
          </a:solidFill>
          <a:ln/>
        </p:spPr>
      </p:sp>
      <p:sp>
        <p:nvSpPr>
          <p:cNvPr id="8" name="Shape 5"/>
          <p:cNvSpPr/>
          <p:nvPr/>
        </p:nvSpPr>
        <p:spPr>
          <a:xfrm>
            <a:off x="7498080" y="1865376"/>
            <a:ext cx="36576" cy="16276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Text 6"/>
          <p:cNvSpPr/>
          <p:nvPr/>
        </p:nvSpPr>
        <p:spPr>
          <a:xfrm>
            <a:off x="7680960" y="1920240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680960" y="2139696"/>
            <a:ext cx="37947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신축 공사비 및 분양가 변동에 따라 최종 수익률이 달라질 수 있습니다.</a:t>
            </a:r>
            <a:endParaRPr lang="en-US" sz="930" dirty="0"/>
          </a:p>
        </p:txBody>
      </p:sp>
      <p:sp>
        <p:nvSpPr>
          <p:cNvPr id="11" name="Text 8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12" name="Text 9"/>
          <p:cNvSpPr/>
          <p:nvPr/>
        </p:nvSpPr>
        <p:spPr>
          <a:xfrm>
            <a:off x="11076127" y="6419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32688" y="438912"/>
            <a:ext cx="106920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Stacking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스태킹계획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060704"/>
            <a:ext cx="2286000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신축 사업수지 및 개발 타당성 분석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70078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----------------------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172968" y="1700784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05966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84287" y="1700784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48879" y="1828800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토지 매입비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948879" y="2011680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희망가 기준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7948879" y="2377440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사업비 내 비중 산출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7784287" y="2944368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48879" y="3072384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추정 신축 공사비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948879" y="3255264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평당 공사비 산정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7948879" y="3621024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신축 연면적 기준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7784287" y="4187952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48879" y="431596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예상 총 사업비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948879" y="4498848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토지비 + 공사비 + 금융/기타</a:t>
            </a:r>
            <a:endParaRPr lang="en-US" sz="2500" dirty="0"/>
          </a:p>
        </p:txBody>
      </p:sp>
      <p:sp>
        <p:nvSpPr>
          <p:cNvPr id="21" name="Text 19"/>
          <p:cNvSpPr/>
          <p:nvPr/>
        </p:nvSpPr>
        <p:spPr>
          <a:xfrm>
            <a:off x="7948879" y="4864608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총 투자금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7784287" y="5431536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48879" y="5559552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예상 개발 이익률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948879" y="5742432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15% ~ 25% 수준</a:t>
            </a:r>
            <a:endParaRPr lang="en-US" sz="2500" dirty="0"/>
          </a:p>
        </p:txBody>
      </p:sp>
      <p:sp>
        <p:nvSpPr>
          <p:cNvPr id="25" name="Text 23"/>
          <p:cNvSpPr/>
          <p:nvPr/>
        </p:nvSpPr>
        <p:spPr>
          <a:xfrm>
            <a:off x="7948879" y="6108192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시장 상황 연동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7784287" y="6675120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EF3C7"/>
          </a:solidFill>
          <a:ln/>
        </p:spPr>
      </p:sp>
      <p:sp>
        <p:nvSpPr>
          <p:cNvPr id="27" name="Shape 25"/>
          <p:cNvSpPr/>
          <p:nvPr/>
        </p:nvSpPr>
        <p:spPr>
          <a:xfrm>
            <a:off x="7784287" y="6729984"/>
            <a:ext cx="36576" cy="9875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7967167" y="67848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967167" y="7004304"/>
            <a:ext cx="3511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신축 공사비 및 분양가 변동에 따라 최종 수익률이 달라질 수 있습니다.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31" name="Text 29"/>
          <p:cNvSpPr/>
          <p:nvPr/>
        </p:nvSpPr>
        <p:spPr>
          <a:xfrm>
            <a:off x="11076127" y="6419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32688" y="438912"/>
            <a:ext cx="106920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🏗️ 신축/개발 사업수지와 수익성은?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060704"/>
            <a:ext cx="2286000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신축 사업수지 및 개발 타당성 분석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70078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----------------------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172968" y="1700784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05966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84287" y="1700784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48879" y="1828800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토지 매입비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948879" y="2011680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희망가 기준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7948879" y="2377440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사업비 내 비중 산출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7784287" y="2944368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48879" y="3072384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추정 신축 공사비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948879" y="3255264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평당 공사비 산정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7948879" y="3621024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신축 연면적 기준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7784287" y="4187952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48879" y="431596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예상 총 사업비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948879" y="4498848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토지비 + 공사비 + 금융/기타</a:t>
            </a:r>
            <a:endParaRPr lang="en-US" sz="2500" dirty="0"/>
          </a:p>
        </p:txBody>
      </p:sp>
      <p:sp>
        <p:nvSpPr>
          <p:cNvPr id="21" name="Text 19"/>
          <p:cNvSpPr/>
          <p:nvPr/>
        </p:nvSpPr>
        <p:spPr>
          <a:xfrm>
            <a:off x="7948879" y="4864608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총 투자금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7784287" y="5431536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48879" y="5559552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예상 개발 이익률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948879" y="5742432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15% ~ 25% 수준</a:t>
            </a:r>
            <a:endParaRPr lang="en-US" sz="2500" dirty="0"/>
          </a:p>
        </p:txBody>
      </p:sp>
      <p:sp>
        <p:nvSpPr>
          <p:cNvPr id="25" name="Text 23"/>
          <p:cNvSpPr/>
          <p:nvPr/>
        </p:nvSpPr>
        <p:spPr>
          <a:xfrm>
            <a:off x="7948879" y="6108192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시장 상황 연동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7784287" y="6675120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EF3C7"/>
          </a:solidFill>
          <a:ln/>
        </p:spPr>
      </p:sp>
      <p:sp>
        <p:nvSpPr>
          <p:cNvPr id="27" name="Shape 25"/>
          <p:cNvSpPr/>
          <p:nvPr/>
        </p:nvSpPr>
        <p:spPr>
          <a:xfrm>
            <a:off x="7784287" y="6729984"/>
            <a:ext cx="36576" cy="9875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7967167" y="67848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967167" y="7004304"/>
            <a:ext cx="3511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신축 공사비 및 분양가 변동에 따라 최종 수익률이 달라질 수 있습니다.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31" name="Text 29"/>
          <p:cNvSpPr/>
          <p:nvPr/>
        </p:nvSpPr>
        <p:spPr>
          <a:xfrm>
            <a:off x="11076127" y="6419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32688" y="438912"/>
            <a:ext cx="106920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⚠️ 숨은 리스크는 없는가?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060704"/>
            <a:ext cx="2286000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572768"/>
            <a:ext cx="3503066" cy="3200400"/>
          </a:xfrm>
          <a:prstGeom prst="rect">
            <a:avLst/>
          </a:prstGeom>
          <a:solidFill>
            <a:srgbClr val="F8FAFC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32688" y="438912"/>
            <a:ext cx="106920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📋 검토 후 다음 단계는?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060704"/>
            <a:ext cx="2286000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1076127" y="6419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32688" y="438912"/>
            <a:ext cx="106920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표기 기준 및 면책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060704"/>
            <a:ext cx="2286000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5179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847088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475569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84708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✓ 공부확인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139696" y="182880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등기부·대장 등 공적 장부 직접 확인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504688" y="184708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2505456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475569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50545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★ 전문가검증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139696" y="248716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세무사·감정평가사 등 전문가 확인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504688" y="250545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3163824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475569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316382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▲ 매도인고지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139696" y="3145536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매도인이 구두 또는 서면으로 고지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504688" y="316382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0.65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3822192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475569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382219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● 중개인입력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139696" y="380390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중개인 현장 조사 및 경험 기반 입력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04688" y="38221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6928" y="4480560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475569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448056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◇ AI추정·가정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139696" y="446227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시나리오 분석 및 AI 모델 추정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04688" y="448056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92240" y="1517904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92240" y="1847088"/>
            <a:ext cx="5129784" cy="2615184"/>
          </a:xfrm>
          <a:prstGeom prst="roundRect">
            <a:avLst>
              <a:gd name="adj" fmla="val 1399"/>
            </a:avLst>
          </a:prstGeom>
          <a:solidFill>
            <a:srgbClr val="334155"/>
          </a:solidFill>
          <a:ln/>
        </p:spPr>
      </p:sp>
      <p:sp>
        <p:nvSpPr>
          <p:cNvPr id="29" name="Text 27"/>
          <p:cNvSpPr/>
          <p:nvPr/>
        </p:nvSpPr>
        <p:spPr>
          <a:xfrm>
            <a:off x="6711696" y="2011680"/>
            <a:ext cx="46908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 자료는 투자 권유가 아니며, 기재된 정보의 정확성을 보증하지 않습니다.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566928" y="5230368"/>
            <a:ext cx="11057839" cy="64008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31" name="Text 29"/>
          <p:cNvSpPr/>
          <p:nvPr/>
        </p:nvSpPr>
        <p:spPr>
          <a:xfrm>
            <a:off x="786384" y="5321808"/>
            <a:ext cx="106189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FAE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IM-FE5CBA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2636">
                    <a:alpha val="1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33" name="Text 31"/>
          <p:cNvSpPr/>
          <p:nvPr/>
        </p:nvSpPr>
        <p:spPr>
          <a:xfrm>
            <a:off x="11076127" y="6419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2026-08-12T23:11:20Z</dcterms:created>
  <dcterms:modified xsi:type="dcterms:W3CDTF">2026-08-12T23:11:20Z</dcterms:modified>
</cp:coreProperties>
</file>