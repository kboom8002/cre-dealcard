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0"/>
            <a:ext cx="4419295" cy="6858000"/>
          </a:xfrm>
          <a:prstGeom prst="rect">
            <a:avLst/>
          </a:prstGeom>
          <a:solidFill>
            <a:srgbClr val="2A2118"/>
          </a:solidFill>
          <a:ln/>
        </p:spPr>
      </p:sp>
      <p:sp>
        <p:nvSpPr>
          <p:cNvPr id="3" name="Shape 1"/>
          <p:cNvSpPr/>
          <p:nvPr/>
        </p:nvSpPr>
        <p:spPr>
          <a:xfrm>
            <a:off x="8778240" y="731520"/>
            <a:ext cx="2926080" cy="2377440"/>
          </a:xfrm>
          <a:prstGeom prst="rect">
            <a:avLst/>
          </a:prstGeom>
          <a:solidFill>
            <a:srgbClr val="3D2E1A"/>
          </a:solidFill>
          <a:ln/>
        </p:spPr>
      </p:sp>
      <p:sp>
        <p:nvSpPr>
          <p:cNvPr id="4" name="Shape 2"/>
          <p:cNvSpPr/>
          <p:nvPr/>
        </p:nvSpPr>
        <p:spPr>
          <a:xfrm>
            <a:off x="8138160" y="3657600"/>
            <a:ext cx="3474720" cy="2560320"/>
          </a:xfrm>
          <a:prstGeom prst="rect">
            <a:avLst/>
          </a:prstGeom>
          <a:solidFill>
            <a:srgbClr val="33271A"/>
          </a:solidFill>
          <a:ln/>
        </p:spPr>
      </p:sp>
      <p:sp>
        <p:nvSpPr>
          <p:cNvPr id="5" name="Shape 3"/>
          <p:cNvSpPr/>
          <p:nvPr/>
        </p:nvSpPr>
        <p:spPr>
          <a:xfrm>
            <a:off x="8503920" y="365760"/>
            <a:ext cx="0" cy="6126480"/>
          </a:xfrm>
          <a:prstGeom prst="line">
            <a:avLst/>
          </a:prstGeom>
          <a:noFill/>
          <a:ln w="10160">
            <a:solidFill>
              <a:srgbClr val="C8FF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0" y="0"/>
            <a:ext cx="4419295" cy="6858000"/>
          </a:xfrm>
          <a:prstGeom prst="rect">
            <a:avLst/>
          </a:prstGeom>
          <a:solidFill>
            <a:srgbClr val="C8FF00"/>
          </a:solidFill>
          <a:ln/>
        </p:spPr>
      </p:sp>
      <p:sp>
        <p:nvSpPr>
          <p:cNvPr id="7" name="Shape 5"/>
          <p:cNvSpPr/>
          <p:nvPr/>
        </p:nvSpPr>
        <p:spPr>
          <a:xfrm rot="120000">
            <a:off x="8412480" y="548640"/>
            <a:ext cx="3291840" cy="5760720"/>
          </a:xfrm>
          <a:prstGeom prst="rect">
            <a:avLst/>
          </a:prstGeom>
          <a:solidFill>
            <a:srgbClr val="0F172A">
              <a:alpha val="12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566928" y="47548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</a:t>
            </a:r>
            <a:pPr indent="0" marL="0">
              <a:buNone/>
            </a:pPr>
            <a:r>
              <a:rPr lang="en-US" sz="1500" b="1" dirty="0">
                <a:solidFill>
                  <a:srgbClr val="C8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DEAL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229600" y="53035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상업용 부동산 투자 플랫폼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66928" y="20299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50" kern="0" dirty="0">
                <a:solidFill>
                  <a:srgbClr val="C8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BASIC IM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66928" y="2304288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입지 근생빌딩 매각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IM-36300A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크리딜  ·  IM-36300A  ·  1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C8FF00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731520"/>
          </a:xfrm>
          <a:prstGeom prst="rect">
            <a:avLst/>
          </a:prstGeom>
          <a:solidFill>
            <a:srgbClr val="C8FF00"/>
          </a:solidFill>
          <a:ln/>
        </p:spPr>
      </p:sp>
      <p:sp>
        <p:nvSpPr>
          <p:cNvPr id="3" name="Text 1"/>
          <p:cNvSpPr/>
          <p:nvPr/>
        </p:nvSpPr>
        <p:spPr>
          <a:xfrm>
            <a:off x="768096" y="384048"/>
            <a:ext cx="1085667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C8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 Summary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68096" y="585216"/>
            <a:ext cx="1085667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핵심요약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66928" y="1115568"/>
            <a:ext cx="11057839" cy="0"/>
          </a:xfrm>
          <a:prstGeom prst="line">
            <a:avLst/>
          </a:prstGeom>
          <a:noFill/>
          <a:ln w="19050">
            <a:solidFill>
              <a:srgbClr val="C8FF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188720"/>
            <a:ext cx="11057839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서울 핵심 권역 소재 근생빌딩 물건입니다.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66928" y="1691640"/>
            <a:ext cx="11057839" cy="0"/>
          </a:xfrm>
          <a:prstGeom prst="line">
            <a:avLst/>
          </a:prstGeom>
          <a:noFill/>
          <a:ln w="19050">
            <a:solidFill>
              <a:srgbClr val="C8FF0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66928" y="1965960"/>
            <a:ext cx="11057839" cy="1280160"/>
          </a:xfrm>
          <a:prstGeom prst="roundRect">
            <a:avLst>
              <a:gd name="adj" fmla="val 4286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2093976"/>
            <a:ext cx="1072865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 등급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731520" y="2276856"/>
            <a:ext cx="1072865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566928" y="3611880"/>
            <a:ext cx="5437480" cy="1097280"/>
          </a:xfrm>
          <a:prstGeom prst="roundRect">
            <a:avLst>
              <a:gd name="adj" fmla="val 5000"/>
            </a:avLst>
          </a:prstGeom>
          <a:solidFill>
            <a:srgbClr val="DBEAFE"/>
          </a:solidFill>
          <a:ln/>
        </p:spPr>
      </p:sp>
      <p:sp>
        <p:nvSpPr>
          <p:cNvPr id="12" name="Shape 10"/>
          <p:cNvSpPr/>
          <p:nvPr/>
        </p:nvSpPr>
        <p:spPr>
          <a:xfrm>
            <a:off x="566928" y="3666744"/>
            <a:ext cx="36576" cy="987552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13" name="Text 11"/>
          <p:cNvSpPr/>
          <p:nvPr/>
        </p:nvSpPr>
        <p:spPr>
          <a:xfrm>
            <a:off x="749808" y="3721608"/>
            <a:ext cx="5108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49808" y="3941064"/>
            <a:ext cx="51082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 매물은 서울 핵심 권역 핵심 입지의 안정적인 수익형 자산입니다.</a:t>
            </a:r>
            <a:endParaRPr lang="en-US" sz="930" dirty="0"/>
          </a:p>
        </p:txBody>
      </p:sp>
      <p:sp>
        <p:nvSpPr>
          <p:cNvPr id="15" name="Shape 13"/>
          <p:cNvSpPr/>
          <p:nvPr/>
        </p:nvSpPr>
        <p:spPr>
          <a:xfrm>
            <a:off x="6187288" y="3611880"/>
            <a:ext cx="5437480" cy="1097280"/>
          </a:xfrm>
          <a:prstGeom prst="roundRect">
            <a:avLst>
              <a:gd name="adj" fmla="val 5000"/>
            </a:avLst>
          </a:prstGeom>
          <a:solidFill>
            <a:srgbClr val="DBEAFE"/>
          </a:solidFill>
          <a:ln/>
        </p:spPr>
      </p:sp>
      <p:sp>
        <p:nvSpPr>
          <p:cNvPr id="16" name="Shape 14"/>
          <p:cNvSpPr/>
          <p:nvPr/>
        </p:nvSpPr>
        <p:spPr>
          <a:xfrm>
            <a:off x="6187288" y="3666744"/>
            <a:ext cx="36576" cy="987552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17" name="Text 15"/>
          <p:cNvSpPr/>
          <p:nvPr/>
        </p:nvSpPr>
        <p:spPr>
          <a:xfrm>
            <a:off x="6370168" y="3721608"/>
            <a:ext cx="5108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370168" y="3941064"/>
            <a:ext cx="51082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🔍 건축물대장 조회 미완료 —</a:t>
            </a:r>
            <a:endParaRPr lang="en-US" sz="930" dirty="0"/>
          </a:p>
        </p:txBody>
      </p:sp>
      <p:sp>
        <p:nvSpPr>
          <p:cNvPr id="19" name="Text 17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크리딜  ·  IM-36300A  ·  2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C8FF00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731520"/>
          </a:xfrm>
          <a:prstGeom prst="rect">
            <a:avLst/>
          </a:prstGeom>
          <a:solidFill>
            <a:srgbClr val="C8FF00"/>
          </a:solidFill>
          <a:ln/>
        </p:spPr>
      </p:sp>
      <p:sp>
        <p:nvSpPr>
          <p:cNvPr id="3" name="Text 1"/>
          <p:cNvSpPr/>
          <p:nvPr/>
        </p:nvSpPr>
        <p:spPr>
          <a:xfrm>
            <a:off x="768096" y="384048"/>
            <a:ext cx="1085667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C8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 Location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68096" y="585216"/>
            <a:ext cx="1085667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📍 이 입지, 투자할 만한 곳인가?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66928" y="1115568"/>
            <a:ext cx="11057839" cy="0"/>
          </a:xfrm>
          <a:prstGeom prst="line">
            <a:avLst/>
          </a:prstGeom>
          <a:noFill/>
          <a:ln w="19050">
            <a:solidFill>
              <a:srgbClr val="C8FF00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481328"/>
            <a:ext cx="5120640" cy="4114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053328" y="1481328"/>
            <a:ext cx="55714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교통 접근성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6053328" y="1801368"/>
            <a:ext cx="211714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인근 주요 대중교통 노선 양호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8170475" y="1801368"/>
            <a:ext cx="34542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인근 주요 대중교통 노선 양호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053328" y="2148840"/>
            <a:ext cx="5571439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053328" y="2148840"/>
            <a:ext cx="211714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업무 권역 접근성 확보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8170475" y="2148840"/>
            <a:ext cx="34542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업무 권역 접근성 확보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6053328" y="2496312"/>
            <a:ext cx="5571439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053328" y="2496312"/>
            <a:ext cx="211714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풍부한 유동인구 및 배후 상권 형성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8170475" y="2496312"/>
            <a:ext cx="34542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풍부한 유동인구 및 배후 상권 형성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6053328" y="2843784"/>
            <a:ext cx="5571439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053328" y="2843784"/>
            <a:ext cx="211714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편의시설 집중 입지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8170475" y="2843784"/>
            <a:ext cx="34542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편의시설 집중 입지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6053328" y="3191256"/>
            <a:ext cx="5571439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053328" y="3191256"/>
            <a:ext cx="211714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권역 권역 우수 입지, 안정적 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8170475" y="3191256"/>
            <a:ext cx="34542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권역 권역 우수 입지, 안정적 임대 수요 유지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크리딜  ·  IM-36300A  ·  3</a:t>
            </a:r>
            <a:endParaRPr lang="en-US" sz="750" dirty="0"/>
          </a:p>
        </p:txBody>
      </p:sp>
      <p:sp>
        <p:nvSpPr>
          <p:cNvPr id="23" name="Shape 20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C8FF00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731520"/>
          </a:xfrm>
          <a:prstGeom prst="rect">
            <a:avLst/>
          </a:prstGeom>
          <a:solidFill>
            <a:srgbClr val="C8FF00"/>
          </a:solidFill>
          <a:ln/>
        </p:spPr>
      </p:sp>
      <p:sp>
        <p:nvSpPr>
          <p:cNvPr id="3" name="Text 1"/>
          <p:cNvSpPr/>
          <p:nvPr/>
        </p:nvSpPr>
        <p:spPr>
          <a:xfrm>
            <a:off x="768096" y="384048"/>
            <a:ext cx="1085667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C8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 Building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68096" y="585216"/>
            <a:ext cx="1085667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🏢 이 건물, 어떤 자산인가?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66928" y="1115568"/>
            <a:ext cx="11057839" cy="0"/>
          </a:xfrm>
          <a:prstGeom prst="line">
            <a:avLst/>
          </a:prstGeom>
          <a:noFill/>
          <a:ln w="19050">
            <a:solidFill>
              <a:srgbClr val="C8FF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37160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항목 · 내용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66928" y="2011680"/>
            <a:ext cx="6858000" cy="1280160"/>
          </a:xfrm>
          <a:prstGeom prst="roundRect">
            <a:avLst>
              <a:gd name="adj" fmla="val 4286"/>
            </a:avLst>
          </a:prstGeom>
          <a:solidFill>
            <a:srgbClr val="DBEAFE"/>
          </a:solidFill>
          <a:ln/>
        </p:spPr>
      </p:sp>
      <p:sp>
        <p:nvSpPr>
          <p:cNvPr id="8" name="Shape 6"/>
          <p:cNvSpPr/>
          <p:nvPr/>
        </p:nvSpPr>
        <p:spPr>
          <a:xfrm>
            <a:off x="566928" y="2066544"/>
            <a:ext cx="36576" cy="1170432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9" name="Text 7"/>
          <p:cNvSpPr/>
          <p:nvPr/>
        </p:nvSpPr>
        <p:spPr>
          <a:xfrm>
            <a:off x="749808" y="2121408"/>
            <a:ext cx="65288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D4E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 업데이트 예정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49808" y="2340864"/>
            <a:ext cx="652881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상세 건물 정보는 건축물대장 조회 완료 후 자동으로 업데이트됩니다.</a:t>
            </a:r>
            <a:endParaRPr lang="en-US" sz="930" dirty="0"/>
          </a:p>
        </p:txBody>
      </p:sp>
      <p:sp>
        <p:nvSpPr>
          <p:cNvPr id="11" name="Shape 9"/>
          <p:cNvSpPr/>
          <p:nvPr/>
        </p:nvSpPr>
        <p:spPr>
          <a:xfrm>
            <a:off x="7604608" y="1371600"/>
            <a:ext cx="0" cy="4754880"/>
          </a:xfrm>
          <a:prstGeom prst="line">
            <a:avLst/>
          </a:prstGeom>
          <a:noFill/>
          <a:ln w="8890">
            <a:solidFill>
              <a:srgbClr val="C8FF0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784287" y="1700784"/>
            <a:ext cx="3840480" cy="1097280"/>
          </a:xfrm>
          <a:prstGeom prst="roundRect">
            <a:avLst>
              <a:gd name="adj" fmla="val 5000"/>
            </a:avLst>
          </a:prstGeom>
          <a:solidFill>
            <a:srgbClr val="DBEAFE"/>
          </a:solidFill>
          <a:ln/>
        </p:spPr>
      </p:sp>
      <p:sp>
        <p:nvSpPr>
          <p:cNvPr id="13" name="Shape 11"/>
          <p:cNvSpPr/>
          <p:nvPr/>
        </p:nvSpPr>
        <p:spPr>
          <a:xfrm>
            <a:off x="7784287" y="1755648"/>
            <a:ext cx="36576" cy="987552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14" name="Text 12"/>
          <p:cNvSpPr/>
          <p:nvPr/>
        </p:nvSpPr>
        <p:spPr>
          <a:xfrm>
            <a:off x="7967167" y="1810512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7967167" y="2029968"/>
            <a:ext cx="35112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 매물은 서울 핵심 권역 핵심 입지의 안정적인 수익형 자산입니다.</a:t>
            </a:r>
            <a:endParaRPr lang="en-US" sz="930" dirty="0"/>
          </a:p>
        </p:txBody>
      </p:sp>
      <p:sp>
        <p:nvSpPr>
          <p:cNvPr id="16" name="Shape 14"/>
          <p:cNvSpPr/>
          <p:nvPr/>
        </p:nvSpPr>
        <p:spPr>
          <a:xfrm>
            <a:off x="7784287" y="2962656"/>
            <a:ext cx="3840480" cy="1097280"/>
          </a:xfrm>
          <a:prstGeom prst="roundRect">
            <a:avLst>
              <a:gd name="adj" fmla="val 5000"/>
            </a:avLst>
          </a:prstGeom>
          <a:solidFill>
            <a:srgbClr val="DBEAFE"/>
          </a:solidFill>
          <a:ln/>
        </p:spPr>
      </p:sp>
      <p:sp>
        <p:nvSpPr>
          <p:cNvPr id="17" name="Shape 15"/>
          <p:cNvSpPr/>
          <p:nvPr/>
        </p:nvSpPr>
        <p:spPr>
          <a:xfrm>
            <a:off x="7784287" y="3017520"/>
            <a:ext cx="36576" cy="987552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18" name="Text 16"/>
          <p:cNvSpPr/>
          <p:nvPr/>
        </p:nvSpPr>
        <p:spPr>
          <a:xfrm>
            <a:off x="7967167" y="3072384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7967167" y="3291840"/>
            <a:ext cx="35112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🔍 건축물대장 조회 미완료 —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크리딜  ·  IM-36300A  ·  4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C8FF00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731520"/>
          </a:xfrm>
          <a:prstGeom prst="rect">
            <a:avLst/>
          </a:prstGeom>
          <a:solidFill>
            <a:srgbClr val="C8FF00"/>
          </a:solidFill>
          <a:ln/>
        </p:spPr>
      </p:sp>
      <p:sp>
        <p:nvSpPr>
          <p:cNvPr id="3" name="Text 1"/>
          <p:cNvSpPr/>
          <p:nvPr/>
        </p:nvSpPr>
        <p:spPr>
          <a:xfrm>
            <a:off x="768096" y="384048"/>
            <a:ext cx="1085667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C8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 Rent Roll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68096" y="585216"/>
            <a:ext cx="1085667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📊 임대 현황과 공실, 실제로 어떤가?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66928" y="1115568"/>
            <a:ext cx="11057839" cy="0"/>
          </a:xfrm>
          <a:prstGeom prst="line">
            <a:avLst/>
          </a:prstGeom>
          <a:noFill/>
          <a:ln w="19050">
            <a:solidFill>
              <a:srgbClr val="C8FF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2011680"/>
            <a:ext cx="11057839" cy="1280160"/>
          </a:xfrm>
          <a:prstGeom prst="roundRect">
            <a:avLst>
              <a:gd name="adj" fmla="val 4286"/>
            </a:avLst>
          </a:prstGeom>
          <a:solidFill>
            <a:srgbClr val="DBEAFE"/>
          </a:solidFill>
          <a:ln/>
        </p:spPr>
      </p:sp>
      <p:sp>
        <p:nvSpPr>
          <p:cNvPr id="7" name="Shape 5"/>
          <p:cNvSpPr/>
          <p:nvPr/>
        </p:nvSpPr>
        <p:spPr>
          <a:xfrm>
            <a:off x="566928" y="2066544"/>
            <a:ext cx="36576" cy="1170432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8" name="Text 6"/>
          <p:cNvSpPr/>
          <p:nvPr/>
        </p:nvSpPr>
        <p:spPr>
          <a:xfrm>
            <a:off x="749808" y="2121408"/>
            <a:ext cx="1072865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D4E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임대 현황 데이터 준비 중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49808" y="2340864"/>
            <a:ext cx="1072865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임대차 현황 데이터는 상세 입력 완료 후 자동으로 업데이트됩니다.</a:t>
            </a:r>
            <a:endParaRPr lang="en-US" sz="930" dirty="0"/>
          </a:p>
        </p:txBody>
      </p:sp>
      <p:sp>
        <p:nvSpPr>
          <p:cNvPr id="10" name="Text 8"/>
          <p:cNvSpPr/>
          <p:nvPr/>
        </p:nvSpPr>
        <p:spPr>
          <a:xfrm>
            <a:off x="566928" y="2212848"/>
            <a:ext cx="1105783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78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🔒 **임대차 상세 현황 자료가 아직 확보되지 않았습니다.**</a:t>
            </a:r>
            <a:endParaRPr lang="en-US" sz="780" dirty="0"/>
          </a:p>
        </p:txBody>
      </p:sp>
      <p:sp>
        <p:nvSpPr>
          <p:cNvPr id="11" name="Shape 9"/>
          <p:cNvSpPr/>
          <p:nvPr/>
        </p:nvSpPr>
        <p:spPr>
          <a:xfrm>
            <a:off x="566928" y="2487168"/>
            <a:ext cx="5437480" cy="1097280"/>
          </a:xfrm>
          <a:prstGeom prst="roundRect">
            <a:avLst>
              <a:gd name="adj" fmla="val 5000"/>
            </a:avLst>
          </a:prstGeom>
          <a:solidFill>
            <a:srgbClr val="DBEAFE"/>
          </a:solidFill>
          <a:ln/>
        </p:spPr>
      </p:sp>
      <p:sp>
        <p:nvSpPr>
          <p:cNvPr id="12" name="Shape 10"/>
          <p:cNvSpPr/>
          <p:nvPr/>
        </p:nvSpPr>
        <p:spPr>
          <a:xfrm>
            <a:off x="566928" y="2542032"/>
            <a:ext cx="36576" cy="987552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13" name="Text 11"/>
          <p:cNvSpPr/>
          <p:nvPr/>
        </p:nvSpPr>
        <p:spPr>
          <a:xfrm>
            <a:off x="749808" y="2596896"/>
            <a:ext cx="5108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49808" y="2816352"/>
            <a:ext cx="51082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🔒 임대차 상세 현황 자료가 아직 확보되지 않았습니다.</a:t>
            </a:r>
            <a:endParaRPr lang="en-US" sz="930" dirty="0"/>
          </a:p>
        </p:txBody>
      </p:sp>
      <p:sp>
        <p:nvSpPr>
          <p:cNvPr id="15" name="Shape 13"/>
          <p:cNvSpPr/>
          <p:nvPr/>
        </p:nvSpPr>
        <p:spPr>
          <a:xfrm>
            <a:off x="6187288" y="2487168"/>
            <a:ext cx="5437480" cy="1097280"/>
          </a:xfrm>
          <a:prstGeom prst="roundRect">
            <a:avLst>
              <a:gd name="adj" fmla="val 5000"/>
            </a:avLst>
          </a:prstGeom>
          <a:solidFill>
            <a:srgbClr val="DBEAFE"/>
          </a:solidFill>
          <a:ln/>
        </p:spPr>
      </p:sp>
      <p:sp>
        <p:nvSpPr>
          <p:cNvPr id="16" name="Shape 14"/>
          <p:cNvSpPr/>
          <p:nvPr/>
        </p:nvSpPr>
        <p:spPr>
          <a:xfrm>
            <a:off x="6187288" y="2542032"/>
            <a:ext cx="36576" cy="987552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17" name="Text 15"/>
          <p:cNvSpPr/>
          <p:nvPr/>
        </p:nvSpPr>
        <p:spPr>
          <a:xfrm>
            <a:off x="6370168" y="2596896"/>
            <a:ext cx="5108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370168" y="2816352"/>
            <a:ext cx="51082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[인명 비공개]게 문의하시면 임대 현황 자료를 제공해 드립니다.</a:t>
            </a:r>
            <a:endParaRPr lang="en-US" sz="930" dirty="0"/>
          </a:p>
        </p:txBody>
      </p:sp>
      <p:sp>
        <p:nvSpPr>
          <p:cNvPr id="19" name="Text 17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크리딜  ·  IM-36300A  ·  5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C8FF00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731520"/>
          </a:xfrm>
          <a:prstGeom prst="rect">
            <a:avLst/>
          </a:prstGeom>
          <a:solidFill>
            <a:srgbClr val="C8FF00"/>
          </a:solidFill>
          <a:ln/>
        </p:spPr>
      </p:sp>
      <p:sp>
        <p:nvSpPr>
          <p:cNvPr id="3" name="Text 1"/>
          <p:cNvSpPr/>
          <p:nvPr/>
        </p:nvSpPr>
        <p:spPr>
          <a:xfrm>
            <a:off x="768096" y="384048"/>
            <a:ext cx="1085667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C8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 Risk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68096" y="585216"/>
            <a:ext cx="1085667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⚠️ 숨은 리스크는 없는가?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66928" y="1115568"/>
            <a:ext cx="11057839" cy="0"/>
          </a:xfrm>
          <a:prstGeom prst="line">
            <a:avLst/>
          </a:prstGeom>
          <a:noFill/>
          <a:ln w="19050">
            <a:solidFill>
              <a:srgbClr val="C8FF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1572768"/>
            <a:ext cx="3503066" cy="3200400"/>
          </a:xfrm>
          <a:prstGeom prst="rect">
            <a:avLst/>
          </a:prstGeom>
          <a:solidFill>
            <a:srgbClr val="F8FAFC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66928" y="1572768"/>
            <a:ext cx="3503066" cy="36576"/>
          </a:xfrm>
          <a:prstGeom prst="rect">
            <a:avLst/>
          </a:prstGeom>
          <a:solidFill>
            <a:srgbClr val="C8FF00"/>
          </a:solidFill>
          <a:ln/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731520"/>
          </a:xfrm>
          <a:prstGeom prst="rect">
            <a:avLst/>
          </a:prstGeom>
          <a:solidFill>
            <a:srgbClr val="C8FF00"/>
          </a:solidFill>
          <a:ln/>
        </p:spPr>
      </p:sp>
      <p:sp>
        <p:nvSpPr>
          <p:cNvPr id="3" name="Text 1"/>
          <p:cNvSpPr/>
          <p:nvPr/>
        </p:nvSpPr>
        <p:spPr>
          <a:xfrm>
            <a:off x="768096" y="384048"/>
            <a:ext cx="1085667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C8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 Disclaimer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68096" y="585216"/>
            <a:ext cx="1085667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표기 기준 및 면책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66928" y="1115568"/>
            <a:ext cx="11057839" cy="0"/>
          </a:xfrm>
          <a:prstGeom prst="line">
            <a:avLst/>
          </a:prstGeom>
          <a:noFill/>
          <a:ln w="19050">
            <a:solidFill>
              <a:srgbClr val="C8FF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517904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 출처 표기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66928" y="1847088"/>
            <a:ext cx="1417320" cy="347472"/>
          </a:xfrm>
          <a:prstGeom prst="roundRect">
            <a:avLst>
              <a:gd name="adj" fmla="val 10526"/>
            </a:avLst>
          </a:prstGeom>
          <a:solidFill>
            <a:srgbClr val="334155"/>
          </a:solidFill>
          <a:ln/>
        </p:spPr>
      </p:sp>
      <p:sp>
        <p:nvSpPr>
          <p:cNvPr id="8" name="Text 6"/>
          <p:cNvSpPr/>
          <p:nvPr/>
        </p:nvSpPr>
        <p:spPr>
          <a:xfrm>
            <a:off x="566928" y="1847088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 공부확인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2139696" y="1828800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등기부·대장 등 공적 장부 직접 확인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504688" y="1847088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1.00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66928" y="2505456"/>
            <a:ext cx="1417320" cy="347472"/>
          </a:xfrm>
          <a:prstGeom prst="roundRect">
            <a:avLst>
              <a:gd name="adj" fmla="val 10526"/>
            </a:avLst>
          </a:prstGeom>
          <a:solidFill>
            <a:srgbClr val="334155"/>
          </a:solidFill>
          <a:ln/>
        </p:spPr>
      </p:sp>
      <p:sp>
        <p:nvSpPr>
          <p:cNvPr id="12" name="Text 10"/>
          <p:cNvSpPr/>
          <p:nvPr/>
        </p:nvSpPr>
        <p:spPr>
          <a:xfrm>
            <a:off x="566928" y="2505456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★ 전문가검증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2139696" y="2487168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세무사·감정평가사 등 전문가 확인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504688" y="2505456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0.95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66928" y="3163824"/>
            <a:ext cx="1417320" cy="347472"/>
          </a:xfrm>
          <a:prstGeom prst="roundRect">
            <a:avLst>
              <a:gd name="adj" fmla="val 10526"/>
            </a:avLst>
          </a:prstGeom>
          <a:solidFill>
            <a:srgbClr val="334155"/>
          </a:solidFill>
          <a:ln/>
        </p:spPr>
      </p:sp>
      <p:sp>
        <p:nvSpPr>
          <p:cNvPr id="16" name="Text 14"/>
          <p:cNvSpPr/>
          <p:nvPr/>
        </p:nvSpPr>
        <p:spPr>
          <a:xfrm>
            <a:off x="566928" y="3163824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▲ 매도인고지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2139696" y="3145536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매도인이 구두 또는 서면으로 고지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504688" y="3163824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0.65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66928" y="3822192"/>
            <a:ext cx="1417320" cy="347472"/>
          </a:xfrm>
          <a:prstGeom prst="roundRect">
            <a:avLst>
              <a:gd name="adj" fmla="val 10526"/>
            </a:avLst>
          </a:prstGeom>
          <a:solidFill>
            <a:srgbClr val="334155"/>
          </a:solidFill>
          <a:ln/>
        </p:spPr>
      </p:sp>
      <p:sp>
        <p:nvSpPr>
          <p:cNvPr id="20" name="Text 18"/>
          <p:cNvSpPr/>
          <p:nvPr/>
        </p:nvSpPr>
        <p:spPr>
          <a:xfrm>
            <a:off x="566928" y="3822192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● 중개인입력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2139696" y="3803904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중개인 현장 조사 및 경험 기반 입력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504688" y="3822192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0.60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66928" y="4480560"/>
            <a:ext cx="1417320" cy="347472"/>
          </a:xfrm>
          <a:prstGeom prst="roundRect">
            <a:avLst>
              <a:gd name="adj" fmla="val 10526"/>
            </a:avLst>
          </a:prstGeom>
          <a:solidFill>
            <a:srgbClr val="334155"/>
          </a:solidFill>
          <a:ln/>
        </p:spPr>
      </p:sp>
      <p:sp>
        <p:nvSpPr>
          <p:cNvPr id="24" name="Text 22"/>
          <p:cNvSpPr/>
          <p:nvPr/>
        </p:nvSpPr>
        <p:spPr>
          <a:xfrm>
            <a:off x="566928" y="4480560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◇ AI추정·가정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2139696" y="4462272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시나리오 분석 및 AI 모델 추정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504688" y="4480560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0.30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492240" y="1517904"/>
            <a:ext cx="5129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면책 조항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492240" y="1847088"/>
            <a:ext cx="5129784" cy="2615184"/>
          </a:xfrm>
          <a:prstGeom prst="roundRect">
            <a:avLst>
              <a:gd name="adj" fmla="val 1399"/>
            </a:avLst>
          </a:prstGeom>
          <a:solidFill>
            <a:srgbClr val="1E293B"/>
          </a:solidFill>
          <a:ln/>
        </p:spPr>
      </p:sp>
      <p:sp>
        <p:nvSpPr>
          <p:cNvPr id="29" name="Text 27"/>
          <p:cNvSpPr/>
          <p:nvPr/>
        </p:nvSpPr>
        <p:spPr>
          <a:xfrm>
            <a:off x="6711696" y="2011680"/>
            <a:ext cx="4690872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 자료는 투자 권유가 아니며, 기재된 정보의 정확성을 보증하지 않습니다.</a:t>
            </a:r>
            <a:endParaRPr lang="en-US" sz="930" dirty="0"/>
          </a:p>
        </p:txBody>
      </p:sp>
      <p:sp>
        <p:nvSpPr>
          <p:cNvPr id="30" name="Shape 28"/>
          <p:cNvSpPr/>
          <p:nvPr/>
        </p:nvSpPr>
        <p:spPr>
          <a:xfrm>
            <a:off x="566928" y="5230368"/>
            <a:ext cx="11057839" cy="640080"/>
          </a:xfrm>
          <a:prstGeom prst="rect">
            <a:avLst/>
          </a:prstGeom>
          <a:solidFill>
            <a:srgbClr val="A3D900"/>
          </a:solidFill>
          <a:ln/>
        </p:spPr>
      </p:sp>
      <p:sp>
        <p:nvSpPr>
          <p:cNvPr id="31" name="Text 29"/>
          <p:cNvSpPr/>
          <p:nvPr/>
        </p:nvSpPr>
        <p:spPr>
          <a:xfrm>
            <a:off x="786384" y="5321808"/>
            <a:ext cx="1061892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FFC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IM-36300A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크리딜  ·  IM-36300A  ·  6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C8FF00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2026-08-12T23:11:14Z</dcterms:created>
  <dcterms:modified xsi:type="dcterms:W3CDTF">2026-08-12T23:11:14Z</dcterms:modified>
</cp:coreProperties>
</file>