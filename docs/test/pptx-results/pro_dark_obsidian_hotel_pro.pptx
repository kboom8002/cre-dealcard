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909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0" y="457200"/>
            <a:ext cx="5486400" cy="5486400"/>
          </a:xfrm>
          <a:prstGeom prst="ellipse">
            <a:avLst/>
          </a:prstGeom>
          <a:solidFill>
            <a:srgbClr val="0C2A30"/>
          </a:solidFill>
          <a:ln/>
        </p:spPr>
      </p:sp>
      <p:sp>
        <p:nvSpPr>
          <p:cNvPr id="3" name="Shape 1"/>
          <p:cNvSpPr/>
          <p:nvPr/>
        </p:nvSpPr>
        <p:spPr>
          <a:xfrm>
            <a:off x="8229600" y="1371600"/>
            <a:ext cx="3657600" cy="3657600"/>
          </a:xfrm>
          <a:prstGeom prst="ellipse">
            <a:avLst/>
          </a:prstGeom>
          <a:solidFill>
            <a:srgbClr val="0E3640"/>
          </a:solidFill>
          <a:ln/>
        </p:spPr>
      </p:sp>
      <p:sp>
        <p:nvSpPr>
          <p:cNvPr id="4" name="Shape 2"/>
          <p:cNvSpPr/>
          <p:nvPr/>
        </p:nvSpPr>
        <p:spPr>
          <a:xfrm>
            <a:off x="8961120" y="2103120"/>
            <a:ext cx="2194560" cy="2194560"/>
          </a:xfrm>
          <a:prstGeom prst="ellipse">
            <a:avLst/>
          </a:prstGeom>
          <a:solidFill>
            <a:srgbClr val="134E5E"/>
          </a:solidFill>
          <a:ln/>
        </p:spPr>
      </p:sp>
      <p:sp>
        <p:nvSpPr>
          <p:cNvPr id="5" name="Text 3"/>
          <p:cNvSpPr/>
          <p:nvPr/>
        </p:nvSpPr>
        <p:spPr>
          <a:xfrm>
            <a:off x="566928" y="47548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</a:t>
            </a:r>
            <a:pPr indent="0" marL="0">
              <a:buNone/>
            </a:pPr>
            <a:r>
              <a:rPr lang="en-US" sz="1500" b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DEAL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66928" y="202996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50" kern="0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INVESTMENT MEMORANDUM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66928" y="2304288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나눔스퀘어" pitchFamily="34" charset="0"/>
                <a:ea typeface="나눔스퀘어" pitchFamily="34" charset="-122"/>
                <a:cs typeface="나눔스퀘어" pitchFamily="34" charset="-120"/>
              </a:rPr>
              <a:t>94실 운영 · 이대역 3분 · 신촌권 호텔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1717A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IM-2C865F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 rot="-1800000">
            <a:off x="1371600" y="2286000"/>
            <a:ext cx="9144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A2636">
                    <a:alpha val="15000"/>
                  </a:srgbClr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CREDEAL · 0000 · 2026-08-12</a:t>
            </a:r>
            <a:endParaRPr lang="en-US" sz="3600" dirty="0"/>
          </a:p>
        </p:txBody>
      </p:sp>
      <p:sp>
        <p:nvSpPr>
          <p:cNvPr id="10" name="Shape 8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09090B"/>
          </a:solidFill>
          <a:ln/>
        </p:spPr>
      </p:sp>
      <p:sp>
        <p:nvSpPr>
          <p:cNvPr id="11" name="Shape 9"/>
          <p:cNvSpPr/>
          <p:nvPr/>
        </p:nvSpPr>
        <p:spPr>
          <a:xfrm>
            <a:off x="0" y="6473952"/>
            <a:ext cx="109728" cy="384048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12" name="Text 10"/>
          <p:cNvSpPr/>
          <p:nvPr/>
        </p:nvSpPr>
        <p:spPr>
          <a:xfrm>
            <a:off x="566928" y="6510528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71717A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IM-2C865F</a:t>
            </a:r>
            <a:endParaRPr lang="en-US" sz="700" dirty="0"/>
          </a:p>
        </p:txBody>
      </p:sp>
      <p:sp>
        <p:nvSpPr>
          <p:cNvPr id="13" name="Text 11"/>
          <p:cNvSpPr/>
          <p:nvPr/>
        </p:nvSpPr>
        <p:spPr>
          <a:xfrm>
            <a:off x="10893247" y="6510528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74320"/>
            <a:ext cx="12191695" cy="914400"/>
          </a:xfrm>
          <a:prstGeom prst="rect">
            <a:avLst/>
          </a:prstGeom>
          <a:solidFill>
            <a:srgbClr val="09090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274320"/>
            <a:ext cx="109728" cy="91440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4" name="Text 2"/>
          <p:cNvSpPr/>
          <p:nvPr/>
        </p:nvSpPr>
        <p:spPr>
          <a:xfrm>
            <a:off x="566928" y="329184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207008" y="329184"/>
            <a:ext cx="1041775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50" kern="0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Summary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207008" y="530352"/>
            <a:ext cx="10417759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나눔스퀘어" pitchFamily="34" charset="0"/>
                <a:ea typeface="나눔스퀘어" pitchFamily="34" charset="-122"/>
                <a:cs typeface="나눔스퀘어" pitchFamily="34" charset="-120"/>
              </a:rPr>
              <a:t>핵심 투자 지표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566928" y="1371600"/>
            <a:ext cx="11057839" cy="1280160"/>
          </a:xfrm>
          <a:prstGeom prst="roundRect">
            <a:avLst>
              <a:gd name="adj" fmla="val 4286"/>
            </a:avLst>
          </a:prstGeom>
          <a:solidFill>
            <a:srgbClr val="FAFAFA"/>
          </a:solidFill>
          <a:ln w="6350">
            <a:solidFill>
              <a:srgbClr val="E4E4E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1499616"/>
            <a:ext cx="1072865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1717A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데이터 등급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731520" y="1682496"/>
            <a:ext cx="1072865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909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 rot="-1800000">
            <a:off x="1371600" y="2286000"/>
            <a:ext cx="9144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E8ECF0">
                    <a:alpha val="15000"/>
                  </a:srgbClr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CREDEAL · 0000 · 2026-08-12</a:t>
            </a:r>
            <a:endParaRPr lang="en-US" sz="3600" dirty="0"/>
          </a:p>
        </p:txBody>
      </p:sp>
      <p:sp>
        <p:nvSpPr>
          <p:cNvPr id="11" name="Shape 9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09090B"/>
          </a:solidFill>
          <a:ln/>
        </p:spPr>
      </p:sp>
      <p:sp>
        <p:nvSpPr>
          <p:cNvPr id="12" name="Shape 10"/>
          <p:cNvSpPr/>
          <p:nvPr/>
        </p:nvSpPr>
        <p:spPr>
          <a:xfrm>
            <a:off x="0" y="6473952"/>
            <a:ext cx="109728" cy="384048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13" name="Text 11"/>
          <p:cNvSpPr/>
          <p:nvPr/>
        </p:nvSpPr>
        <p:spPr>
          <a:xfrm>
            <a:off x="566928" y="6510528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A1A1AA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IM-2C865F</a:t>
            </a:r>
            <a:endParaRPr lang="en-US" sz="700" dirty="0"/>
          </a:p>
        </p:txBody>
      </p:sp>
      <p:sp>
        <p:nvSpPr>
          <p:cNvPr id="14" name="Text 12"/>
          <p:cNvSpPr/>
          <p:nvPr/>
        </p:nvSpPr>
        <p:spPr>
          <a:xfrm>
            <a:off x="10893247" y="6510528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909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74320"/>
            <a:ext cx="12191695" cy="914400"/>
          </a:xfrm>
          <a:prstGeom prst="rect">
            <a:avLst/>
          </a:prstGeom>
          <a:solidFill>
            <a:srgbClr val="2727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274320"/>
            <a:ext cx="109728" cy="91440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4" name="Text 2"/>
          <p:cNvSpPr/>
          <p:nvPr/>
        </p:nvSpPr>
        <p:spPr>
          <a:xfrm>
            <a:off x="566928" y="329184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207008" y="329184"/>
            <a:ext cx="1041775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50" kern="0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Closing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207008" y="530352"/>
            <a:ext cx="10417759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나눔스퀘어" pitchFamily="34" charset="0"/>
                <a:ea typeface="나눔스퀘어" pitchFamily="34" charset="-122"/>
                <a:cs typeface="나눔스퀘어" pitchFamily="34" charset="-120"/>
              </a:rPr>
              <a:t>표기 기준 및 면책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566928" y="1517904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데이터 출처 표기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66928" y="1847088"/>
            <a:ext cx="1417320" cy="347472"/>
          </a:xfrm>
          <a:prstGeom prst="roundRect">
            <a:avLst>
              <a:gd name="adj" fmla="val 10526"/>
            </a:avLst>
          </a:prstGeom>
          <a:solidFill>
            <a:srgbClr val="27272A"/>
          </a:solidFill>
          <a:ln/>
        </p:spPr>
      </p:sp>
      <p:sp>
        <p:nvSpPr>
          <p:cNvPr id="9" name="Text 7"/>
          <p:cNvSpPr/>
          <p:nvPr/>
        </p:nvSpPr>
        <p:spPr>
          <a:xfrm>
            <a:off x="566928" y="1847088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✓ 공부확인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2139696" y="1828800"/>
            <a:ext cx="3566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AFAFA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등기부·대장 등 공적 장부 직접 확인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504688" y="1847088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1.00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66928" y="2505456"/>
            <a:ext cx="1417320" cy="347472"/>
          </a:xfrm>
          <a:prstGeom prst="roundRect">
            <a:avLst>
              <a:gd name="adj" fmla="val 10526"/>
            </a:avLst>
          </a:prstGeom>
          <a:solidFill>
            <a:srgbClr val="27272A"/>
          </a:solidFill>
          <a:ln/>
        </p:spPr>
      </p:sp>
      <p:sp>
        <p:nvSpPr>
          <p:cNvPr id="13" name="Text 11"/>
          <p:cNvSpPr/>
          <p:nvPr/>
        </p:nvSpPr>
        <p:spPr>
          <a:xfrm>
            <a:off x="566928" y="2505456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★ 전문가검증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2139696" y="2487168"/>
            <a:ext cx="3566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AFAFA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세무사·감정평가사 등 전문가 확인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504688" y="2505456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0.95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66928" y="3163824"/>
            <a:ext cx="1417320" cy="347472"/>
          </a:xfrm>
          <a:prstGeom prst="roundRect">
            <a:avLst>
              <a:gd name="adj" fmla="val 10526"/>
            </a:avLst>
          </a:prstGeom>
          <a:solidFill>
            <a:srgbClr val="27272A"/>
          </a:solidFill>
          <a:ln/>
        </p:spPr>
      </p:sp>
      <p:sp>
        <p:nvSpPr>
          <p:cNvPr id="17" name="Text 15"/>
          <p:cNvSpPr/>
          <p:nvPr/>
        </p:nvSpPr>
        <p:spPr>
          <a:xfrm>
            <a:off x="566928" y="3163824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▲ 매도인고지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139696" y="3145536"/>
            <a:ext cx="3566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AFAFA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매도인이 구두 또는 서면으로 고지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504688" y="3163824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0.65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66928" y="3822192"/>
            <a:ext cx="1417320" cy="347472"/>
          </a:xfrm>
          <a:prstGeom prst="roundRect">
            <a:avLst>
              <a:gd name="adj" fmla="val 10526"/>
            </a:avLst>
          </a:prstGeom>
          <a:solidFill>
            <a:srgbClr val="27272A"/>
          </a:solidFill>
          <a:ln/>
        </p:spPr>
      </p:sp>
      <p:sp>
        <p:nvSpPr>
          <p:cNvPr id="21" name="Text 19"/>
          <p:cNvSpPr/>
          <p:nvPr/>
        </p:nvSpPr>
        <p:spPr>
          <a:xfrm>
            <a:off x="566928" y="3822192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● 중개인입력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2139696" y="3803904"/>
            <a:ext cx="3566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AFAFA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중개인 현장 조사 및 경험 기반 입력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5504688" y="3822192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0.60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66928" y="4480560"/>
            <a:ext cx="1417320" cy="347472"/>
          </a:xfrm>
          <a:prstGeom prst="roundRect">
            <a:avLst>
              <a:gd name="adj" fmla="val 10526"/>
            </a:avLst>
          </a:prstGeom>
          <a:solidFill>
            <a:srgbClr val="27272A"/>
          </a:solidFill>
          <a:ln/>
        </p:spPr>
      </p:sp>
      <p:sp>
        <p:nvSpPr>
          <p:cNvPr id="25" name="Text 23"/>
          <p:cNvSpPr/>
          <p:nvPr/>
        </p:nvSpPr>
        <p:spPr>
          <a:xfrm>
            <a:off x="566928" y="4480560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◇ AI추정·가정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2139696" y="4462272"/>
            <a:ext cx="3566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AFAFA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시나리오 분석 및 AI 모델 추정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504688" y="4480560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0.30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492240" y="1517904"/>
            <a:ext cx="51297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면책 조항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492240" y="1847088"/>
            <a:ext cx="5129784" cy="2615184"/>
          </a:xfrm>
          <a:prstGeom prst="roundRect">
            <a:avLst>
              <a:gd name="adj" fmla="val 1399"/>
            </a:avLst>
          </a:prstGeom>
          <a:solidFill>
            <a:srgbClr val="18181B"/>
          </a:solidFill>
          <a:ln/>
        </p:spPr>
      </p:sp>
      <p:sp>
        <p:nvSpPr>
          <p:cNvPr id="30" name="Text 28"/>
          <p:cNvSpPr/>
          <p:nvPr/>
        </p:nvSpPr>
        <p:spPr>
          <a:xfrm>
            <a:off x="6711696" y="2011680"/>
            <a:ext cx="4690872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930" dirty="0">
                <a:solidFill>
                  <a:srgbClr val="A1A1AA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본 자료는 투자 권유가 아니며, 기재된 정보의 정확성을 보증하지 않습니다.</a:t>
            </a:r>
            <a:endParaRPr lang="en-US" sz="930" dirty="0"/>
          </a:p>
        </p:txBody>
      </p:sp>
      <p:sp>
        <p:nvSpPr>
          <p:cNvPr id="31" name="Shape 29"/>
          <p:cNvSpPr/>
          <p:nvPr/>
        </p:nvSpPr>
        <p:spPr>
          <a:xfrm>
            <a:off x="566928" y="5230368"/>
            <a:ext cx="11057839" cy="64008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2" name="Text 30"/>
          <p:cNvSpPr/>
          <p:nvPr/>
        </p:nvSpPr>
        <p:spPr>
          <a:xfrm>
            <a:off x="786384" y="5321808"/>
            <a:ext cx="1061892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FFAFE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IM-2C865F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 rot="-1800000">
            <a:off x="1371600" y="2286000"/>
            <a:ext cx="9144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A2636">
                    <a:alpha val="15000"/>
                  </a:srgbClr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CREDEAL · 0000 · 2026-08-12</a:t>
            </a:r>
            <a:endParaRPr lang="en-US" sz="3600" dirty="0"/>
          </a:p>
        </p:txBody>
      </p:sp>
      <p:sp>
        <p:nvSpPr>
          <p:cNvPr id="34" name="Shape 32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09090B"/>
          </a:solidFill>
          <a:ln/>
        </p:spPr>
      </p:sp>
      <p:sp>
        <p:nvSpPr>
          <p:cNvPr id="35" name="Shape 33"/>
          <p:cNvSpPr/>
          <p:nvPr/>
        </p:nvSpPr>
        <p:spPr>
          <a:xfrm>
            <a:off x="0" y="6473952"/>
            <a:ext cx="109728" cy="384048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36" name="Text 34"/>
          <p:cNvSpPr/>
          <p:nvPr/>
        </p:nvSpPr>
        <p:spPr>
          <a:xfrm>
            <a:off x="566928" y="6510528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71717A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IM-2C865F</a:t>
            </a:r>
            <a:endParaRPr lang="en-US" sz="700" dirty="0"/>
          </a:p>
        </p:txBody>
      </p:sp>
      <p:sp>
        <p:nvSpPr>
          <p:cNvPr id="37" name="Text 35"/>
          <p:cNvSpPr/>
          <p:nvPr/>
        </p:nvSpPr>
        <p:spPr>
          <a:xfrm>
            <a:off x="10893247" y="6510528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2026-08-12T23:11:35Z</dcterms:created>
  <dcterms:modified xsi:type="dcterms:W3CDTF">2026-08-12T23:11:35Z</dcterms:modified>
</cp:coreProperties>
</file>