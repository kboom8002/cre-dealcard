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457200"/>
            <a:ext cx="5486400" cy="5486400"/>
          </a:xfrm>
          <a:prstGeom prst="ellipse">
            <a:avLst/>
          </a:prstGeom>
          <a:solidFill>
            <a:srgbClr val="0C2A3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1371600"/>
            <a:ext cx="3657600" cy="3657600"/>
          </a:xfrm>
          <a:prstGeom prst="ellipse">
            <a:avLst/>
          </a:prstGeom>
          <a:solidFill>
            <a:srgbClr val="0E3640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2103120"/>
            <a:ext cx="2194560" cy="2194560"/>
          </a:xfrm>
          <a:prstGeom prst="ellipse">
            <a:avLst/>
          </a:prstGeom>
          <a:solidFill>
            <a:srgbClr val="134E5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핵심 입지 사무용빌딩 매각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IM-0C054D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IM-0C054D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핵심요약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 자산은 사무용빌딩으로, 임차 수요의 핵심인 업무공간을 기반으로 안정적인 월 임대수익과 장기 현금흐름을 설계할 수 있는 실물자산입니다. 사무용 자산은 업종·[임차인 업종 정보로 대체됨] 구성이 가능한 만큼, 향후 임대차 구조와 공실 관리 전략을 정교화할 경우 수익의 안정성과 임대수익 극대화를 동시에 추구할 수 있는 기반을 갖추고 있습니다.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IM-0C054D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📍 이 입지, 투자할 만한 곳인가?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4" name="Shape 2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5" name="Shape 22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3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IM-0C054D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토지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IM-0C054D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🏢 이 빌딩, 어떤 자산인가?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IM-0C054D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📊 임대 현황과 공실, 실제로 어떤가?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566928" y="22128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56692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2542032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18728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6187288" y="2542032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37016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7016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IM-0C054D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임대안정성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IM-0C054D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💰 수익률이 진짜로 나오는 딜인가?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수익 분석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------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---:---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 총임대수입 (GRI)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월 임대료 × 12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순영업소득 (NOI)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GRI − 공실손실 − 운영비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Gross Yield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 총임대수입 ÷ 매입가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Cap Rate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NOI ÷ 매입가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48879" y="68031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WACC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948879" y="6986016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차입·자기자본 비용의 가중평균</a:t>
            </a:r>
            <a:endParaRPr lang="en-US" sz="2500" dirty="0"/>
          </a:p>
        </p:txBody>
      </p:sp>
      <p:sp>
        <p:nvSpPr>
          <p:cNvPr id="30" name="Text 28"/>
          <p:cNvSpPr/>
          <p:nvPr/>
        </p:nvSpPr>
        <p:spPr>
          <a:xfrm>
            <a:off x="7948879" y="7351776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84287" y="791870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48879" y="804672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개별공시지가 추이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948879" y="822960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연도별 공시지가 비교</a:t>
            </a:r>
            <a:endParaRPr lang="en-US" sz="2500" dirty="0"/>
          </a:p>
        </p:txBody>
      </p:sp>
      <p:sp>
        <p:nvSpPr>
          <p:cNvPr id="34" name="Text 32"/>
          <p:cNvSpPr/>
          <p:nvPr/>
        </p:nvSpPr>
        <p:spPr>
          <a:xfrm>
            <a:off x="7948879" y="859536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7784287" y="916228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48879" y="929030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인플레이션 방어력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948879" y="947318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임대료 상승률·지가 상승률 대비 물가상승률</a:t>
            </a:r>
            <a:endParaRPr lang="en-US" sz="2500" dirty="0"/>
          </a:p>
        </p:txBody>
      </p:sp>
      <p:sp>
        <p:nvSpPr>
          <p:cNvPr id="38" name="Text 36"/>
          <p:cNvSpPr/>
          <p:nvPr/>
        </p:nvSpPr>
        <p:spPr>
          <a:xfrm>
            <a:off x="7948879" y="983894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40" name="Shape 3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IM-0C054D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자본구조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자본구조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WACC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차입·자기자본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가중평균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불가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LTV·금리·자기자본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필요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1" name="Shape 8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IM-0C054D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🎯 왜 지금 이 빌딩을 사야 하는가?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투자 타당성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IM-0C054D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대출 구조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대출 구조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3337560"/>
                <a:gridCol w="3337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항목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값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WACC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차입·자기자본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가중평균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불가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LTV·금리·자기자본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필요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1" name="Shape 8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IM-0C054D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세금 추정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IM-0C054D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⚠️ 숨은 리스크는 없는가?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572768"/>
            <a:ext cx="45720" cy="3200400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📋 검토 후 다음 단계는?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IM-0C054D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8181B"/>
          </a:solidFill>
          <a:ln/>
        </p:spPr>
      </p:sp>
      <p:sp>
        <p:nvSpPr>
          <p:cNvPr id="30" name="Text 28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IM-0C054D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4" name="Shape 3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IM-0C054D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2026-08-12T23:11:34Z</dcterms:created>
  <dcterms:modified xsi:type="dcterms:W3CDTF">2026-08-12T23:11:34Z</dcterms:modified>
</cp:coreProperties>
</file>