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457200"/>
            <a:ext cx="5486400" cy="5486400"/>
          </a:xfrm>
          <a:prstGeom prst="ellipse">
            <a:avLst/>
          </a:prstGeom>
          <a:solidFill>
            <a:srgbClr val="0C2A30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0" y="1371600"/>
            <a:ext cx="3657600" cy="3657600"/>
          </a:xfrm>
          <a:prstGeom prst="ellipse">
            <a:avLst/>
          </a:prstGeom>
          <a:solidFill>
            <a:srgbClr val="0E3640"/>
          </a:solidFill>
          <a:ln/>
        </p:spPr>
      </p:sp>
      <p:sp>
        <p:nvSpPr>
          <p:cNvPr id="4" name="Shape 2"/>
          <p:cNvSpPr/>
          <p:nvPr/>
        </p:nvSpPr>
        <p:spPr>
          <a:xfrm>
            <a:off x="8961120" y="2103120"/>
            <a:ext cx="2194560" cy="2194560"/>
          </a:xfrm>
          <a:prstGeom prst="ellipse">
            <a:avLst/>
          </a:prstGeom>
          <a:solidFill>
            <a:srgbClr val="134E5E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475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indent="0" marL="0">
              <a:buNone/>
            </a:pPr>
            <a:r>
              <a:rPr lang="en-US" sz="15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66928" y="20299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IM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6928" y="2304288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핵심 입지 상가주택 매각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1717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IM-F2A70B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6473952"/>
            <a:ext cx="109728" cy="38404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1717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IM-F2A70B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10893247" y="651052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12191695" cy="914400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0"/>
            <a:ext cx="109728" cy="9144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2918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07008" y="329184"/>
            <a:ext cx="104177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530352"/>
            <a:ext cx="1041775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핵심요약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66928" y="118872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9090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본 자산은 상가주택으로, 상업시설과 주거 기능을 결합한 복합 수익형 부동산입니다. 상가 임대수익과 주거 임대수요를 함께 확보할 수 있는 구조로, 단일 용도 자산 대비 임차수요 분산 및 안정적인 현금흐름 관리에 유리합니다.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66928" y="1691640"/>
            <a:ext cx="11057839" cy="0"/>
          </a:xfrm>
          <a:prstGeom prst="line">
            <a:avLst/>
          </a:prstGeom>
          <a:noFill/>
          <a:ln w="19050">
            <a:solidFill>
              <a:srgbClr val="06B6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" y="1965960"/>
            <a:ext cx="11057839" cy="1280160"/>
          </a:xfrm>
          <a:prstGeom prst="roundRect">
            <a:avLst>
              <a:gd name="adj" fmla="val 4286"/>
            </a:avLst>
          </a:prstGeom>
          <a:solidFill>
            <a:srgbClr val="FAFAFA"/>
          </a:solidFill>
          <a:ln w="6350">
            <a:solidFill>
              <a:srgbClr val="E4E4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093976"/>
            <a:ext cx="107286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717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데이터 등급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31520" y="2276856"/>
            <a:ext cx="1072865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6473952"/>
            <a:ext cx="109728" cy="38404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1A1A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IM-F2A70B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10893247" y="651052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12191695" cy="914400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0"/>
            <a:ext cx="109728" cy="9144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2918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07008" y="329184"/>
            <a:ext cx="104177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530352"/>
            <a:ext cx="1041775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📍 이 입지, 투자할 만한 곳인가?</a:t>
            </a:r>
            <a:endParaRPr lang="en-US" sz="24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5120640" cy="41148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053328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9090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입지 / 접근성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053328" y="1801368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1717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입지 정보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170475" y="1801368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9090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입지 / 접근성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053328" y="2148840"/>
            <a:ext cx="5571439" cy="0"/>
          </a:xfrm>
          <a:prstGeom prst="line">
            <a:avLst/>
          </a:prstGeom>
          <a:noFill/>
          <a:ln w="3810">
            <a:solidFill>
              <a:srgbClr val="E4E4E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053328" y="2148840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1717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입지 정보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170475" y="2148840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9090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본 자산은 상가주택으로서 상업 기능과 주거 기능을 함께 수용할 수 있어, 생활밀착…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053328" y="2496312"/>
            <a:ext cx="5571439" cy="0"/>
          </a:xfrm>
          <a:prstGeom prst="line">
            <a:avLst/>
          </a:prstGeom>
          <a:noFill/>
          <a:ln w="3810">
            <a:solidFill>
              <a:srgbClr val="E4E4E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053328" y="2496312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1717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입지 정보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170475" y="2496312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9090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향후에는 주변 권역의 유동인구·배후주거·생활 인프라를 기반으로 1층 상가의 집객력…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18" name="Shape 15"/>
          <p:cNvSpPr/>
          <p:nvPr/>
        </p:nvSpPr>
        <p:spPr>
          <a:xfrm>
            <a:off x="0" y="6473952"/>
            <a:ext cx="109728" cy="38404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9" name="Text 16"/>
          <p:cNvSpPr/>
          <p:nvPr/>
        </p:nvSpPr>
        <p:spPr>
          <a:xfrm>
            <a:off x="566928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1A1A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IM-F2A70B</a:t>
            </a:r>
            <a:endParaRPr lang="en-US" sz="700" dirty="0"/>
          </a:p>
        </p:txBody>
      </p:sp>
      <p:sp>
        <p:nvSpPr>
          <p:cNvPr id="20" name="Text 17"/>
          <p:cNvSpPr/>
          <p:nvPr/>
        </p:nvSpPr>
        <p:spPr>
          <a:xfrm>
            <a:off x="10893247" y="651052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12191695" cy="914400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0"/>
            <a:ext cx="109728" cy="9144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2918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07008" y="329184"/>
            <a:ext cx="104177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530352"/>
            <a:ext cx="1041775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🏢 이 건물, 어떤 자산인가?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9090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자산 개요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66928" y="2011680"/>
            <a:ext cx="6858000" cy="1280160"/>
          </a:xfrm>
          <a:prstGeom prst="roundRect">
            <a:avLst>
              <a:gd name="adj" fmla="val 4286"/>
            </a:avLst>
          </a:prstGeom>
          <a:solidFill>
            <a:srgbClr val="DBEAFE"/>
          </a:solidFill>
          <a:ln/>
        </p:spPr>
      </p:sp>
      <p:sp>
        <p:nvSpPr>
          <p:cNvPr id="9" name="Shape 7"/>
          <p:cNvSpPr/>
          <p:nvPr/>
        </p:nvSpPr>
        <p:spPr>
          <a:xfrm>
            <a:off x="566928" y="2066544"/>
            <a:ext cx="36576" cy="1170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749808" y="2121408"/>
            <a:ext cx="6528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82F6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데이터 업데이트 예정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49808" y="2340864"/>
            <a:ext cx="652881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9090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상세 건물 정보는 건축물대장 조회 완료 후 자동으로 업데이트됩니다.</a:t>
            </a:r>
            <a:endParaRPr lang="en-US" sz="930" dirty="0"/>
          </a:p>
        </p:txBody>
      </p:sp>
      <p:sp>
        <p:nvSpPr>
          <p:cNvPr id="12" name="Shape 10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06B6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6473952"/>
            <a:ext cx="109728" cy="38404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5" name="Text 13"/>
          <p:cNvSpPr/>
          <p:nvPr/>
        </p:nvSpPr>
        <p:spPr>
          <a:xfrm>
            <a:off x="566928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1A1A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IM-F2A70B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10893247" y="651052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12191695" cy="914400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0"/>
            <a:ext cx="109728" cy="9144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2918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07008" y="329184"/>
            <a:ext cx="104177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Rent Roll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530352"/>
            <a:ext cx="1041775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📊 임대 현황과 공실, 실제로 어떤가?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66928" y="2011680"/>
            <a:ext cx="11057839" cy="1280160"/>
          </a:xfrm>
          <a:prstGeom prst="roundRect">
            <a:avLst>
              <a:gd name="adj" fmla="val 4286"/>
            </a:avLst>
          </a:prstGeom>
          <a:solidFill>
            <a:srgbClr val="DBEAFE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2066544"/>
            <a:ext cx="36576" cy="1170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2121408"/>
            <a:ext cx="107286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82F6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임대 현황 데이터 준비 중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9808" y="2340864"/>
            <a:ext cx="1072865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9090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임대차 현황 데이터는 상세 입력 완료 후 자동으로 업데이트됩니다.</a:t>
            </a:r>
            <a:endParaRPr lang="en-US" sz="930" dirty="0"/>
          </a:p>
        </p:txBody>
      </p:sp>
      <p:sp>
        <p:nvSpPr>
          <p:cNvPr id="11" name="Shape 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6473952"/>
            <a:ext cx="109728" cy="38404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3" name="Text 11"/>
          <p:cNvSpPr/>
          <p:nvPr/>
        </p:nvSpPr>
        <p:spPr>
          <a:xfrm>
            <a:off x="566928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1A1A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IM-F2A70B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10893247" y="651052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12191695" cy="914400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0"/>
            <a:ext cx="109728" cy="9144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2918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07008" y="329184"/>
            <a:ext cx="104177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530352"/>
            <a:ext cx="1041775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⚠️ 숨은 리스크는 없는가?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66928" y="1572768"/>
            <a:ext cx="3503066" cy="3200400"/>
          </a:xfrm>
          <a:prstGeom prst="rect">
            <a:avLst/>
          </a:prstGeom>
          <a:solidFill>
            <a:srgbClr val="FAFAFA"/>
          </a:solidFill>
          <a:ln w="3810">
            <a:solidFill>
              <a:srgbClr val="E4E4E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572768"/>
            <a:ext cx="45720" cy="3200400"/>
          </a:xfrm>
          <a:prstGeom prst="rect">
            <a:avLst/>
          </a:prstGeom>
          <a:solidFill>
            <a:srgbClr val="06B6D4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12191695" cy="914400"/>
          </a:xfrm>
          <a:prstGeom prst="rect">
            <a:avLst/>
          </a:prstGeom>
          <a:solidFill>
            <a:srgbClr val="272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0"/>
            <a:ext cx="109728" cy="9144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2918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07008" y="329184"/>
            <a:ext cx="104177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Disclaimer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530352"/>
            <a:ext cx="1041775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표기 기준 및 면책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66928" y="151790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66928" y="1847088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7272A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184708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✓ 공부확인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139696" y="182880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AFAF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등기부·대장 등 공적 장부 직접 확인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504688" y="184708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6928" y="2505456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7272A"/>
          </a:solidFill>
          <a:ln/>
        </p:spPr>
      </p:sp>
      <p:sp>
        <p:nvSpPr>
          <p:cNvPr id="13" name="Text 11"/>
          <p:cNvSpPr/>
          <p:nvPr/>
        </p:nvSpPr>
        <p:spPr>
          <a:xfrm>
            <a:off x="566928" y="2505456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★ 전문가검증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139696" y="248716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AFAF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세무사·감정평가사 등 전문가 확인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504688" y="250545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0.95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6928" y="3163824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7272A"/>
          </a:solidFill>
          <a:ln/>
        </p:spPr>
      </p:sp>
      <p:sp>
        <p:nvSpPr>
          <p:cNvPr id="17" name="Text 15"/>
          <p:cNvSpPr/>
          <p:nvPr/>
        </p:nvSpPr>
        <p:spPr>
          <a:xfrm>
            <a:off x="566928" y="316382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▲ 매도인고지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139696" y="3145536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AFAF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매도인이 구두 또는 서면으로 고지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504688" y="3163824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0.65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66928" y="3822192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7272A"/>
          </a:solidFill>
          <a:ln/>
        </p:spPr>
      </p:sp>
      <p:sp>
        <p:nvSpPr>
          <p:cNvPr id="21" name="Text 19"/>
          <p:cNvSpPr/>
          <p:nvPr/>
        </p:nvSpPr>
        <p:spPr>
          <a:xfrm>
            <a:off x="566928" y="382219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● 중개인입력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139696" y="3803904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AFAF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중개인 현장 조사 및 경험 기반 입력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504688" y="382219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0.60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66928" y="4480560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7272A"/>
          </a:solidFill>
          <a:ln/>
        </p:spPr>
      </p:sp>
      <p:sp>
        <p:nvSpPr>
          <p:cNvPr id="25" name="Text 23"/>
          <p:cNvSpPr/>
          <p:nvPr/>
        </p:nvSpPr>
        <p:spPr>
          <a:xfrm>
            <a:off x="566928" y="448056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◇ AI추정·가정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139696" y="4462272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AFAF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시나리오 분석 및 AI 모델 추정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504688" y="448056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0.30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92240" y="1517904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92240" y="1847088"/>
            <a:ext cx="5129784" cy="2615184"/>
          </a:xfrm>
          <a:prstGeom prst="roundRect">
            <a:avLst>
              <a:gd name="adj" fmla="val 1399"/>
            </a:avLst>
          </a:prstGeom>
          <a:solidFill>
            <a:srgbClr val="18181B"/>
          </a:solidFill>
          <a:ln/>
        </p:spPr>
      </p:sp>
      <p:sp>
        <p:nvSpPr>
          <p:cNvPr id="30" name="Text 28"/>
          <p:cNvSpPr/>
          <p:nvPr/>
        </p:nvSpPr>
        <p:spPr>
          <a:xfrm>
            <a:off x="6711696" y="2011680"/>
            <a:ext cx="46908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A1A1A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본 자료는 투자 권유가 아니며, 기재된 정보의 정확성을 보증하지 않습니다.</a:t>
            </a:r>
            <a:endParaRPr lang="en-US" sz="930" dirty="0"/>
          </a:p>
        </p:txBody>
      </p:sp>
      <p:sp>
        <p:nvSpPr>
          <p:cNvPr id="31" name="Shape 29"/>
          <p:cNvSpPr/>
          <p:nvPr/>
        </p:nvSpPr>
        <p:spPr>
          <a:xfrm>
            <a:off x="566928" y="5230368"/>
            <a:ext cx="11057839" cy="6400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2" name="Text 30"/>
          <p:cNvSpPr/>
          <p:nvPr/>
        </p:nvSpPr>
        <p:spPr>
          <a:xfrm>
            <a:off x="786384" y="5321808"/>
            <a:ext cx="106189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FFAFE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IM-F2A70B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34" name="Shape 32"/>
          <p:cNvSpPr/>
          <p:nvPr/>
        </p:nvSpPr>
        <p:spPr>
          <a:xfrm>
            <a:off x="0" y="6473952"/>
            <a:ext cx="109728" cy="38404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5" name="Text 33"/>
          <p:cNvSpPr/>
          <p:nvPr/>
        </p:nvSpPr>
        <p:spPr>
          <a:xfrm>
            <a:off x="566928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1717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IM-F2A70B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10893247" y="651052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2026-08-12T23:11:30Z</dcterms:created>
  <dcterms:modified xsi:type="dcterms:W3CDTF">2026-08-12T23:11:30Z</dcterms:modified>
</cp:coreProperties>
</file>