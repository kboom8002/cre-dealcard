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457200"/>
            <a:ext cx="5486400" cy="5486400"/>
          </a:xfrm>
          <a:prstGeom prst="ellipse">
            <a:avLst/>
          </a:prstGeom>
          <a:solidFill>
            <a:srgbClr val="0C2A30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1371600"/>
            <a:ext cx="3657600" cy="3657600"/>
          </a:xfrm>
          <a:prstGeom prst="ellipse">
            <a:avLst/>
          </a:prstGeom>
          <a:solidFill>
            <a:srgbClr val="0E3640"/>
          </a:solidFill>
          <a:ln/>
        </p:spPr>
      </p:sp>
      <p:sp>
        <p:nvSpPr>
          <p:cNvPr id="4" name="Shape 2"/>
          <p:cNvSpPr/>
          <p:nvPr/>
        </p:nvSpPr>
        <p:spPr>
          <a:xfrm>
            <a:off x="8961120" y="2103120"/>
            <a:ext cx="2194560" cy="2194560"/>
          </a:xfrm>
          <a:prstGeom prst="ellipse">
            <a:avLst/>
          </a:prstGeom>
          <a:solidFill>
            <a:srgbClr val="134E5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입지 상가주택 매각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IM-F2A70B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IM-F2A70B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상가주택으로, 상업시설과 주거 기능을 결합한 복합 수익형 부동산입니다. 상가 임대수익과 주거 임대수요를 함께 확보할 수 있는 구조로, 단일 용도 자산 대비 임차수요 분산 및 안정적인 현금흐름 관리에 유리합니다.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IM-F2A70B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입지, 투자할 만한 곳인가?</a:t>
            </a:r>
            <a:endParaRPr lang="en-US" sz="2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/ 접근성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/ 접근성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상가주택으로서 상업 기능과 주거 기능을 함께 수용할 수 있어, 생활밀착…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향후에는 주변 권역의 유동인구·배후주거·생활 인프라를 기반으로 1층 상가의 집객력…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18" name="Shap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9" name="Shape 16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0" name="Text 17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IM-F2A70B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IM-F2A70B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건물, 어떤 자산인가?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개요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IM-F2A70B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현황과 공실, 실제로 어떤가?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현황 데이터 준비 중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107286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현황 데이터는 상세 입력 완료 후 자동으로 업데이트됩니다.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IM-F2A70B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임대안정성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현황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IM-F2A70B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수익률이 진짜로 나오는 딜인가?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분석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------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---:---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6B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총임대수입 (GRI)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임대료 × 12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공실손실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GRI × 공실률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순영업소득 (NOI)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GRI − 공실손실 − 운영비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Gross Yield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총임대수입 ÷ 매입가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48879" y="6803136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Cap Rate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948879" y="6986016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NOI ÷ 매입가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948879" y="7351776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7784287" y="791870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48879" y="804672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WACC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948879" y="822960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타인자본·자기자본 비용의 가중평균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948879" y="859536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7784287" y="916228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48879" y="929030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개별공시지가 추이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948879" y="947318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연도별 공시지가 증감률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948879" y="983894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7784287" y="1040587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48879" y="1053388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인플레이션 방어력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948879" y="1071676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임대료 상승률 및 공시지가 상승률 비교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948879" y="1108252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불가</a:t>
            </a:r>
            <a:endParaRPr lang="en-US" sz="880" dirty="0"/>
          </a:p>
        </p:txBody>
      </p:sp>
      <p:sp>
        <p:nvSpPr>
          <p:cNvPr id="43" name="Text 4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44" name="Shape 4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6" name="Text 44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IM-F2A70B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자본구조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51790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자본구조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10512"/>
          <a:ext cx="6675120" cy="914400"/>
        </p:xfrm>
        <a:graphic>
          <a:graphicData uri="http://schemas.openxmlformats.org/drawingml/2006/table">
            <a:tbl>
              <a:tblPr/>
              <a:tblGrid>
                <a:gridCol w="1668780"/>
                <a:gridCol w="1668780"/>
                <a:gridCol w="1668780"/>
                <a:gridCol w="16687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71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WACC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71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타인자본·자기자본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71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비용의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71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가중평균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71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71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불가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71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LTV,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71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차입금리,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71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자기자본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71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조건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71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필요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1" name="Shape 8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9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IM-F2A70B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지금 이 건물을 사야 하는가?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건물을 사야 하는 이유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상가 전문 임대 운영사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⭐⭐⭐⭐⭐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04825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자산가 임대수익 목적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72968" y="2048256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⭐⭐⭐⭐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2395728"/>
            <a:ext cx="6858000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3957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프랜차이즈 본사 직매장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72968" y="239572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⭐⭐⭐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18" name="Shap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IM-F2A70B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대출 구조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51790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대출 구조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10512"/>
          <a:ext cx="6675120" cy="914400"/>
        </p:xfrm>
        <a:graphic>
          <a:graphicData uri="http://schemas.openxmlformats.org/drawingml/2006/table">
            <a:tbl>
              <a:tblPr/>
              <a:tblGrid>
                <a:gridCol w="3337560"/>
                <a:gridCol w="33375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71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71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값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WACC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타인자본·자기자본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비용의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가중평균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불가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LTV,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차입금리,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자기자본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조건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필요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1" name="Shape 8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9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IM-F2A70B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세금 추정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IM-F2A70B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️ 숨은 리스크는 없는가?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3503066" cy="3200400"/>
          </a:xfrm>
          <a:prstGeom prst="rect">
            <a:avLst/>
          </a:prstGeom>
          <a:solidFill>
            <a:srgbClr val="FAFAFA"/>
          </a:solidFill>
          <a:ln w="3810">
            <a:solidFill>
              <a:srgbClr val="E4E4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572768"/>
            <a:ext cx="45720" cy="3200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🔵 준공연도 확인 권장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9808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4314" y="1572768"/>
            <a:ext cx="3503066" cy="3200400"/>
          </a:xfrm>
          <a:prstGeom prst="rect">
            <a:avLst/>
          </a:prstGeom>
          <a:solidFill>
            <a:srgbClr val="FAFAFA"/>
          </a:solidFill>
          <a:ln w="3810">
            <a:solidFill>
              <a:srgbClr val="E4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4314" y="1572768"/>
            <a:ext cx="45720" cy="3200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4527194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🔵 석면 조사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27194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 시기 자재 확인 권장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27194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21701" y="1572768"/>
            <a:ext cx="3503066" cy="3200400"/>
          </a:xfrm>
          <a:prstGeom prst="rect">
            <a:avLst/>
          </a:prstGeom>
          <a:solidFill>
            <a:srgbClr val="FAFAFA"/>
          </a:solidFill>
          <a:ln w="3810">
            <a:solidFill>
              <a:srgbClr val="E4E4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21701" y="1572768"/>
            <a:ext cx="45720" cy="3200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8304581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🔵 용도지역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04581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필요 / 중복지구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04581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5047488"/>
            <a:ext cx="11057839" cy="896112"/>
          </a:xfrm>
          <a:prstGeom prst="rect">
            <a:avLst/>
          </a:prstGeom>
          <a:solidFill>
            <a:srgbClr val="FAFAFA"/>
          </a:solidFill>
          <a:ln w="3810">
            <a:solidFill>
              <a:srgbClr val="E4E4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5047488"/>
            <a:ext cx="45720" cy="89611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5230368"/>
            <a:ext cx="106920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🔶 우선 확인 | 🔵 일반 확인 | 공법 규제 세부 내용은 관할 관청 및 전문가 확인이 필요합니다.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26" name="Shape 2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IM-F2A70B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 후 다음 단계는?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IM-F2A70B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8181B"/>
          </a:solidFill>
          <a:ln/>
        </p:spPr>
      </p:sp>
      <p:sp>
        <p:nvSpPr>
          <p:cNvPr id="30" name="Text 28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F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IM-F2A70B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34" name="Shape 3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IM-F2A70B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2026-08-13T01:32:34Z</dcterms:created>
  <dcterms:modified xsi:type="dcterms:W3CDTF">2026-08-13T01:32:34Z</dcterms:modified>
</cp:coreProperties>
</file>