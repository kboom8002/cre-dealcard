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4" name="Shape 1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5" name="Shape 2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서초동 역세권 160억대 메디컬 빌딩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73936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3" name="Text 10"/>
          <p:cNvSpPr/>
          <p:nvPr/>
        </p:nvSpPr>
        <p:spPr>
          <a:xfrm>
            <a:off x="1773936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160억대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160억대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PRIME PARTNERS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김수석 자산관리위원  |  CREDEAL PRIME PARTNERS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사진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71600"/>
            <a:ext cx="5474056" cy="23225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3438144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438144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서초대로 25m 메인 도로변 외관 전경</a:t>
            </a:r>
            <a:endParaRPr lang="en-US" sz="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0712" y="1371600"/>
            <a:ext cx="5474056" cy="232257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150712" y="3438144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6223864" y="3438144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대형 약국 및 메디컬 로비</a:t>
            </a:r>
            <a:endParaRPr lang="en-US" sz="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3803904"/>
            <a:ext cx="5474056" cy="232257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66928" y="5870448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640080" y="5870448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3층 안과·피부과 전문의원 내부 인테리어</a:t>
            </a:r>
            <a:endParaRPr lang="en-US" sz="7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0712" y="3803904"/>
            <a:ext cx="5474056" cy="232257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50712" y="5870448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6223864" y="5870448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자주식 18대 전용 주차장 및 옥상 휴게공간</a:t>
            </a:r>
            <a:endParaRPr lang="en-US" sz="750" dirty="0"/>
          </a:p>
        </p:txBody>
      </p:sp>
      <p:sp>
        <p:nvSpPr>
          <p:cNvPr id="18" name="Text 1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13834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78426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78426" y="1682496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서초권역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060741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5333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자산유형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5333" y="1682496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및 도로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접근성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강남역·양재역 도보 4분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53328" y="224028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40280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 접면 조건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70475" y="2240280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서초대로 25m 접면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053328" y="267919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679192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차량 진출입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170475" y="2679192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경부고속도로 서초IC 및 테헤란로 3분 내 진입 가능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053328" y="311810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118104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170475" y="3118104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 테헤란로 IT밸리 및 서초 법조타운 오피스 상주인구 30만 배후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053328" y="355701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557016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의료 상권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170475" y="3557016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약국 및 상층부 안과·피부과 전문의원 집적 의료 특화 상권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빌딩, 어떤 자산인가?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서초권역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용도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 / 메디컬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2,052㎡ (620.8평)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471㎡ (142.5평)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2층 ~ 지상 7층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40599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05993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172968" y="40599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1대 (15인승 침대용)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66928" y="446227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대수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172968" y="446227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18대 (자주식 완비)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66928" y="48646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86460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준공년도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172968" y="486460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2017년 (9년 경과)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66928" y="526694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526694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주구조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172968" y="526694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철근콘크리트구조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4287" y="1645920"/>
            <a:ext cx="3840480" cy="3017520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7784287" y="4800600"/>
            <a:ext cx="3840480" cy="1325880"/>
          </a:xfrm>
          <a:prstGeom prst="roundRect">
            <a:avLst>
              <a:gd name="adj" fmla="val 4138"/>
            </a:avLst>
          </a:prstGeom>
          <a:solidFill>
            <a:srgbClr val="BEE3F8"/>
          </a:solidFill>
          <a:ln/>
        </p:spPr>
      </p:sp>
      <p:sp>
        <p:nvSpPr>
          <p:cNvPr id="39" name="Shape 36"/>
          <p:cNvSpPr/>
          <p:nvPr/>
        </p:nvSpPr>
        <p:spPr>
          <a:xfrm>
            <a:off x="7784287" y="4855464"/>
            <a:ext cx="36576" cy="12161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0" name="Text 37"/>
          <p:cNvSpPr/>
          <p:nvPr/>
        </p:nvSpPr>
        <p:spPr>
          <a:xfrm>
            <a:off x="7967167" y="4910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7967167" y="5129784"/>
            <a:ext cx="35112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서초권역 대로변 입지의 우량 메디컬 테넌트 만실 운영 자산입니다.</a:t>
            </a:r>
            <a:endParaRPr lang="en-US" sz="930" dirty="0"/>
          </a:p>
        </p:txBody>
      </p:sp>
      <p:sp>
        <p:nvSpPr>
          <p:cNvPr id="42" name="Text 3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현황과 공실, 실제로 어떤가?</a:t>
            </a:r>
            <a:endParaRPr lang="en-US" sz="2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442327"/>
                <a:gridCol w="2403878"/>
                <a:gridCol w="2403878"/>
                <a:gridCol w="2403878"/>
                <a:gridCol w="240387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임차인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업종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보증금(원)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임대료(원)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만기일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대형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문전약국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(직영)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300,000,000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2028-12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메디컬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안과의원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8,500,000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2029-05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피부과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전문의원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8,500,000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2029-05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정형외과·통증의학과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7,500,000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2028-10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치과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클리닉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7,500,000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2028-10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6~7층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어학원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법인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사옥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250,000,000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12,500,000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2027-06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만실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(공실률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0.0%)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1,150,000,000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59,500,000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WALE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3.5년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157216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03066" cy="4023360"/>
          </a:xfrm>
          <a:prstGeom prst="roundRect">
            <a:avLst>
              <a:gd name="adj" fmla="val 156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63040"/>
            <a:ext cx="3503066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6420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물리적 하드웨어 실사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93392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95528" y="2423160"/>
            <a:ext cx="304586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건물 상태: 2017년 준공 신축급 건물로 누수·균열 결함 0건 (정밀안전진단 A등급)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승강기 및 설비: 15인승 침대용 승강기 완비 및 중앙/개별 냉난방 설비 양호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주차 시설: 18대 전용 주차장 완비로 병의원 내원 환자 주차 민원 제로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4314" y="1463040"/>
            <a:ext cx="3503066" cy="4023360"/>
          </a:xfrm>
          <a:prstGeom prst="roundRect">
            <a:avLst>
              <a:gd name="adj" fmla="val 156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463040"/>
            <a:ext cx="3503066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914" y="166420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테넌트 및 임대차 권리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914" y="1993392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리스크 극소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572914" y="2423160"/>
            <a:ext cx="304586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이탈 리스크 극소: 1층 약국 및 상층부 병의원 인테리어 투자비(호실당 5억 이상)로 장기 존속 확정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계약 안정성: 평균 잔여 임대기간 WALE 3.5년 확보 및 임대료 연체 이력 0건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명도 리스크: 전층 정상 임대차 상태로 분쟁 및 소송 이력 없음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1701" y="1463040"/>
            <a:ext cx="3503066" cy="4023360"/>
          </a:xfrm>
          <a:prstGeom prst="roundRect">
            <a:avLst>
              <a:gd name="adj" fmla="val 156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1701" y="1463040"/>
            <a:ext cx="3503066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8" name="Text 16"/>
          <p:cNvSpPr/>
          <p:nvPr/>
        </p:nvSpPr>
        <p:spPr>
          <a:xfrm>
            <a:off x="8350301" y="166420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권리관계 및 금융 구조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50301" y="1993392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소유권 상태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350301" y="2423160"/>
            <a:ext cx="304586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소유권 상태: 단독 법인 소유로 권리관계 100% 투명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제한물권: 근저당권 외 가압류/가처분 일체 없음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대출 승계: 기존 담보대출 85억원(연 4.1%) 1금융권 승계 심사 적격 판정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5760720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943600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양호 | 세부 계약서 및 등기사항증명서는 LOI 접수 후 원본 열람 가능합니다.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PRIME PARTNERS · CRE-2026-MED-01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2026-08-15T04:39:56Z</dcterms:created>
  <dcterms:modified xsi:type="dcterms:W3CDTF">2026-08-15T04:39:56Z</dcterms:modified>
</cp:coreProperties>
</file>