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0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0" y="0"/>
            <a:ext cx="4419295" cy="6858000"/>
          </a:xfrm>
          <a:prstGeom prst="rect">
            <a:avLst/>
          </a:prstGeom>
          <a:solidFill>
            <a:srgbClr val="2A2118"/>
          </a:solidFill>
          <a:ln/>
        </p:spPr>
      </p:sp>
      <p:sp>
        <p:nvSpPr>
          <p:cNvPr id="3" name="Shape 1"/>
          <p:cNvSpPr/>
          <p:nvPr/>
        </p:nvSpPr>
        <p:spPr>
          <a:xfrm>
            <a:off x="8778240" y="731520"/>
            <a:ext cx="2926080" cy="2377440"/>
          </a:xfrm>
          <a:prstGeom prst="rect">
            <a:avLst/>
          </a:prstGeom>
          <a:solidFill>
            <a:srgbClr val="3D2E1A"/>
          </a:solidFill>
          <a:ln/>
        </p:spPr>
      </p:sp>
      <p:sp>
        <p:nvSpPr>
          <p:cNvPr id="4" name="Shape 2"/>
          <p:cNvSpPr/>
          <p:nvPr/>
        </p:nvSpPr>
        <p:spPr>
          <a:xfrm>
            <a:off x="8138160" y="3657600"/>
            <a:ext cx="3474720" cy="2560320"/>
          </a:xfrm>
          <a:prstGeom prst="rect">
            <a:avLst/>
          </a:prstGeom>
          <a:solidFill>
            <a:srgbClr val="33271A"/>
          </a:solidFill>
          <a:ln/>
        </p:spPr>
      </p:sp>
      <p:sp>
        <p:nvSpPr>
          <p:cNvPr id="5" name="Shape 3"/>
          <p:cNvSpPr/>
          <p:nvPr/>
        </p:nvSpPr>
        <p:spPr>
          <a:xfrm>
            <a:off x="8503920" y="365760"/>
            <a:ext cx="0" cy="6126480"/>
          </a:xfrm>
          <a:prstGeom prst="line">
            <a:avLst/>
          </a:prstGeom>
          <a:noFill/>
          <a:ln w="10160">
            <a:solidFill>
              <a:srgbClr val="B98A2E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75320" y="0"/>
            <a:ext cx="1417320" cy="4041648"/>
          </a:xfrm>
          <a:prstGeom prst="rect">
            <a:avLst/>
          </a:prstGeom>
          <a:solidFill>
            <a:srgbClr val="1A2030"/>
          </a:solidFill>
          <a:ln/>
        </p:spPr>
      </p:sp>
      <p:sp>
        <p:nvSpPr>
          <p:cNvPr id="7" name="Shape 5"/>
          <p:cNvSpPr/>
          <p:nvPr/>
        </p:nvSpPr>
        <p:spPr>
          <a:xfrm>
            <a:off x="9784080" y="868680"/>
            <a:ext cx="1143000" cy="3172968"/>
          </a:xfrm>
          <a:prstGeom prst="rect">
            <a:avLst/>
          </a:prstGeom>
          <a:solidFill>
            <a:srgbClr val="161D2B"/>
          </a:solidFill>
          <a:ln/>
        </p:spPr>
      </p:sp>
      <p:sp>
        <p:nvSpPr>
          <p:cNvPr id="8" name="Shape 6"/>
          <p:cNvSpPr/>
          <p:nvPr/>
        </p:nvSpPr>
        <p:spPr>
          <a:xfrm>
            <a:off x="11018520" y="1691640"/>
            <a:ext cx="1170432" cy="2350008"/>
          </a:xfrm>
          <a:prstGeom prst="rect">
            <a:avLst/>
          </a:prstGeom>
          <a:solidFill>
            <a:srgbClr val="2E2718"/>
          </a:solidFill>
          <a:ln/>
        </p:spPr>
      </p:sp>
      <p:sp>
        <p:nvSpPr>
          <p:cNvPr id="9" name="Text 7"/>
          <p:cNvSpPr/>
          <p:nvPr/>
        </p:nvSpPr>
        <p:spPr>
          <a:xfrm>
            <a:off x="566928" y="475488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</a:t>
            </a:r>
            <a:pPr indent="0" marL="0">
              <a:buNone/>
            </a:pPr>
            <a:r>
              <a:rPr lang="en-US" sz="15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DEAL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566928" y="202996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5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 MEMORANDUM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566928" y="2304288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development 포스처 테스트 문서</a:t>
            </a:r>
            <a:endParaRPr lang="en-US" sz="4000" dirty="0"/>
          </a:p>
        </p:txBody>
      </p:sp>
      <p:sp>
        <p:nvSpPr>
          <p:cNvPr id="12" name="Text 10"/>
          <p:cNvSpPr/>
          <p:nvPr/>
        </p:nvSpPr>
        <p:spPr>
          <a:xfrm>
            <a:off x="566928" y="3090672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신축부지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566928" y="3584448"/>
            <a:ext cx="1097280" cy="310896"/>
          </a:xfrm>
          <a:prstGeom prst="roundRect">
            <a:avLst>
              <a:gd name="adj" fmla="val 50000"/>
            </a:avLst>
          </a:prstGeom>
          <a:solidFill>
            <a:srgbClr val="2D3748"/>
          </a:solidFill>
          <a:ln/>
        </p:spPr>
      </p:sp>
      <p:sp>
        <p:nvSpPr>
          <p:cNvPr id="14" name="Text 12"/>
          <p:cNvSpPr/>
          <p:nvPr/>
        </p:nvSpPr>
        <p:spPr>
          <a:xfrm>
            <a:off x="566928" y="3584448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신축부지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1773936" y="3584448"/>
            <a:ext cx="1097280" cy="310896"/>
          </a:xfrm>
          <a:prstGeom prst="roundRect">
            <a:avLst>
              <a:gd name="adj" fmla="val 50000"/>
            </a:avLst>
          </a:prstGeom>
          <a:solidFill>
            <a:srgbClr val="2D3748"/>
          </a:solidFill>
          <a:ln/>
        </p:spPr>
      </p:sp>
      <p:sp>
        <p:nvSpPr>
          <p:cNvPr id="16" name="Text 14"/>
          <p:cNvSpPr/>
          <p:nvPr/>
        </p:nvSpPr>
        <p:spPr>
          <a:xfrm>
            <a:off x="1773936" y="3584448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210억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66928" y="4224528"/>
            <a:ext cx="6858000" cy="1225296"/>
          </a:xfrm>
          <a:prstGeom prst="roundRect">
            <a:avLst>
              <a:gd name="adj" fmla="val 2985"/>
            </a:avLst>
          </a:prstGeom>
          <a:solidFill>
            <a:srgbClr val="977024"/>
          </a:solidFill>
          <a:ln w="12700">
            <a:solidFill>
              <a:srgbClr val="B98A2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22960" y="4425696"/>
            <a:ext cx="634593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3EBD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210억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566928" y="786384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NAI코리아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송민기  |  NAI코리아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22" name="Text 20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Summary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핵심요약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188720"/>
            <a:ext cx="11057839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역삼동 테헤란로 이면 코너 신축 부지입니다.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66928" y="1691640"/>
            <a:ext cx="11057839" cy="0"/>
          </a:xfrm>
          <a:prstGeom prst="line">
            <a:avLst/>
          </a:prstGeom>
          <a:noFill/>
          <a:ln w="19050">
            <a:solidFill>
              <a:srgbClr val="B98A2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66928" y="1965960"/>
            <a:ext cx="543748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31520" y="2093976"/>
            <a:ext cx="5108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대지면적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731520" y="2313432"/>
            <a:ext cx="510829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168.5평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6187288" y="1965960"/>
            <a:ext cx="543748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351880" y="2093976"/>
            <a:ext cx="5108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용도지역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6351880" y="2313432"/>
            <a:ext cx="510829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제3종일반주거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566928" y="3502152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3대 핵심 투자 포인트 (Investment Highlights)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566928" y="3831336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76656" y="3941064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76656" y="3941064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1207008" y="3904488"/>
            <a:ext cx="102805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분석: 핵심권역 소재 자산의 입지 특성 및 대지 지분 가치 확인 필요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566928" y="4526280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76656" y="4636008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76656" y="4636008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1207008" y="4599432"/>
            <a:ext cx="102805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수익 구조: 매매 시장 적정가 수준 대비 임대수익 현황 분석 필요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566928" y="5221224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76656" y="5330952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76656" y="5330952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1207008" y="5294376"/>
            <a:ext cx="102805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향후 검토: 권역 개발 동향 및 공법상 변경 가능성 확인 필요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28" name="Text 26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및 교통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Land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 현황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1645920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대지면적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3172968" y="1645920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168.5평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566928" y="2084832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66928" y="2084832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용도지역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3172968" y="2084832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제3종일반주거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784287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BEE3F8"/>
          </a:solidFill>
          <a:ln/>
        </p:spPr>
      </p:sp>
      <p:sp>
        <p:nvSpPr>
          <p:cNvPr id="14" name="Shape 12"/>
          <p:cNvSpPr/>
          <p:nvPr/>
        </p:nvSpPr>
        <p:spPr>
          <a:xfrm>
            <a:off x="7784287" y="1700784"/>
            <a:ext cx="36576" cy="199339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5" name="Text 13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및 권리관계 실사 포인트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7967167" y="1975104"/>
            <a:ext cx="3511296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물건 접면 도로 폭 및 진출입 여건은 현장 실사 확인 사항입니다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등기부등본상 권리관계 및 제한물권 설정 여부를 확인하였습니다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지구단위계획 및 토지이용계획상 허용 용도를 검토하였습니다</a:t>
            </a:r>
            <a:endParaRPr lang="en-US" sz="930" dirty="0"/>
          </a:p>
        </p:txBody>
      </p:sp>
      <p:sp>
        <p:nvSpPr>
          <p:cNvPr id="17" name="Shape 15"/>
          <p:cNvSpPr/>
          <p:nvPr/>
        </p:nvSpPr>
        <p:spPr>
          <a:xfrm>
            <a:off x="7784287" y="3977640"/>
            <a:ext cx="3840480" cy="2148840"/>
          </a:xfrm>
          <a:prstGeom prst="roundRect">
            <a:avLst>
              <a:gd name="adj" fmla="val 2553"/>
            </a:avLst>
          </a:prstGeom>
          <a:solidFill>
            <a:srgbClr val="BEE3F8"/>
          </a:solidFill>
          <a:ln/>
        </p:spPr>
      </p:sp>
      <p:sp>
        <p:nvSpPr>
          <p:cNvPr id="18" name="Shape 16"/>
          <p:cNvSpPr/>
          <p:nvPr/>
        </p:nvSpPr>
        <p:spPr>
          <a:xfrm>
            <a:off x="7784287" y="4032504"/>
            <a:ext cx="36576" cy="203911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9" name="Text 17"/>
          <p:cNvSpPr/>
          <p:nvPr/>
        </p:nvSpPr>
        <p:spPr>
          <a:xfrm>
            <a:off x="7967167" y="408736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임대차 및 운용 관리 상태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7967167" y="4306824"/>
            <a:ext cx="3511296" cy="1746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주요 임차인별 계약 만기 분산 및 렌트롤 실사가 필요합니다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관리비 정산 내역 및 수선유지비 집행 이력을 점검하였습니다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취득세 감면 및 대출 조달 구조는 금융·세무 자문 후 확정됩니다</a:t>
            </a:r>
            <a:endParaRPr lang="en-US" sz="930" dirty="0"/>
          </a:p>
        </p:txBody>
      </p:sp>
      <p:sp>
        <p:nvSpPr>
          <p:cNvPr id="21" name="Text 19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22" name="Text 20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Building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물건 개요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개요 및 물리 스펙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1645920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대지면적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3172968" y="1645920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168.5평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566928" y="2084832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66928" y="2084832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용도지역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3172968" y="2084832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제3종일반주거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784287" y="1645920"/>
            <a:ext cx="3840480" cy="1645920"/>
          </a:xfrm>
          <a:prstGeom prst="roundRect">
            <a:avLst>
              <a:gd name="adj" fmla="val 3333"/>
            </a:avLst>
          </a:prstGeom>
          <a:solidFill>
            <a:srgbClr val="F3EBDA"/>
          </a:solidFill>
          <a:ln/>
        </p:spPr>
      </p:sp>
      <p:sp>
        <p:nvSpPr>
          <p:cNvPr id="14" name="Shape 12"/>
          <p:cNvSpPr/>
          <p:nvPr/>
        </p:nvSpPr>
        <p:spPr>
          <a:xfrm>
            <a:off x="7784287" y="1700784"/>
            <a:ext cx="36576" cy="1536192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5" name="Text 13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7967167" y="1975104"/>
            <a:ext cx="3511296" cy="12435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역삼동 테헤란로 이면 코너 신축 부지입니다.</a:t>
            </a:r>
            <a:endParaRPr lang="en-US" sz="930" dirty="0"/>
          </a:p>
        </p:txBody>
      </p:sp>
      <p:sp>
        <p:nvSpPr>
          <p:cNvPr id="17" name="Text 15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Land Detail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부지 분석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개요 및 물리 스펙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66928" y="1645920"/>
            <a:ext cx="6858000" cy="1828800"/>
          </a:xfrm>
          <a:prstGeom prst="roundRect">
            <a:avLst>
              <a:gd name="adj" fmla="val 3000"/>
            </a:avLst>
          </a:prstGeom>
          <a:solidFill>
            <a:srgbClr val="BEE3F8"/>
          </a:solidFill>
          <a:ln/>
        </p:spPr>
      </p:sp>
      <p:sp>
        <p:nvSpPr>
          <p:cNvPr id="8" name="Shape 6"/>
          <p:cNvSpPr/>
          <p:nvPr/>
        </p:nvSpPr>
        <p:spPr>
          <a:xfrm>
            <a:off x="566928" y="1700784"/>
            <a:ext cx="36576" cy="171907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9" name="Text 7"/>
          <p:cNvSpPr/>
          <p:nvPr/>
        </p:nvSpPr>
        <p:spPr>
          <a:xfrm>
            <a:off x="749808" y="1755648"/>
            <a:ext cx="65288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물리 스펙 요약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749808" y="1975104"/>
            <a:ext cx="6528816" cy="1426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상세 건물 제원은 실사 자료를 참조하시기 바랍니다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건물 현황 및 규모는 첨부 대장을 기준으로 합니다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건물 상태 및 설비 현황은 실사 보고서를 참조하십시오</a:t>
            </a:r>
            <a:endParaRPr lang="en-US" sz="930" dirty="0"/>
          </a:p>
        </p:txBody>
      </p:sp>
      <p:sp>
        <p:nvSpPr>
          <p:cNvPr id="11" name="Shape 9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784287" y="1645920"/>
            <a:ext cx="3840480" cy="1645920"/>
          </a:xfrm>
          <a:prstGeom prst="roundRect">
            <a:avLst>
              <a:gd name="adj" fmla="val 3333"/>
            </a:avLst>
          </a:prstGeom>
          <a:solidFill>
            <a:srgbClr val="F3EBDA"/>
          </a:solidFill>
          <a:ln/>
        </p:spPr>
      </p:sp>
      <p:sp>
        <p:nvSpPr>
          <p:cNvPr id="13" name="Shape 11"/>
          <p:cNvSpPr/>
          <p:nvPr/>
        </p:nvSpPr>
        <p:spPr>
          <a:xfrm>
            <a:off x="7784287" y="1700784"/>
            <a:ext cx="36576" cy="1536192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4" name="Text 12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7967167" y="1975104"/>
            <a:ext cx="3511296" cy="12435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건폐율 50%, 용적률 250% 적용 시 약 680평 신축 가능합니다.</a:t>
            </a:r>
            <a:endParaRPr lang="en-US" sz="930" dirty="0"/>
          </a:p>
        </p:txBody>
      </p:sp>
      <p:sp>
        <p:nvSpPr>
          <p:cNvPr id="16" name="Text 14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Scale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신축규모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325880"/>
            <a:ext cx="11057839" cy="0"/>
          </a:xfrm>
          <a:prstGeom prst="line">
            <a:avLst/>
          </a:prstGeom>
          <a:noFill/>
          <a:ln w="19050">
            <a:solidFill>
              <a:srgbClr val="B98A2E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66928" y="1645920"/>
            <a:ext cx="11057839" cy="1280160"/>
          </a:xfrm>
          <a:prstGeom prst="roundRect">
            <a:avLst>
              <a:gd name="adj" fmla="val 4286"/>
            </a:avLst>
          </a:prstGeom>
          <a:solidFill>
            <a:srgbClr val="BEE3F8"/>
          </a:solidFill>
          <a:ln/>
        </p:spPr>
      </p:sp>
      <p:sp>
        <p:nvSpPr>
          <p:cNvPr id="8" name="Shape 6"/>
          <p:cNvSpPr/>
          <p:nvPr/>
        </p:nvSpPr>
        <p:spPr>
          <a:xfrm>
            <a:off x="566928" y="1700784"/>
            <a:ext cx="36576" cy="117043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9" name="Text 7"/>
          <p:cNvSpPr/>
          <p:nvPr/>
        </p:nvSpPr>
        <p:spPr>
          <a:xfrm>
            <a:off x="749808" y="1755648"/>
            <a:ext cx="1072865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신축 건축 규모 요약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749808" y="1975104"/>
            <a:ext cx="10728655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건폐율 50%, 용적률 250% 적용 시 약 680평 신축 가능합니다.</a:t>
            </a:r>
            <a:endParaRPr lang="en-US" sz="930" dirty="0"/>
          </a:p>
        </p:txBody>
      </p:sp>
      <p:sp>
        <p:nvSpPr>
          <p:cNvPr id="11" name="Text 9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Eviction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명도계획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개요 및 물리 스펙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66928" y="1645920"/>
            <a:ext cx="6858000" cy="1828800"/>
          </a:xfrm>
          <a:prstGeom prst="roundRect">
            <a:avLst>
              <a:gd name="adj" fmla="val 3000"/>
            </a:avLst>
          </a:prstGeom>
          <a:solidFill>
            <a:srgbClr val="BEE3F8"/>
          </a:solidFill>
          <a:ln/>
        </p:spPr>
      </p:sp>
      <p:sp>
        <p:nvSpPr>
          <p:cNvPr id="8" name="Shape 6"/>
          <p:cNvSpPr/>
          <p:nvPr/>
        </p:nvSpPr>
        <p:spPr>
          <a:xfrm>
            <a:off x="566928" y="1700784"/>
            <a:ext cx="36576" cy="171907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9" name="Text 7"/>
          <p:cNvSpPr/>
          <p:nvPr/>
        </p:nvSpPr>
        <p:spPr>
          <a:xfrm>
            <a:off x="749808" y="1755648"/>
            <a:ext cx="65288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물리 스펙 요약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749808" y="1975104"/>
            <a:ext cx="6528816" cy="1426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상세 건물 제원은 실사 자료를 참조하시기 바랍니다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건물 현황 및 규모는 첨부 대장을 기준으로 합니다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건물 상태 및 설비 현황은 실사 보고서를 참조하십시오</a:t>
            </a:r>
            <a:endParaRPr lang="en-US" sz="930" dirty="0"/>
          </a:p>
        </p:txBody>
      </p:sp>
      <p:sp>
        <p:nvSpPr>
          <p:cNvPr id="11" name="Shape 9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784287" y="1645920"/>
            <a:ext cx="3840480" cy="1645920"/>
          </a:xfrm>
          <a:prstGeom prst="roundRect">
            <a:avLst>
              <a:gd name="adj" fmla="val 3333"/>
            </a:avLst>
          </a:prstGeom>
          <a:solidFill>
            <a:srgbClr val="F3EBDA"/>
          </a:solidFill>
          <a:ln/>
        </p:spPr>
      </p:sp>
      <p:sp>
        <p:nvSpPr>
          <p:cNvPr id="13" name="Shape 11"/>
          <p:cNvSpPr/>
          <p:nvPr/>
        </p:nvSpPr>
        <p:spPr>
          <a:xfrm>
            <a:off x="7784287" y="1700784"/>
            <a:ext cx="36576" cy="1536192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4" name="Text 12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7967167" y="1975104"/>
            <a:ext cx="3511296" cy="12435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건폐율 50%, 용적률 250% 적용 시 약 680평 신축 가능합니다.</a:t>
            </a:r>
            <a:endParaRPr lang="en-US" sz="930" dirty="0"/>
          </a:p>
        </p:txBody>
      </p:sp>
      <p:sp>
        <p:nvSpPr>
          <p:cNvPr id="16" name="Text 14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Cost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투입비용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Stacking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스태킹계획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417320"/>
            <a:ext cx="5391760" cy="4389120"/>
          </a:xfrm>
          <a:prstGeom prst="roundRect">
            <a:avLst>
              <a:gd name="adj" fmla="val 125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95528" y="1618488"/>
            <a:ext cx="493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1. 층별 용도 및 면적 배분 계획</a:t>
            </a:r>
            <a:endParaRPr lang="en-US" sz="135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95528" y="2011680"/>
          <a:ext cx="4934560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1463040"/>
                <a:gridCol w="1097280"/>
                <a:gridCol w="1371600"/>
              </a:tblGrid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층수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권장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용도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전용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면적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타깃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임차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-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스태킹 </a:t>
                      </a:r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플랜 </a:t>
                      </a:r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데이터 </a:t>
                      </a:r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필요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-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-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Shape 6"/>
          <p:cNvSpPr/>
          <p:nvPr/>
        </p:nvSpPr>
        <p:spPr>
          <a:xfrm>
            <a:off x="6233008" y="1417320"/>
            <a:ext cx="5391760" cy="4389120"/>
          </a:xfrm>
          <a:prstGeom prst="roundRect">
            <a:avLst>
              <a:gd name="adj" fmla="val 125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6461608" y="1618488"/>
            <a:ext cx="493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2. 신축 개요 및 규제 기한</a:t>
            </a:r>
            <a:endParaRPr lang="en-US" sz="1350" dirty="0"/>
          </a:p>
        </p:txBody>
      </p:sp>
      <p:sp>
        <p:nvSpPr>
          <p:cNvPr id="11" name="Text 8"/>
          <p:cNvSpPr/>
          <p:nvPr/>
        </p:nvSpPr>
        <p:spPr>
          <a:xfrm>
            <a:off x="6461608" y="2011680"/>
            <a:ext cx="1875133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 대지면적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8336740" y="2011680"/>
            <a:ext cx="3059427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6461608" y="2450592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6461608" y="2450592"/>
            <a:ext cx="1875133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예상 신축 연면적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8336740" y="2450592"/>
            <a:ext cx="3059427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</a:t>
            </a:r>
            <a:endParaRPr lang="en-US" sz="1100" dirty="0"/>
          </a:p>
        </p:txBody>
      </p:sp>
      <p:sp>
        <p:nvSpPr>
          <p:cNvPr id="16" name="Shape 13"/>
          <p:cNvSpPr/>
          <p:nvPr/>
        </p:nvSpPr>
        <p:spPr>
          <a:xfrm>
            <a:off x="6461608" y="2889504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6461608" y="2889504"/>
            <a:ext cx="1875133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적용 건폐율 / 용적률</a:t>
            </a:r>
            <a:endParaRPr lang="en-US" sz="1100" dirty="0"/>
          </a:p>
        </p:txBody>
      </p:sp>
      <p:sp>
        <p:nvSpPr>
          <p:cNvPr id="18" name="Text 15"/>
          <p:cNvSpPr/>
          <p:nvPr/>
        </p:nvSpPr>
        <p:spPr>
          <a:xfrm>
            <a:off x="8336740" y="2889504"/>
            <a:ext cx="3059427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-% / -%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6461608" y="3328416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6461608" y="3328416"/>
            <a:ext cx="1875133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예상 총공사비 (1,200만/평)</a:t>
            </a:r>
            <a:endParaRPr lang="en-US" sz="1100" dirty="0"/>
          </a:p>
        </p:txBody>
      </p:sp>
      <p:sp>
        <p:nvSpPr>
          <p:cNvPr id="21" name="Text 18"/>
          <p:cNvSpPr/>
          <p:nvPr/>
        </p:nvSpPr>
        <p:spPr>
          <a:xfrm>
            <a:off x="8336740" y="3328416"/>
            <a:ext cx="3059427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</a:t>
            </a:r>
            <a:endParaRPr lang="en-US" sz="1100" dirty="0"/>
          </a:p>
        </p:txBody>
      </p:sp>
      <p:sp>
        <p:nvSpPr>
          <p:cNvPr id="22" name="Shape 19"/>
          <p:cNvSpPr/>
          <p:nvPr/>
        </p:nvSpPr>
        <p:spPr>
          <a:xfrm>
            <a:off x="6461608" y="3767328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6461608" y="3767328"/>
            <a:ext cx="1875133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예상 총사업비 (토지+공사+예비비)</a:t>
            </a:r>
            <a:endParaRPr lang="en-US" sz="1100" dirty="0"/>
          </a:p>
        </p:txBody>
      </p:sp>
      <p:sp>
        <p:nvSpPr>
          <p:cNvPr id="24" name="Text 21"/>
          <p:cNvSpPr/>
          <p:nvPr/>
        </p:nvSpPr>
        <p:spPr>
          <a:xfrm>
            <a:off x="8336740" y="3767328"/>
            <a:ext cx="3059427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</a:t>
            </a:r>
            <a:endParaRPr lang="en-US" sz="1100" dirty="0"/>
          </a:p>
        </p:txBody>
      </p:sp>
      <p:sp>
        <p:nvSpPr>
          <p:cNvPr id="25" name="Text 2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26" name="Text 2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Feasibility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개발 사업성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325880"/>
            <a:ext cx="11057839" cy="0"/>
          </a:xfrm>
          <a:prstGeom prst="line">
            <a:avLst/>
          </a:prstGeom>
          <a:noFill/>
          <a:ln w="19050">
            <a:solidFill>
              <a:srgbClr val="B98A2E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66928" y="1645920"/>
            <a:ext cx="11057839" cy="1280160"/>
          </a:xfrm>
          <a:prstGeom prst="roundRect">
            <a:avLst>
              <a:gd name="adj" fmla="val 4286"/>
            </a:avLst>
          </a:prstGeom>
          <a:solidFill>
            <a:srgbClr val="BEE3F8"/>
          </a:solidFill>
          <a:ln/>
        </p:spPr>
      </p:sp>
      <p:sp>
        <p:nvSpPr>
          <p:cNvPr id="8" name="Shape 6"/>
          <p:cNvSpPr/>
          <p:nvPr/>
        </p:nvSpPr>
        <p:spPr>
          <a:xfrm>
            <a:off x="566928" y="1700784"/>
            <a:ext cx="36576" cy="117043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9" name="Text 7"/>
          <p:cNvSpPr/>
          <p:nvPr/>
        </p:nvSpPr>
        <p:spPr>
          <a:xfrm>
            <a:off x="749808" y="1755648"/>
            <a:ext cx="1072865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투자 가치 제안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749808" y="1975104"/>
            <a:ext cx="10728655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예상 개발이익률 약 28%, 완공 후 자산가치 350억 상회 전망입니다.</a:t>
            </a:r>
            <a:endParaRPr lang="en-US" sz="930" dirty="0"/>
          </a:p>
        </p:txBody>
      </p:sp>
      <p:sp>
        <p:nvSpPr>
          <p:cNvPr id="11" name="Text 9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Thesis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투자 포인트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4983480"/>
            <a:ext cx="11057839" cy="804672"/>
          </a:xfrm>
          <a:prstGeom prst="roundRect">
            <a:avLst>
              <a:gd name="adj" fmla="val 6818"/>
            </a:avLst>
          </a:prstGeom>
          <a:solidFill>
            <a:srgbClr val="F3EBDA"/>
          </a:solidFill>
          <a:ln w="10160">
            <a:solidFill>
              <a:srgbClr val="D9B66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49808" y="5093208"/>
            <a:ext cx="1691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종합 가치 제안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2487168" y="5056632"/>
            <a:ext cx="8954719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테헤란로 프라임 입지의 개발 가치와 용적률 잔여 활용 가능성이 핵심입니다.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Risk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리스크 점검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417320"/>
            <a:ext cx="11057839" cy="3657600"/>
          </a:xfrm>
          <a:prstGeom prst="roundRect">
            <a:avLst>
              <a:gd name="adj" fmla="val 150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66928" y="1417320"/>
            <a:ext cx="11057839" cy="45720"/>
          </a:xfrm>
          <a:prstGeom prst="rect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795528" y="1618488"/>
            <a:ext cx="1060063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인허가 지연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795528" y="1947672"/>
            <a:ext cx="1060063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사전협의 완료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795528" y="2377440"/>
            <a:ext cx="10600639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2개월 내 착수 가능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566928" y="5193792"/>
            <a:ext cx="11057839" cy="621792"/>
          </a:xfrm>
          <a:prstGeom prst="roundRect">
            <a:avLst>
              <a:gd name="adj" fmla="val 882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95528" y="5193792"/>
            <a:ext cx="10600639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※ 본 리스크 체크는 공부 및 브로커 확인 기반이며, 매수 전 전문 실사팀(변호사/건축사)을 통한 정밀 실사가 필요합니다.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Checklist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실사 및 확인 필요사항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110578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거래 안정성 확보를 위한 필수 법률·물리·임대차 실사 점검 항목 (총 6건)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66928" y="1719072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04088" y="1883664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9" name="Text 7"/>
          <p:cNvSpPr/>
          <p:nvPr/>
        </p:nvSpPr>
        <p:spPr>
          <a:xfrm>
            <a:off x="704088" y="1883664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115568" y="1828800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등기부등본 갑구/을구 권리관계 및 근저당 채권최고액 전액 말소 조건 원본 대조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566928" y="2715768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04088" y="2880360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3" name="Text 11"/>
          <p:cNvSpPr/>
          <p:nvPr/>
        </p:nvSpPr>
        <p:spPr>
          <a:xfrm>
            <a:off x="704088" y="288036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115568" y="2825496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임대차 원본 계약서 대조 (보증금, 월임대료, 관리비 실입금 내역 및 제소전화해조서)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566928" y="3712464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04088" y="3877056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7" name="Text 15"/>
          <p:cNvSpPr/>
          <p:nvPr/>
        </p:nvSpPr>
        <p:spPr>
          <a:xfrm>
            <a:off x="704088" y="3877056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1115568" y="3822192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건축물대장상 위반건축물 등재 여부 및 불법 증축·용도변경 이행강제금 납부 이력 점검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6255868" y="1719072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393028" y="1883664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21" name="Text 19"/>
          <p:cNvSpPr/>
          <p:nvPr/>
        </p:nvSpPr>
        <p:spPr>
          <a:xfrm>
            <a:off x="6393028" y="1883664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6804508" y="1828800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토지이용계획확인원상 도시계획시설 저촉, 건축선 후퇴, 지구단위계획 특별계획구역 확인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6255868" y="2715768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393028" y="2880360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25" name="Text 23"/>
          <p:cNvSpPr/>
          <p:nvPr/>
        </p:nvSpPr>
        <p:spPr>
          <a:xfrm>
            <a:off x="6393028" y="288036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6804508" y="2825496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기계식 주차기 정기 안전점검 합격증, 승강기 검사필증, 소방 완비증명서 실물 실사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6255868" y="3712464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393028" y="3877056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29" name="Text 27"/>
          <p:cNvSpPr/>
          <p:nvPr/>
        </p:nvSpPr>
        <p:spPr>
          <a:xfrm>
            <a:off x="6393028" y="3877056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6804508" y="3822192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정화조 용량 대비 현 업종 적합성 및 하수도 원인자부담금 추가 부과 대상 여부 확인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566928" y="5760720"/>
            <a:ext cx="11057839" cy="594360"/>
          </a:xfrm>
          <a:prstGeom prst="rect">
            <a:avLst/>
          </a:prstGeom>
          <a:solidFill>
            <a:srgbClr val="D9B668"/>
          </a:solidFill>
          <a:ln/>
        </p:spPr>
      </p:sp>
      <p:sp>
        <p:nvSpPr>
          <p:cNvPr id="32" name="Text 30"/>
          <p:cNvSpPr/>
          <p:nvPr/>
        </p:nvSpPr>
        <p:spPr>
          <a:xfrm>
            <a:off x="749808" y="5833872"/>
            <a:ext cx="10692079" cy="448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※ 본 체크리스트는 계약 전 매수인의 안전한 자산 인수를 위한 필수 확인 사항이며, 실사(Due Diligence) 결과에 따라 매매 조건 및 잔금 일정이 조정될 수 있습니다.</a:t>
            </a:r>
            <a:endParaRPr lang="en-US" sz="950" dirty="0"/>
          </a:p>
        </p:txBody>
      </p:sp>
      <p:sp>
        <p:nvSpPr>
          <p:cNvPr id="33" name="Text 31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Process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다음 단계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572768"/>
            <a:ext cx="11057839" cy="3200400"/>
          </a:xfrm>
          <a:prstGeom prst="roundRect">
            <a:avLst>
              <a:gd name="adj" fmla="val 1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86384" y="1792224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786384" y="1792224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786384" y="2304288"/>
            <a:ext cx="10618927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1단계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86384" y="2761488"/>
            <a:ext cx="10618927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 설계 발주 및 인허가 일정 협의를 권장합니다.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 설계 발주 및 인허가 일정 협의를 권장합니다.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10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Closing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58368"/>
            <a:ext cx="10490911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표기 기준 및 면책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566928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7" name="Shape 5"/>
          <p:cNvSpPr/>
          <p:nvPr/>
        </p:nvSpPr>
        <p:spPr>
          <a:xfrm>
            <a:off x="676656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676656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225296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관심 표명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225296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담당 중개사에게 초기 관심 표명 및 상담 요청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4155338" y="1600200"/>
            <a:ext cx="146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98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4301642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13" name="Shape 11"/>
          <p:cNvSpPr/>
          <p:nvPr/>
        </p:nvSpPr>
        <p:spPr>
          <a:xfrm>
            <a:off x="4411370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14" name="Text 12"/>
          <p:cNvSpPr/>
          <p:nvPr/>
        </p:nvSpPr>
        <p:spPr>
          <a:xfrm>
            <a:off x="4411370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4960010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NDA 체결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960010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비밀유지계약 후 상세 임대차·재무 자료 제공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7890053" y="1600200"/>
            <a:ext cx="146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98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8036357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19" name="Shape 17"/>
          <p:cNvSpPr/>
          <p:nvPr/>
        </p:nvSpPr>
        <p:spPr>
          <a:xfrm>
            <a:off x="8146085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20" name="Text 18"/>
          <p:cNvSpPr/>
          <p:nvPr/>
        </p:nvSpPr>
        <p:spPr>
          <a:xfrm>
            <a:off x="8146085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694725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현장 실사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8694725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건물 컨디션 및 설비 직접 확인 후 의향서(LOI) 제출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566928" y="2395728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데이터 출처 표기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566928" y="2724912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25" name="Text 23"/>
          <p:cNvSpPr/>
          <p:nvPr/>
        </p:nvSpPr>
        <p:spPr>
          <a:xfrm>
            <a:off x="566928" y="2724912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 공부확인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1993392" y="2706624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등기부·대장 등 공적 장부 직접 확인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566928" y="3200400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28" name="Text 26"/>
          <p:cNvSpPr/>
          <p:nvPr/>
        </p:nvSpPr>
        <p:spPr>
          <a:xfrm>
            <a:off x="566928" y="3200400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★ 전문가검증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1993392" y="3182112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세무사·감정평가사 등 전문가 확인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566928" y="3675888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1" name="Text 29"/>
          <p:cNvSpPr/>
          <p:nvPr/>
        </p:nvSpPr>
        <p:spPr>
          <a:xfrm>
            <a:off x="566928" y="3675888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▲ 매도인고지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1993392" y="3657600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매도인이 구두 또는 서면으로 고지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566928" y="4151376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4" name="Text 32"/>
          <p:cNvSpPr/>
          <p:nvPr/>
        </p:nvSpPr>
        <p:spPr>
          <a:xfrm>
            <a:off x="566928" y="4151376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● 중개인입력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1993392" y="4133088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중개인 현장 조사 및 경험 기반 입력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566928" y="4626864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7" name="Text 35"/>
          <p:cNvSpPr/>
          <p:nvPr/>
        </p:nvSpPr>
        <p:spPr>
          <a:xfrm>
            <a:off x="566928" y="4626864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◇ AI추정·가정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1993392" y="4608576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시나리오 분석 및 AI 모델 추정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6492240" y="2395728"/>
            <a:ext cx="51297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면책 조항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6492240" y="2724912"/>
            <a:ext cx="5129784" cy="1645920"/>
          </a:xfrm>
          <a:prstGeom prst="roundRect">
            <a:avLst>
              <a:gd name="adj" fmla="val 2222"/>
            </a:avLst>
          </a:prstGeom>
          <a:solidFill>
            <a:srgbClr val="1C2433"/>
          </a:solidFill>
          <a:ln/>
        </p:spPr>
      </p:sp>
      <p:sp>
        <p:nvSpPr>
          <p:cNvPr id="41" name="Text 39"/>
          <p:cNvSpPr/>
          <p:nvPr/>
        </p:nvSpPr>
        <p:spPr>
          <a:xfrm>
            <a:off x="6675120" y="2834640"/>
            <a:ext cx="4764024" cy="1426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 자료는 투자 권유가 아니며, 기재된 정보의 정확성을 보증하지 않습니다.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566928" y="5760720"/>
            <a:ext cx="11057839" cy="45720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43" name="Text 41"/>
          <p:cNvSpPr/>
          <p:nvPr/>
        </p:nvSpPr>
        <p:spPr>
          <a:xfrm>
            <a:off x="749808" y="5806440"/>
            <a:ext cx="1069207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3EBD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NAI코리아 · 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2026-09-06T12:24:07Z</dcterms:created>
  <dcterms:modified xsi:type="dcterms:W3CDTF">2026-09-06T12:24:07Z</dcterms:modified>
</cp:coreProperties>
</file>