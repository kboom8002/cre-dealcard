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development IM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신축부지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6850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685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신축부지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64208" y="36850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1664208" y="3685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210억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4187952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97680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210억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강남권역 소재 신축부지, 희망가 210억 원 — 개발 사업 타당성 검토 자료입니다.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210억 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72536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7128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매입가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37128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210억 원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78144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2736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평당가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42736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6,942만원/평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983751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8343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개발이익률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8343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215.3%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66928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연면적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5,000㎡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372536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7128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수익률(Cap Rate)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37128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78144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2736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42736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210억 원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983751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8343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48343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303평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66928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66928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07008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 수지: 210억 수준의 토지비 기반 개발 사업 수익성 분석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207008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인허가: 도시계획·용도지역·건폐율 등 공법 여건 사전 점검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6928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207008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대중교통 역세권 입지, 강남권역 업무·상업 중심지 배후 수요 확보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· 개별공시지가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1,000㎡ (302.5평)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BEE3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70078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197510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 기준 건폐율 -% 이하, 용적률 -% 이하 적용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형상 및 도로 접면 여건 확인 기반 최적 토지이용계획 수립 가능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true,"mocked":true,"extractedFields":{"area_signal":"역삼","asset_type":"건물명 비공개","price_band":"210억","size_signal":"580평(약 1917.4㎡)"},"extractedFacts":{"region":"역삼","exactAddressCandidate":"해당 권역","assetType":"건물명 비공개","priceText":"210억","sizeText":"580평(약 1917.4㎡)","currentUse":"근린생활시설","currentUseSignal":"근린생활시설","leaseSignal":"임대중","vacancySignal":"공실없음","tenantNames":,"unitRentTexts":,"sellerMotivationText":"자산 효율화","brokerNotes":"역세권 매물"},"detectedSensitiveFields":"exact_address","ambiguousFields":,"warnings":,"areaSignal":"역삼","assetType":"건물명 비공개","priceBand":"210억","sizeSignal":"580평(약 1917.4㎡)","dealType":"매각","buildingName":"건물명 비공개","exactAddress":"강남구 역삼동 735-8","totalFloorArea":1917.364,"buildYear":2015,"currentUseSignal":"근린생활시설","vacancySignal":"공실 없음","fitSummary":"역삼 권역 입지의 건물명 비공개 매각 물건","cautionSummary":"권리관계 및 현장 실사 확인 필요","hiddenFields":"exact_address","seller_motivation","confidence":{"areaSignal":"confirmed","assetType":"confirmed","priceBand":"confirmed","fitSummary":"ai_hypothesis"},"missingData":,"boundaryNote":"본 자료는 실거래 통계 기반 참고치입니다.","buyerType":"법인 사옥형","budgetRange":{"min":70,"max":70,"display":"210억"},"preferredRegions":"강남","성수","assetTypes":"건물명 비공개","사옥용","purchasePurpose":"사옥용 매입","mustHave":"역세권 도보 3분 이내","주차","niceToHave":"테라스","루프탑","riskTolerance":"medium","financingNote":"자본금 50% 준비","missingQuestions":"구체적인 입주 시기가 언제인가요?","선호하는 수익률이 있나요?","privacyNotes":"연락처 비공개","fitReasons":"매수자 예산(210억)에 부합하는 매물입니다.","요청하신 성수/강남 권역에 해당합니다.","cautionReasons":"요청한 용도와 달리 명도 협의가 다소 필요합니다.","recommendedNextAction":"현장 답사 제안","kakaoMessage":"안녕하세요! 요청하신 조건에 부합하는 추천 매물이 있어 안내해 드립니다. 확인해보시고 피드백 부탁드립니다.","title":"역삼 역세권 도보 3분 이내 건물명 비공개 매각","shortSummary":"역삼역 도보 거리의 우량 건물명 비공개 매물입니다.","dealPoints":"역세권 도보 3분 이내","개발 및 사옥 최적","cautionPoints":"권리관계 확인 필요","hiddenInfoNotice":"보증금 및 지번은 인가 후 확인 가능","gateMessage":"G1 등급 등록이 필요합니다.","kakaoText":"역삼 건물명 비공개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3931920"/>
            <a:ext cx="6858000" cy="5486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931920"/>
            <a:ext cx="2400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67228" y="3931920"/>
            <a:ext cx="4274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210억 원 (VAT 별도)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F3EBDA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{"ok":true,"mocked":true,"extractedFields":{"area_signal":"역삼","asset_type":"[건물명 비공개]","price_band":"210억","size_signal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신축규모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강남권역 신축 개발 규모 및 층별 용도 계획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연면적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0773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 용도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7233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복합시설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048549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3141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 층 구성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13141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설계안 검토 중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66928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건축 가능 면적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3666744"/>
            <a:ext cx="324703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66928" y="4626864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4681728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736592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건축 규모 요약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9808" y="4956048"/>
            <a:ext cx="51082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{"ok":true,"mocked":true,"extractedFields":{"area_signal":"역삼","asset_type":"[건물명 비공개]","price_band":"210억","size_signal":"580평(약 1917.4㎡)"},"extractedFacts":{"region":"역삼","exactAddressCandidate":"해당 권역","assetType":"[건물명 비공개]","priceText":"210억","sizeText":"580평(약 1917.4㎡)","currentUse":"근린생활시설","currentUseSignal":"근린생활시설","leaseSignal":"임대중","vacancySignal":"공실없음","tenantNames":[],"unitRentTexts":[],"sellerMotivationText":"자산 효율화","brokerNotes":["역세권 매물"]},"detectedSensitiveFields":["exact_address"],"ambiguousFields":[],"warnings":[],"areaSignal":"역삼","assetType":"[건물명 비공개]","priceBand":"210억","sizeSignal":"580평(약 1917.4㎡)","dealType":"매각","buildingName":"[건물명 비공개]","exactAddress":"강남구 역삼동 735-8","totalFloorArea":1917.364,"buildYear":2015,"currentUseSignal":"근린생활시설","vacancySignal":"공실 없음","fitSummary":"역삼 권역 입지의 [건물명 비공개] 매각 물건","cautionSummary":"권리관계 및 현장 실사 확인 필요","hiddenFields":["exact_address","seller_motivation"],"confidence":{"areaSignal":"confirmed","assetType":"confirmed","priceBand":"confirmed","fitSummary":"ai_hypothesis"},"missingData":[],"boundaryNote":"본 자료는 실거래 통계 기반 참고치입니다.","buyerType":"법인 사옥형","budgetRange":{"min":70,"max":70,"display":"210억"},"preferredRegions":["강남","성수"],"assetTypes":["[건물명 비공개]","사옥용"],"purchasePurpose":"사옥용 매입","mustHave":["역세권 도보 3분 이내","주차"],"niceToHave":["테라스","루프탑"],"riskTolerance":"medium","financingNote":"자본금 50% 준비","missingQuestions":["구체적인 입주 시기가 언제인가요?","선호하는 수익률이 있나요?"],"privacyNotes":["연락처 비공개"],"fitReasons":["매수자 예산(210억)에 부합하는 매물입니다.","요청하신 성수/강남 권역에 해당합니다."],"cautionReasons":["요청한 용도와 달리 명도 협의가 다소 필요합니다."],"recommendedNextAction":"현장 답사 제안","kakaoMessage":"안녕하세요! 요청하신 조건에 부합하는 추천 매물이 있어 안내해 드립니다. 확인해보시고 피드백 부탁드립니다.","title":"역삼 역세권 도보 3분 이내 [건물명 비공개] 매각","shortSummary":"역삼역 도보 거리의 우량 [건물명 비공개] 매물입니다.","dealPoints":["역세권 도보 3분 이내","개발 및 사옥 최적"],"cautionPoints":["권리관계 확인 필요"],"hiddenInfoNotice":["보증금 및 지번은 인가 후 확인 가능"],"gateMessage":"G1 등급 등록이 필요합니다.","kakaoText":"역삼 [건물명 비공개]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2개월","restrictions":[],"landlordIdentity":"김성수","currentTenant":"스타트업","vacancyReason":"이전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6187288" y="4626864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C6F6D5"/>
          </a:solidFill>
          <a:ln/>
        </p:spPr>
      </p:sp>
      <p:sp>
        <p:nvSpPr>
          <p:cNvPr id="25" name="Shape 23"/>
          <p:cNvSpPr/>
          <p:nvPr/>
        </p:nvSpPr>
        <p:spPr>
          <a:xfrm>
            <a:off x="6187288" y="4681728"/>
            <a:ext cx="36576" cy="1170432"/>
          </a:xfrm>
          <a:prstGeom prst="rect">
            <a:avLst/>
          </a:prstGeom>
          <a:solidFill>
            <a:srgbClr val="276749"/>
          </a:solidFill>
          <a:ln/>
        </p:spPr>
      </p:sp>
      <p:sp>
        <p:nvSpPr>
          <p:cNvPr id="26" name="Text 24"/>
          <p:cNvSpPr/>
          <p:nvPr/>
        </p:nvSpPr>
        <p:spPr>
          <a:xfrm>
            <a:off x="6370168" y="4736592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674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규모 적정성 검토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70168" y="4956048"/>
            <a:ext cx="51082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강남권역 소재 토지의 용적률 200% 기준 건축 가능 면적 검토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용도 및 규모에 따른 인허가 가능성 사전 검증 필요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Eviction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현황 및 특약 조건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책임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협의 중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 임차인 수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명도 기간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84287" y="164592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FEEBC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1700784"/>
            <a:ext cx="36576" cy="153619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42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리스크 관리 필요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1975104"/>
            <a:ext cx="35112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 임차인 명도 소요 기간 및 비용 사전 정밀 산출 필요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지연 시 PF 이자 추가 부담 발생 가능성 확인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7784287" y="3493008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BEE3F8"/>
          </a:solidFill>
          <a:ln/>
        </p:spPr>
      </p:sp>
      <p:sp>
        <p:nvSpPr>
          <p:cNvPr id="21" name="Shape 19"/>
          <p:cNvSpPr/>
          <p:nvPr/>
        </p:nvSpPr>
        <p:spPr>
          <a:xfrm>
            <a:off x="7784287" y="3547872"/>
            <a:ext cx="36576" cy="15361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2" name="Text 20"/>
          <p:cNvSpPr/>
          <p:nvPr/>
        </p:nvSpPr>
        <p:spPr>
          <a:xfrm>
            <a:off x="7967167" y="360273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일정 관리 핵심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967167" y="3822192"/>
            <a:ext cx="35112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완료 후 즉시 철거·착공 일정 연계 필수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소요기간 내 지연 시 PF 금융비용 증가 리스크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투입비용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강남권역 개발 사업 투입 비용 구성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667512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  <a:gridCol w="1668780"/>
                <a:gridCol w="16687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금액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(억원)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비중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토지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매입비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210.0억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100%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매매대금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건축공사비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필요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평당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1,200만원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?평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기타비용(설계·인허가·금융)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취득세,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PF이자,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설계비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등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사업비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210.0억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100%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498080" y="1737360"/>
            <a:ext cx="4123944" cy="1920240"/>
          </a:xfrm>
          <a:prstGeom prst="roundRect">
            <a:avLst>
              <a:gd name="adj" fmla="val 2857"/>
            </a:avLst>
          </a:prstGeom>
          <a:solidFill>
            <a:srgbClr val="FEEBC8"/>
          </a:solidFill>
          <a:ln/>
        </p:spPr>
      </p:sp>
      <p:sp>
        <p:nvSpPr>
          <p:cNvPr id="9" name="Shape 6"/>
          <p:cNvSpPr/>
          <p:nvPr/>
        </p:nvSpPr>
        <p:spPr>
          <a:xfrm>
            <a:off x="7498080" y="1792224"/>
            <a:ext cx="36576" cy="181051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0" y="184708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42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변동 리스크 항목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0" y="2066544"/>
            <a:ext cx="37947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건축공사비는 시장 상황에 따라 ±15% 변동 가능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인허가 지연 시 PF 금융이자 추가 발생 (연 7.6억 수준)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7498080" y="3794760"/>
            <a:ext cx="4123944" cy="1920240"/>
          </a:xfrm>
          <a:prstGeom prst="roundRect">
            <a:avLst>
              <a:gd name="adj" fmla="val 2857"/>
            </a:avLst>
          </a:prstGeom>
          <a:solidFill>
            <a:srgbClr val="BEE3F8"/>
          </a:solidFill>
          <a:ln/>
        </p:spPr>
      </p:sp>
      <p:sp>
        <p:nvSpPr>
          <p:cNvPr id="13" name="Shape 10"/>
          <p:cNvSpPr/>
          <p:nvPr/>
        </p:nvSpPr>
        <p:spPr>
          <a:xfrm>
            <a:off x="7498080" y="3849624"/>
            <a:ext cx="36576" cy="18105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1"/>
          <p:cNvSpPr/>
          <p:nvPr/>
        </p:nvSpPr>
        <p:spPr>
          <a:xfrm>
            <a:off x="7680960" y="390448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조달 구조 검토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680960" y="4123944"/>
            <a:ext cx="379476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매입 시 브릿지론(LTV 60~70%) 활용 후 본PF 전환 예상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사업비 210.0 대비 자기자본 약 63.0억 소요 추정</a:t>
            </a:r>
            <a:endParaRPr lang="en-US" sz="930" dirty="0"/>
          </a:p>
        </p:txBody>
      </p:sp>
      <p:sp>
        <p:nvSpPr>
          <p:cNvPr id="16" name="Text 1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스태킹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층별 용도 및 면적 배분 계획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" y="2011680"/>
          <a:ext cx="49345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1097280"/>
                <a:gridCol w="1371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권장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전용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면적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타깃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스태킹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플랜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23300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신축 개요 및 규제 기한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61608" y="2011680"/>
            <a:ext cx="18751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대지면적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336740" y="2011680"/>
            <a:ext cx="30594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61608" y="2450592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1608" y="2450592"/>
            <a:ext cx="18751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신축 연면적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36740" y="2450592"/>
            <a:ext cx="30594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61608" y="2889504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61608" y="2889504"/>
            <a:ext cx="18751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 건폐율 / 용적률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336740" y="2889504"/>
            <a:ext cx="30594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-% / -%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61608" y="3328416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61608" y="3328416"/>
            <a:ext cx="18751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총공사비 (1,200만/평)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336740" y="3328416"/>
            <a:ext cx="30594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61608" y="376732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61608" y="3767328"/>
            <a:ext cx="187513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총사업비 (토지+공사+예비비)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336740" y="3767328"/>
            <a:ext cx="30594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자본구조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01168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70661" y="201168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210.0억 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" y="248716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8716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70661" y="248716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9.66억 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" y="2962656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962656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70661" y="2962656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1.89억 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" y="3438144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438144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70661" y="3438144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221.6억 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" y="3913632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913632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70661" y="3913632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10.5억 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5528" y="4389120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38912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70661" y="438912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105.0억 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" y="486460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86460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70661" y="486460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106.0억 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300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(무차입)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211.1억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3.78%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(안정형)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127.0억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3.11%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(기본형)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106.0억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2.77%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(레버리지)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85.0억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2.27%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6461608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FEEBC8"/>
          </a:solidFill>
          <a:ln/>
        </p:spPr>
      </p:sp>
      <p:sp>
        <p:nvSpPr>
          <p:cNvPr id="32" name="Shape 29"/>
          <p:cNvSpPr/>
          <p:nvPr/>
        </p:nvSpPr>
        <p:spPr>
          <a:xfrm>
            <a:off x="6461608" y="4123944"/>
            <a:ext cx="36576" cy="135331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33" name="Text 30"/>
          <p:cNvSpPr/>
          <p:nvPr/>
        </p:nvSpPr>
        <p:spPr>
          <a:xfrm>
            <a:off x="6644488" y="4178808"/>
            <a:ext cx="460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42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역레버리지 유의 구간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644488" y="4398264"/>
            <a:ext cx="4605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차입 금리가 자산 총수익률을 상회하여 대출 실행 시 자기자본수익률이 하락할 수 있습니다. 에쿼티 비중 확대를 권장합니다.</a:t>
            </a:r>
            <a:endParaRPr lang="en-US" sz="930" dirty="0"/>
          </a:p>
        </p:txBody>
      </p:sp>
      <p:sp>
        <p:nvSpPr>
          <p:cNvPr id="35" name="Text 3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논거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4983480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3EBDA"/>
          </a:solidFill>
          <a:ln w="10160">
            <a:solidFill>
              <a:srgbClr val="D9B6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50932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87168" y="5056632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{"ok":true,"mocked":true,"extractedFields":{"area_signal":"부","asset_type":"[건물명 비공개]","price_band":"210억","size_signal":"580평(약 1917.4㎡)"},"extractedFacts":{"region":"부","exactAddressCandidate":"해당 권역","assetType":"[건물명 비공개]","priceText":"210억","sizeText":"580평(약 1917.4㎡)","currentUse":"근린생활시설","currentUseSignal":"근린생활시설","leaseSignal":"임대중","vacancySignal":"공실없음","tenantNames":[],"unitRentTexts":[],"sellerMotivationText":"자산 효율화","brokerNotes":["역세권 매물"]},"detectedSensitiveFields":["exact_address"],"ambiguousFields":[],"warnings":[],"areaSignal":"부","assetType":"[건물명 비공개]","priceBand":"210억","sizeSignal":"580평(약 1917.4㎡)","dealType":"매각","buildingName":"[건물명 비공개]","exactAddress":"강남구 역삼동 735-8","totalFloorArea":1917.364,"buildYear":2015,"currentUseSignal":"근린생활시설","vacancySignal":"공실 없음","fitSummary":"부 권역 입지의 [건물명 비공개] 매각 물건","cautionSummary":"권리관계 및 현장 실사 확인 필요","hiddenFields":["exact_address","seller_motivation"],"confidence":{"areaSignal":"confirmed","assetType":"confirmed","priceBand":"confirmed","fitSummary":"ai_hypothesis"},"missingData":[],"boundaryNote":"본 자료는 실거래 통계 기반 참고치입니다.","buyerType":"법인 사옥형","budgetRange":{"min":70,"max":70,"display":"210억"},"preferredRegions":["강남","성수"],"assetTypes":["[건물명 비공개]","사옥용"],"purchasePurpose":"사옥용 매입","mustHave":["역세권 도보 3분 이내","주차"],"niceToHave":["테라스","루프탑"],"riskTolerance":"medium","financingNote":"자본금 50% 준비","missingQuestions":["구체적인 입주 시기가 언제인가요?","선호하는 수익률이 있나요?"],"privacyNotes":["연락처 비공개"],"fitReasons":["매수자 예산(210억)에 부합하는 매물입니다.","요청하신 성수/강남 권역에 해당합니다."],"cautionReasons":["요청한 용도와 달리 명도 협의가 다소 필요합니다."],"recommendedNextAction":"현장 답사 제안","kakaoMessage":"안녕하세요! 요청하신 조건에 부합하는 추천 매물이 있어 안내해 드립니다. 확인해보시고 피드백 부탁드립니다.","title":"부 역세권 도보 3분 이내 [건물명 비공개] 매각","shortSummary":"부역 도보 거리의 우량 [건물명 비공개] 매물입니다.","dealPoints":["역세권 도보 3분 이내","개발 및 사옥 최적"],"cautionPoints":["권리관계 확인 필요"],"hiddenInfoNotice":["보증금 및 지번은 인가 후 확인 가능"],"gateMessage":"G1 등급 등록이 필요합니다.","kakaoText":"부 [건물명 비공개]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2개월","restrictions":[],"landlordIdentity":"김성수","currentTenant":"스타트업","vacancyReason":"이전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11057839" cy="3657600"/>
          </a:xfrm>
          <a:prstGeom prst="roundRect">
            <a:avLst>
              <a:gd name="adj" fmla="val 15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 리스크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{"ok":true,"mocked":true,"extractedFields":{"area_signal":"역삼","asset_type":"[건물명 비공개]","price_band":"210억","size_signal":"580평(약 1917.4㎡)"},"extractedFacts":{"region":"역삼","exactAddressCandidate":"해당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882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체크리스트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10건)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556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4709160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" y="4873752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4873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5568" y="4800600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5586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5" name="Text 23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0450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5586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9" name="Text 27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0450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5586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3" name="Text 31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0450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55868" y="4709160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93028" y="4873752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7" name="Text 35"/>
          <p:cNvSpPr/>
          <p:nvPr/>
        </p:nvSpPr>
        <p:spPr>
          <a:xfrm>
            <a:off x="6393028" y="4873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04508" y="4800600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" y="5760720"/>
            <a:ext cx="11057839" cy="594360"/>
          </a:xfrm>
          <a:prstGeom prst="rect">
            <a:avLst/>
          </a:prstGeom>
          <a:solidFill>
            <a:srgbClr val="D9B668"/>
          </a:solidFill>
          <a:ln/>
        </p:spPr>
      </p:sp>
      <p:sp>
        <p:nvSpPr>
          <p:cNvPr id="40" name="Text 38"/>
          <p:cNvSpPr/>
          <p:nvPr/>
        </p:nvSpPr>
        <p:spPr>
          <a:xfrm>
            <a:off x="749808" y="5833872"/>
            <a:ext cx="10692079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절차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1057839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true,"mocked":true,"extractedFields":{"area_signal":"역삼","asset_type":"[건물명 비공개]","price_band":"210억","size_signal":"580평(약 1917.4㎡)"},"extractedFacts":{"region":"역삼","exactAddressCandidate":"해당 권역","assetType":"[건물명 비공개]","priceText":"210억","sizeText":"580평(약 1917.4㎡)","currentUse":"근린생활시설","currentUseSignal":"근린생활시설","leaseSignal":"임대중","vacancySignal":"공실없음","tenantNames":[],"unitRentTexts":[],"sellerMotivationText":"자산 효율화","brokerNotes":["역세권 매물"]},"detectedSensitiveFields":["exact_address"],"ambiguousFields":[],"warnings":[],"areaSignal":"역삼","assetType":"[건물명 비공개]","priceBand":"210억","sizeSignal":"580평(약 1917.4㎡)","dealType":"매각","buildingName":"[건물명 비공개]","exactAddress":"강남구 역삼동 735-8","totalFloorArea":1917.364,"buildYear":2015,"currentUseSignal":"근린생활시설","vacancySignal":"공실 없음","fitSummary":"역삼 권역 입지의 [건물명 비공개] 매각 물건","cautionSummary":"권리관계 및 현장 실사 확인 필요","hiddenFields":["exact_address","seller_motivation"],"confidence":{"areaSignal":"confirmed","assetType":"confirmed","priceBand":"confirmed","fitSummary":"ai_hypothesis"},"missingData":[],"boundaryNote":"본 자료는 실거래 통계 기반 참고치입니다.","buyerType":"법인 사옥형","budgetRange":{"min":70,"max":70,"display":"210억"},"preferredRegions":["강남","성수"],"assetTypes":["[건물명 비공개]","사옥용"],"purchasePurpose":"사옥용 매입","mustHave":["역세권 도보 3분 이내","주차"],"niceToHave":["테라스","루프탑"],"riskTolerance":"medium","financingNote":"자본금 50% 준비","missingQuestions":["구체적인 입주 시기가 언제인가요?","선호하는 수익률이 있나요?"],"privacyNotes":["연락처 비공개"],"fitReasons":["매수자 예산(210억)에 부합하는 매물입니다.","요청하신 성수/강남 권역에 해당합니다."],"cautionReasons":["요청한 용도와 달리 명도 협의가 다소 필요합니다."],"recommendedNextAction":"현장 답사 제안","kakaoMessage":"안녕하세요! 요청하신 조건에 부합하는 추천 매물이 있어 안내해 드립니다. 확인해보시고 피드백 부탁드립니다.","title":"역삼 역세권 도보 3분 이내 [건물명 비공개] 매각","shortSummary":"역삼역 도보 거리의 우량 [건물명 비공개] 매물입니다.","dealPoints":["역세권 도보 3분 이내","개발 및 사옥 최적"],"cautionPoints":["권리관계 확인 필요"],"hiddenInfoNotice":["보증금 및 지번은 인가 후 확인 가능"],"gateMessage":"G1 등급 등록이 필요합니다.","kakaoText":"역삼 [건물명 비공개]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2개월","restrictions":[],"landlordIdentity":"김성수","currentTenant":"스타트업","vacancyReason":"이전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414016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공부 발췌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표제부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5,000㎡ (1512.5평)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1" name="Shape 9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자산 개요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도심 비즈니스 권역 소재 우량 투자 자산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 접근성 및 주변 상업·업무 인프라 밀집 지역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및 토지이용계획 기준 권리관계 정상 확인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수익 및 운영 현황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수익형 자산으로 안정적 캐시플로우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임차인 계약 유지 중으로 즉시 수익 실현 가능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및 수선유지 비용 정상 운영 상태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2026-09-17T08:53:53Z</dcterms:created>
  <dcterms:modified xsi:type="dcterms:W3CDTF">2026-09-17T08:53:53Z</dcterms:modified>
</cp:coreProperties>
</file>