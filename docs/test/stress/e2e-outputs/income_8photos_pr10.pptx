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income 포스처 테스트 문서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341071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95935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9593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755648" y="395935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1755648" y="39593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4398264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507992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66928" y="5943600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 I · Exterior &amp; Context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외관 및 입지 전경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11057839" cy="4572000"/>
          </a:xfrm>
          <a:prstGeom prst="roundRect">
            <a:avLst>
              <a:gd name="adj" fmla="val 12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91056"/>
            <a:ext cx="1316736" cy="219456"/>
          </a:xfrm>
          <a:prstGeom prst="roundRect">
            <a:avLst>
              <a:gd name="adj" fmla="val 50000"/>
            </a:avLst>
          </a:prstGeom>
          <a:solidFill>
            <a:srgbClr val="BEE3F8"/>
          </a:solidFill>
          <a:ln w="635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9105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현장 실사 예정 ]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88366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현황 및 물리적 실사 점검 안내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19456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자산의 내·외관 상태 및 주요 설비 사양은 매수 실사 절차 진행 시 현장 방문 조사를 통해 상세 확인 및 촬영이 진행됩니다.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2960" y="2706624"/>
            <a:ext cx="10545775" cy="0"/>
          </a:xfrm>
          <a:prstGeom prst="line">
            <a:avLst/>
          </a:prstGeom>
          <a:noFill/>
          <a:ln w="508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9536" y="2852928"/>
            <a:ext cx="64008" cy="64008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2798064"/>
            <a:ext cx="10326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외관 파사드 마감재 보존 상태 및 균열·누수 흔적 정밀 점검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59536" y="3584448"/>
            <a:ext cx="64008" cy="64008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5" name="Text 13"/>
          <p:cNvSpPr/>
          <p:nvPr/>
        </p:nvSpPr>
        <p:spPr>
          <a:xfrm>
            <a:off x="987552" y="3529584"/>
            <a:ext cx="10326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승강기, 기계식 주차설비, 수배전반 등 핵심 설비 내구연한 및 정기검사 이력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859536" y="4315968"/>
            <a:ext cx="64008" cy="64008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" y="4261104"/>
            <a:ext cx="10326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옥상 방수 상태, 지하층 결로/누수 여부 및 공용부(계단실·화장실) 관리 컨디션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859536" y="5047488"/>
            <a:ext cx="64008" cy="64008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4992624"/>
            <a:ext cx="10326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주차대수 확보 여부, 주차장 진입로 회전반경 및 층고 실측 검증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 메디컬 빌딩은 지하2층~지상7층 규모의 올근생 빌딩입니다.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480947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18107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46123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1965579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72536" y="1618107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7128" y="1746123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37128" y="1965579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142.5평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178144" y="1618107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2736" y="1746123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42736" y="1965579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620.8평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983751" y="1618107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8343" y="1746123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8343" y="1965579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2017년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66928" y="2742819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870835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 메디컬 빌딩은 지하2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3090291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2층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372536" y="2742819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7128" y="2870835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수익률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37128" y="3090291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178144" y="2742819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2736" y="2870835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(취득비용 포함)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42736" y="3090291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8983751" y="2742819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8343" y="2870835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48343" y="3090291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66928" y="3958971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66928" y="4288155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" y="4361371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" y="4361371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07008" y="4324731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대중교통 역세권 입지, 해당 권역 업무·상업 중심지 배후 수요 확보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66928" y="4882642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" y="495585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" y="495585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207008" y="4919218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안정적 현금흐름: 전 층 임차인 운영 기반의 안정적 월 임대수익 창출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66928" y="5477129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" y="5550345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" y="5550345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207008" y="5513705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규모: 해당 권역 소재 단독 빌딩 매입 기회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분석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4088" y="5184648"/>
            <a:ext cx="3200400" cy="320040"/>
          </a:xfrm>
          <a:prstGeom prst="roundRect">
            <a:avLst>
              <a:gd name="adj" fmla="val 11429"/>
            </a:avLst>
          </a:prstGeom>
          <a:solidFill>
            <a:srgbClr val="FFFFFF">
              <a:alpha val="90000"/>
            </a:srgbClr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52029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</a:t>
            </a:r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자산(본건)   </a:t>
            </a:r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╌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도보 5분 반경 (약 400m)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15768" y="3739896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132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15768" y="373989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본건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053328" y="148132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대중교통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613331" y="148132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및 간선버스 인접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53328" y="19385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193852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상권권역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613331" y="193852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서초권역 주요 상업·업무 권역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53328" y="2505456"/>
            <a:ext cx="5571439" cy="658368"/>
          </a:xfrm>
          <a:prstGeom prst="roundRect">
            <a:avLst>
              <a:gd name="adj" fmla="val 8333"/>
            </a:avLst>
          </a:prstGeom>
          <a:solidFill>
            <a:srgbClr val="BEE3F8"/>
          </a:solidFill>
          <a:ln/>
        </p:spPr>
      </p:sp>
      <p:sp>
        <p:nvSpPr>
          <p:cNvPr id="17" name="Shape 14"/>
          <p:cNvSpPr/>
          <p:nvPr/>
        </p:nvSpPr>
        <p:spPr>
          <a:xfrm>
            <a:off x="6053328" y="2560320"/>
            <a:ext cx="36576" cy="54864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5"/>
          <p:cNvSpPr/>
          <p:nvPr/>
        </p:nvSpPr>
        <p:spPr>
          <a:xfrm>
            <a:off x="6199632" y="2596896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199632" y="2798064"/>
            <a:ext cx="531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서초권역 배후 상권 기반 안정적 임대 수요</a:t>
            </a:r>
            <a:endParaRPr lang="en-US" sz="980" dirty="0"/>
          </a:p>
        </p:txBody>
      </p:sp>
      <p:sp>
        <p:nvSpPr>
          <p:cNvPr id="20" name="Text 1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87168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142.5평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87168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620.8평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7930591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건축 규제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30591" y="1938528"/>
            <a:ext cx="358444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열람 및 건축 규제 확인 필요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18" name="Shape 16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9" name="Text 17"/>
          <p:cNvSpPr/>
          <p:nvPr/>
        </p:nvSpPr>
        <p:spPr>
          <a:xfrm>
            <a:off x="7930591" y="406908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권리관계 및 공적장부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930591" y="4270248"/>
            <a:ext cx="3584448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 소유권 확인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기재 사항 실물 대조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개별공시지가 및 실거래가 비교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87168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142.5평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87168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620.8평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487168" y="245059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2017년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84287" y="3977640"/>
            <a:ext cx="3840480" cy="777240"/>
          </a:xfrm>
          <a:prstGeom prst="roundRect">
            <a:avLst>
              <a:gd name="adj" fmla="val 5882"/>
            </a:avLst>
          </a:prstGeom>
          <a:solidFill>
            <a:srgbClr val="F6F1E4"/>
          </a:solidFill>
          <a:ln w="9525">
            <a:solidFill>
              <a:srgbClr val="D4C8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84287" y="4050792"/>
            <a:ext cx="45720" cy="63093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67167" y="4087368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85455" y="4503420"/>
            <a:ext cx="54864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13471" y="4398264"/>
            <a:ext cx="3383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 메디컬 빌딩은 지하2층~지상7층 규모의 올근생 빌딩입니다.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렌트롤</a:t>
            </a:r>
            <a:endParaRPr lang="en-US" sz="2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1842973"/>
                <a:gridCol w="3071622"/>
                <a:gridCol w="3071622"/>
                <a:gridCol w="3071622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업종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약국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1,200만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2F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안과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1,100만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임대안정성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1F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87168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약국 (3억)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2F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87168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안과 (2억)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F3EBDA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5361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5" name="Text 13"/>
          <p:cNvSpPr/>
          <p:nvPr/>
        </p:nvSpPr>
        <p:spPr>
          <a:xfrm>
            <a:off x="7930591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30591" y="1938528"/>
            <a:ext cx="358444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전층 메디컬 만실 운영 중이며 WALE 평균 3.5년입니다.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수익구조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2588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5448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8249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901952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69억 원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07738" y="155448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2330" y="168249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순수익(매월)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72330" y="1901952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3,650만 원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048549" y="155448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3141" y="168249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레버리지 수익률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13141" y="1901952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5.8%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66928" y="2999232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3054096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090672"/>
            <a:ext cx="10801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3232" y="3291840"/>
            <a:ext cx="10801807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순영업소득(NOI) 약 7.14억 원, 매입 Cap Rate 4.62%입니다.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자본구조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총취득원가 및 자기자본 소요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011680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 (A)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65425" y="2011680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 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" y="248716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487168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(4.6% 법정)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65425" y="2487168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7.59억 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" y="2962656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962656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중개보수 (0.9% 한도)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65425" y="2962656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1.49억 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" y="3438144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438144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(A + 세/비용)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065425" y="3438144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174.1억 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" y="3913632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913632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임대보증금 승계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065425" y="3913632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5528" y="4389120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389120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담보대출 조달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065425" y="4389120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82.5억 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5528" y="486460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864608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(Net Equity)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065425" y="4864608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91.6억 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300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LTV 시나리오별 레버리지 효과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2057400"/>
          <a:ext cx="493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실투자금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예상수익률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(무차입)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174.1억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(안정형)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108.1억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(기본형)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91.6억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(레버리지)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75.1억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6461608" y="4069080"/>
            <a:ext cx="4934560" cy="1463040"/>
          </a:xfrm>
          <a:prstGeom prst="roundRect">
            <a:avLst>
              <a:gd name="adj" fmla="val 3750"/>
            </a:avLst>
          </a:prstGeom>
          <a:solidFill>
            <a:srgbClr val="FEEBC8"/>
          </a:solidFill>
          <a:ln/>
        </p:spPr>
      </p:sp>
      <p:sp>
        <p:nvSpPr>
          <p:cNvPr id="32" name="Shape 29"/>
          <p:cNvSpPr/>
          <p:nvPr/>
        </p:nvSpPr>
        <p:spPr>
          <a:xfrm>
            <a:off x="6461608" y="4123944"/>
            <a:ext cx="36576" cy="135331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33" name="Text 30"/>
          <p:cNvSpPr/>
          <p:nvPr/>
        </p:nvSpPr>
        <p:spPr>
          <a:xfrm>
            <a:off x="6607912" y="4160520"/>
            <a:ext cx="467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42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역레버리지 유의 구간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607912" y="4361688"/>
            <a:ext cx="467852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차입 금리가 자산 총수익률을 상회하여 대출 실행 시 자기자본수익률이 하락할 수 있습니다. 에쿼티 비중 확대를 권장합니다.</a:t>
            </a:r>
            <a:endParaRPr lang="en-US" sz="980" dirty="0"/>
          </a:p>
        </p:txBody>
      </p:sp>
      <p:sp>
        <p:nvSpPr>
          <p:cNvPr id="35" name="Text 3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논거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4937760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3EBDA"/>
          </a:solidFill>
          <a:ln w="10160">
            <a:solidFill>
              <a:srgbClr val="D9B6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50474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87168" y="5010912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관점에서 안정적 월 임대수익과 우량 메디컬 테넌트를 보유한 핵심 투자 자산입니다.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400904" cy="3657600"/>
          </a:xfrm>
          <a:prstGeom prst="roundRect">
            <a:avLst>
              <a:gd name="adj" fmla="val 15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5400904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494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 단일업종 집중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494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전층 의료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494370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업종 다각화 검토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23864" y="1417320"/>
            <a:ext cx="5400904" cy="3657600"/>
          </a:xfrm>
          <a:prstGeom prst="roundRect">
            <a:avLst>
              <a:gd name="adj" fmla="val 15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23864" y="1417320"/>
            <a:ext cx="5400904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52464" y="1618488"/>
            <a:ext cx="494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금리 변동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52464" y="1947672"/>
            <a:ext cx="494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4.1% 고정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52464" y="2377440"/>
            <a:ext cx="494370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승계 대출 활용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5193792"/>
            <a:ext cx="11057839" cy="621792"/>
          </a:xfrm>
          <a:prstGeom prst="roundRect">
            <a:avLst>
              <a:gd name="adj" fmla="val 882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체크리스트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6건)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94767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947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97280" y="179222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갑구/을구 권리관계 및 근저당 채권최고액 전액 말소 조건 원본 대조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54203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77063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770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97280" y="261518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원본 계약서 검토 (보증금, 월임대료, 관리비 실입금 내역 및 제소전화해조서)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36499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359359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593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97280" y="343814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건축물대장상 위반건축물 등재 여부 및 불법 증축·용도변경 이행강제금 납부 이력 점검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55868" y="171907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3028" y="194767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1" name="Text 19"/>
          <p:cNvSpPr/>
          <p:nvPr/>
        </p:nvSpPr>
        <p:spPr>
          <a:xfrm>
            <a:off x="6393028" y="1947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86220" y="179222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토지이용계획확인원상 도시계획시설 저촉, 건축선 후퇴, 지구단위계획 특별계획구역 확인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55868" y="254203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3028" y="277063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5" name="Text 23"/>
          <p:cNvSpPr/>
          <p:nvPr/>
        </p:nvSpPr>
        <p:spPr>
          <a:xfrm>
            <a:off x="6393028" y="2770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86220" y="261518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기계식 주차기 정기 안전점검 합격증, 승강기 검사필증, 소방 완비증명서 실물 실사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55868" y="336499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3028" y="359359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9" name="Text 27"/>
          <p:cNvSpPr/>
          <p:nvPr/>
        </p:nvSpPr>
        <p:spPr>
          <a:xfrm>
            <a:off x="6393028" y="3593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86220" y="343814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정화조 용량 대비 현 업종 적합성 및 하수도 원인자부담금 추가 부과 대상 여부 확인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6928" y="5349240"/>
            <a:ext cx="11057839" cy="457200"/>
          </a:xfrm>
          <a:prstGeom prst="rect">
            <a:avLst/>
          </a:prstGeom>
          <a:solidFill>
            <a:srgbClr val="D9B668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" y="5422392"/>
            <a:ext cx="1069207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절차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1057839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 및 임대차계약서 원본 확인을 권장합니다.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 및 임대차계약서 원본 확인을 권장합니다.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414016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2026-10-05T15:10:04Z</dcterms:created>
  <dcterms:modified xsi:type="dcterms:W3CDTF">2026-10-05T15:10:04Z</dcterms:modified>
</cp:coreProperties>
</file>