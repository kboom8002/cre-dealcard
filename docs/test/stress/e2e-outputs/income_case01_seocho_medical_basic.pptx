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98A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 IM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64208" y="36850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1664208" y="36850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4187952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97680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 요약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서초권역 소재 근생빌딩, 희망가 165억 원 투자 검토 자료입니다.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수익률(Cap Rate, 기준: 총임대료 ÷ 매매가격)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3.33%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만실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6692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77.6억 원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307738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72330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72330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1513평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048549" y="3090672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13141" y="32186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13141" y="3438144"/>
            <a:ext cx="324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303평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636008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709160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4709160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4672584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대중교통 역세권 입지, 서초권역 업무·상업 중심지 배후 수요 확보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5114544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" y="5187696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" y="5187696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07008" y="5151120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연 순수익률(Cap Rate) 3.33% 기반 안정적 임대수익 자산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" y="5593080"/>
            <a:ext cx="11057839" cy="396240"/>
          </a:xfrm>
          <a:prstGeom prst="roundRect">
            <a:avLst>
              <a:gd name="adj" fmla="val 11538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" y="5666232"/>
            <a:ext cx="411480" cy="249936"/>
          </a:xfrm>
          <a:prstGeom prst="roundRect">
            <a:avLst>
              <a:gd name="adj" fmla="val 14634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5666232"/>
            <a:ext cx="411480" cy="24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5629656"/>
            <a:ext cx="10280599" cy="323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규모: 대지 303평·연면적 1513평 규모 단독 빌딩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1,000㎡ (302.5평)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1810512"/>
          </a:xfrm>
          <a:prstGeom prst="roundRect">
            <a:avLst>
              <a:gd name="adj" fmla="val 3030"/>
            </a:avLst>
          </a:prstGeom>
          <a:solidFill>
            <a:srgbClr val="BEE3F8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700784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 기준 건폐율 -% 이하, 용적률 -% 이하 적용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형상 및 도로 접면 여건 확인 기반 최적 토지이용계획 수립 가능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개요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true,"mocked":true,"extractedFields":{"area_signal":"서초","asset_type":"건물명 비공개","price_band":"165억","size_signal":"580평(약 1917.4㎡)"},"extractedFacts":{"region":"서초","exactAddressCandidate":"해당 권역","assetType":"건물명 비공개","priceText":"165억","sizeText":"580평(약 1917.4㎡)","currentUse":"근린생활시설","currentUseSignal":"근린생활시설","leaseSignal":"임대중","vacancySignal":"공실없음","tenantNames":,"unitRentTexts":,"sellerMotivationText":"자산 효율화","brokerNotes":"역세권 매물"},"detectedSensitiveFields":"exact_address","ambiguousFields":,"warnings":,"areaSignal":"서초","assetType":"건물명 비공개","priceBand":"165억","sizeSignal":"580평(약 1917.4㎡)","dealType":"매각","buildingName":"건물명 비공개","exactAddress":"서초구 서초동 1320-5","totalFloorArea":1917.364,"buildYear":2015,"currentUseSignal":"근린생활시설","vacancySignal":"공실 없음","fitSummary":"서초 권역 입지의 건물명 비공개 매각 물건","cautionSummary":"권리관계 및 현장 실사 확인 필요","hiddenFields":"exact_address","seller_motivation","confidence":{"areaSignal":"confirmed","assetType":"confirmed","priceBand":"confirmed","fitSummary":"ai_hypothesis"},"missingData":,"boundaryNote":"본 자료는 실거래 통계 기반 참고치입니다.","buyerType":"법인 사옥형","budgetRange":{"min":70,"max":70,"display":"165억"},"preferredRegions":"강남","성수","assetTypes":"건물명 비공개","사옥용","purchasePurpose":"사옥용 매입","mustHave":"역세권 도보 3분 이내","주차","niceToHave":"테라스","루프탑","riskTolerance":"medium","financingNote":"자본금 50% 준비","missingQuestions":"구체적인 입주 시기가 언제인가요?","선호하는 수익률이 있나요?","privacyNotes":"연락처 비공개","fitReasons":"매수자 예산(165억)에 부합하는 매물입니다.","요청하신 성수/강남 권역에 해당합니다.","cautionReasons":"요청한 용도와 달리 명도 협의가 다소 필요합니다.","recommendedNextAction":"현장 답사 제안","kakaoMessage":"안녕하세요! 요청하신 조건에 부합하는 추천 매물이 있어 안내해 드립니다. 확인해보시고 피드백 부탁드립니다.","title":"서초 역세권 도보 3분 이내 건물명 비공개 매각","shortSummary":"서초역 도보 거리의 우량 건물명 비공개 매물입니다.","dealPoints":"역세권 도보 3분 이내","개발 및 사옥 최적","cautionPoints":"권리관계 확인 필요","hiddenInfoNotice":"보증금 및 지번은 인가 후 확인 가능","gateMessage":"G1 등급 등록이 필요합니다.","kakaoText":"서초 건물명 비공개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931920"/>
            <a:ext cx="6858000" cy="5486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3931920"/>
            <a:ext cx="24003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67228" y="3931920"/>
            <a:ext cx="42748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165억 원 (VAT 별도)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14" name="Shape 12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5" name="Text 1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비공개]","price_band":"165억","size_signal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렌트롤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면적(평)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계약종료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B1~B2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주차장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대형약국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1,200만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안과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1,100만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피부과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1,050만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정형외과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치과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6F~7F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어학원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130평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15,000만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650만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Plan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스태킹 플랜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4983480" cy="4800600"/>
          </a:xfrm>
          <a:prstGeom prst="roundRect">
            <a:avLst>
              <a:gd name="adj" fmla="val 114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99616"/>
            <a:ext cx="4581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건축 입면 셋백 및 층별 단면 실루엣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앵커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3677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65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0545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리테일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7413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34155"/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5701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주차/기계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42816" y="1773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EF4444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696" y="175564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092708" y="1993392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65860" y="199339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1F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1388" y="199339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1092708" y="2235708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65860" y="223570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61388" y="223570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1092708" y="2478024"/>
            <a:ext cx="393192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65860" y="2478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3F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1388" y="247802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191006" y="2720340"/>
            <a:ext cx="3735324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64158" y="27203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4F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59686" y="2720340"/>
            <a:ext cx="2135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1289304" y="2962656"/>
            <a:ext cx="3538728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62456" y="296265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157984" y="296265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1839773" y="3204972"/>
            <a:ext cx="243779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912925" y="320497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6F~7F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08453" y="32049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36" name="Text 34"/>
          <p:cNvSpPr/>
          <p:nvPr/>
        </p:nvSpPr>
        <p:spPr>
          <a:xfrm>
            <a:off x="4350715" y="32049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🌿 테라스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41248" y="3538728"/>
            <a:ext cx="443484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886968" y="3474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지표면 (GL ±0.0m)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12648" y="36210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-3.5m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32688" y="3621024"/>
            <a:ext cx="4251960" cy="22860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3621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B1~B2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801368" y="362102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806440" y="1353312"/>
            <a:ext cx="5818327" cy="4800600"/>
          </a:xfrm>
          <a:prstGeom prst="roundRect">
            <a:avLst>
              <a:gd name="adj" fmla="val 1143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07608" y="1499616"/>
            <a:ext cx="54159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층별 면적 및 임대차 제원 매트릭스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00760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8076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08076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126,346.7평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08076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38903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6219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46219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746219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계약면적 대비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8770468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43620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843620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8843620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10151897" y="1773936"/>
            <a:ext cx="1271702" cy="713232"/>
          </a:xfrm>
          <a:prstGeom prst="roundRect">
            <a:avLst>
              <a:gd name="adj" fmla="val 641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225049" y="1847088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공실률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10225049" y="2011680"/>
            <a:ext cx="1125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225049" y="2267712"/>
            <a:ext cx="11253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전층 만실 운용</a:t>
            </a:r>
            <a:endParaRPr lang="en-US" sz="72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608" y="2633472"/>
          <a:ext cx="5413248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1051560"/>
                <a:gridCol w="713232"/>
                <a:gridCol w="713232"/>
                <a:gridCol w="1792224"/>
                <a:gridCol w="5486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주용도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전용(평)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임대(평)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입주사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B1~B2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120396.7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55181.8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65214.9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1100.0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65214.9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1050.0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65214.9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1000.0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65214.9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6F~7F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130429.8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650.0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전층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만실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566867.9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126,346.7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 </a:t>
                      </a:r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운용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977024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</a:t>
                      </a:r>
                      <a:endParaRPr lang="en-US" sz="8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2" name="Text 59"/>
          <p:cNvSpPr/>
          <p:nvPr/>
        </p:nvSpPr>
        <p:spPr>
          <a:xfrm>
            <a:off x="6007608" y="5861304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제원은 건축물대장 및 임대차계약서 실측 기준입니다.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현황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공실 없음 (7구획 중 7구획 임대중)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 합계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5,950만 원/월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임대 수입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7.1억 원/년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C6F6D5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276749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674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임차인 구성 안정성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주차장: 1구획, 대형약국: 1구획, 안과: 1구획, 피부과: 1구획, 정형외과: 1구획, 치과: 1구획, 어학원: 1구획</a:t>
            </a:r>
            <a:endParaRPr lang="en-US" sz="93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B1~B2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주차장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120평(약 396.7㎡)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07738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대형약국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72330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55평(약 181.8㎡)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8549" y="155448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168249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190195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안과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3141" y="223113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65평(약 214.9㎡)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25526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피부과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65평(약 214.9㎡)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07738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2330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72330" y="325526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정형외과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72330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65평(약 214.9㎡)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8048549" y="290779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13141" y="303580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213141" y="325526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치과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213141" y="358444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65평(약 214.9㎡)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566928" y="421538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4270248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432511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454456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비공개]","price_band":"165억","size_signal":"580평(약 1917.4㎡)"},"extractedFacts":{"region":"서초","exactAddressCandidate":"해당 권역","assetType":"[건물명 비공개]","priceText":"165억","sizeText":"580평(약 1917.4㎡)","currentUse":"근린생활시설","currentUseSignal":"근린생활시설","leaseSignal":"공실","vacancySignal":"공실 발생","tenantNames":[],"unitRentTexts":[],"sellerMotivationText":"자산 효율화","brokerNotes":["역세권 매물"]},"detectedSensitiveFields":["exact_address"],"ambiguousFields":[],"warnings":[],"areaSignal":"서초","assetType":"[건물명 비공개]","priceBand":"165억","sizeSignal":"580평(약 1917.4㎡)","dealType":"매각","buildingName":"[건물명 비공개]","exactAddress":"서초구 서초동 1320-5","totalFloorArea":1917.364,"buildYear":2015,"currentUseSignal":"근린생활시설","vacancySignal":"공실 발생","fitSummary":"서초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사옥형","budgetRange":{"min":70,"max":70,"display":"165억"},"preferredRegions":["강남","성수"],"assetTypes":["[건물명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예산(165억)에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부탁드립니다.","title":"서초 역세권 도보 3분 이내 [건물명 비공개] 매각","shortSummary":"서초역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필요합니다.","kakaoText":"서초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 ### 층별 임대 현황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자본구조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총취득원가 및 자기자본 소요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5528" y="201168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 (A)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670661" y="201168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165.0억 원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" y="248716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8716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(4.6% 법정)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70661" y="248716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7.59억 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" y="2962656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962656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중개보수 (0.9% 한도)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70661" y="2962656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1.49억 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" y="3438144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438144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총취득원가 (A + 세/비용)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670661" y="3438144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174.1억 원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5528" y="3913632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913632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임대보증금 승계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70661" y="3913632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11.5억 원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95528" y="4389120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389120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(-) 담보대출 조달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70661" y="4389120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82.5억 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" y="4864608"/>
            <a:ext cx="493456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864608"/>
            <a:ext cx="18751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 (Net Equity)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70661" y="4864608"/>
            <a:ext cx="305942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80.1억 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3008" y="1417320"/>
            <a:ext cx="5391760" cy="4389120"/>
          </a:xfrm>
          <a:prstGeom prst="roundRect">
            <a:avLst>
              <a:gd name="adj" fmla="val 125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1608" y="1618488"/>
            <a:ext cx="493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LTV 시나리오별 레버리지 효과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1608" y="2057400"/>
          <a:ext cx="4934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대출비율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실투자금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예상수익률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전액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자기자본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(무차입)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162.6억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4.39%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보수적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(안정형)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96.6억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4.11%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(기본형)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80.1억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3.97%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적극적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차입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(레버리지)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63.6억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3.76%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6461608" y="4069080"/>
            <a:ext cx="4934560" cy="1463040"/>
          </a:xfrm>
          <a:prstGeom prst="roundRect">
            <a:avLst>
              <a:gd name="adj" fmla="val 3750"/>
            </a:avLst>
          </a:prstGeom>
          <a:solidFill>
            <a:srgbClr val="FEEBC8"/>
          </a:solidFill>
          <a:ln/>
        </p:spPr>
      </p:sp>
      <p:sp>
        <p:nvSpPr>
          <p:cNvPr id="32" name="Shape 29"/>
          <p:cNvSpPr/>
          <p:nvPr/>
        </p:nvSpPr>
        <p:spPr>
          <a:xfrm>
            <a:off x="6461608" y="4123944"/>
            <a:ext cx="36576" cy="1353312"/>
          </a:xfrm>
          <a:prstGeom prst="rect">
            <a:avLst/>
          </a:prstGeom>
          <a:solidFill>
            <a:srgbClr val="9C4221"/>
          </a:solidFill>
          <a:ln/>
        </p:spPr>
      </p:sp>
      <p:sp>
        <p:nvSpPr>
          <p:cNvPr id="33" name="Text 30"/>
          <p:cNvSpPr/>
          <p:nvPr/>
        </p:nvSpPr>
        <p:spPr>
          <a:xfrm>
            <a:off x="6644488" y="4178808"/>
            <a:ext cx="460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C422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역레버리지 유의 구간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6644488" y="4398264"/>
            <a:ext cx="46053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차입 금리가 자산 총수익률을 상회하여 대출 실행 시 자기자본수익률이 하락할 수 있습니다. 에쿼티 비중 확대를 권장합니다.</a:t>
            </a:r>
            <a:endParaRPr lang="en-US" sz="930" dirty="0"/>
          </a:p>
        </p:txBody>
      </p:sp>
      <p:sp>
        <p:nvSpPr>
          <p:cNvPr id="35" name="Text 3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논거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11057839" cy="2560320"/>
          </a:xfrm>
          <a:prstGeom prst="roundRect">
            <a:avLst>
              <a:gd name="adj" fmla="val 2857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11057839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밸류애드 잠재력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10600639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106006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체계적인 임대 관리 및 자산 효율화를 통해 향후 중장기적인 자산 가치 상승을 기대할 수 있습니다. ### 밸류업 시나리오 (AI 추정)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178808"/>
          <a:ext cx="11057839" cy="914400"/>
        </p:xfrm>
        <a:graphic>
          <a:graphicData uri="http://schemas.openxmlformats.org/drawingml/2006/table">
            <a:tbl>
              <a:tblPr/>
              <a:tblGrid>
                <a:gridCol w="2764460"/>
                <a:gridCol w="2764460"/>
                <a:gridCol w="2764460"/>
                <a:gridCol w="27644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시나리오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개선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②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현실화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0.30억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(+5%)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3.86%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불필요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③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리모델링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상승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+약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0.49억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(+8%)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3.97%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15.00억 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" y="534924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5458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487168" y="542239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부 권역 중심에 위치한 우량 [건물명 비공개]입니다. 1. 입지 가치 및 접근성: 대중교통 및 주요 간선도로와의 우수한 연계성을 갖추고 있어 풍부한 유동인구와 배후 임대 수요를 확보하고 있습니다.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11057839" cy="3657600"/>
          </a:xfrm>
          <a:prstGeom prst="roundRect">
            <a:avLst>
              <a:gd name="adj" fmla="val 1500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 리스크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{"ok":true,"mocked":true,"extractedFields":{"area_signal":"서초","asset_type":"[건물명 비공개]","price_band":"165억","size_signal":"580평(약 1917.4㎡)"},"extractedFacts":{"region":"서초","exactAddressCandidate":"해당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oundRect">
            <a:avLst>
              <a:gd name="adj" fmla="val 882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체크리스트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11건)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1556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1810512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2807208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3" name="Text 31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4508" y="3803904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55868" y="4709160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7" name="Text 35"/>
          <p:cNvSpPr/>
          <p:nvPr/>
        </p:nvSpPr>
        <p:spPr>
          <a:xfrm>
            <a:off x="6393028" y="4873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04508" y="4800600"/>
            <a:ext cx="468310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{"ok":true,"mocked":true,"extractedFields":{"area_signal".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40" name="Text 38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11057839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1061892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10618927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{"ok"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true,"mocked":true,"extractedFields":{"area_signal":"서초","asset_type":"[건물명 비공개]","price_band":"165억","size_signal":"580평(약 1917.4㎡)"},"extractedFacts":{"region":"서초","exactAddressCandidate":"해당 권역","assetType":"[건물명 비공개]","priceText":"165억","sizeText":"580평(약 1917.4㎡)","currentUse":"근린생활시설","currentUseSignal":"근린생활시설","leaseSignal":"임대중","vacancySignal":"공실없음","tenantNames":[],"unitRentTexts":[],"sellerMotivationText":"자산 효율화","brokerNotes":["역세권 매물"]},"detectedSensitiveFields":["exact_address"],"ambiguousFields":[],"warnings":[],"areaSignal":"서초","assetType":"[건물명 비공개]","priceBand":"165억","sizeSignal":"580평(약 1917.4㎡)","dealType":"매각","buildingName":"[건물명 비공개]","exactAddress":"서초구 서초동 1320-5","totalFloorArea":1917.364,"buildYear":2015,"currentUseSignal":"근린생활시설","vacancySignal":"공실 없음","fitSummary":"서초 권역 입지의 [건물명 비공개] 매각 물건","cautionSummary":"권리관계 및 현장 실사 확인 필요","hiddenFields":["exact_address","seller_motivation"],"confidence":{"areaSignal":"confirmed","assetType":"confirmed","priceBand":"confirmed","fitSummary":"ai_hypothesis"},"missingData":[],"boundaryNote":"본 자료는 실거래 통계 기반 참고치입니다.","buyerType":"법인 사옥형","budgetRange":{"min":70,"max":70,"display":"165억"},"preferredRegions":["강남","성수"],"assetTypes":["[건물명 비공개]","사옥용"],"purchasePurpose":"사옥용 매입","mustHave":["역세권 도보 3분 이내","주차"],"niceToHave":["테라스","루프탑"],"riskTolerance":"medium","financingNote":"자본금 50% 준비","missingQuestions":["구체적인 입주 시기가 언제인가요?","선호하는 수익률이 있나요?"],"privacyNotes":["연락처 비공개"],"fitReasons":["매수자 예산(165억)에 부합하는 매물입니다.","요청하신 성수/강남 권역에 해당합니다."],"cautionReasons":["요청한 용도와 달리 명도 협의가 다소 필요합니다."],"recommendedNextAction":"현장 답사 제안","kakaoMessage":"안녕하세요! 요청하신 조건에 부합하는 추천 매물이 있어 안내해 드립니다. 확인해보시고 피드백 부탁드립니다.","title":"서초 역세권 도보 3분 이내 [건물명 비공개] 매각","shortSummary":"서초역 도보 거리의 우량 [건물명 비공개] 매물입니다.","dealPoints":["역세권 도보 3분 이내","개발 및 사옥 최적"],"cautionPoints":["권리관계 확인 필요"],"hiddenInfoNotice":["보증금 및 지번은 인가 후 확인 가능"],"gateMessage":"G1 등급 등록이 필요합니다.","kakaoText":"서초 [건물명 비공개] 매각 안내입니다.","exactUnitCandidate":"101호","floor":"1층","areaSqmText":"150㎡","spaceType":"office","depositText":"5000만","monthlyRentText":"400만","maintenanceFeeText":"50만","availableFromText":"즉시입주","leaseTermMonthsText":"24","incentivesText":"렌트프리(무상임대) 2개월","restrictions":[],"landlordIdentity":"김성수","currentTenant":"스타트업","vacancyReason":"이전 확장","rentNegotiation":"협의 가능","region":"성수동","areaSqm":150,"deposit":5000,"monthlyRent":400,"maintenanceFee":50,"availableFrom":"즉시입주","leaseTermMonths":24,"incentives":{"렌트프리(무상임대)(무상임대)Months":2,"interiorSupport":"일부 인테리어 지원","freeRentDetail":"렌트프리(무상임대) 2개월 지원"},"shortSummaryLease":"성수역 도보 5분 거리 1층 리테일 상가 매물입니다."}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414016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5,000㎡ (1512.5평)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1" name="Shape 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2" name="Text 1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자산 개요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도심 비즈니스 권역 소재 우량 투자 자산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대중교통 접근성 및 주변 상업·업무 인프라 밀집 지역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토지이용계획 기준 권리관계 정상 확인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15" name="Shape 1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수익 및 운영 현황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수익형 자산으로 안정적 캐시플로우 확보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임차인 계약 유지 중으로 즉시 수익 실현 가능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및 수선유지 비용 정상 운영 상태</a:t>
            </a:r>
            <a:endParaRPr lang="en-US" sz="930" dirty="0"/>
          </a:p>
        </p:txBody>
      </p:sp>
      <p:sp>
        <p:nvSpPr>
          <p:cNvPr id="18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2026-09-17T08:53:34Z</dcterms:created>
  <dcterms:modified xsi:type="dcterms:W3CDTF">2026-09-17T08:53:34Z</dcterms:modified>
</cp:coreProperties>
</file>