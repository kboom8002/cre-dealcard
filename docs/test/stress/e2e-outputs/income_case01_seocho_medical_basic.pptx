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근생빌딩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근생빌딩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 소재 근생빌딩, 희망가 165억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77.6억 원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313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Rate, 기준: 총임대료 ÷ 매매가격)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425954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3.33%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⚠️ 역레버리지 구간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수익률 3.33% &lt; 금리 4.5%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서초권역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165억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· 개별공시지가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현황과 공실은 실제로 어떤가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005258"/>
                <a:gridCol w="1675430"/>
                <a:gridCol w="1675430"/>
                <a:gridCol w="1675430"/>
                <a:gridCol w="1675430"/>
                <a:gridCol w="1675430"/>
                <a:gridCol w="167543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층수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전용면적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관리비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만기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B1~B2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주차장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120평(약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396.7㎡)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대형약국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55평(약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181.8㎡)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30,000만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65평(약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214.9㎡)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피부과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65평(약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214.9㎡)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1,050만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정형외과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65평(약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214.9㎡)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치과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65평(약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214.9㎡)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6F~7F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어학원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130평(약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429.8㎡)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650만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지표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분석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비고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공실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현황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0.0%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(임대중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·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공실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만실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운영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합계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5,950만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원/월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관리비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별도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(0만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수입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7.1억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원/년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연간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총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수입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총액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11.5억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합계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B1~B2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주차장 (120평(약 396.7㎡))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1F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대형약국 (55평(약 181.8㎡))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25237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523744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2F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172968" y="2523744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안과 (65평(약 214.9㎡))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66928" y="29626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2962656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3F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3172968" y="2962656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피부과 (65평(약 214.9㎡))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66928" y="340156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4F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3172968" y="3401568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정형외과 (65평(약 214.9㎡))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66928" y="384048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" y="384048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5F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3172968" y="384048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치과 (65평(약 214.9㎡))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566928" y="42793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6928" y="427939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6F~7F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3172968" y="427939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어학원 (130평(약 429.8㎡))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566928" y="471830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66928" y="4718304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 현황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3172968" y="4718304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0.0% (임대중 7 · 공실 0) (전 층 만실 운영)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566928" y="515721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5157216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임대료 합계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3172968" y="5157216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5,950만 원/월 (관리비 별도 (0만 원))</a:t>
            </a:r>
            <a:endParaRPr lang="en-US" sz="1350" dirty="0"/>
          </a:p>
        </p:txBody>
      </p:sp>
      <p:sp>
        <p:nvSpPr>
          <p:cNvPr id="33" name="Shape 31"/>
          <p:cNvSpPr/>
          <p:nvPr/>
        </p:nvSpPr>
        <p:spPr>
          <a:xfrm>
            <a:off x="566928" y="559612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66928" y="55961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임대 수입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3172968" y="5596128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7.1억 원/년 (연간 총 임대료 수입)</a:t>
            </a:r>
            <a:endParaRPr lang="en-US" sz="1350" dirty="0"/>
          </a:p>
        </p:txBody>
      </p:sp>
      <p:sp>
        <p:nvSpPr>
          <p:cNvPr id="36" name="Shape 34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38" name="Shape 36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39" name="Text 37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41" name="Text 3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돈 넣으면 수익이 나오는 딜인가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B1~B2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주차장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31520" y="223113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120평(약 396.7㎡)</a:t>
            </a:r>
            <a:endParaRPr lang="en-US" sz="880" dirty="0"/>
          </a:p>
        </p:txBody>
      </p:sp>
      <p:sp>
        <p:nvSpPr>
          <p:cNvPr id="11" name="Shape 9"/>
          <p:cNvSpPr/>
          <p:nvPr/>
        </p:nvSpPr>
        <p:spPr>
          <a:xfrm>
            <a:off x="430773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7233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1F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47233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대형약국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472330" y="223113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55평(약 181.8㎡)</a:t>
            </a:r>
            <a:endParaRPr lang="en-US" sz="880" dirty="0"/>
          </a:p>
        </p:txBody>
      </p:sp>
      <p:sp>
        <p:nvSpPr>
          <p:cNvPr id="15" name="Shape 13"/>
          <p:cNvSpPr/>
          <p:nvPr/>
        </p:nvSpPr>
        <p:spPr>
          <a:xfrm>
            <a:off x="8048549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13141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2F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8213141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안과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213141" y="223113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65평(약 214.9㎡)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566928" y="2907792"/>
            <a:ext cx="3576218" cy="1051560"/>
          </a:xfrm>
          <a:prstGeom prst="roundRect">
            <a:avLst>
              <a:gd name="adj" fmla="val 5217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303580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3F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31520" y="3255264"/>
            <a:ext cx="324703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피부과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31520" y="3584448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65평(약 214.9㎡)</a:t>
            </a:r>
            <a:endParaRPr lang="en-US" sz="880" dirty="0"/>
          </a:p>
        </p:txBody>
      </p:sp>
      <p:sp>
        <p:nvSpPr>
          <p:cNvPr id="23" name="Shape 21"/>
          <p:cNvSpPr/>
          <p:nvPr/>
        </p:nvSpPr>
        <p:spPr>
          <a:xfrm>
            <a:off x="4307738" y="2907792"/>
            <a:ext cx="3576218" cy="1051560"/>
          </a:xfrm>
          <a:prstGeom prst="roundRect">
            <a:avLst>
              <a:gd name="adj" fmla="val 5217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472330" y="303580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4F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472330" y="3255264"/>
            <a:ext cx="324703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정형외과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4472330" y="3584448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65평(약 214.9㎡)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8048549" y="2907792"/>
            <a:ext cx="3576218" cy="1051560"/>
          </a:xfrm>
          <a:prstGeom prst="roundRect">
            <a:avLst>
              <a:gd name="adj" fmla="val 5217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13141" y="303580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5F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8213141" y="3255264"/>
            <a:ext cx="324703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치과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8213141" y="3584448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65평(약 214.9㎡)</a:t>
            </a:r>
            <a:endParaRPr lang="en-US" sz="880" dirty="0"/>
          </a:p>
        </p:txBody>
      </p:sp>
      <p:sp>
        <p:nvSpPr>
          <p:cNvPr id="31" name="Shape 29"/>
          <p:cNvSpPr/>
          <p:nvPr/>
        </p:nvSpPr>
        <p:spPr>
          <a:xfrm>
            <a:off x="566928" y="4215384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32" name="Shape 30"/>
          <p:cNvSpPr/>
          <p:nvPr/>
        </p:nvSpPr>
        <p:spPr>
          <a:xfrm>
            <a:off x="566928" y="4270248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33" name="Text 31"/>
          <p:cNvSpPr/>
          <p:nvPr/>
        </p:nvSpPr>
        <p:spPr>
          <a:xfrm>
            <a:off x="749808" y="4325112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749808" y="4544568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 ### 층별 임대 현황</a:t>
            </a:r>
            <a:endParaRPr lang="en-US" sz="930" dirty="0"/>
          </a:p>
        </p:txBody>
      </p:sp>
      <p:sp>
        <p:nvSpPr>
          <p:cNvPr id="35" name="Text 33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비교사례</a:t>
            </a:r>
            <a:endParaRPr lang="en-US" sz="2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005258"/>
                <a:gridCol w="1675430"/>
                <a:gridCol w="1675430"/>
                <a:gridCol w="1675430"/>
                <a:gridCol w="1675430"/>
                <a:gridCol w="1675430"/>
                <a:gridCol w="167543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층수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전용면적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관리비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만기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B1~B2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주차장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120평(약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396.7㎡)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대형약국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55평(약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181.8㎡)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30,000만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65평(약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214.9㎡)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피부과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65평(약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214.9㎡)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1,050만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정형외과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65평(약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214.9㎡)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치과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65평(약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214.9㎡)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6F~7F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어학원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130평(약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429.8㎡)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650만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지표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분석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비고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공실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현황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0.0%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(임대중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·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공실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만실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운영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합계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5,950만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원/월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관리비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별도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(0만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수입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7.1억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원/년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연간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총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수입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총액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11.5억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합계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7.59억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1.49억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174.1억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11.5억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82.5억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80.1억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162.6억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4.39%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96.6억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80.1억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3.97%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63.6억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3.76%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건물을 사야 하는가</a:t>
            </a:r>
            <a:endParaRPr lang="en-US" sz="2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023360"/>
          <a:ext cx="11057839" cy="914400"/>
        </p:xfrm>
        <a:graphic>
          <a:graphicData uri="http://schemas.openxmlformats.org/drawingml/2006/table">
            <a:tbl>
              <a:tblPr/>
              <a:tblGrid>
                <a:gridCol w="2764460"/>
                <a:gridCol w="2764460"/>
                <a:gridCol w="2764460"/>
                <a:gridCol w="27644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시나리오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NOI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Cap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Rate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투자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비용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②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현실화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0.30억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3.86%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불필요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③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리모델링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후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상승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0.49억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(+8%)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3.97%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15.00억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5193792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5303520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2487168" y="5266944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 ### 밸류업 시나리오 (AI 추정)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공부 발췌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표제부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(1512.5평)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2026-09-06T12:24:20Z</dcterms:created>
  <dcterms:modified xsi:type="dcterms:W3CDTF">2026-09-06T12:24:20Z</dcterms:modified>
</cp:coreProperties>
</file>