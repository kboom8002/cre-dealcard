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6B8E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 rot="120000">
            <a:off x="8412480" y="548640"/>
            <a:ext cx="3291840" cy="5760720"/>
          </a:xfrm>
          <a:prstGeom prst="rect">
            <a:avLst/>
          </a:prstGeom>
          <a:solidFill>
            <a:srgbClr val="0F172A">
              <a:alpha val="12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0" y="53035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상업용 부동산 투자 플랫폼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꼬마빌딩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꼬마빌딩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58억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4F6A00"/>
          </a:solidFill>
          <a:ln w="12700">
            <a:solidFill>
              <a:srgbClr val="6B8E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58억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Summary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마포권역 내 꼬마빌딩, 매각 희망가 58억. 입지·임대차 현황을 감안할 때 투자 검토 가치가 있는 물건입니다.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6B8E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58억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실투자금(내 돈)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55억 원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순수익률(Cap Rate)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3.74%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자기자본수익률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3.95%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2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Location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053328" y="1481328"/>
            <a:ext cx="21171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170475" y="1481328"/>
            <a:ext cx="34542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{"ok":true,"mocked":true,"extractedFields":{"area_signal":"역…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3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Building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빌딩, 어떤 자산인가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DBEAFE"/>
          </a:solidFill>
          <a:ln/>
        </p:spPr>
      </p:sp>
      <p:sp>
        <p:nvSpPr>
          <p:cNvPr id="10" name="Shape 8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1" name="Text 9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건물 분석 포인트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서초대로 25m 메인 도로변 우수한 가시성 확보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제3종일반주거지역 법정 용적률 완비 자산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침대용 승강기 완비로 병의원 입점 최적화 구조</a:t>
            </a:r>
            <a:endParaRPr lang="en-US" sz="930" dirty="0"/>
          </a:p>
        </p:txBody>
      </p:sp>
      <p:sp>
        <p:nvSpPr>
          <p:cNvPr id="13" name="Shape 11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DBEAFE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실사 및 관리 상태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 준공 신축급 상태로 누수·균열 0건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단독 법인 소유로 권리관계 투명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1금융권 담보대출 85억 원 승계 적격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4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Rent Roll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현황과 공실은 실제로 어떤가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5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Profit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돈 넣으면 수익이 나오는 딜인가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4173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172968" y="14173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6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Risk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503066" cy="36118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417320"/>
            <a:ext cx="3503066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417320"/>
            <a:ext cx="3503066" cy="4572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3045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29384"/>
            <a:ext cx="30458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95528" y="2313432"/>
            <a:ext cx="304586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7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786384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Thesis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빌딩을 사야 하는가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49808" y="950976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481328"/>
            <a:ext cx="3472586" cy="3474720"/>
          </a:xfrm>
          <a:prstGeom prst="roundRect">
            <a:avLst>
              <a:gd name="adj" fmla="val 2107"/>
            </a:avLst>
          </a:prstGeom>
          <a:solidFill>
            <a:srgbClr val="F8FAFC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81328"/>
            <a:ext cx="3472586" cy="54864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8" name="Shape 6"/>
          <p:cNvSpPr/>
          <p:nvPr/>
        </p:nvSpPr>
        <p:spPr>
          <a:xfrm>
            <a:off x="795528" y="1755648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A3D900"/>
          </a:solidFill>
          <a:ln/>
        </p:spPr>
      </p:sp>
      <p:sp>
        <p:nvSpPr>
          <p:cNvPr id="9" name="Text 7"/>
          <p:cNvSpPr/>
          <p:nvPr/>
        </p:nvSpPr>
        <p:spPr>
          <a:xfrm>
            <a:off x="795528" y="1755648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95528" y="2194560"/>
            <a:ext cx="30153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원금 안전판 확보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95528" y="2624328"/>
            <a:ext cx="3015386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2779776"/>
            <a:ext cx="301538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마포권역의 핵심 입지로, 우량한 대지 지분 가치가 하방 경직성을 강력히 지지합니다.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359554" y="1481328"/>
            <a:ext cx="3472586" cy="3474720"/>
          </a:xfrm>
          <a:prstGeom prst="roundRect">
            <a:avLst>
              <a:gd name="adj" fmla="val 2107"/>
            </a:avLst>
          </a:prstGeom>
          <a:solidFill>
            <a:srgbClr val="F8FAFC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59554" y="1481328"/>
            <a:ext cx="3472586" cy="54864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15" name="Shape 13"/>
          <p:cNvSpPr/>
          <p:nvPr/>
        </p:nvSpPr>
        <p:spPr>
          <a:xfrm>
            <a:off x="4588154" y="1755648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A3D900"/>
          </a:solidFill>
          <a:ln/>
        </p:spPr>
      </p:sp>
      <p:sp>
        <p:nvSpPr>
          <p:cNvPr id="16" name="Text 14"/>
          <p:cNvSpPr/>
          <p:nvPr/>
        </p:nvSpPr>
        <p:spPr>
          <a:xfrm>
            <a:off x="4588154" y="1755648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88154" y="2194560"/>
            <a:ext cx="30153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확실한 월 현금흐름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588154" y="2624328"/>
            <a:ext cx="3015386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88154" y="2779776"/>
            <a:ext cx="301538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우량 테넌트 만실 운영 및 장기 계약 구조를 통해 매월 안정적인 순수익 창출이 검토 여지가 있으나, 관련 법규·인허가·시설 요건의 현장 확인이 필요합니다..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152181" y="1481328"/>
            <a:ext cx="3472586" cy="3474720"/>
          </a:xfrm>
          <a:prstGeom prst="roundRect">
            <a:avLst>
              <a:gd name="adj" fmla="val 2107"/>
            </a:avLst>
          </a:prstGeom>
          <a:solidFill>
            <a:srgbClr val="F8FAFC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152181" y="1481328"/>
            <a:ext cx="3472586" cy="54864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22" name="Shape 20"/>
          <p:cNvSpPr/>
          <p:nvPr/>
        </p:nvSpPr>
        <p:spPr>
          <a:xfrm>
            <a:off x="8380781" y="1755648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A3D900"/>
          </a:solidFill>
          <a:ln/>
        </p:spPr>
      </p:sp>
      <p:sp>
        <p:nvSpPr>
          <p:cNvPr id="23" name="Text 21"/>
          <p:cNvSpPr/>
          <p:nvPr/>
        </p:nvSpPr>
        <p:spPr>
          <a:xfrm>
            <a:off x="8380781" y="1755648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380781" y="2194560"/>
            <a:ext cx="30153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가치 상승 및 출구 전략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8380781" y="2624328"/>
            <a:ext cx="3015386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380781" y="2779776"/>
            <a:ext cx="301538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현행 공법 여력을 활용한 밸류업 기회와 더불어 향후 권역 지가 상승에 따른 시세차익 실현이 유력합니다.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66928" y="5138928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E8F5CC"/>
          </a:solidFill>
          <a:ln w="10160">
            <a:solidFill>
              <a:srgbClr val="A3D9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49808" y="5248656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💡 종합 가치 제안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2441448" y="5230368"/>
            <a:ext cx="90004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자산의 3대 핵심 투자 포인트와 예상 매수자 유형 분석입니다. &gt; 밸류업 시나리오는 AI 추정이며 실제 시장 조건에 따라 다를 수 있습니다.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8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Process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11057839" cy="320040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572768"/>
            <a:ext cx="11057839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6B8E00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9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Disclaimer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5179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847088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84708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139696" y="1828800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504688" y="184708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2505456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05456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139696" y="248716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504688" y="2505456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0.95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3163824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5" name="Text 13"/>
          <p:cNvSpPr/>
          <p:nvPr/>
        </p:nvSpPr>
        <p:spPr>
          <a:xfrm>
            <a:off x="566928" y="3163824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139696" y="3145536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504688" y="3163824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0.65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3822192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3822192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139696" y="3803904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504688" y="382219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0.60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4480560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23" name="Text 21"/>
          <p:cNvSpPr/>
          <p:nvPr/>
        </p:nvSpPr>
        <p:spPr>
          <a:xfrm>
            <a:off x="566928" y="448056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139696" y="4462272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504688" y="448056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0.30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92240" y="151790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92240" y="1847088"/>
            <a:ext cx="5129784" cy="2615184"/>
          </a:xfrm>
          <a:prstGeom prst="roundRect">
            <a:avLst>
              <a:gd name="adj" fmla="val 1399"/>
            </a:avLst>
          </a:prstGeom>
          <a:solidFill>
            <a:srgbClr val="1E293B"/>
          </a:solidFill>
          <a:ln/>
        </p:spPr>
      </p:sp>
      <p:sp>
        <p:nvSpPr>
          <p:cNvPr id="28" name="Text 26"/>
          <p:cNvSpPr/>
          <p:nvPr/>
        </p:nvSpPr>
        <p:spPr>
          <a:xfrm>
            <a:off x="6711696" y="2011680"/>
            <a:ext cx="46908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3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30" dirty="0"/>
          </a:p>
        </p:txBody>
      </p:sp>
      <p:sp>
        <p:nvSpPr>
          <p:cNvPr id="29" name="Shape 27"/>
          <p:cNvSpPr/>
          <p:nvPr/>
        </p:nvSpPr>
        <p:spPr>
          <a:xfrm>
            <a:off x="566928" y="5230368"/>
            <a:ext cx="11057839" cy="640080"/>
          </a:xfrm>
          <a:prstGeom prst="rect">
            <a:avLst/>
          </a:prstGeom>
          <a:solidFill>
            <a:srgbClr val="4F6A00"/>
          </a:solidFill>
          <a:ln/>
        </p:spPr>
      </p:sp>
      <p:sp>
        <p:nvSpPr>
          <p:cNvPr id="30" name="Text 28"/>
          <p:cNvSpPr/>
          <p:nvPr/>
        </p:nvSpPr>
        <p:spPr>
          <a:xfrm>
            <a:off x="786384" y="5321808"/>
            <a:ext cx="106189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자료(등기·임대차계약서) 및 1:1 비밀 상담은 담당 전문 중개사를 통해 제공됩니다.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10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2026-08-16T06:16:34Z</dcterms:created>
  <dcterms:modified xsi:type="dcterms:W3CDTF">2026-08-16T06:16:34Z</dcterms:modified>
</cp:coreProperties>
</file>