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income IM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꼬마빌딩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68503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685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꼬마빌딩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64208" y="368503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1664208" y="3685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58억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4187952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97680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58억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마포권역 소재 꼬마빌딩, 희망가 58억 원 투자 검토 자료입니다.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58억 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07738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233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수익률(Cap Rate, 기준: 총임대료 ÷ 매매가격)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72330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3.74%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048549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3141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13141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만실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66928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58.2억 원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307738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72330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72330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1513평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048549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13141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13141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303평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66928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07008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대중교통 역세권 입지, 마포권역 업무·상업 중심지 배후 수요 확보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6656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207008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안정성: 연 순수익률(Cap Rate) 3.74% 기반 안정적 임대수익 자산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56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207008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규모: 대지 303평·연면적 1513평 규모 단독 빌딩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· 개별공시지가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1,000㎡ (302.5평)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BEE3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70078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197510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 기준 건폐율 -% 이하, 용적률 -% 이하 적용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형상 및 도로 접면 여건 확인 기반 최적 토지이용계획 수립 가능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true,"mocked":true,"extractedFields":{"area_signal":"서교","asset_type":"건물명 비공개","price_band":"58억","size_signal":"580평(약 1917.4㎡)"},"extractedFacts":{"region":"서교","exactAddressCandidate":"해당 권역","assetType":"건물명 비공개","priceText":"58억","sizeText":"580평(약 1917.4㎡)","currentUse":"근린생활시설","currentUseSignal":"근린생활시설","leaseSignal":"임대중","vacancySignal":"공실없음","tenantNames":,"unitRentTexts":,"sellerMotivationText":"자산 효율화","brokerNotes":"역세권 매물"},"detectedSensitiveFields":"exact_address","ambiguousFields":,"warnings":,"areaSignal":"서교","assetType":"건물명 비공개","priceBand":"58억","sizeSignal":"580평(약 1917.4㎡)","dealType":"매각","buildingName":"건물명 비공개","exactAddress":"마포구 서교동 395-88","totalFloorArea":1917.364,"buildYear":2015,"currentUseSignal":"근린생활시설","vacancySignal":"공실 없음","fitSummary":"서교 권역 입지의 건물명 비공개 매각 물건","cautionSummary":"권리관계 및 현장 실사 확인 필요","hiddenFields":"exact_address","seller_motivation","confidence":{"areaSignal":"confirmed","assetType":"confirmed","priceBand":"confirmed","fitSummary":"ai_hypothesis"},"missingData":,"boundaryNote":"본 자료는 실거래 통계 기반 참고치입니다.","buyerType":"법인 사옥형","budgetRange":{"min":70,"max":70,"display":"58억"},"preferredRegions":"강남","성수","assetTypes":"건물명 비공개","사옥용","purchasePurpose":"사옥용 매입","mustHave":"역세권 도보 3분 이내","주차","niceToHave":"테라스","루프탑","riskTolerance":"medium","financingNote":"자본금 50% 준비","missingQuestions":"구체적인 입주 시기가 언제인가요?","선호하는 수익률이 있나요?","privacyNotes":"연락처 비공개","fitReasons":"매수자 예산(58억)에 부합하는 매물입니다.","요청하신 성수/강남 권역에 해당합니다.","cautionReasons":"요청한 용도와 달리 명도 협의가 다소 필요합니다.","recommendedNextAction":"현장 답사 제안","kakaoMessage":"안녕하세요! 요청하신 조건에 부합하는 추천 매물이 있어 안내해 드립니다. 확인해보시고 피드백 부탁드립니다.","title":"서교 역세권 도보 3분 이내 건물명 비공개 매각","shortSummary":"서교역 도보 거리의 우량 건물명 비공개 매물입니다.","dealPoints":"역세권 도보 3분 이내","개발 및 사옥 최적","cautionPoints":"권리관계 확인 필요","hiddenInfoNotice":"보증금 및 지번은 인가 후 확인 가능","gateMessage":"G1 등급 등록이 필요합니다.","kakaoText":"서교 건물명 비공개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3931920"/>
            <a:ext cx="6858000" cy="5486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931920"/>
            <a:ext cx="2400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67228" y="3931920"/>
            <a:ext cx="4274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58억 원 (VAT 별도)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F3EBDA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{"ok":true,"mocked":true,"extractedFields":{"area_signal":"서교","asset_type":"[건물명 비공개]","price_band":"58억","size_signal"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렌트롤</a:t>
            </a:r>
            <a:endParaRPr lang="en-US" sz="2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1184768"/>
                <a:gridCol w="1974614"/>
                <a:gridCol w="1974614"/>
                <a:gridCol w="1974614"/>
                <a:gridCol w="1974614"/>
                <a:gridCol w="1974614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면적(평)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계약종료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B1~2F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F&amp;B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브런치펍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20,000만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1,650만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3F~4F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디자인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스튜디오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63평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10,000만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700만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Stacking Plan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스태킹 플랜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53312"/>
            <a:ext cx="4983480" cy="4800600"/>
          </a:xfrm>
          <a:prstGeom prst="roundRect">
            <a:avLst>
              <a:gd name="adj" fmla="val 1143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499616"/>
            <a:ext cx="4581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건축 입면 셋백 및 층별 단면 실루엣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" y="1773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E3A8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7556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앵커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636776" y="1773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47556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19656" y="17556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05456" y="1773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88336" y="17556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리테일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74136" y="1773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3415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57016" y="17556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주차/기계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42816" y="1773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25696" y="17556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879092" y="1993392"/>
            <a:ext cx="2359152" cy="22860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52244" y="19933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3F~4F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747772" y="19933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4311396" y="19933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🌿 테라스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841248" y="2327148"/>
            <a:ext cx="443484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886968" y="22631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지표면 (GL ±0.0m)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12648" y="240944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-3.5m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932688" y="2409444"/>
            <a:ext cx="4251960" cy="22860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240944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B1~2F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801368" y="240944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5806440" y="1353312"/>
            <a:ext cx="5818327" cy="4800600"/>
          </a:xfrm>
          <a:prstGeom prst="roundRect">
            <a:avLst>
              <a:gd name="adj" fmla="val 1143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07608" y="1499616"/>
            <a:ext cx="54159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층별 면적 및 임대차 제원 매트릭스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007608" y="1773936"/>
            <a:ext cx="1271702" cy="713232"/>
          </a:xfrm>
          <a:prstGeom prst="roundRect">
            <a:avLst>
              <a:gd name="adj" fmla="val 641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1847088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080760" y="2011680"/>
            <a:ext cx="11253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2,350평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080760" y="2267712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7389038" y="1773936"/>
            <a:ext cx="1271702" cy="713232"/>
          </a:xfrm>
          <a:prstGeom prst="roundRect">
            <a:avLst>
              <a:gd name="adj" fmla="val 641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62190" y="1847088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전용률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462190" y="2011680"/>
            <a:ext cx="11253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462190" y="2267712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계약면적 대비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8770468" y="1773936"/>
            <a:ext cx="1271702" cy="713232"/>
          </a:xfrm>
          <a:prstGeom prst="roundRect">
            <a:avLst>
              <a:gd name="adj" fmla="val 641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43620" y="1847088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WALE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843620" y="2011680"/>
            <a:ext cx="11253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8843620" y="2267712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잔여 임대기간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10151897" y="1773936"/>
            <a:ext cx="1271702" cy="713232"/>
          </a:xfrm>
          <a:prstGeom prst="roundRect">
            <a:avLst>
              <a:gd name="adj" fmla="val 641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225049" y="1847088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공실률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0225049" y="2011680"/>
            <a:ext cx="11253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0225049" y="2267712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전층 만실 운용</a:t>
            </a:r>
            <a:endParaRPr lang="en-US" sz="72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07608" y="2633472"/>
          <a:ext cx="5413248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1051560"/>
                <a:gridCol w="713232"/>
                <a:gridCol w="713232"/>
                <a:gridCol w="1792224"/>
                <a:gridCol w="54864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주용도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전용(평)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임대(평)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입주사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B1~2F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업무시설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95314.0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1650.0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3F~4F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업무시설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63208.3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700.0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770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770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전층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770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만실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770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158522.3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770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2,350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770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일반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770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770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운용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770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7" name="Text 44"/>
          <p:cNvSpPr/>
          <p:nvPr/>
        </p:nvSpPr>
        <p:spPr>
          <a:xfrm>
            <a:off x="6007608" y="5861304"/>
            <a:ext cx="5413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제원은 건축물대장 및 임대차계약서 실측 기준입니다.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임대안정성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현황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없음 (2구획 중 2구획 임대중)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임대료 합계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2,350만 원/월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임대 수입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2.8억 원/년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62656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임차인 구성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84287" y="164592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C6F6D5"/>
          </a:solidFill>
          <a:ln/>
        </p:spPr>
      </p:sp>
      <p:sp>
        <p:nvSpPr>
          <p:cNvPr id="19" name="Shape 17"/>
          <p:cNvSpPr/>
          <p:nvPr/>
        </p:nvSpPr>
        <p:spPr>
          <a:xfrm>
            <a:off x="7784287" y="1700784"/>
            <a:ext cx="36576" cy="1536192"/>
          </a:xfrm>
          <a:prstGeom prst="rect">
            <a:avLst/>
          </a:prstGeom>
          <a:solidFill>
            <a:srgbClr val="276749"/>
          </a:solidFill>
          <a:ln/>
        </p:spPr>
      </p:sp>
      <p:sp>
        <p:nvSpPr>
          <p:cNvPr id="20" name="Text 18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7674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임차인 구성 안정성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967167" y="1975104"/>
            <a:ext cx="35112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F&amp;B 브런치펍: 1구획, 디자인 스튜디오: 1구획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수익구조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2588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5448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8249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B1~2F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190195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F&amp;B 브런치펍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2231136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95평(약 314㎡)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307738" y="155448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2330" y="168249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3F~4F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72330" y="190195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스튜디오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72330" y="2231136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63평(약 208.3㎡)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8048549" y="155448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3141" y="168249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13141" y="190195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0.0% (임대중 2 · 공실 0)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13141" y="2231136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층 만실 운영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566928" y="290779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03580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임대료 합계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" y="3255264"/>
            <a:ext cx="324703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2,350만 원/월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" y="3584448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별도 (0만 원)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4307738" y="290779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72330" y="303580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임대 수입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472330" y="3255264"/>
            <a:ext cx="324703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2.8억 원/년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472330" y="3584448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총 임대료 수입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8048549" y="290779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13141" y="303580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총액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213141" y="3255264"/>
            <a:ext cx="324703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3.0억 원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213141" y="3584448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임차인 보증금 합계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66928" y="4215384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32" name="Shape 30"/>
          <p:cNvSpPr/>
          <p:nvPr/>
        </p:nvSpPr>
        <p:spPr>
          <a:xfrm>
            <a:off x="566928" y="4270248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" y="4325112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9808" y="4544568"/>
            <a:ext cx="10728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{"ok":true,"mocked":true,"extractedFields":{"area_signal":"서교","asset_type":"[건물명 비공개]","price_band":"58억","size_signal":"580평(약 1917.4㎡)"},"extractedFacts":{"region":"서교","exactAddressCandidate":"해당 권역","assetType":"[건물명 비공개]","priceText":"58억","sizeText":"580평(약 1917.4㎡)","currentUse":"근린생활시설","currentUseSignal":"근린생활시설","leaseSignal":"공실","vacancySignal":"공실 발생","tenantNames":[],"unitRentTexts":[],"sellerMotivationText":"자산 효율화","brokerNotes":["역세권 매물"]},"detectedSensitiveFields":["exact_address"],"ambiguousFields":[],"warnings":[],"areaSignal":"서교","assetType":"[건물명 비공개]","priceBand":"58억","sizeSignal":"580평(약 1917.4㎡)","dealType":"매각","buildingName":"[건물명 비공개]","exactAddress":"마포구 서교동 395-88","totalFloorArea":1917.364,"buildYear":2015,"currentUseSignal":"근린생활시설","vacancySignal":"공실 발생","fitSummary":"서교 권역 입지의 [건물명 비공개] 매각 물건","cautionSummary":"권리관계 및 현장 실사 확인 필요","hiddenFields":["exact_address","seller_motivation"],"confidence":{"areaSignal":"confirmed","assetType":"confirmed","priceBand":"confirmed","fitSummary":"ai_hypothesis"},"missingData":[],"boundaryNote":"본 자료는 실거래 통계 기반 참고치입니다.","buyerType":"법인 사옥형","budgetRange":{"min":70,"max":70,"display":"58억"},"preferredRegions":["강남","성수"],"assetTypes":["[건물명 비공개]","사옥용"],"purchasePurpose":"사옥용 매입","mustHave":["역세권 도보 3분 이내","주차"],"niceToHave":["테라스","루프탑"],"riskTolerance":"medium","financingNote":"자본금 50% 준비","missingQuestions":["구체적인 입주 시기가 언제인가요?","선호하는 수익률이 있나요?"],"privacyNotes":["연락처 비공개"],"fitReasons":["매수자 예산(58억)에 부합하는 매물입니다.","요청하신 성수/강남 권역에 해당합니다."],"cautionReasons":["요청한 용도와 달리 명도 협의가 다소 필요합니다."],"recommendedNextAction":"현장 답사 제안","kakaoMessage":"안녕하세요! 요청하신 조건에 부합하는 추천 매물이 있어 안내해 드립니다. 확인해보시고 피드백 부탁드립니다.","title":"서교 역세권 도보 3분 이내 [건물명 비공개] 매각","shortSummary":"서교역 도보 거리의 우량 [건물명 비공개] 매물입니다.","dealPoints":["역세권 도보 3분 이내","개발 및 사옥 최적"],"cautionPoints":["권리관계 확인 필요"],"hiddenInfoNotice":["보증금 및 지번은 인가 후 확인 가능"],"gateMessage":"G1 등급 등록이 필요합니다.","kakaoText":"서교 [건물명 비공개]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2개월","restrictions":[],"landlordIdentity":"김성수","currentTenant":"스타트업","vacancyReason":"이전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 ### 층별 임대 현황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자본구조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총취득원가 및 자기자본 소요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01168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 (A)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70661" y="201168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58.0억 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" y="248716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48716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(4.6% 법정)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70661" y="248716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2.67억 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" y="2962656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962656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중개보수 (0.9% 한도)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70661" y="2962656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0.52억 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" y="3438144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438144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(A + 세/비용)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70661" y="3438144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61.2억 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" y="3913632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913632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임대보증금 승계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670661" y="3913632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3.0억 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5528" y="4389120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38912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담보대출 조달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70661" y="438912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29.0억 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5528" y="486460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486460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(Net Equity)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70661" y="486460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29.2억 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3300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160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LTV 시나리오별 레버리지 효과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1608" y="2057400"/>
          <a:ext cx="493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대출비율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실투자금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예상수익률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(무차입)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58.2억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4.85%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(안정형)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35.0억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4.88%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(기본형)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29.2억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4.89%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적극적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(레버리지)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23.4억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4.91%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6461608" y="4069080"/>
            <a:ext cx="4934560" cy="1463040"/>
          </a:xfrm>
          <a:prstGeom prst="roundRect">
            <a:avLst>
              <a:gd name="adj" fmla="val 3750"/>
            </a:avLst>
          </a:prstGeom>
          <a:solidFill>
            <a:srgbClr val="BEE3F8"/>
          </a:solidFill>
          <a:ln/>
        </p:spPr>
      </p:sp>
      <p:sp>
        <p:nvSpPr>
          <p:cNvPr id="32" name="Shape 29"/>
          <p:cNvSpPr/>
          <p:nvPr/>
        </p:nvSpPr>
        <p:spPr>
          <a:xfrm>
            <a:off x="6461608" y="4123944"/>
            <a:ext cx="36576" cy="13533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3" name="Text 30"/>
          <p:cNvSpPr/>
          <p:nvPr/>
        </p:nvSpPr>
        <p:spPr>
          <a:xfrm>
            <a:off x="6644488" y="4178808"/>
            <a:ext cx="460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자본조달 가이드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644488" y="4398264"/>
            <a:ext cx="46053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금융기관별 감정평가액 및 LTV 한도 사전 확인 필요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취득세(4.6%) 및 부대비용을 포함한 총소요자금 기반 에쿼티 조달 계획 수립 권장</a:t>
            </a:r>
            <a:endParaRPr lang="en-US" sz="930" dirty="0"/>
          </a:p>
        </p:txBody>
      </p:sp>
      <p:sp>
        <p:nvSpPr>
          <p:cNvPr id="35" name="Text 3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논거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33856" y="1005840"/>
            <a:ext cx="10490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포인트 및 자산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11057839" cy="2560320"/>
          </a:xfrm>
          <a:prstGeom prst="roundRect">
            <a:avLst>
              <a:gd name="adj" fmla="val 2857"/>
            </a:avLst>
          </a:prstGeom>
          <a:solidFill>
            <a:srgbClr val="F7FAFC"/>
          </a:solidFill>
          <a:ln w="10160">
            <a:solidFill>
              <a:srgbClr val="CBD5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81328"/>
            <a:ext cx="11057839" cy="54864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9" name="Shape 7"/>
          <p:cNvSpPr/>
          <p:nvPr/>
        </p:nvSpPr>
        <p:spPr>
          <a:xfrm>
            <a:off x="795528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D9B668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5528" y="2194560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밸류애드 잠재력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5528" y="2624328"/>
            <a:ext cx="10600639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779776"/>
            <a:ext cx="106006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체계적인 임대 관리 및 자산 효율화를 통해 향후 중장기적인 자산 가치 상승을 기대할 수 있습니다. ### 밸류업 시나리오 (AI 추정)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178808"/>
          <a:ext cx="11057839" cy="914400"/>
        </p:xfrm>
        <a:graphic>
          <a:graphicData uri="http://schemas.openxmlformats.org/drawingml/2006/table">
            <a:tbl>
              <a:tblPr/>
              <a:tblGrid>
                <a:gridCol w="2764460"/>
                <a:gridCol w="2764460"/>
                <a:gridCol w="2764460"/>
                <a:gridCol w="27644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시나리오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NOI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개선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개선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Cap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Rate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투자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임대료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현실화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(+5%)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+약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0.12억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(+5%)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4.34%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불필요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리모델링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임대료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상승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+약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0.19억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(+8%)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4.46%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15.00억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66928" y="5349240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3EBDA"/>
          </a:solidFill>
          <a:ln w="10160">
            <a:solidFill>
              <a:srgbClr val="D9B66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" y="5458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487168" y="5422392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부 권역 중심에 위치한 우량 [건물명 비공개]입니다. 1. 입지 가치 및 접근성: 대중교통 및 주요 간선도로와의 우수한 연계성을 갖추고 있어 풍부한 유동인구와 배후 임대 수요를 확보하고 있습니다.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11057839" cy="3657600"/>
          </a:xfrm>
          <a:prstGeom prst="roundRect">
            <a:avLst>
              <a:gd name="adj" fmla="val 15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11057839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 리스크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060063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{"ok":true,"mocked":true,"extractedFields":{"area_signal":"서교","asset_type":"[건물명 비공개]","price_band":"58억","size_signal":"580평(약 1917.4㎡)"},"extractedFacts":{"region":"서교","exactAddressCandidate":"해당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5193792"/>
            <a:ext cx="11057839" cy="621792"/>
          </a:xfrm>
          <a:prstGeom prst="roundRect">
            <a:avLst>
              <a:gd name="adj" fmla="val 882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체크리스트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11건)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19072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715768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556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3712464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3803904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4709160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" y="4873752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4873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15568" y="4800600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55868" y="1719072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5" name="Text 23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0450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55868" y="2715768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9" name="Text 27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0450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55868" y="3712464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3" name="Text 31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04508" y="3803904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55868" y="4709160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93028" y="4873752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7" name="Text 35"/>
          <p:cNvSpPr/>
          <p:nvPr/>
        </p:nvSpPr>
        <p:spPr>
          <a:xfrm>
            <a:off x="6393028" y="4873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04508" y="4800600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6928" y="5760720"/>
            <a:ext cx="11057839" cy="594360"/>
          </a:xfrm>
          <a:prstGeom prst="rect">
            <a:avLst/>
          </a:prstGeom>
          <a:solidFill>
            <a:srgbClr val="D9B668"/>
          </a:solidFill>
          <a:ln/>
        </p:spPr>
      </p:sp>
      <p:sp>
        <p:nvSpPr>
          <p:cNvPr id="40" name="Text 38"/>
          <p:cNvSpPr/>
          <p:nvPr/>
        </p:nvSpPr>
        <p:spPr>
          <a:xfrm>
            <a:off x="749808" y="5833872"/>
            <a:ext cx="10692079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절차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1057839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true,"mocked":true,"extractedFields":{"area_signal":"서교","asset_type":"[건물명 비공개]","price_band":"58억","size_signal":"580평(약 1917.4㎡)"},"extractedFacts":{"region":"서교","exactAddressCandidate":"해당 권역","assetType":"[건물명 비공개]","priceText":"58억","sizeText":"580평(약 1917.4㎡)","currentUse":"근린생활시설","currentUseSignal":"근린생활시설","leaseSignal":"임대중","vacancySignal":"공실없음","tenantNames":[],"unitRentTexts":[],"sellerMotivationText":"자산 효율화","brokerNotes":["역세권 매물"]},"detectedSensitiveFields":["exact_address"],"ambiguousFields":[],"warnings":[],"areaSignal":"서교","assetType":"[건물명 비공개]","priceBand":"58억","sizeSignal":"580평(약 1917.4㎡)","dealType":"매각","buildingName":"[건물명 비공개]","exactAddress":"마포구 서교동 395-88","totalFloorArea":1917.364,"buildYear":2015,"currentUseSignal":"근린생활시설","vacancySignal":"공실 없음","fitSummary":"서교 권역 입지의 [건물명 비공개] 매각 물건","cautionSummary":"권리관계 및 현장 실사 확인 필요","hiddenFields":["exact_address","seller_motivation"],"confidence":{"areaSignal":"confirmed","assetType":"confirmed","priceBand":"confirmed","fitSummary":"ai_hypothesis"},"missingData":[],"boundaryNote":"본 자료는 실거래 통계 기반 참고치입니다.","buyerType":"법인 사옥형","budgetRange":{"min":70,"max":70,"display":"58억"},"preferredRegions":["강남","성수"],"assetTypes":["[건물명 비공개]","사옥용"],"purchasePurpose":"사옥용 매입","mustHave":["역세권 도보 3분 이내","주차"],"niceToHave":["테라스","루프탑"],"riskTolerance":"medium","financingNote":"자본금 50% 준비","missingQuestions":["구체적인 입주 시기가 언제인가요?","선호하는 수익률이 있나요?"],"privacyNotes":["연락처 비공개"],"fitReasons":["매수자 예산(58억)에 부합하는 매물입니다.","요청하신 성수/강남 권역에 해당합니다."],"cautionReasons":["요청한 용도와 달리 명도 협의가 다소 필요합니다."],"recommendedNextAction":"현장 답사 제안","kakaoMessage":"안녕하세요! 요청하신 조건에 부합하는 추천 매물이 있어 안내해 드립니다. 확인해보시고 피드백 부탁드립니다.","title":"서교 역세권 도보 3분 이내 [건물명 비공개] 매각","shortSummary":"서교역 도보 거리의 우량 [건물명 비공개] 매물입니다.","dealPoints":["역세권 도보 3분 이내","개발 및 사옥 최적"],"cautionPoints":["권리관계 확인 필요"],"hiddenInfoNotice":["보증금 및 지번은 인가 후 확인 가능"],"gateMessage":"G1 등급 등록이 필요합니다.","kakaoText":"서교 [건물명 비공개]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2개월","restrictions":[],"landlordIdentity":"김성수","currentTenant":"스타트업","vacancyReason":"이전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414016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C2433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공부 발췌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표제부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5,000㎡ (1512.5평)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11" name="Shape 9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자산 개요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도심 비즈니스 권역 소재 우량 투자 자산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대중교통 접근성 및 주변 상업·업무 인프라 밀집 지역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및 토지이용계획 기준 권리관계 정상 확인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수익 및 운영 현황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수익형 자산으로 안정적 캐시플로우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임차인 계약 유지 중으로 즉시 수익 실현 가능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및 수선유지 비용 정상 운영 상태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2026-09-17T08:53:35Z</dcterms:created>
  <dcterms:modified xsi:type="dcterms:W3CDTF">2026-09-17T08:53:35Z</dcterms:modified>
</cp:coreProperties>
</file>