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꼬마빌딩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꼬마빌딩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58억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58억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마포권역 소재 꼬마빌딩, 희망가 58억 투자 검토 자료입니다.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58억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58.2억 원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313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수익률(Cap Rate, 기준: 총임대료 ÷ 매매가격)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425954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3.74%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⚠️ 역레버리지 구간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수익률 3.74% &lt; 금리 4.5%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마포권역 소재 자산으로 중장기 자산 가치 및 안정적 수요 검토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구조: 58억 수준의 가격대 및 현 임대차 기반의 현금흐름 분석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점검: 계약서 및 공부 확인을 통한 권리관계·물리적 상태 정밀 진단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· 개별공시지가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빌딩,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현황과 공실은 실제로 어떤가</a:t>
            </a:r>
            <a:endParaRPr lang="en-US" sz="2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005258"/>
                <a:gridCol w="1675430"/>
                <a:gridCol w="1675430"/>
                <a:gridCol w="1675430"/>
                <a:gridCol w="1675430"/>
                <a:gridCol w="1675430"/>
                <a:gridCol w="167543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층수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전용면적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관리비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만기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B1~2F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F&amp;B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브런치펍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95평(약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314.1㎡)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20,000만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1,650만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3F~4F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디자인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스튜디오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63평(약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208.3㎡)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10,000만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700만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지표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분석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비고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공실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현황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0.0%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(임대중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·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공실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0)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만실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운영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합계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2,350만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원/월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관리비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별도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(0만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원)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수입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2.8억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원/년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연간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총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수입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총액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3.0억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임차인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합계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임차인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정보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실사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및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NDA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체결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후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상세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제공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개인정보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보호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처리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B1~2F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F&amp;B 브런치펍 (95평(약 314.1㎡))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3F~4F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디자인 스튜디오 (63평(약 208.3㎡))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252374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523744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 현황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172968" y="2523744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0.0% (임대중 2 · 공실 0) (전 층 만실 운영)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66928" y="29626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" y="2962656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 임대료 합계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3172968" y="2962656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2,350만 원/월 (관리비 별도 (0만 원))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566928" y="340156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6928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임대 수입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3172968" y="3401568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2.8억 원/년 (연간 총 임대료 수입)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566928" y="384048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6928" y="384048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보증금 총액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3172968" y="384048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3.0억 원 (임차인 보증금 합계)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566928" y="42793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6928" y="427939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임차인 정보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3172968" y="427939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NDA 체결 후 상세 제공 (개인정보 보호 처리)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29" name="Shape 27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30" name="Text 28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32" name="Text 30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돈 넣으면 수익이 나오는 딜인가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B1~2F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F&amp;B 브런치펍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731520" y="2231136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95평(약 314.1㎡)</a:t>
            </a:r>
            <a:endParaRPr lang="en-US" sz="880" dirty="0"/>
          </a:p>
        </p:txBody>
      </p:sp>
      <p:sp>
        <p:nvSpPr>
          <p:cNvPr id="11" name="Shape 9"/>
          <p:cNvSpPr/>
          <p:nvPr/>
        </p:nvSpPr>
        <p:spPr>
          <a:xfrm>
            <a:off x="430773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7233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3F~4F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47233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디자인 스튜디오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4472330" y="2231136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63평(약 208.3㎡)</a:t>
            </a:r>
            <a:endParaRPr lang="en-US" sz="880" dirty="0"/>
          </a:p>
        </p:txBody>
      </p:sp>
      <p:sp>
        <p:nvSpPr>
          <p:cNvPr id="15" name="Shape 13"/>
          <p:cNvSpPr/>
          <p:nvPr/>
        </p:nvSpPr>
        <p:spPr>
          <a:xfrm>
            <a:off x="8048549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13141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구분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8213141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분석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8213141" y="2231136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비고</a:t>
            </a:r>
            <a:endParaRPr lang="en-US" sz="880" dirty="0"/>
          </a:p>
        </p:txBody>
      </p:sp>
      <p:sp>
        <p:nvSpPr>
          <p:cNvPr id="19" name="Shape 17"/>
          <p:cNvSpPr/>
          <p:nvPr/>
        </p:nvSpPr>
        <p:spPr>
          <a:xfrm>
            <a:off x="566928" y="2907792"/>
            <a:ext cx="3576218" cy="1051560"/>
          </a:xfrm>
          <a:prstGeom prst="roundRect">
            <a:avLst>
              <a:gd name="adj" fmla="val 5217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303580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 현황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31520" y="3255264"/>
            <a:ext cx="324703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0.0% (임대중 2 · 공실 0)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31520" y="3584448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 층 만실 운영</a:t>
            </a:r>
            <a:endParaRPr lang="en-US" sz="880" dirty="0"/>
          </a:p>
        </p:txBody>
      </p:sp>
      <p:sp>
        <p:nvSpPr>
          <p:cNvPr id="23" name="Shape 21"/>
          <p:cNvSpPr/>
          <p:nvPr/>
        </p:nvSpPr>
        <p:spPr>
          <a:xfrm>
            <a:off x="4307738" y="2907792"/>
            <a:ext cx="3576218" cy="1051560"/>
          </a:xfrm>
          <a:prstGeom prst="roundRect">
            <a:avLst>
              <a:gd name="adj" fmla="val 5217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472330" y="303580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 임대료 합계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472330" y="3255264"/>
            <a:ext cx="324703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2,350만 원/월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4472330" y="3584448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별도 (0만 원)</a:t>
            </a:r>
            <a:endParaRPr lang="en-US" sz="880" dirty="0"/>
          </a:p>
        </p:txBody>
      </p:sp>
      <p:sp>
        <p:nvSpPr>
          <p:cNvPr id="27" name="Shape 25"/>
          <p:cNvSpPr/>
          <p:nvPr/>
        </p:nvSpPr>
        <p:spPr>
          <a:xfrm>
            <a:off x="8048549" y="2907792"/>
            <a:ext cx="3576218" cy="1051560"/>
          </a:xfrm>
          <a:prstGeom prst="roundRect">
            <a:avLst>
              <a:gd name="adj" fmla="val 5217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13141" y="303580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임대 수입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8213141" y="3255264"/>
            <a:ext cx="324703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2.8억 원/년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8213141" y="3584448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연간 총 임대료 수입</a:t>
            </a:r>
            <a:endParaRPr lang="en-US" sz="880" dirty="0"/>
          </a:p>
        </p:txBody>
      </p:sp>
      <p:sp>
        <p:nvSpPr>
          <p:cNvPr id="31" name="Shape 29"/>
          <p:cNvSpPr/>
          <p:nvPr/>
        </p:nvSpPr>
        <p:spPr>
          <a:xfrm>
            <a:off x="566928" y="4215384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32" name="Shape 30"/>
          <p:cNvSpPr/>
          <p:nvPr/>
        </p:nvSpPr>
        <p:spPr>
          <a:xfrm>
            <a:off x="566928" y="4270248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33" name="Text 31"/>
          <p:cNvSpPr/>
          <p:nvPr/>
        </p:nvSpPr>
        <p:spPr>
          <a:xfrm>
            <a:off x="749808" y="4325112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749808" y="4544568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 ### 층별 임대 현황</a:t>
            </a:r>
            <a:endParaRPr lang="en-US" sz="930" dirty="0"/>
          </a:p>
        </p:txBody>
      </p:sp>
      <p:sp>
        <p:nvSpPr>
          <p:cNvPr id="35" name="Text 33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비교사례</a:t>
            </a:r>
            <a:endParaRPr lang="en-US" sz="2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005258"/>
                <a:gridCol w="1675430"/>
                <a:gridCol w="1675430"/>
                <a:gridCol w="1675430"/>
                <a:gridCol w="1675430"/>
                <a:gridCol w="1675430"/>
                <a:gridCol w="167543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층수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전용면적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관리비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만기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B1~2F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F&amp;B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브런치펍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95평(약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314.1㎡)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20,000만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1,650만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3F~4F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디자인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스튜디오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63평(약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208.3㎡)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10,000만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700만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지표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분석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비고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공실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현황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0.0%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(임대중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·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공실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0)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만실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운영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합계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2,350만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원/월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관리비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별도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(0만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원)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수입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2.8억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원/년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연간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총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수입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총액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3.0억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임차인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합계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임차인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정보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실사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및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NDA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체결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후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상세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제공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개인정보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보호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처리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58.0억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2.67억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0.52억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61.2억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3.0억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29.0억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29.2억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58.2억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4.85%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35.0억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4.88%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29.2억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4.89%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23.4억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4.91%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BEE3F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자본조달 가이드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금융기관별 감정평가액 및 LTV 한도 사전 확인 필요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취득세(4.6%) 및 부대비용을 포함한 총소요자금 기반 에쿼티 조달 계획 수립 권장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빌딩을 사야 하는가</a:t>
            </a:r>
            <a:endParaRPr lang="en-US" sz="2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023360"/>
          <a:ext cx="11057839" cy="914400"/>
        </p:xfrm>
        <a:graphic>
          <a:graphicData uri="http://schemas.openxmlformats.org/drawingml/2006/table">
            <a:tbl>
              <a:tblPr/>
              <a:tblGrid>
                <a:gridCol w="2764460"/>
                <a:gridCol w="2764460"/>
                <a:gridCol w="2764460"/>
                <a:gridCol w="27644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시나리오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NOI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Cap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Rate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투자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비용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②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현실화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(+5%)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0.12억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(+5%)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4.34%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불필요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③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리모델링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후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상승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0.19억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(+8%)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4.46%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15.00억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5193792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5303520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2487168" y="5266944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 ### 밸류업 시나리오 (AI 추정)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공부 발췌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표제부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(1512.5평)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2026-09-06T13:11:40Z</dcterms:created>
  <dcterms:modified xsi:type="dcterms:W3CDTF">2026-09-06T13:11:40Z</dcterms:modified>
</cp:coreProperties>
</file>