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income IM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신축근생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신축근생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88억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88억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성수권역 소재 신축근생, 희망가 88억 투자 검토 자료입니다.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88억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170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87.8억 원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1880" y="2093976"/>
            <a:ext cx="2298116" cy="313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수익률(Cap Rate, 기준: 총임대료 ÷ 매매가격)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51880" y="2425954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3.26%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⚠️ 역레버리지 구간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62059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수익률 3.26% &lt; 금리 4.5%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가치: 성수권역 소재 자산으로 중장기 자산 가치 및 안정적 수요 검토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 구조: 88억 수준의 가격대 및 현 임대차 기반의 현금흐름 분석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점검: 계약서 및 공부 확인을 통한 권리관계·물리적 상태 정밀 진단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입지, 투자할 만한 곳인가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 · 개별공시지가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일반상업지역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건물, 어떤 자산인가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Rent Roll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 현황과 공실은 실제로 어떤가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768907" y="1645920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가능","region":"성수동","areaSqm":150,"deposit":5000,"monthlyRent":400,"maintenanceFee":50,"availableFrom":"즉시입주","leaseTermMonths":24,"incentives":{"렌트프리(무상임대)Months":2,"interiorSupport":"일부 인테리어 지원","freeRentDetail":"렌트프리 2개월 지원"},"shortSummaryLease":"성수역 도보 5분 거리 1층 리테일 상가 매물입니다."}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Stability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임대안정성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 돈 넣으면 수익이 나오는 딜인가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300억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비교사례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768907" y="1645920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가능","region":"성수동","areaSqm":150,"deposit":5000,"monthlyRent":400,"maintenanceFee":50,"availableFrom":"즉시입주","leaseTermMonths":24,"incentives":{"렌트프리(무상임대)Months":2,"interiorSupport":"일부 인테리어 지원","freeRentDetail":"렌트프리 2개월 지원"},"shortSummaryLease":"성수역 도보 5분 거리 1층 리테일 상가 매물입니다."}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및 자본 조달 구조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총취득원가 및 자기자본 소요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95528" y="201168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 (A)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670661" y="201168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88.0억 원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95528" y="248716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5528" y="248716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(4.6% 법정)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670661" y="248716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4.05억 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95528" y="296265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5528" y="2962656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중개보수 (0.9% 한도)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2670661" y="2962656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0.79억 원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95528" y="343814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3438144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총취득원가 (A + 세/비용)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670661" y="3438144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92.8억 원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95528" y="391363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5528" y="3913632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임대보증금 승계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2670661" y="3913632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4.4억 원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95528" y="4389120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95528" y="438912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담보대출 조달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2670661" y="438912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44.0억 원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95528" y="486460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95528" y="486460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(Net Equity)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2670661" y="486460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44.4억 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23300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6160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LTV 시나리오별 레버리지 효과</a:t>
            </a:r>
            <a:endParaRPr lang="en-US" sz="13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61608" y="2057400"/>
          <a:ext cx="4934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대출비율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실투자금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예상수익률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전액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자기자본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(무차입)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88.4억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3.78%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보수적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(안정형)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53.2억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3.11%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(기본형)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44.4억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2.77%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적극적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(레버리지)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35.6억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2.27%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31" name="Shape 28"/>
          <p:cNvSpPr/>
          <p:nvPr/>
        </p:nvSpPr>
        <p:spPr>
          <a:xfrm>
            <a:off x="6461608" y="4069080"/>
            <a:ext cx="4934560" cy="1463040"/>
          </a:xfrm>
          <a:prstGeom prst="roundRect">
            <a:avLst>
              <a:gd name="adj" fmla="val 3750"/>
            </a:avLst>
          </a:prstGeom>
          <a:solidFill>
            <a:srgbClr val="FEEBC8"/>
          </a:solidFill>
          <a:ln/>
        </p:spPr>
      </p:sp>
      <p:sp>
        <p:nvSpPr>
          <p:cNvPr id="32" name="Shape 29"/>
          <p:cNvSpPr/>
          <p:nvPr/>
        </p:nvSpPr>
        <p:spPr>
          <a:xfrm>
            <a:off x="6461608" y="4123944"/>
            <a:ext cx="36576" cy="1353312"/>
          </a:xfrm>
          <a:prstGeom prst="rect">
            <a:avLst/>
          </a:prstGeom>
          <a:solidFill>
            <a:srgbClr val="9C4221"/>
          </a:solidFill>
          <a:ln/>
        </p:spPr>
      </p:sp>
      <p:sp>
        <p:nvSpPr>
          <p:cNvPr id="33" name="Text 30"/>
          <p:cNvSpPr/>
          <p:nvPr/>
        </p:nvSpPr>
        <p:spPr>
          <a:xfrm>
            <a:off x="6644488" y="4178808"/>
            <a:ext cx="4605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C422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역레버리지 유의 구간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644488" y="4398264"/>
            <a:ext cx="46053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차입 금리가 자산 총수익률을 상회하여 대출 실행 시 자기자본수익률이 하락할 수 있습니다. 에쿼티 비중 확대를 권장합니다.</a:t>
            </a:r>
            <a:endParaRPr lang="en-US" sz="930" dirty="0"/>
          </a:p>
        </p:txBody>
      </p:sp>
      <p:sp>
        <p:nvSpPr>
          <p:cNvPr id="35" name="Text 3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지금 이 건물을 사야 하는가</a:t>
            </a:r>
            <a:endParaRPr lang="en-US" sz="23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4023360"/>
          <a:ext cx="11057839" cy="914400"/>
        </p:xfrm>
        <a:graphic>
          <a:graphicData uri="http://schemas.openxmlformats.org/drawingml/2006/table">
            <a:tbl>
              <a:tblPr/>
              <a:tblGrid>
                <a:gridCol w="2764460"/>
                <a:gridCol w="2764460"/>
                <a:gridCol w="2764460"/>
                <a:gridCol w="276446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시나리오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NOI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개선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개선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Cap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Rate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투자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비용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②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현실화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(+5%)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+약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0.16억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(+5%)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3.77%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불필요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③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리모델링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후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상승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+약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0.25억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(+8%)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3.88%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15.00억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5193792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5303520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2487168" y="5266944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비공개]","price_band":"300억","size_signal":"3000평(약 9917.4㎡)"},"extractedFacts":{"region":"역삼","exactAddressCandidate":"역삼동 742-1","assetType":"[건물명 비공개]","priceText":"300억","sizeText":"3000평(약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효율화","brokerNotes":["역세권 도보 3분 이내 매물"]},"detectedSensitiveFields":["exact_address","tenant_name"],"ambiguousFields":[],"warnings":[],"areaSignal":"역삼","assetType":"[건물명 비공개]","priceBand":"300억","sizeSignal":"3000평(약 9917.4㎡)","dealType":"매각","buildingName":"역삼 [건물명 비공개]","exactAddress":"역삼동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사옥형","budgetRange":{"min":50,"max":80,"display":"50억~80억"},"preferredRegions":["강남","성수"],"assetTypes":["[건물명 비공개]","사옥용"],"purchasePurpose":"사옥용 매입","mustHave":["역세권 도보 3분 이내","주차"],"niceToHave":["테라스","루프탑"],"riskTolerance":"medium","financingNote":"자본금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[건물명 비공개]입니다.","dealPoints":["역세권 도보 3분 이내","사옥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 ### 밸류업 시나리오 (AI 추정)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리스크는 무엇이고 대응책은 있는가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11057839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11057839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106006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 리스크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106006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—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10600639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비공개]","price_band":"300억","size_signal":"3000평(약 9917.4㎡)"},"extractedFacts":{"region":"역삼","exactAddressCandidate":"역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및 확인 필요사항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1556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11556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대조 (보증금, 월임대료, 관리비 실입금 내역 및 제소전화해조서)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11556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5586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80450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25586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80450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25586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80450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66928" y="5760720"/>
            <a:ext cx="11057839" cy="59436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749808" y="5833872"/>
            <a:ext cx="10692079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검토 후 다음 단계는 무엇인가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true,"mocked":true,"extractedFields":{"area_signal":"역삼","asset_type":"[건물명 비공개]","price_band":"300억","size_signal":"3000평(약 9917.4㎡)"},"extractedFacts":{"region":"역삼","exactAddressCandidate":"역삼동 742-1","assetType":"[건물명 비공개]","priceText":"300억","sizeText":"3000평(약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효율화","brokerNotes":["역세권 도보 3분 이내 매물"]},"detectedSensitiveFields":["exact_address","tenant_name"],"ambiguousFields":[],"warnings":[],"areaSignal":"역삼","assetType":"[건물명 비공개]","priceBand":"300억","sizeSignal":"3000평(약 9917.4㎡)","dealType":"매각","buildingName":"역삼 [건물명 비공개]","exactAddress":"역삼동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사옥형","budgetRange":{"min":50,"max":80,"display":"50억~80억"},"preferredRegions":["강남","성수"],"assetTypes":["[건물명 비공개]","사옥용"],"purchasePurpose":"사옥용 매입","mustHave":["역세권 도보 3분 이내","주차"],"niceToHave":["테라스","루프탑"],"riskTolerance":"medium","financingNote":"자본금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[건물명 비공개]입니다.","dealPoints":["역세권 도보 3분 이내","사옥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Records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공부 발췌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표제부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5,000㎡ (1512.5평)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2026-09-06T13:37:00Z</dcterms:created>
  <dcterms:modified xsi:type="dcterms:W3CDTF">2026-09-06T13:37:00Z</dcterms:modified>
</cp:coreProperties>
</file>