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IM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신축근생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신축근생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88억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88억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성수권역 내 신축근생, 매각 희망가 88억. 입지·임대차 현황을 감안할 때 투자 검토 가치가 있는 물건입니다.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88억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실투자금(내 돈)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83억 원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순수익률(Cap Rate)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3.26%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자기자본수익률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3.45%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원금 안전판: 성수권역 핵심 입지 및 우량 대지 지분 가치로 하방 경직성 확보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안정성: 매각 희망가 88억 대비 안정적인 월 임대수익 창출 구조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미래 가치: 향후 권역 지가 상승 및 공법상 잔여 용적률 활용 밸류업 기회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53328" y="1481328"/>
            <a:ext cx="55714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[교통] 교통 및 도로 접근성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6053328" y="1801368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 상세 정보는 담당 브로커를 통해 확인하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170475" y="1801368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053328" y="2295144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053328" y="2295144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[건물] 주변 상권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8170475" y="2295144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성수권역 내 주요 비즈니스 및 유동인구 풍부한 상권 입지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6053328" y="2788920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053328" y="2788920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성수권역 내 우수한 접근성과 높은 가시성을 갖춘 핵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170475" y="2788920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건물,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소재지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성수권역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용도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근린생활시설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24505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45059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172968" y="2450592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(약 1513평(약 5001.7㎡))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66928" y="285292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" y="2852928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172968" y="2852928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1,000㎡ (약 303평(약 1001.7㎡))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66928" y="325526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66928" y="3255264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172968" y="3255264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66928" y="365760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6928" y="365760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승강기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172968" y="365760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1대 (15인승 침대용)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66928" y="405993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6928" y="405993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주차 대수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3172968" y="405993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18대 (자주식 완비)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566928" y="446227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66928" y="446227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주구조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3172968" y="4462272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철근콘크리트구조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566928" y="486460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66928" y="4864608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3172968" y="4864608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88억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BEE3F8"/>
          </a:solidFill>
          <a:ln/>
        </p:spPr>
      </p:sp>
      <p:sp>
        <p:nvSpPr>
          <p:cNvPr id="35" name="Shape 33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36" name="Text 34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매물은 성수권역 입지의 안정적 운영 자산입니다.</a:t>
            </a:r>
            <a:endParaRPr lang="en-US" sz="930" dirty="0"/>
          </a:p>
        </p:txBody>
      </p:sp>
      <p:sp>
        <p:nvSpPr>
          <p:cNvPr id="38" name="Text 3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현황과 공실은 실제로 어떤가</a:t>
            </a:r>
            <a:endParaRPr lang="en-US" sz="2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5528920"/>
                <a:gridCol w="55289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항목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내용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공실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현황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상세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확인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필요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합계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3100만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원/월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(추정)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수입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3.7억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원/년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(추정)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임차인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정보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NDA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체결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후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공개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4078224"/>
            <a:ext cx="1105783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78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[주의] 임차인명 및 상세 정보는 개인정보 보호를 위해 비공개 처리되었습니다.</a:t>
            </a:r>
            <a:endParaRPr lang="en-US" sz="780" dirty="0"/>
          </a:p>
        </p:txBody>
      </p:sp>
      <p:sp>
        <p:nvSpPr>
          <p:cNvPr id="8" name="Text 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돈 넣으면 수익이 나오는 딜인가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645920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55648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1975104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93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11880"/>
          </a:xfrm>
          <a:prstGeom prst="roundRect">
            <a:avLst>
              <a:gd name="adj" fmla="val 1519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11096"/>
            <a:ext cx="106006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건물을 사야 하는가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1133856" y="1005840"/>
            <a:ext cx="1049091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밸류업 시나리오 (AI 추정)</a:t>
            </a:r>
            <a:endParaRPr lang="en-US" sz="11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178808"/>
          <a:ext cx="11057839" cy="914400"/>
        </p:xfrm>
        <a:graphic>
          <a:graphicData uri="http://schemas.openxmlformats.org/drawingml/2006/table">
            <a:tbl>
              <a:tblPr/>
              <a:tblGrid>
                <a:gridCol w="2764460"/>
                <a:gridCol w="2764460"/>
                <a:gridCol w="2764460"/>
                <a:gridCol w="27644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시나리오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NOI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개선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개선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Cap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Rate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투자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비용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②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현실화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(+5%)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0.16억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(+5%)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3.77%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불필요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③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리모델링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후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상승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0.25억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(+8%)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3.88%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15.00억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6928" y="534924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545896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2487168" y="542239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2490140" cy="3200400"/>
          </a:xfrm>
          <a:prstGeom prst="roundRect">
            <a:avLst>
              <a:gd name="adj" fmla="val 220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20512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초기 관심 표명 → 담당자 연락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20512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148508" y="3035808"/>
            <a:ext cx="182880" cy="274320"/>
          </a:xfrm>
          <a:prstGeom prst="rightArrow">
            <a:avLst/>
          </a:prstGeom>
          <a:solidFill>
            <a:srgbClr val="CBD5E0"/>
          </a:solidFill>
          <a:ln w="6350">
            <a:solidFill>
              <a:srgbClr val="71809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22828" y="1572768"/>
            <a:ext cx="2490140" cy="3200400"/>
          </a:xfrm>
          <a:prstGeom prst="roundRect">
            <a:avLst>
              <a:gd name="adj" fmla="val 220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42284" y="1792224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36422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2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642284" y="2304288"/>
            <a:ext cx="20512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 → 임차인 정보 및 임대차계약서 제공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642284" y="2761488"/>
            <a:ext cx="20512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04408" y="3035808"/>
            <a:ext cx="182880" cy="274320"/>
          </a:xfrm>
          <a:prstGeom prst="rightArrow">
            <a:avLst/>
          </a:prstGeom>
          <a:solidFill>
            <a:srgbClr val="CBD5E0"/>
          </a:solidFill>
          <a:ln w="6350">
            <a:solidFill>
              <a:srgbClr val="71809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78728" y="1572768"/>
            <a:ext cx="2490140" cy="3200400"/>
          </a:xfrm>
          <a:prstGeom prst="roundRect">
            <a:avLst>
              <a:gd name="adj" fmla="val 220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98184" y="1792224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64981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3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98184" y="2304288"/>
            <a:ext cx="20512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일정 조율 → 건물 컨디션 및 설비 직접 확인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498184" y="2761488"/>
            <a:ext cx="20512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860307" y="3035808"/>
            <a:ext cx="182880" cy="274320"/>
          </a:xfrm>
          <a:prstGeom prst="rightArrow">
            <a:avLst/>
          </a:prstGeom>
          <a:solidFill>
            <a:srgbClr val="CBD5E0"/>
          </a:solidFill>
          <a:ln w="6350">
            <a:solidFill>
              <a:srgbClr val="71809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134627" y="1572768"/>
            <a:ext cx="2490140" cy="3200400"/>
          </a:xfrm>
          <a:prstGeom prst="roundRect">
            <a:avLst>
              <a:gd name="adj" fmla="val 220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354083" y="1792224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6" name="Text 24"/>
          <p:cNvSpPr/>
          <p:nvPr/>
        </p:nvSpPr>
        <p:spPr>
          <a:xfrm>
            <a:off x="9354083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4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354083" y="2304288"/>
            <a:ext cx="20512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LOI(투자의향서) 제출 → 가격 협의 개시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9354083" y="2761488"/>
            <a:ext cx="20512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Disclaimer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2026-08-23T09:54:02Z</dcterms:created>
  <dcterms:modified xsi:type="dcterms:W3CDTF">2026-08-23T09:54:02Z</dcterms:modified>
</cp:coreProperties>
</file>