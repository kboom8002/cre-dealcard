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신축근생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소재 신축근생, 희망가 88억 투자 검토 자료입니다.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87.8억 원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3.26%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3.45%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성수권역 소재 자산으로 중장기 자산 가치 및 안정적 수요 검토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구조: 88억 수준의 가격대 및 현 임대차 기반의 현금흐름 분석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점검: 계약서 및 공부 확인을 통한 권리관계·물리적 상태 정밀 진단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053328" y="1481328"/>
            <a:ext cx="2117147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접근성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170475" y="1481328"/>
            <a:ext cx="34542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필요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88억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23" name="Shape 2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4" name="Text 2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건물 분석 포인트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및 교통 여건은 현장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</p:txBody>
      </p:sp>
      <p:sp>
        <p:nvSpPr>
          <p:cNvPr id="26" name="Shape 2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8" name="Text 2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실사 및 관리 상태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자금 조달 및 대출 조건은 금융 자문 후 확정됩니다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실사 단계에서 구체적인 계약 조건 및 세무 검토가 진행됩니다</a:t>
            </a:r>
            <a:endParaRPr lang="en-US" sz="93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매달 통장에 꽂히는 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약 1,450만 원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73152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임대료(3,100만) - 월 이자(1,650만) ([주의] 대출금 미입력 → LTV 50%·금리 4.5% AI 가정, 실제 조건과 다를 수 있음)</a:t>
            </a:r>
            <a:endParaRPr lang="en-US" sz="880" dirty="0"/>
          </a:p>
        </p:txBody>
      </p:sp>
      <p:sp>
        <p:nvSpPr>
          <p:cNvPr id="11" name="Shape 9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내 돈 대비 연 수익률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2330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4.46%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472330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대비 연 순수익(약 1.74억 원)</a:t>
            </a:r>
            <a:endParaRPr lang="en-US" sz="880" dirty="0"/>
          </a:p>
        </p:txBody>
      </p:sp>
      <p:sp>
        <p:nvSpPr>
          <p:cNvPr id="15" name="Shape 13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항목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8213141" y="1865376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추정값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13141" y="2231136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비고</a:t>
            </a:r>
            <a:endParaRPr lang="en-US" sz="880" dirty="0"/>
          </a:p>
        </p:txBody>
      </p:sp>
      <p:sp>
        <p:nvSpPr>
          <p:cNvPr id="19" name="Shape 17"/>
          <p:cNvSpPr/>
          <p:nvPr/>
        </p:nvSpPr>
        <p:spPr>
          <a:xfrm>
            <a:off x="56692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순영업소득(남는 돈 NOI)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3152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2.6억 원~약 3.1억 원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3152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운영비 차감 후 실질 순수익</a:t>
            </a:r>
            <a:endParaRPr lang="en-US" sz="880" dirty="0"/>
          </a:p>
        </p:txBody>
      </p:sp>
      <p:sp>
        <p:nvSpPr>
          <p:cNvPr id="23" name="Shape 21"/>
          <p:cNvSpPr/>
          <p:nvPr/>
        </p:nvSpPr>
        <p:spPr>
          <a:xfrm>
            <a:off x="4307738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472330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 (Cap Rate)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472330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2.9%–3.5%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4472330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가정 운영비 기준 구간 추정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8048549" y="2907792"/>
            <a:ext cx="3576218" cy="1051560"/>
          </a:xfrm>
          <a:prstGeom prst="roundRect">
            <a:avLst>
              <a:gd name="adj" fmla="val 5217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13141" y="303580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5년 보유 시 투자수익률(IRR)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8213141" y="3218688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-3.1%–6.2%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213141" y="3584448"/>
            <a:ext cx="324703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추정, 참고용</a:t>
            </a:r>
            <a:endParaRPr lang="en-US" sz="880" dirty="0"/>
          </a:p>
        </p:txBody>
      </p:sp>
      <p:sp>
        <p:nvSpPr>
          <p:cNvPr id="31" name="Shape 29"/>
          <p:cNvSpPr/>
          <p:nvPr/>
        </p:nvSpPr>
        <p:spPr>
          <a:xfrm>
            <a:off x="566928" y="4215384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32" name="Shape 30"/>
          <p:cNvSpPr/>
          <p:nvPr/>
        </p:nvSpPr>
        <p:spPr>
          <a:xfrm>
            <a:off x="566928" y="4270248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33" name="Text 31"/>
          <p:cNvSpPr/>
          <p:nvPr/>
        </p:nvSpPr>
        <p:spPr>
          <a:xfrm>
            <a:off x="749808" y="43251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749808" y="4544568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수치는 AI 추정값으로 참고용이며, 투자 결정의 근거로 사용할 수 없습니다. ### [참고] 핵심 현금흐름 3줄 요약 (내 돈 &amp; 월 순수익) | 핵심 지표 | 금액 / 수익률 | 산출 기준 |</a:t>
            </a:r>
            <a:endParaRPr lang="en-US" sz="930" dirty="0"/>
          </a:p>
        </p:txBody>
      </p:sp>
      <p:sp>
        <p:nvSpPr>
          <p:cNvPr id="35" name="Text 3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물리적 상태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준공연도 확인 필요, 구조 확인 필요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누수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균열</a:t>
            </a:r>
            <a:endParaRPr lang="en-US" sz="1100" dirty="0"/>
          </a:p>
          <a:p>
            <a:pPr marL="342900" indent="-342900">
              <a:lnSpc>
                <a:spcPct val="125000"/>
              </a:lnSpc>
              <a:spcBef>
                <a:spcPts val="600"/>
              </a:spcBef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설비 노후 여부 현장 점검 필요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38218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38218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4566818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및 설비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66818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정보 확인 필요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6818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정기검사 이력, 냉난방 설비 상태 확인 필요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09509" y="1417320"/>
            <a:ext cx="3515258" cy="3657600"/>
          </a:xfrm>
          <a:prstGeom prst="roundRect">
            <a:avLst>
              <a:gd name="adj" fmla="val 1561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109509" y="1417320"/>
            <a:ext cx="3515258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8" name="Text 16"/>
          <p:cNvSpPr/>
          <p:nvPr/>
        </p:nvSpPr>
        <p:spPr>
          <a:xfrm>
            <a:off x="8338109" y="1618488"/>
            <a:ext cx="305805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 이탈 위험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38109" y="1947672"/>
            <a:ext cx="30580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현황 LOI 접수 후 열람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338109" y="2377440"/>
            <a:ext cx="3058058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잔여 계약기간(WALE), 임차인 신용도 확인 필요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및 공실률을 반영한 순영업소득(NOI) 분석은 수익분석 섹션을 참조하시기 바랍니다.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55868" y="1325880"/>
            <a:ext cx="5368900" cy="2560320"/>
          </a:xfrm>
          <a:prstGeom prst="roundRect">
            <a:avLst>
              <a:gd name="adj" fmla="val 2857"/>
            </a:avLst>
          </a:prstGeom>
          <a:solidFill>
            <a:srgbClr val="F7FAFC"/>
          </a:solidFill>
          <a:ln w="10160">
            <a:solidFill>
              <a:srgbClr val="CBD5E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55868" y="1325880"/>
            <a:ext cx="5368900" cy="54864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5" name="Shape 13"/>
          <p:cNvSpPr/>
          <p:nvPr/>
        </p:nvSpPr>
        <p:spPr>
          <a:xfrm>
            <a:off x="6484468" y="1600200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D9B668"/>
          </a:solidFill>
          <a:ln/>
        </p:spPr>
      </p:sp>
      <p:sp>
        <p:nvSpPr>
          <p:cNvPr id="16" name="Text 14"/>
          <p:cNvSpPr/>
          <p:nvPr/>
        </p:nvSpPr>
        <p:spPr>
          <a:xfrm>
            <a:off x="6484468" y="1600200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84468" y="2039112"/>
            <a:ext cx="49117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84468" y="2468880"/>
            <a:ext cx="4911700" cy="0"/>
          </a:xfrm>
          <a:prstGeom prst="line">
            <a:avLst/>
          </a:prstGeom>
          <a:noFill/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84468" y="2624328"/>
            <a:ext cx="49117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 ### 예상 매수자 유형 (AI 분석)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4023360"/>
          <a:ext cx="11057839" cy="914400"/>
        </p:xfrm>
        <a:graphic>
          <a:graphicData uri="http://schemas.openxmlformats.org/drawingml/2006/table">
            <a:tbl>
              <a:tblPr/>
              <a:tblGrid>
                <a:gridCol w="3685946"/>
                <a:gridCol w="3685946"/>
                <a:gridCol w="368594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유형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(임대수익)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안정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MD,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예측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현금흐름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전문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운영사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적합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MD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노하우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보유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최적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프랜차이즈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본사 </a:t>
                      </a:r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직매장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검토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브랜드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노출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운영 </a:t>
                      </a:r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가능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8"/>
          <p:cNvSpPr/>
          <p:nvPr/>
        </p:nvSpPr>
        <p:spPr>
          <a:xfrm>
            <a:off x="566928" y="5522976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49808" y="5632704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2487168" y="5596128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[참고] 종합 가치 제안: 성수권역 소재 신축근생으로, 입지 및 자산 특성에 대한 상세 분석은 본문을 참조하시기 바랍니다. ### 3대 핵심 투자 포인트 (Investment Highlights) • 원금 안전판 확보: 성수권역 소재 자산으로, 대지 지분 가치 및 입지 경쟁력에 대한 분석은 자산 개요 섹션을 참조하시기 바랍니다.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임차인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Disclaimer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85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2026-08-25T13:22:52Z</dcterms:created>
  <dcterms:modified xsi:type="dcterms:W3CDTF">2026-08-25T13:22:52Z</dcterms:modified>
</cp:coreProperties>
</file>