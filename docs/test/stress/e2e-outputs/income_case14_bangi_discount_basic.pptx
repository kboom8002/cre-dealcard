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6B8E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 rot="120000">
            <a:off x="8412480" y="548640"/>
            <a:ext cx="3291840" cy="5760720"/>
          </a:xfrm>
          <a:prstGeom prst="rect">
            <a:avLst/>
          </a:prstGeom>
          <a:solidFill>
            <a:srgbClr val="0F172A">
              <a:alpha val="12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0" y="53035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상업용 부동산 투자 플랫폼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 IM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IM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근생빌딩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근생빌딩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334155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4F6A00"/>
          </a:solidFill>
          <a:ln w="12700">
            <a:solidFill>
              <a:srgbClr val="6B8E0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Summary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송파권역 내 근생빌딩, 매각 희망가 72억. 입지·임대차 현황을 감안할 때 투자 검토 가치가 있는 물건입니다.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6B8E0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72억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37710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4170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실투자금(내 돈)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54170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26.2억 원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187288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1880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순수익률(Cap Rate)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351880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2.82%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997467" y="1965960"/>
            <a:ext cx="262730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6350">
            <a:solidFill>
              <a:srgbClr val="CBD5E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62059" y="2093976"/>
            <a:ext cx="22981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자기자본수익률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9162059" y="2276856"/>
            <a:ext cx="22981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7.76%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66928" y="3611880"/>
            <a:ext cx="5437480" cy="109728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/>
        </p:spPr>
      </p:sp>
      <p:sp>
        <p:nvSpPr>
          <p:cNvPr id="20" name="Shape 18"/>
          <p:cNvSpPr/>
          <p:nvPr/>
        </p:nvSpPr>
        <p:spPr>
          <a:xfrm>
            <a:off x="566928" y="3666744"/>
            <a:ext cx="36576" cy="98755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" y="3721608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49808" y="3941064"/>
            <a:ext cx="51082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매물은 송파권역 대로변 입지의 우량 메디컬 테넌트 만실 운영 자산입니다.</a:t>
            </a:r>
            <a:endParaRPr lang="en-US" sz="930" dirty="0"/>
          </a:p>
        </p:txBody>
      </p:sp>
      <p:sp>
        <p:nvSpPr>
          <p:cNvPr id="23" name="Text 21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2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Location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입지, 투자할 만한 곳인가</a:t>
            </a:r>
            <a:endParaRPr lang="en-US" sz="2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5120640" cy="41148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053328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교통 및 도로 접근성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6053328" y="180136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접근성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170475" y="180136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강남역(2호선·신분당선) 및 양재역(3호선) 더블역세권 도보 4분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053328" y="2240280"/>
            <a:ext cx="5571439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053328" y="2240280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도로 접면 조건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170475" y="2240280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서초대로 25m 메인 대로변 접면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053328" y="2679192"/>
            <a:ext cx="5571439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053328" y="2679192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차량 진출입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170475" y="2679192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경부고속도로 서초IC 및 테헤란로 3분 내 진입 가능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6053328" y="3118104"/>
            <a:ext cx="5571439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053328" y="3118104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배후 수요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170475" y="3118104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 테헤란로 IT밸리 및 서초 법조타운 오피스 상주인구 30만 배후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053328" y="3557016"/>
            <a:ext cx="5571439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053328" y="3557016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의료 상권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8170475" y="3557016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1층 약국 및 상층부 안과·피부과 전문의원 집적 의료 특화 상권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053328" y="3995928"/>
            <a:ext cx="5571439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053328" y="3995928"/>
            <a:ext cx="21171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편의 인프라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170475" y="3995928"/>
            <a:ext cx="34542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반경 300m 내 주요 임차 업종, 은행, 대형 베이커리 밀집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3</a:t>
            </a:r>
            <a:endParaRPr lang="en-US" sz="750" dirty="0"/>
          </a:p>
        </p:txBody>
      </p:sp>
      <p:sp>
        <p:nvSpPr>
          <p:cNvPr id="25" name="Shape 22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Building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건물, 어떤 자산인가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소재지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172968" y="16459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송파권역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용도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172968" y="204825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근린생활시설 / 메디컬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172968" y="245059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5,000㎡ (약 1513평(약 5001.7㎡))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66928" y="2852928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285292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3172968" y="285292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1,000㎡ (약 303평(약 1001.7㎡))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66928" y="3255264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3255264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용도지역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172968" y="3255264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일반상업지역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3657600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365760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72968" y="365760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1대 (15인승 침대용)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66928" y="4059936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6928" y="4059936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주차 대수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172968" y="4059936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18대 (자주식 완비)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66928" y="4462272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66928" y="4462272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주구조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3172968" y="4462272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철근콘크리트구조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566928" y="4864608"/>
            <a:ext cx="6858000" cy="0"/>
          </a:xfrm>
          <a:prstGeom prst="line">
            <a:avLst/>
          </a:prstGeom>
          <a:noFill/>
          <a:ln w="3810">
            <a:solidFill>
              <a:srgbClr val="CBD5E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66928" y="4864608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172968" y="4864608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72억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DBEAFE"/>
          </a:solidFill>
          <a:ln/>
        </p:spPr>
      </p:sp>
      <p:sp>
        <p:nvSpPr>
          <p:cNvPr id="34" name="Shape 3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35" name="Text 3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매물은 송파권역 대로변 입지의 우량 메디컬 테넌트 만실 운영 자산입니다.</a:t>
            </a:r>
            <a:endParaRPr lang="en-US" sz="930" dirty="0"/>
          </a:p>
        </p:txBody>
      </p:sp>
      <p:sp>
        <p:nvSpPr>
          <p:cNvPr id="37" name="Text 35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4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Rent Roll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 현황과 공실은 실제로 어떤가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645920"/>
          <a:ext cx="11057839" cy="914400"/>
        </p:xfrm>
        <a:graphic>
          <a:graphicData uri="http://schemas.openxmlformats.org/drawingml/2006/table">
            <a:tbl>
              <a:tblPr/>
              <a:tblGrid>
                <a:gridCol w="5528920"/>
                <a:gridCol w="55289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항목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64748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공실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현황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상세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확인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필요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월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임대료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합계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2200만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원/월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(추정)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연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임대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수입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2.6억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원/년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(추정)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임차인 </a:t>
                      </a:r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정보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NDA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체결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후 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F172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공개</a:t>
                      </a:r>
                      <a:endParaRPr lang="en-US" sz="13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566928" y="3895344"/>
            <a:ext cx="110578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78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임차인명 및 상세 정보는 개인정보 보호를 위해 비공개 처리되었습니다.</a:t>
            </a:r>
            <a:endParaRPr lang="en-US" sz="780" dirty="0"/>
          </a:p>
        </p:txBody>
      </p:sp>
      <p:sp>
        <p:nvSpPr>
          <p:cNvPr id="7" name="Shape 4"/>
          <p:cNvSpPr/>
          <p:nvPr/>
        </p:nvSpPr>
        <p:spPr>
          <a:xfrm>
            <a:off x="566928" y="4169664"/>
            <a:ext cx="5437480" cy="1097280"/>
          </a:xfrm>
          <a:prstGeom prst="roundRect">
            <a:avLst>
              <a:gd name="adj" fmla="val 5000"/>
            </a:avLst>
          </a:prstGeom>
          <a:solidFill>
            <a:srgbClr val="DBEAFE"/>
          </a:solidFill>
          <a:ln/>
        </p:spPr>
      </p:sp>
      <p:sp>
        <p:nvSpPr>
          <p:cNvPr id="8" name="Shape 5"/>
          <p:cNvSpPr/>
          <p:nvPr/>
        </p:nvSpPr>
        <p:spPr>
          <a:xfrm>
            <a:off x="566928" y="4224528"/>
            <a:ext cx="36576" cy="987552"/>
          </a:xfrm>
          <a:prstGeom prst="rect">
            <a:avLst/>
          </a:prstGeom>
          <a:solidFill>
            <a:srgbClr val="1D4ED8"/>
          </a:solidFill>
          <a:ln/>
        </p:spPr>
      </p:sp>
      <p:sp>
        <p:nvSpPr>
          <p:cNvPr id="9" name="Text 6"/>
          <p:cNvSpPr/>
          <p:nvPr/>
        </p:nvSpPr>
        <p:spPr>
          <a:xfrm>
            <a:off x="749808" y="4279392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49808" y="4498848"/>
            <a:ext cx="5108296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임차인명 및 상세 정보는 개인정보 보호를 위해 비공개 처리되었습니다.</a:t>
            </a:r>
            <a:endParaRPr lang="en-US" sz="930" dirty="0"/>
          </a:p>
        </p:txBody>
      </p:sp>
      <p:sp>
        <p:nvSpPr>
          <p:cNvPr id="11" name="Text 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5</a:t>
            </a:r>
            <a:endParaRPr lang="en-US" sz="750" dirty="0"/>
          </a:p>
        </p:txBody>
      </p:sp>
      <p:sp>
        <p:nvSpPr>
          <p:cNvPr id="12" name="Shape 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Profit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내 돈 넣으면 수익이 나오는 딜인가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417320"/>
            <a:ext cx="2606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3172968" y="1417320"/>
            <a:ext cx="42519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9917.4㎡)","currentUse":"오피스","currentUseSignal":"근린생활시설","leaseSignal":"임대중","vacancySignal":"공실없음","tenantNames":"쿠팡","네이버","unitRentTexts":"301호: 1500만","sellerMotivationText":"자산 효율화","brokerNotes":"초역세권 매물"},"detectedSensitiveFields":"exact_address","tenant_name","ambiguousFields":,"warnings":,"areaSignal":"역삼","assetType":"오피스빌딩","priceBand":"300억","sizeSignal":"3000평(약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필요","hiddenFields":"exact_address","seller_motivation","confidence":{"areaSignal":"confirmed","assetType":"confirmed","priceBand":"ai_hypothesis","fitSummary":"ai_hypothesis"},"missingData":"sizeSignal","boundaryNote":"본 자료는 실거래 통계 기반 참고치입니다.","buyerType":"법인 사옥형","budgetRange":{"min":50,"max":80,"display":"50억~80억"},"preferredRegions":"강남","성수","assetTypes":"꼬마빌딩","사옥용","purchasePurpose":"사옥용 매입","mustHave":"초역세권","주차","niceToHave":"테라스","루프탑","riskTolerance":"medium","financingNote":"자본금 50% 준비","missingQuestions":"구체적인 입주 시기가 언제인가요?","선호하는 수익률이 있나요?","privacyNotes":"연락처 비공개","fitReasons":"매수자 예산(50-80억)에 부합하는 매물입니다.","요청하신 성수/강남 권역에 해당합니다.","cautionReasons":"요청한 용도와 달리 명도 협의가 다소 필요합니다.","recommendedNextAction":"현장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오피스빌딩입니다.","dealPoints":"초역세권","사옥 최적","cautionPoints":"명도 조율 필요","hiddenInfoNotice":"보증금 및 지번은 인가 후 확인 가능","gateMessage":"G1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6B8E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6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1481328"/>
            <a:ext cx="11057839" cy="9692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742-1","assetType":"오피스빌딩","priceText":"300억","sizeText":"3000평(약 9917.4㎡)","currentUse":"오피스","currentUseSignal":"근린생활시설","leaseSignal":"임대중","vacancySignal":"공실없음","tenantNames":["쿠팡","네이버"],"unitRentTexts":["301호: 1500만"],"sellerMotivationText":"자산 효율화","brokerNotes":["초역세권 매물"]},"detectedSensitiveFields":["exact_address","tenant_name"],"ambiguousFields":[],"warnings":[],"areaSignal":"역삼","assetType":"오피스빌딩","priceBand":"300억","sizeSignal":"3000평(약 9917.4㎡)","dealType":"매각","buildingName":"역삼 센트럴타워","exactAddress":"역삼동 742-1","totalFloorArea":9917.3,"buildYear":2015,"currentUseSignal":"근린생활시설","vacancySignal":"공실 없음","fitSummary":"초역세권 근생 빌딩으로 시행/사옥 매입에 최적화","cautionSummary":"주요 임차 업종 만기 조율 필요","hiddenFields":["exact_address","seller_motivation"],"confidence":{"areaSignal":"confirmed","assetType":"confirmed","priceBand":"ai_hypothesis","fitSummary":"ai_hypothesis"},"missingData":["sizeSignal"],"boundaryNote":"본 자료는 실거래 통계 기반 참고치입니다.","buyerType":"법인 사옥형","budgetRange":{"min":50,"max":80,"display":"50억~80억"},"preferredRegions":["강남","성수"],"assetTypes":["꼬마빌딩","사옥용"],"purchasePurpose":"사옥용 매입","mustHave":["초역세권","주차"],"niceToHave":["테라스","루프탑"],"riskTolerance":"medium","financingNote":"자본금 50% 준비","missingQuestions":["구체적인 입주 시기가 언제인가요?","선호하는 수익률이 있나요?"],"privacyNotes":["연락처 비공개"],"fitReasons":["매수자 예산(50-80억)에 부합하는 매물입니다.","요청하신 성수/강남 권역에 해당합니다."],"cautionReasons":["요청한 용도와 달리 명도 협의가 다소 필요합니다."],"recommendedNextAction":"현장 답사 제안","kakaoMessage":"안녕하세요! 요청하신 조건에 부합하는 추천 매물이 있어 안내해 드립니다. 확인해보시고 피드백 부탁드립니다.","title":"강남 역삼역 초역세권 오피스 사옥용 빌딩 매각","shortSummary":"역삼역 도보 5분 거리의 준신축급 대형 오피스빌딩입니다.","dealPoints":["초역세권","사옥 최적"],"cautionPoints":["명도 조율 필요"],"hiddenInfoNotice":["보증금 및 지번은 인가 후 확인 가능"],"gateMessage":"G1 등급 등록이 필요합니다.","kakaoText":"강남 역삼역 오피스 빌딩 매각 안내입니다.","exactUnitCandidate":"101호","floor":"1층","areaSqmText":"150㎡","spaceType":"office","depositText":"5000만","monthlyRentText":"400만","maintenanceFeeText":"50만","availableFromText":"즉시입주","leaseTermMonthsText":"24","incentivesText":"렌트프리 2개월","restrictions":[],"landlordIdentity":"김성수","currentTenant":"스타트업","vacancyReason":"이전 확장","rentNegotiation":"협의 가능","region":"성수동","areaSqm":150,"deposit":5000,"monthlyRent":400,"maintenanceFee":50,"availableFrom":"즉시입주","leaseTermMonths":24,"incentives":{"rentFreeMonths":2,"interiorSupport":"일부 인테리어 지원","freeRentDetail":"렌트프리 2개월 지원"},"shortSummaryLease":"성수역 도보 5분 거리 1층 리테일 상가 매물입니다."}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Risk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리스크는 무엇이고 대응책은 있는가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417320"/>
            <a:ext cx="3503066" cy="361188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417320"/>
            <a:ext cx="350306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417320"/>
            <a:ext cx="3503066" cy="45720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304586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용도 리스크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29384"/>
            <a:ext cx="304586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795528" y="2313432"/>
            <a:ext cx="3045866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{"ok":true,"mocked":true,"extractedFields":{"area_signal":"역삼","asset_type":"오피스빌딩","price_band":"300억","size_signal":"3000평(약 9917.4㎡)"},"extractedFacts":{"region":"역삼","exactAddressCandidate":"역삼동 7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7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78638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Thesis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지금 이 건물을 사야 하는가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" y="950976"/>
            <a:ext cx="1087495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66928" y="1481328"/>
            <a:ext cx="3472586" cy="3474720"/>
          </a:xfrm>
          <a:prstGeom prst="roundRect">
            <a:avLst>
              <a:gd name="adj" fmla="val 210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81328"/>
            <a:ext cx="3472586" cy="5486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8" name="Shape 6"/>
          <p:cNvSpPr/>
          <p:nvPr/>
        </p:nvSpPr>
        <p:spPr>
          <a:xfrm>
            <a:off x="795528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A3D900"/>
          </a:solidFill>
          <a:ln/>
        </p:spPr>
      </p:sp>
      <p:sp>
        <p:nvSpPr>
          <p:cNvPr id="9" name="Text 7"/>
          <p:cNvSpPr/>
          <p:nvPr/>
        </p:nvSpPr>
        <p:spPr>
          <a:xfrm>
            <a:off x="795528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95528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원금 안전판 확보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795528" y="2624328"/>
            <a:ext cx="3015386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2779776"/>
            <a:ext cx="301538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송파권역의 핵심 입지로, 우량한 대지 지분 가치가 하방 경직성을 강력히 지지합니다.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59554" y="1481328"/>
            <a:ext cx="3472586" cy="3474720"/>
          </a:xfrm>
          <a:prstGeom prst="roundRect">
            <a:avLst>
              <a:gd name="adj" fmla="val 210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59554" y="1481328"/>
            <a:ext cx="3472586" cy="5486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5" name="Shape 13"/>
          <p:cNvSpPr/>
          <p:nvPr/>
        </p:nvSpPr>
        <p:spPr>
          <a:xfrm>
            <a:off x="4588154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A3D900"/>
          </a:solidFill>
          <a:ln/>
        </p:spPr>
      </p:sp>
      <p:sp>
        <p:nvSpPr>
          <p:cNvPr id="16" name="Text 14"/>
          <p:cNvSpPr/>
          <p:nvPr/>
        </p:nvSpPr>
        <p:spPr>
          <a:xfrm>
            <a:off x="4588154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88154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확실한 월 현금흐름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588154" y="2624328"/>
            <a:ext cx="3015386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88154" y="2779776"/>
            <a:ext cx="301538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우량 테넌트 만실 운영 및 장기 계약 구조를 통해 매월 안정적인 순수익 창출이 검토 여지가 있으나, 관련 법규·인허가·시설 요건의 현장 확인이 필요합니다..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152181" y="1481328"/>
            <a:ext cx="3472586" cy="3474720"/>
          </a:xfrm>
          <a:prstGeom prst="roundRect">
            <a:avLst>
              <a:gd name="adj" fmla="val 2107"/>
            </a:avLst>
          </a:prstGeom>
          <a:solidFill>
            <a:srgbClr val="F8FAFC"/>
          </a:solidFill>
          <a:ln w="10160">
            <a:solidFill>
              <a:srgbClr val="CBD5E1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152181" y="1481328"/>
            <a:ext cx="3472586" cy="54864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22" name="Shape 20"/>
          <p:cNvSpPr/>
          <p:nvPr/>
        </p:nvSpPr>
        <p:spPr>
          <a:xfrm>
            <a:off x="8380781" y="1755648"/>
            <a:ext cx="475488" cy="292608"/>
          </a:xfrm>
          <a:prstGeom prst="roundRect">
            <a:avLst>
              <a:gd name="adj" fmla="val 12500"/>
            </a:avLst>
          </a:prstGeom>
          <a:solidFill>
            <a:srgbClr val="A3D900"/>
          </a:solidFill>
          <a:ln/>
        </p:spPr>
      </p:sp>
      <p:sp>
        <p:nvSpPr>
          <p:cNvPr id="23" name="Text 21"/>
          <p:cNvSpPr/>
          <p:nvPr/>
        </p:nvSpPr>
        <p:spPr>
          <a:xfrm>
            <a:off x="8380781" y="1755648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F6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380781" y="2194560"/>
            <a:ext cx="301538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가치 상승 및 출구 전략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8380781" y="2624328"/>
            <a:ext cx="3015386" cy="0"/>
          </a:xfrm>
          <a:prstGeom prst="line">
            <a:avLst/>
          </a:prstGeom>
          <a:noFill/>
          <a:ln w="6350">
            <a:solidFill>
              <a:srgbClr val="CBD5E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380781" y="2779776"/>
            <a:ext cx="301538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현행 공법 여력을 활용한 밸류업 기회와 더불어 향후 권역 지가 상승에 따른 시세차익 실현이 유력합니다.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66928" y="5138928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E8F5CC"/>
          </a:solidFill>
          <a:ln w="10160">
            <a:solidFill>
              <a:srgbClr val="A3D90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49808" y="5248656"/>
            <a:ext cx="1645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4F6A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💡 종합 가치 제안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2441448" y="5230368"/>
            <a:ext cx="90004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33415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자산의 3대 핵심 투자 포인트와 예상 매수자 유형 분석입니다. &gt; 밸류업 시나리오는 AI 추정이며 실제 시장 조건에 따라 다를 수 있습니다.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8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Process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검토 후 다음 단계는 무엇인가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3442106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572768"/>
            <a:ext cx="344210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7" name="Shape 5"/>
          <p:cNvSpPr/>
          <p:nvPr/>
        </p:nvSpPr>
        <p:spPr>
          <a:xfrm>
            <a:off x="786384" y="1792224"/>
            <a:ext cx="384048" cy="384048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300319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초기 관심 표명 → 담당자 연락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3003194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100474" y="3035808"/>
            <a:ext cx="182880" cy="274320"/>
          </a:xfrm>
          <a:prstGeom prst="rightArrow">
            <a:avLst/>
          </a:prstGeom>
          <a:solidFill>
            <a:srgbClr val="CBD5E1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74794" y="1572768"/>
            <a:ext cx="3442106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74794" y="1572768"/>
            <a:ext cx="344210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14" name="Shape 12"/>
          <p:cNvSpPr/>
          <p:nvPr/>
        </p:nvSpPr>
        <p:spPr>
          <a:xfrm>
            <a:off x="4594250" y="1792224"/>
            <a:ext cx="384048" cy="384048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15" name="Text 13"/>
          <p:cNvSpPr/>
          <p:nvPr/>
        </p:nvSpPr>
        <p:spPr>
          <a:xfrm>
            <a:off x="4594250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94250" y="2304288"/>
            <a:ext cx="300319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 → 임차인 정보 및 임대차계약서 제공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594250" y="2761488"/>
            <a:ext cx="3003194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908341" y="3035808"/>
            <a:ext cx="182880" cy="274320"/>
          </a:xfrm>
          <a:prstGeom prst="rightArrow">
            <a:avLst/>
          </a:prstGeom>
          <a:solidFill>
            <a:srgbClr val="CBD5E1"/>
          </a:solidFill>
          <a:ln w="6350">
            <a:solidFill>
              <a:srgbClr val="64748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82661" y="1572768"/>
            <a:ext cx="3442106" cy="3200400"/>
          </a:xfrm>
          <a:prstGeom prst="rect">
            <a:avLst/>
          </a:prstGeom>
          <a:solidFill>
            <a:srgbClr val="F8FAFC"/>
          </a:solidFill>
          <a:ln w="3810">
            <a:solidFill>
              <a:srgbClr val="CBD5E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82661" y="1572768"/>
            <a:ext cx="3442106" cy="36576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21" name="Shape 19"/>
          <p:cNvSpPr/>
          <p:nvPr/>
        </p:nvSpPr>
        <p:spPr>
          <a:xfrm>
            <a:off x="8402117" y="1792224"/>
            <a:ext cx="384048" cy="384048"/>
          </a:xfrm>
          <a:prstGeom prst="ellipse">
            <a:avLst/>
          </a:prstGeom>
          <a:solidFill>
            <a:srgbClr val="6B8E00"/>
          </a:solidFill>
          <a:ln/>
        </p:spPr>
      </p:sp>
      <p:sp>
        <p:nvSpPr>
          <p:cNvPr id="22" name="Text 20"/>
          <p:cNvSpPr/>
          <p:nvPr/>
        </p:nvSpPr>
        <p:spPr>
          <a:xfrm>
            <a:off x="8402117" y="17922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402117" y="2304288"/>
            <a:ext cx="300319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일정 조율 → 건물 컨디션 및 설비 직접 확인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402117" y="2761488"/>
            <a:ext cx="3003194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9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384048"/>
            <a:ext cx="45720" cy="566928"/>
          </a:xfrm>
          <a:prstGeom prst="rect">
            <a:avLst/>
          </a:prstGeom>
          <a:solidFill>
            <a:srgbClr val="6B8E00"/>
          </a:solidFill>
          <a:ln/>
        </p:spPr>
      </p:sp>
      <p:sp>
        <p:nvSpPr>
          <p:cNvPr id="3" name="Text 1"/>
          <p:cNvSpPr/>
          <p:nvPr/>
        </p:nvSpPr>
        <p:spPr>
          <a:xfrm>
            <a:off x="749808" y="384048"/>
            <a:ext cx="1087495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6B8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Disclaimer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749808" y="566928"/>
            <a:ext cx="1087495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66928" y="15179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1847088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47088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139696" y="182880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504688" y="1847088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1.00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66928" y="2505456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05456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139696" y="248716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504688" y="2505456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0.95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163824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3163824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139696" y="314553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504688" y="3163824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0.65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3822192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822192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139696" y="380390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504688" y="3822192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0.60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480560"/>
            <a:ext cx="1417320" cy="347472"/>
          </a:xfrm>
          <a:prstGeom prst="roundRect">
            <a:avLst>
              <a:gd name="adj" fmla="val 10526"/>
            </a:avLst>
          </a:prstGeom>
          <a:solidFill>
            <a:srgbClr val="334155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4480560"/>
            <a:ext cx="14173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2139696" y="446227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1F5F9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504688" y="4480560"/>
            <a:ext cx="731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0.30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151790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92240" y="1847088"/>
            <a:ext cx="5129784" cy="2615184"/>
          </a:xfrm>
          <a:prstGeom prst="roundRect">
            <a:avLst>
              <a:gd name="adj" fmla="val 1399"/>
            </a:avLst>
          </a:prstGeom>
          <a:solidFill>
            <a:srgbClr val="1E293B"/>
          </a:solidFill>
          <a:ln/>
        </p:spPr>
      </p:sp>
      <p:sp>
        <p:nvSpPr>
          <p:cNvPr id="28" name="Text 26"/>
          <p:cNvSpPr/>
          <p:nvPr/>
        </p:nvSpPr>
        <p:spPr>
          <a:xfrm>
            <a:off x="6711696" y="2011680"/>
            <a:ext cx="46908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30" dirty="0">
                <a:solidFill>
                  <a:srgbClr val="94A3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30" dirty="0"/>
          </a:p>
        </p:txBody>
      </p:sp>
      <p:sp>
        <p:nvSpPr>
          <p:cNvPr id="29" name="Shape 27"/>
          <p:cNvSpPr/>
          <p:nvPr/>
        </p:nvSpPr>
        <p:spPr>
          <a:xfrm>
            <a:off x="566928" y="5230368"/>
            <a:ext cx="11057839" cy="640080"/>
          </a:xfrm>
          <a:prstGeom prst="rect">
            <a:avLst/>
          </a:prstGeom>
          <a:solidFill>
            <a:srgbClr val="4F6A00"/>
          </a:solidFill>
          <a:ln/>
        </p:spPr>
      </p:sp>
      <p:sp>
        <p:nvSpPr>
          <p:cNvPr id="30" name="Text 28"/>
          <p:cNvSpPr/>
          <p:nvPr/>
        </p:nvSpPr>
        <p:spPr>
          <a:xfrm>
            <a:off x="786384" y="5321808"/>
            <a:ext cx="1061892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5C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자료(등기·임대차계약서) 및 1:1 비밀 상담은 담당 전문 중개사를 통해 제공됩니다.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66928" y="6419088"/>
            <a:ext cx="110578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·    ·  10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437172" y="6382512"/>
            <a:ext cx="3317352" cy="0"/>
          </a:xfrm>
          <a:prstGeom prst="line">
            <a:avLst/>
          </a:prstGeom>
          <a:noFill/>
          <a:ln w="6350">
            <a:solidFill>
              <a:srgbClr val="6B8E00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2026-08-16T08:22:51Z</dcterms:created>
  <dcterms:modified xsi:type="dcterms:W3CDTF">2026-08-16T08:22:51Z</dcterms:modified>
</cp:coreProperties>
</file>