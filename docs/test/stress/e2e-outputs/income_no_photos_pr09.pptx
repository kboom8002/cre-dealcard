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</p:sldIdLst>
  <p:notesMasterIdLst>
    <p:notesMasterId r:id="rId17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notesMaster" Target="notesMasters/notesMaster1.xml"/><Relationship Id="rId18" Type="http://schemas.openxmlformats.org/officeDocument/2006/relationships/presProps" Target="presProps.xml"/><Relationship Id="rId19" Type="http://schemas.openxmlformats.org/officeDocument/2006/relationships/viewProps" Target="viewProps.xml"/><Relationship Id="rId20" Type="http://schemas.openxmlformats.org/officeDocument/2006/relationships/theme" Target="theme/theme1.xml"/><Relationship Id="rId2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016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772400" y="0"/>
            <a:ext cx="4419295" cy="6858000"/>
          </a:xfrm>
          <a:prstGeom prst="rect">
            <a:avLst/>
          </a:prstGeom>
          <a:solidFill>
            <a:srgbClr val="2A2118"/>
          </a:solidFill>
          <a:ln/>
        </p:spPr>
      </p:sp>
      <p:sp>
        <p:nvSpPr>
          <p:cNvPr id="3" name="Shape 1"/>
          <p:cNvSpPr/>
          <p:nvPr/>
        </p:nvSpPr>
        <p:spPr>
          <a:xfrm>
            <a:off x="8778240" y="731520"/>
            <a:ext cx="2926080" cy="2377440"/>
          </a:xfrm>
          <a:prstGeom prst="rect">
            <a:avLst/>
          </a:prstGeom>
          <a:solidFill>
            <a:srgbClr val="3D2E1A"/>
          </a:solidFill>
          <a:ln/>
        </p:spPr>
      </p:sp>
      <p:sp>
        <p:nvSpPr>
          <p:cNvPr id="4" name="Shape 2"/>
          <p:cNvSpPr/>
          <p:nvPr/>
        </p:nvSpPr>
        <p:spPr>
          <a:xfrm>
            <a:off x="8138160" y="3657600"/>
            <a:ext cx="3474720" cy="2560320"/>
          </a:xfrm>
          <a:prstGeom prst="rect">
            <a:avLst/>
          </a:prstGeom>
          <a:solidFill>
            <a:srgbClr val="33271A"/>
          </a:solidFill>
          <a:ln/>
        </p:spPr>
      </p:sp>
      <p:sp>
        <p:nvSpPr>
          <p:cNvPr id="5" name="Shape 3"/>
          <p:cNvSpPr/>
          <p:nvPr/>
        </p:nvSpPr>
        <p:spPr>
          <a:xfrm>
            <a:off x="8503920" y="365760"/>
            <a:ext cx="0" cy="6126480"/>
          </a:xfrm>
          <a:prstGeom prst="line">
            <a:avLst/>
          </a:prstGeom>
          <a:noFill/>
          <a:ln w="10160">
            <a:solidFill>
              <a:srgbClr val="B98A2E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8275320" y="0"/>
            <a:ext cx="1417320" cy="4041648"/>
          </a:xfrm>
          <a:prstGeom prst="rect">
            <a:avLst/>
          </a:prstGeom>
          <a:solidFill>
            <a:srgbClr val="1A2030"/>
          </a:solidFill>
          <a:ln/>
        </p:spPr>
      </p:sp>
      <p:sp>
        <p:nvSpPr>
          <p:cNvPr id="7" name="Shape 5"/>
          <p:cNvSpPr/>
          <p:nvPr/>
        </p:nvSpPr>
        <p:spPr>
          <a:xfrm>
            <a:off x="9784080" y="868680"/>
            <a:ext cx="1143000" cy="3172968"/>
          </a:xfrm>
          <a:prstGeom prst="rect">
            <a:avLst/>
          </a:prstGeom>
          <a:solidFill>
            <a:srgbClr val="161D2B"/>
          </a:solidFill>
          <a:ln/>
        </p:spPr>
      </p:sp>
      <p:sp>
        <p:nvSpPr>
          <p:cNvPr id="8" name="Shape 6"/>
          <p:cNvSpPr/>
          <p:nvPr/>
        </p:nvSpPr>
        <p:spPr>
          <a:xfrm>
            <a:off x="11018520" y="1691640"/>
            <a:ext cx="1170432" cy="2350008"/>
          </a:xfrm>
          <a:prstGeom prst="rect">
            <a:avLst/>
          </a:prstGeom>
          <a:solidFill>
            <a:srgbClr val="2E2718"/>
          </a:solidFill>
          <a:ln/>
        </p:spPr>
      </p:sp>
      <p:sp>
        <p:nvSpPr>
          <p:cNvPr id="9" name="Text 7"/>
          <p:cNvSpPr/>
          <p:nvPr/>
        </p:nvSpPr>
        <p:spPr>
          <a:xfrm>
            <a:off x="566928" y="475488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CRE</a:t>
            </a:r>
            <a:pPr indent="0" marL="0">
              <a:buNone/>
            </a:pPr>
            <a:r>
              <a:rPr lang="en-US" sz="15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DEAL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566928" y="202996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25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INVESTMENT MEMORANDUM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566928" y="2304288"/>
            <a:ext cx="73152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income 포스처 테스트 문서</a:t>
            </a:r>
            <a:endParaRPr lang="en-US" sz="4000" dirty="0"/>
          </a:p>
        </p:txBody>
      </p:sp>
      <p:sp>
        <p:nvSpPr>
          <p:cNvPr id="12" name="Text 10"/>
          <p:cNvSpPr/>
          <p:nvPr/>
        </p:nvSpPr>
        <p:spPr>
          <a:xfrm>
            <a:off x="566928" y="3090672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E2E8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메디컬빌딩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566928" y="3584448"/>
            <a:ext cx="1097280" cy="310896"/>
          </a:xfrm>
          <a:prstGeom prst="roundRect">
            <a:avLst>
              <a:gd name="adj" fmla="val 50000"/>
            </a:avLst>
          </a:prstGeom>
          <a:solidFill>
            <a:srgbClr val="2D3748"/>
          </a:solidFill>
          <a:ln/>
        </p:spPr>
      </p:sp>
      <p:sp>
        <p:nvSpPr>
          <p:cNvPr id="14" name="Text 12"/>
          <p:cNvSpPr/>
          <p:nvPr/>
        </p:nvSpPr>
        <p:spPr>
          <a:xfrm>
            <a:off x="566928" y="3584448"/>
            <a:ext cx="1097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메디컬빌딩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1773936" y="3584448"/>
            <a:ext cx="1097280" cy="310896"/>
          </a:xfrm>
          <a:prstGeom prst="roundRect">
            <a:avLst>
              <a:gd name="adj" fmla="val 50000"/>
            </a:avLst>
          </a:prstGeom>
          <a:solidFill>
            <a:srgbClr val="2D3748"/>
          </a:solidFill>
          <a:ln/>
        </p:spPr>
      </p:sp>
      <p:sp>
        <p:nvSpPr>
          <p:cNvPr id="16" name="Text 14"/>
          <p:cNvSpPr/>
          <p:nvPr/>
        </p:nvSpPr>
        <p:spPr>
          <a:xfrm>
            <a:off x="1773936" y="3584448"/>
            <a:ext cx="1097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165억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566928" y="4224528"/>
            <a:ext cx="6858000" cy="1225296"/>
          </a:xfrm>
          <a:prstGeom prst="roundRect">
            <a:avLst>
              <a:gd name="adj" fmla="val 2985"/>
            </a:avLst>
          </a:prstGeom>
          <a:solidFill>
            <a:srgbClr val="977024"/>
          </a:solidFill>
          <a:ln w="12700">
            <a:solidFill>
              <a:srgbClr val="B98A2E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822960" y="4425696"/>
            <a:ext cx="6345936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F3EBD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165억</a:t>
            </a:r>
            <a:endParaRPr lang="en-US" sz="2200" dirty="0"/>
          </a:p>
        </p:txBody>
      </p:sp>
      <p:sp>
        <p:nvSpPr>
          <p:cNvPr id="19" name="Text 17"/>
          <p:cNvSpPr/>
          <p:nvPr/>
        </p:nvSpPr>
        <p:spPr>
          <a:xfrm>
            <a:off x="566928" y="6035040"/>
            <a:ext cx="1105783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endParaRPr lang="en-US" sz="900" dirty="0"/>
          </a:p>
        </p:txBody>
      </p:sp>
      <p:sp>
        <p:nvSpPr>
          <p:cNvPr id="20" name="Text 18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21" name="Text 19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Summary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핵심요약</a:t>
            </a:r>
            <a:endParaRPr lang="en-US" sz="2300" dirty="0"/>
          </a:p>
        </p:txBody>
      </p:sp>
      <p:sp>
        <p:nvSpPr>
          <p:cNvPr id="6" name="Text 4"/>
          <p:cNvSpPr/>
          <p:nvPr/>
        </p:nvSpPr>
        <p:spPr>
          <a:xfrm>
            <a:off x="566928" y="1188720"/>
            <a:ext cx="11057839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서초 메디컬 빌딩은 지하2층~지상7층 규모의 올근생 빌딩입니다.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566928" y="1691640"/>
            <a:ext cx="11057839" cy="0"/>
          </a:xfrm>
          <a:prstGeom prst="line">
            <a:avLst/>
          </a:prstGeom>
          <a:noFill/>
          <a:ln w="19050">
            <a:solidFill>
              <a:srgbClr val="B98A2E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566928" y="1965960"/>
            <a:ext cx="2627300" cy="1280160"/>
          </a:xfrm>
          <a:prstGeom prst="roundRect">
            <a:avLst>
              <a:gd name="adj" fmla="val 4286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731520" y="2093976"/>
            <a:ext cx="229811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대지면적</a:t>
            </a:r>
            <a:endParaRPr lang="en-US" sz="950" dirty="0"/>
          </a:p>
        </p:txBody>
      </p:sp>
      <p:sp>
        <p:nvSpPr>
          <p:cNvPr id="10" name="Text 8"/>
          <p:cNvSpPr/>
          <p:nvPr/>
        </p:nvSpPr>
        <p:spPr>
          <a:xfrm>
            <a:off x="731520" y="2313432"/>
            <a:ext cx="229811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142.5평</a:t>
            </a:r>
            <a:endParaRPr lang="en-US" sz="2000" dirty="0"/>
          </a:p>
        </p:txBody>
      </p:sp>
      <p:sp>
        <p:nvSpPr>
          <p:cNvPr id="11" name="Shape 9"/>
          <p:cNvSpPr/>
          <p:nvPr/>
        </p:nvSpPr>
        <p:spPr>
          <a:xfrm>
            <a:off x="3377108" y="1965960"/>
            <a:ext cx="2627300" cy="1280160"/>
          </a:xfrm>
          <a:prstGeom prst="roundRect">
            <a:avLst>
              <a:gd name="adj" fmla="val 4286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541700" y="2093976"/>
            <a:ext cx="229811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연면적</a:t>
            </a:r>
            <a:endParaRPr lang="en-US" sz="950" dirty="0"/>
          </a:p>
        </p:txBody>
      </p:sp>
      <p:sp>
        <p:nvSpPr>
          <p:cNvPr id="13" name="Text 11"/>
          <p:cNvSpPr/>
          <p:nvPr/>
        </p:nvSpPr>
        <p:spPr>
          <a:xfrm>
            <a:off x="3541700" y="2313432"/>
            <a:ext cx="229811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620.8평</a:t>
            </a:r>
            <a:endParaRPr lang="en-US" sz="2000" dirty="0"/>
          </a:p>
        </p:txBody>
      </p:sp>
      <p:sp>
        <p:nvSpPr>
          <p:cNvPr id="14" name="Shape 12"/>
          <p:cNvSpPr/>
          <p:nvPr/>
        </p:nvSpPr>
        <p:spPr>
          <a:xfrm>
            <a:off x="6187288" y="1965960"/>
            <a:ext cx="2627300" cy="1280160"/>
          </a:xfrm>
          <a:prstGeom prst="roundRect">
            <a:avLst>
              <a:gd name="adj" fmla="val 4286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351880" y="2093976"/>
            <a:ext cx="229811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준공</a:t>
            </a:r>
            <a:endParaRPr lang="en-US" sz="950" dirty="0"/>
          </a:p>
        </p:txBody>
      </p:sp>
      <p:sp>
        <p:nvSpPr>
          <p:cNvPr id="16" name="Text 14"/>
          <p:cNvSpPr/>
          <p:nvPr/>
        </p:nvSpPr>
        <p:spPr>
          <a:xfrm>
            <a:off x="6351880" y="2313432"/>
            <a:ext cx="229811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2017년</a:t>
            </a:r>
            <a:endParaRPr lang="en-US" sz="2000" dirty="0"/>
          </a:p>
        </p:txBody>
      </p:sp>
      <p:sp>
        <p:nvSpPr>
          <p:cNvPr id="17" name="Shape 15"/>
          <p:cNvSpPr/>
          <p:nvPr/>
        </p:nvSpPr>
        <p:spPr>
          <a:xfrm>
            <a:off x="8997467" y="1965960"/>
            <a:ext cx="2627300" cy="1280160"/>
          </a:xfrm>
          <a:prstGeom prst="roundRect">
            <a:avLst>
              <a:gd name="adj" fmla="val 4286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9162059" y="2093976"/>
            <a:ext cx="229811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서초 메디컬 빌딩은 지하2</a:t>
            </a:r>
            <a:endParaRPr lang="en-US" sz="950" dirty="0"/>
          </a:p>
        </p:txBody>
      </p:sp>
      <p:sp>
        <p:nvSpPr>
          <p:cNvPr id="19" name="Text 17"/>
          <p:cNvSpPr/>
          <p:nvPr/>
        </p:nvSpPr>
        <p:spPr>
          <a:xfrm>
            <a:off x="9162059" y="2313432"/>
            <a:ext cx="229811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2층</a:t>
            </a:r>
            <a:endParaRPr lang="en-US" sz="2000" dirty="0"/>
          </a:p>
        </p:txBody>
      </p:sp>
      <p:sp>
        <p:nvSpPr>
          <p:cNvPr id="20" name="Text 18"/>
          <p:cNvSpPr/>
          <p:nvPr/>
        </p:nvSpPr>
        <p:spPr>
          <a:xfrm>
            <a:off x="566928" y="3502152"/>
            <a:ext cx="1105783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97702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3대 핵심 투자 포인트 (Investment Highlights)</a:t>
            </a:r>
            <a:endParaRPr lang="en-US" sz="1250" dirty="0"/>
          </a:p>
        </p:txBody>
      </p:sp>
      <p:sp>
        <p:nvSpPr>
          <p:cNvPr id="21" name="Shape 19"/>
          <p:cNvSpPr/>
          <p:nvPr/>
        </p:nvSpPr>
        <p:spPr>
          <a:xfrm>
            <a:off x="566928" y="3831336"/>
            <a:ext cx="11057839" cy="585216"/>
          </a:xfrm>
          <a:prstGeom prst="roundRect">
            <a:avLst>
              <a:gd name="adj" fmla="val 7813"/>
            </a:avLst>
          </a:prstGeom>
          <a:solidFill>
            <a:srgbClr val="F8F9FA"/>
          </a:solidFill>
          <a:ln w="7620">
            <a:solidFill>
              <a:srgbClr val="E2E8F0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676656" y="3941064"/>
            <a:ext cx="411480" cy="365760"/>
          </a:xfrm>
          <a:prstGeom prst="roundRect">
            <a:avLst>
              <a:gd name="adj" fmla="val 10000"/>
            </a:avLst>
          </a:prstGeom>
          <a:solidFill>
            <a:srgbClr val="F3EBDA"/>
          </a:solidFill>
          <a:ln w="6350">
            <a:solidFill>
              <a:srgbClr val="D9B668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676656" y="3941064"/>
            <a:ext cx="411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9770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1000" dirty="0"/>
          </a:p>
        </p:txBody>
      </p:sp>
      <p:sp>
        <p:nvSpPr>
          <p:cNvPr id="24" name="Text 22"/>
          <p:cNvSpPr/>
          <p:nvPr/>
        </p:nvSpPr>
        <p:spPr>
          <a:xfrm>
            <a:off x="1207008" y="3904488"/>
            <a:ext cx="10280599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입지 분석: 핵심권역 소재 자산의 입지 특성 및 대지 지분 가치 확인 필요</a:t>
            </a:r>
            <a:endParaRPr lang="en-US" sz="1150" dirty="0"/>
          </a:p>
        </p:txBody>
      </p:sp>
      <p:sp>
        <p:nvSpPr>
          <p:cNvPr id="25" name="Shape 23"/>
          <p:cNvSpPr/>
          <p:nvPr/>
        </p:nvSpPr>
        <p:spPr>
          <a:xfrm>
            <a:off x="566928" y="4526280"/>
            <a:ext cx="11057839" cy="585216"/>
          </a:xfrm>
          <a:prstGeom prst="roundRect">
            <a:avLst>
              <a:gd name="adj" fmla="val 7813"/>
            </a:avLst>
          </a:prstGeom>
          <a:solidFill>
            <a:srgbClr val="F8F9FA"/>
          </a:solidFill>
          <a:ln w="7620">
            <a:solidFill>
              <a:srgbClr val="E2E8F0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676656" y="4636008"/>
            <a:ext cx="411480" cy="365760"/>
          </a:xfrm>
          <a:prstGeom prst="roundRect">
            <a:avLst>
              <a:gd name="adj" fmla="val 10000"/>
            </a:avLst>
          </a:prstGeom>
          <a:solidFill>
            <a:srgbClr val="F3EBDA"/>
          </a:solidFill>
          <a:ln w="6350">
            <a:solidFill>
              <a:srgbClr val="D9B668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676656" y="4636008"/>
            <a:ext cx="411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9770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000" dirty="0"/>
          </a:p>
        </p:txBody>
      </p:sp>
      <p:sp>
        <p:nvSpPr>
          <p:cNvPr id="28" name="Text 26"/>
          <p:cNvSpPr/>
          <p:nvPr/>
        </p:nvSpPr>
        <p:spPr>
          <a:xfrm>
            <a:off x="1207008" y="4599432"/>
            <a:ext cx="10280599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수익 구조: 매매 시장 적정가 수준 대비 임대수익 현황 분석 필요</a:t>
            </a:r>
            <a:endParaRPr lang="en-US" sz="1150" dirty="0"/>
          </a:p>
        </p:txBody>
      </p:sp>
      <p:sp>
        <p:nvSpPr>
          <p:cNvPr id="29" name="Shape 27"/>
          <p:cNvSpPr/>
          <p:nvPr/>
        </p:nvSpPr>
        <p:spPr>
          <a:xfrm>
            <a:off x="566928" y="5221224"/>
            <a:ext cx="11057839" cy="585216"/>
          </a:xfrm>
          <a:prstGeom prst="roundRect">
            <a:avLst>
              <a:gd name="adj" fmla="val 7813"/>
            </a:avLst>
          </a:prstGeom>
          <a:solidFill>
            <a:srgbClr val="F8F9FA"/>
          </a:solidFill>
          <a:ln w="7620">
            <a:solidFill>
              <a:srgbClr val="E2E8F0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676656" y="5330952"/>
            <a:ext cx="411480" cy="365760"/>
          </a:xfrm>
          <a:prstGeom prst="roundRect">
            <a:avLst>
              <a:gd name="adj" fmla="val 10000"/>
            </a:avLst>
          </a:prstGeom>
          <a:solidFill>
            <a:srgbClr val="F3EBDA"/>
          </a:solidFill>
          <a:ln w="6350">
            <a:solidFill>
              <a:srgbClr val="D9B668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676656" y="5330952"/>
            <a:ext cx="411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9770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000" dirty="0"/>
          </a:p>
        </p:txBody>
      </p:sp>
      <p:sp>
        <p:nvSpPr>
          <p:cNvPr id="32" name="Text 30"/>
          <p:cNvSpPr/>
          <p:nvPr/>
        </p:nvSpPr>
        <p:spPr>
          <a:xfrm>
            <a:off x="1207008" y="5294376"/>
            <a:ext cx="10280599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향후 검토: 권역 개발 동향 및 공법상 변경 가능성 확인 필요</a:t>
            </a:r>
            <a:endParaRPr lang="en-US" sz="1150" dirty="0"/>
          </a:p>
        </p:txBody>
      </p:sp>
      <p:sp>
        <p:nvSpPr>
          <p:cNvPr id="33" name="Text 31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34" name="Text 32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Location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입지 및 교통</a:t>
            </a:r>
            <a:endParaRPr lang="en-US" sz="2300" dirty="0"/>
          </a:p>
        </p:txBody>
      </p:sp>
      <p:sp>
        <p:nvSpPr>
          <p:cNvPr id="6" name="Text 4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Land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토지</a:t>
            </a:r>
            <a:endParaRPr lang="en-US" sz="2300" dirty="0"/>
          </a:p>
        </p:txBody>
      </p:sp>
      <p:sp>
        <p:nvSpPr>
          <p:cNvPr id="6" name="Text 4"/>
          <p:cNvSpPr/>
          <p:nvPr/>
        </p:nvSpPr>
        <p:spPr>
          <a:xfrm>
            <a:off x="566928" y="1371600"/>
            <a:ext cx="6858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토지 현황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566928" y="1645920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대지면적</a:t>
            </a:r>
            <a:endParaRPr lang="en-US" sz="1350" dirty="0"/>
          </a:p>
        </p:txBody>
      </p:sp>
      <p:sp>
        <p:nvSpPr>
          <p:cNvPr id="8" name="Text 6"/>
          <p:cNvSpPr/>
          <p:nvPr/>
        </p:nvSpPr>
        <p:spPr>
          <a:xfrm>
            <a:off x="3172968" y="1645920"/>
            <a:ext cx="42519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142.5평</a:t>
            </a:r>
            <a:endParaRPr lang="en-US" sz="1350" dirty="0"/>
          </a:p>
        </p:txBody>
      </p:sp>
      <p:sp>
        <p:nvSpPr>
          <p:cNvPr id="9" name="Shape 7"/>
          <p:cNvSpPr/>
          <p:nvPr/>
        </p:nvSpPr>
        <p:spPr>
          <a:xfrm>
            <a:off x="566928" y="2084832"/>
            <a:ext cx="685800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566928" y="2084832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연면적</a:t>
            </a:r>
            <a:endParaRPr lang="en-US" sz="1350" dirty="0"/>
          </a:p>
        </p:txBody>
      </p:sp>
      <p:sp>
        <p:nvSpPr>
          <p:cNvPr id="11" name="Text 9"/>
          <p:cNvSpPr/>
          <p:nvPr/>
        </p:nvSpPr>
        <p:spPr>
          <a:xfrm>
            <a:off x="3172968" y="2084832"/>
            <a:ext cx="42519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620.8평</a:t>
            </a:r>
            <a:endParaRPr lang="en-US" sz="1350" dirty="0"/>
          </a:p>
        </p:txBody>
      </p:sp>
      <p:sp>
        <p:nvSpPr>
          <p:cNvPr id="12" name="Shape 10"/>
          <p:cNvSpPr/>
          <p:nvPr/>
        </p:nvSpPr>
        <p:spPr>
          <a:xfrm>
            <a:off x="7604608" y="1371600"/>
            <a:ext cx="0" cy="4754880"/>
          </a:xfrm>
          <a:prstGeom prst="line">
            <a:avLst/>
          </a:prstGeom>
          <a:noFill/>
          <a:ln w="8890">
            <a:solidFill>
              <a:srgbClr val="B98A2E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7784287" y="1645920"/>
            <a:ext cx="3840480" cy="2103120"/>
          </a:xfrm>
          <a:prstGeom prst="roundRect">
            <a:avLst>
              <a:gd name="adj" fmla="val 2609"/>
            </a:avLst>
          </a:prstGeom>
          <a:solidFill>
            <a:srgbClr val="BEE3F8"/>
          </a:solidFill>
          <a:ln/>
        </p:spPr>
      </p:sp>
      <p:sp>
        <p:nvSpPr>
          <p:cNvPr id="14" name="Shape 12"/>
          <p:cNvSpPr/>
          <p:nvPr/>
        </p:nvSpPr>
        <p:spPr>
          <a:xfrm>
            <a:off x="7784287" y="1700784"/>
            <a:ext cx="36576" cy="1993392"/>
          </a:xfrm>
          <a:prstGeom prst="rect">
            <a:avLst/>
          </a:prstGeom>
          <a:solidFill>
            <a:srgbClr val="2B6CB0"/>
          </a:solidFill>
          <a:ln/>
        </p:spPr>
      </p:sp>
      <p:sp>
        <p:nvSpPr>
          <p:cNvPr id="15" name="Text 13"/>
          <p:cNvSpPr/>
          <p:nvPr/>
        </p:nvSpPr>
        <p:spPr>
          <a:xfrm>
            <a:off x="7967167" y="1755648"/>
            <a:ext cx="351129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B6CB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입지 및 권리관계 실사 포인트</a:t>
            </a:r>
            <a:endParaRPr lang="en-US" sz="1050" dirty="0"/>
          </a:p>
        </p:txBody>
      </p:sp>
      <p:sp>
        <p:nvSpPr>
          <p:cNvPr id="16" name="Text 14"/>
          <p:cNvSpPr/>
          <p:nvPr/>
        </p:nvSpPr>
        <p:spPr>
          <a:xfrm>
            <a:off x="7967167" y="1975104"/>
            <a:ext cx="3511296" cy="17007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물건 접면 도로 폭 및 진출입 여건은 현장 실사 확인 사항입니다</a:t>
            </a:r>
            <a:endParaRPr lang="en-US" sz="930" dirty="0"/>
          </a:p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등기부등본상 권리관계 및 제한물권 설정 여부를 확인하였습니다</a:t>
            </a:r>
            <a:endParaRPr lang="en-US" sz="930" dirty="0"/>
          </a:p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지구단위계획 및 토지이용계획상 허용 용도를 검토하였습니다</a:t>
            </a:r>
            <a:endParaRPr lang="en-US" sz="930" dirty="0"/>
          </a:p>
        </p:txBody>
      </p:sp>
      <p:sp>
        <p:nvSpPr>
          <p:cNvPr id="17" name="Shape 15"/>
          <p:cNvSpPr/>
          <p:nvPr/>
        </p:nvSpPr>
        <p:spPr>
          <a:xfrm>
            <a:off x="7784287" y="3977640"/>
            <a:ext cx="3840480" cy="2148840"/>
          </a:xfrm>
          <a:prstGeom prst="roundRect">
            <a:avLst>
              <a:gd name="adj" fmla="val 2553"/>
            </a:avLst>
          </a:prstGeom>
          <a:solidFill>
            <a:srgbClr val="BEE3F8"/>
          </a:solidFill>
          <a:ln/>
        </p:spPr>
      </p:sp>
      <p:sp>
        <p:nvSpPr>
          <p:cNvPr id="18" name="Shape 16"/>
          <p:cNvSpPr/>
          <p:nvPr/>
        </p:nvSpPr>
        <p:spPr>
          <a:xfrm>
            <a:off x="7784287" y="4032504"/>
            <a:ext cx="36576" cy="2039112"/>
          </a:xfrm>
          <a:prstGeom prst="rect">
            <a:avLst/>
          </a:prstGeom>
          <a:solidFill>
            <a:srgbClr val="2B6CB0"/>
          </a:solidFill>
          <a:ln/>
        </p:spPr>
      </p:sp>
      <p:sp>
        <p:nvSpPr>
          <p:cNvPr id="19" name="Text 17"/>
          <p:cNvSpPr/>
          <p:nvPr/>
        </p:nvSpPr>
        <p:spPr>
          <a:xfrm>
            <a:off x="7967167" y="4087368"/>
            <a:ext cx="351129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B6CB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임대차 및 운용 관리 상태</a:t>
            </a:r>
            <a:endParaRPr lang="en-US" sz="1050" dirty="0"/>
          </a:p>
        </p:txBody>
      </p:sp>
      <p:sp>
        <p:nvSpPr>
          <p:cNvPr id="20" name="Text 18"/>
          <p:cNvSpPr/>
          <p:nvPr/>
        </p:nvSpPr>
        <p:spPr>
          <a:xfrm>
            <a:off x="7967167" y="4306824"/>
            <a:ext cx="3511296" cy="1746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주요 임차인별 계약 만기 분산 및 렌트롤 실사가 필요합니다</a:t>
            </a:r>
            <a:endParaRPr lang="en-US" sz="930" dirty="0"/>
          </a:p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관리비 정산 내역 및 수선유지비 집행 이력을 점검하였습니다</a:t>
            </a:r>
            <a:endParaRPr lang="en-US" sz="930" dirty="0"/>
          </a:p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취득세 감면 및 대출 조달 구조는 금융·세무 자문 후 확정됩니다</a:t>
            </a:r>
            <a:endParaRPr lang="en-US" sz="930" dirty="0"/>
          </a:p>
        </p:txBody>
      </p:sp>
      <p:sp>
        <p:nvSpPr>
          <p:cNvPr id="21" name="Text 19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22" name="Text 20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Building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물건 개요</a:t>
            </a:r>
            <a:endParaRPr lang="en-US" sz="2300" dirty="0"/>
          </a:p>
        </p:txBody>
      </p:sp>
      <p:sp>
        <p:nvSpPr>
          <p:cNvPr id="6" name="Text 4"/>
          <p:cNvSpPr/>
          <p:nvPr/>
        </p:nvSpPr>
        <p:spPr>
          <a:xfrm>
            <a:off x="566928" y="1371600"/>
            <a:ext cx="6858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건축물 개요 및 물리 스펙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566928" y="1645920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대지면적</a:t>
            </a:r>
            <a:endParaRPr lang="en-US" sz="1350" dirty="0"/>
          </a:p>
        </p:txBody>
      </p:sp>
      <p:sp>
        <p:nvSpPr>
          <p:cNvPr id="8" name="Text 6"/>
          <p:cNvSpPr/>
          <p:nvPr/>
        </p:nvSpPr>
        <p:spPr>
          <a:xfrm>
            <a:off x="3172968" y="1645920"/>
            <a:ext cx="42519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142.5평</a:t>
            </a:r>
            <a:endParaRPr lang="en-US" sz="1350" dirty="0"/>
          </a:p>
        </p:txBody>
      </p:sp>
      <p:sp>
        <p:nvSpPr>
          <p:cNvPr id="9" name="Shape 7"/>
          <p:cNvSpPr/>
          <p:nvPr/>
        </p:nvSpPr>
        <p:spPr>
          <a:xfrm>
            <a:off x="566928" y="2084832"/>
            <a:ext cx="685800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566928" y="2084832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연면적</a:t>
            </a:r>
            <a:endParaRPr lang="en-US" sz="1350" dirty="0"/>
          </a:p>
        </p:txBody>
      </p:sp>
      <p:sp>
        <p:nvSpPr>
          <p:cNvPr id="11" name="Text 9"/>
          <p:cNvSpPr/>
          <p:nvPr/>
        </p:nvSpPr>
        <p:spPr>
          <a:xfrm>
            <a:off x="3172968" y="2084832"/>
            <a:ext cx="42519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620.8평</a:t>
            </a:r>
            <a:endParaRPr lang="en-US" sz="1350" dirty="0"/>
          </a:p>
        </p:txBody>
      </p:sp>
      <p:sp>
        <p:nvSpPr>
          <p:cNvPr id="12" name="Shape 10"/>
          <p:cNvSpPr/>
          <p:nvPr/>
        </p:nvSpPr>
        <p:spPr>
          <a:xfrm>
            <a:off x="566928" y="2523744"/>
            <a:ext cx="685800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566928" y="2523744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준공</a:t>
            </a:r>
            <a:endParaRPr lang="en-US" sz="1350" dirty="0"/>
          </a:p>
        </p:txBody>
      </p:sp>
      <p:sp>
        <p:nvSpPr>
          <p:cNvPr id="14" name="Text 12"/>
          <p:cNvSpPr/>
          <p:nvPr/>
        </p:nvSpPr>
        <p:spPr>
          <a:xfrm>
            <a:off x="3172968" y="2523744"/>
            <a:ext cx="42519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2017년</a:t>
            </a:r>
            <a:endParaRPr lang="en-US" sz="1350" dirty="0"/>
          </a:p>
        </p:txBody>
      </p:sp>
      <p:sp>
        <p:nvSpPr>
          <p:cNvPr id="15" name="Shape 13"/>
          <p:cNvSpPr/>
          <p:nvPr/>
        </p:nvSpPr>
        <p:spPr>
          <a:xfrm>
            <a:off x="7604608" y="1371600"/>
            <a:ext cx="0" cy="4754880"/>
          </a:xfrm>
          <a:prstGeom prst="line">
            <a:avLst/>
          </a:prstGeom>
          <a:noFill/>
          <a:ln w="8890">
            <a:solidFill>
              <a:srgbClr val="B98A2E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7784287" y="1645920"/>
            <a:ext cx="3840480" cy="1645920"/>
          </a:xfrm>
          <a:prstGeom prst="roundRect">
            <a:avLst>
              <a:gd name="adj" fmla="val 3333"/>
            </a:avLst>
          </a:prstGeom>
          <a:solidFill>
            <a:srgbClr val="F3EBDA"/>
          </a:solidFill>
          <a:ln/>
        </p:spPr>
      </p:sp>
      <p:sp>
        <p:nvSpPr>
          <p:cNvPr id="17" name="Shape 15"/>
          <p:cNvSpPr/>
          <p:nvPr/>
        </p:nvSpPr>
        <p:spPr>
          <a:xfrm>
            <a:off x="7784287" y="1700784"/>
            <a:ext cx="36576" cy="1536192"/>
          </a:xfrm>
          <a:prstGeom prst="rect">
            <a:avLst/>
          </a:prstGeom>
          <a:solidFill>
            <a:srgbClr val="977024"/>
          </a:solidFill>
          <a:ln/>
        </p:spPr>
      </p:sp>
      <p:sp>
        <p:nvSpPr>
          <p:cNvPr id="18" name="Text 16"/>
          <p:cNvSpPr/>
          <p:nvPr/>
        </p:nvSpPr>
        <p:spPr>
          <a:xfrm>
            <a:off x="7967167" y="1755648"/>
            <a:ext cx="351129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endParaRPr lang="en-US" sz="1050" dirty="0"/>
          </a:p>
        </p:txBody>
      </p:sp>
      <p:sp>
        <p:nvSpPr>
          <p:cNvPr id="19" name="Text 17"/>
          <p:cNvSpPr/>
          <p:nvPr/>
        </p:nvSpPr>
        <p:spPr>
          <a:xfrm>
            <a:off x="7967167" y="1975104"/>
            <a:ext cx="3511296" cy="12435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서초 메디컬 빌딩은 지하2층~지상7층 규모의 올근생 빌딩입니다.</a:t>
            </a:r>
            <a:endParaRPr lang="en-US" sz="930" dirty="0"/>
          </a:p>
        </p:txBody>
      </p:sp>
      <p:sp>
        <p:nvSpPr>
          <p:cNvPr id="20" name="Text 18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21" name="Text 19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05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Rent Roll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임대차 현황</a:t>
            </a:r>
            <a:endParaRPr lang="en-US" sz="2300" dirty="0"/>
          </a:p>
        </p:txBody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66928" y="1645920"/>
          <a:ext cx="11057839" cy="914400"/>
        </p:xfrm>
        <a:graphic>
          <a:graphicData uri="http://schemas.openxmlformats.org/drawingml/2006/table">
            <a:tbl>
              <a:tblPr/>
              <a:tblGrid>
                <a:gridCol w="1842973"/>
                <a:gridCol w="3071622"/>
                <a:gridCol w="3071622"/>
                <a:gridCol w="3071622"/>
              </a:tblGrid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71809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층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71809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업종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71809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보증금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71809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월세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1F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약국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3억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1,200만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2F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안과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2억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1,100만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</a:tr>
            </a:tbl>
          </a:graphicData>
        </a:graphic>
      </p:graphicFrame>
      <p:sp>
        <p:nvSpPr>
          <p:cNvPr id="7" name="Text 4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8" name="Text 5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06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Stability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임대안정성</a:t>
            </a:r>
            <a:endParaRPr lang="en-US" sz="2300" dirty="0"/>
          </a:p>
        </p:txBody>
      </p:sp>
      <p:sp>
        <p:nvSpPr>
          <p:cNvPr id="6" name="Text 4"/>
          <p:cNvSpPr/>
          <p:nvPr/>
        </p:nvSpPr>
        <p:spPr>
          <a:xfrm>
            <a:off x="566928" y="1371600"/>
            <a:ext cx="6858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건축물 개요 및 물리 스펙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566928" y="1645920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1F</a:t>
            </a:r>
            <a:endParaRPr lang="en-US" sz="1350" dirty="0"/>
          </a:p>
        </p:txBody>
      </p:sp>
      <p:sp>
        <p:nvSpPr>
          <p:cNvPr id="8" name="Text 6"/>
          <p:cNvSpPr/>
          <p:nvPr/>
        </p:nvSpPr>
        <p:spPr>
          <a:xfrm>
            <a:off x="3172968" y="1645920"/>
            <a:ext cx="42519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약국 (3억)</a:t>
            </a:r>
            <a:endParaRPr lang="en-US" sz="1350" dirty="0"/>
          </a:p>
        </p:txBody>
      </p:sp>
      <p:sp>
        <p:nvSpPr>
          <p:cNvPr id="9" name="Shape 7"/>
          <p:cNvSpPr/>
          <p:nvPr/>
        </p:nvSpPr>
        <p:spPr>
          <a:xfrm>
            <a:off x="566928" y="2084832"/>
            <a:ext cx="685800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566928" y="2084832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2F</a:t>
            </a:r>
            <a:endParaRPr lang="en-US" sz="1350" dirty="0"/>
          </a:p>
        </p:txBody>
      </p:sp>
      <p:sp>
        <p:nvSpPr>
          <p:cNvPr id="11" name="Text 9"/>
          <p:cNvSpPr/>
          <p:nvPr/>
        </p:nvSpPr>
        <p:spPr>
          <a:xfrm>
            <a:off x="3172968" y="2084832"/>
            <a:ext cx="42519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안과 (2억)</a:t>
            </a:r>
            <a:endParaRPr lang="en-US" sz="1350" dirty="0"/>
          </a:p>
        </p:txBody>
      </p:sp>
      <p:sp>
        <p:nvSpPr>
          <p:cNvPr id="12" name="Shape 10"/>
          <p:cNvSpPr/>
          <p:nvPr/>
        </p:nvSpPr>
        <p:spPr>
          <a:xfrm>
            <a:off x="7604608" y="1371600"/>
            <a:ext cx="0" cy="4754880"/>
          </a:xfrm>
          <a:prstGeom prst="line">
            <a:avLst/>
          </a:prstGeom>
          <a:noFill/>
          <a:ln w="8890">
            <a:solidFill>
              <a:srgbClr val="B98A2E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7784287" y="1645920"/>
            <a:ext cx="3840480" cy="1645920"/>
          </a:xfrm>
          <a:prstGeom prst="roundRect">
            <a:avLst>
              <a:gd name="adj" fmla="val 3333"/>
            </a:avLst>
          </a:prstGeom>
          <a:solidFill>
            <a:srgbClr val="F3EBDA"/>
          </a:solidFill>
          <a:ln/>
        </p:spPr>
      </p:sp>
      <p:sp>
        <p:nvSpPr>
          <p:cNvPr id="14" name="Shape 12"/>
          <p:cNvSpPr/>
          <p:nvPr/>
        </p:nvSpPr>
        <p:spPr>
          <a:xfrm>
            <a:off x="7784287" y="1700784"/>
            <a:ext cx="36576" cy="1536192"/>
          </a:xfrm>
          <a:prstGeom prst="rect">
            <a:avLst/>
          </a:prstGeom>
          <a:solidFill>
            <a:srgbClr val="977024"/>
          </a:solidFill>
          <a:ln/>
        </p:spPr>
      </p:sp>
      <p:sp>
        <p:nvSpPr>
          <p:cNvPr id="15" name="Text 13"/>
          <p:cNvSpPr/>
          <p:nvPr/>
        </p:nvSpPr>
        <p:spPr>
          <a:xfrm>
            <a:off x="7967167" y="1755648"/>
            <a:ext cx="351129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endParaRPr lang="en-US" sz="1050" dirty="0"/>
          </a:p>
        </p:txBody>
      </p:sp>
      <p:sp>
        <p:nvSpPr>
          <p:cNvPr id="16" name="Text 14"/>
          <p:cNvSpPr/>
          <p:nvPr/>
        </p:nvSpPr>
        <p:spPr>
          <a:xfrm>
            <a:off x="7967167" y="1975104"/>
            <a:ext cx="3511296" cy="12435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전층 메디컬 만실 운영 중이며 WALE 평균 3.5년입니다.</a:t>
            </a:r>
            <a:endParaRPr lang="en-US" sz="930" dirty="0"/>
          </a:p>
        </p:txBody>
      </p:sp>
      <p:sp>
        <p:nvSpPr>
          <p:cNvPr id="17" name="Text 15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18" name="Text 16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07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Profit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수익성 분석</a:t>
            </a:r>
            <a:endParaRPr lang="en-US" sz="2300" dirty="0"/>
          </a:p>
        </p:txBody>
      </p:sp>
      <p:sp>
        <p:nvSpPr>
          <p:cNvPr id="6" name="Shape 4"/>
          <p:cNvSpPr/>
          <p:nvPr/>
        </p:nvSpPr>
        <p:spPr>
          <a:xfrm>
            <a:off x="566928" y="1325880"/>
            <a:ext cx="11057839" cy="0"/>
          </a:xfrm>
          <a:prstGeom prst="line">
            <a:avLst/>
          </a:prstGeom>
          <a:noFill/>
          <a:ln w="19050">
            <a:solidFill>
              <a:srgbClr val="B98A2E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566928" y="1554480"/>
            <a:ext cx="3576218" cy="1188720"/>
          </a:xfrm>
          <a:prstGeom prst="roundRect">
            <a:avLst>
              <a:gd name="adj" fmla="val 4615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731520" y="1682496"/>
            <a:ext cx="324703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실투자금</a:t>
            </a:r>
            <a:endParaRPr lang="en-US" sz="950" dirty="0"/>
          </a:p>
        </p:txBody>
      </p:sp>
      <p:sp>
        <p:nvSpPr>
          <p:cNvPr id="9" name="Text 7"/>
          <p:cNvSpPr/>
          <p:nvPr/>
        </p:nvSpPr>
        <p:spPr>
          <a:xfrm>
            <a:off x="731520" y="1901952"/>
            <a:ext cx="324703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2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약 69억 원</a:t>
            </a:r>
            <a:endParaRPr lang="en-US" sz="2200" dirty="0"/>
          </a:p>
        </p:txBody>
      </p:sp>
      <p:sp>
        <p:nvSpPr>
          <p:cNvPr id="10" name="Shape 8"/>
          <p:cNvSpPr/>
          <p:nvPr/>
        </p:nvSpPr>
        <p:spPr>
          <a:xfrm>
            <a:off x="4307738" y="1554480"/>
            <a:ext cx="3576218" cy="1188720"/>
          </a:xfrm>
          <a:prstGeom prst="roundRect">
            <a:avLst>
              <a:gd name="adj" fmla="val 4615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472330" y="1682496"/>
            <a:ext cx="324703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순수익(매월)</a:t>
            </a:r>
            <a:endParaRPr lang="en-US" sz="950" dirty="0"/>
          </a:p>
        </p:txBody>
      </p:sp>
      <p:sp>
        <p:nvSpPr>
          <p:cNvPr id="12" name="Text 10"/>
          <p:cNvSpPr/>
          <p:nvPr/>
        </p:nvSpPr>
        <p:spPr>
          <a:xfrm>
            <a:off x="4472330" y="1901952"/>
            <a:ext cx="324703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2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약 3,650만 원</a:t>
            </a:r>
            <a:endParaRPr lang="en-US" sz="2200" dirty="0"/>
          </a:p>
        </p:txBody>
      </p:sp>
      <p:sp>
        <p:nvSpPr>
          <p:cNvPr id="13" name="Shape 11"/>
          <p:cNvSpPr/>
          <p:nvPr/>
        </p:nvSpPr>
        <p:spPr>
          <a:xfrm>
            <a:off x="8048549" y="1554480"/>
            <a:ext cx="3576218" cy="1188720"/>
          </a:xfrm>
          <a:prstGeom prst="roundRect">
            <a:avLst>
              <a:gd name="adj" fmla="val 4615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8213141" y="1682496"/>
            <a:ext cx="324703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레버리지 수익률</a:t>
            </a:r>
            <a:endParaRPr lang="en-US" sz="950" dirty="0"/>
          </a:p>
        </p:txBody>
      </p:sp>
      <p:sp>
        <p:nvSpPr>
          <p:cNvPr id="15" name="Text 13"/>
          <p:cNvSpPr/>
          <p:nvPr/>
        </p:nvSpPr>
        <p:spPr>
          <a:xfrm>
            <a:off x="8213141" y="1901952"/>
            <a:ext cx="324703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2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약 5.8%</a:t>
            </a:r>
            <a:endParaRPr lang="en-US" sz="2200" dirty="0"/>
          </a:p>
        </p:txBody>
      </p:sp>
      <p:sp>
        <p:nvSpPr>
          <p:cNvPr id="16" name="Shape 14"/>
          <p:cNvSpPr/>
          <p:nvPr/>
        </p:nvSpPr>
        <p:spPr>
          <a:xfrm>
            <a:off x="566928" y="2999232"/>
            <a:ext cx="11057839" cy="1280160"/>
          </a:xfrm>
          <a:prstGeom prst="roundRect">
            <a:avLst>
              <a:gd name="adj" fmla="val 4286"/>
            </a:avLst>
          </a:prstGeom>
          <a:solidFill>
            <a:srgbClr val="BEE3F8"/>
          </a:solidFill>
          <a:ln/>
        </p:spPr>
      </p:sp>
      <p:sp>
        <p:nvSpPr>
          <p:cNvPr id="17" name="Shape 15"/>
          <p:cNvSpPr/>
          <p:nvPr/>
        </p:nvSpPr>
        <p:spPr>
          <a:xfrm>
            <a:off x="566928" y="3054096"/>
            <a:ext cx="36576" cy="1170432"/>
          </a:xfrm>
          <a:prstGeom prst="rect">
            <a:avLst/>
          </a:prstGeom>
          <a:solidFill>
            <a:srgbClr val="2B6CB0"/>
          </a:solidFill>
          <a:ln/>
        </p:spPr>
      </p:sp>
      <p:sp>
        <p:nvSpPr>
          <p:cNvPr id="18" name="Text 16"/>
          <p:cNvSpPr/>
          <p:nvPr/>
        </p:nvSpPr>
        <p:spPr>
          <a:xfrm>
            <a:off x="749808" y="3108960"/>
            <a:ext cx="10728655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B6CB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투자 가치 제안</a:t>
            </a:r>
            <a:endParaRPr lang="en-US" sz="1050" dirty="0"/>
          </a:p>
        </p:txBody>
      </p:sp>
      <p:sp>
        <p:nvSpPr>
          <p:cNvPr id="19" name="Text 17"/>
          <p:cNvSpPr/>
          <p:nvPr/>
        </p:nvSpPr>
        <p:spPr>
          <a:xfrm>
            <a:off x="749808" y="3328416"/>
            <a:ext cx="10728655" cy="8778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연 순영업소득(NOI) 약 7.14억 원, 매입 Cap Rate 4.62%입니다.</a:t>
            </a:r>
            <a:endParaRPr lang="en-US" sz="930" dirty="0"/>
          </a:p>
        </p:txBody>
      </p:sp>
      <p:sp>
        <p:nvSpPr>
          <p:cNvPr id="20" name="Text 18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21" name="Text 19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08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Comps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비교사례</a:t>
            </a:r>
            <a:endParaRPr lang="en-US" sz="2300" dirty="0"/>
          </a:p>
        </p:txBody>
      </p:sp>
      <p:sp>
        <p:nvSpPr>
          <p:cNvPr id="6" name="Text 4"/>
          <p:cNvSpPr/>
          <p:nvPr/>
        </p:nvSpPr>
        <p:spPr>
          <a:xfrm>
            <a:off x="566928" y="1645920"/>
            <a:ext cx="4201979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실투자금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4768907" y="1645920"/>
            <a:ext cx="68558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약 69억 원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566928" y="2048256"/>
            <a:ext cx="11057839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566928" y="2048256"/>
            <a:ext cx="4201979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순수익(매월)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768907" y="2048256"/>
            <a:ext cx="68558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약 3,650만 원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566928" y="2450592"/>
            <a:ext cx="11057839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566928" y="2450592"/>
            <a:ext cx="4201979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레버리지 수익률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4768907" y="2450592"/>
            <a:ext cx="68558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약 5.8%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09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Capital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투자 및 자본 조달 구조 분석</a:t>
            </a:r>
            <a:endParaRPr lang="en-US" sz="2300" dirty="0"/>
          </a:p>
        </p:txBody>
      </p:sp>
      <p:sp>
        <p:nvSpPr>
          <p:cNvPr id="6" name="Shape 4"/>
          <p:cNvSpPr/>
          <p:nvPr/>
        </p:nvSpPr>
        <p:spPr>
          <a:xfrm>
            <a:off x="566928" y="1417320"/>
            <a:ext cx="5391760" cy="4389120"/>
          </a:xfrm>
          <a:prstGeom prst="roundRect">
            <a:avLst>
              <a:gd name="adj" fmla="val 1250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95528" y="1618488"/>
            <a:ext cx="4934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97702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1. 총취득원가 및 자기자본 소요</a:t>
            </a:r>
            <a:endParaRPr lang="en-US" sz="1350" dirty="0"/>
          </a:p>
        </p:txBody>
      </p:sp>
      <p:sp>
        <p:nvSpPr>
          <p:cNvPr id="8" name="Text 6"/>
          <p:cNvSpPr/>
          <p:nvPr/>
        </p:nvSpPr>
        <p:spPr>
          <a:xfrm>
            <a:off x="795528" y="2011680"/>
            <a:ext cx="1875133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매매 희망가 (A)</a:t>
            </a:r>
            <a:endParaRPr lang="en-US" sz="1150" dirty="0"/>
          </a:p>
        </p:txBody>
      </p:sp>
      <p:sp>
        <p:nvSpPr>
          <p:cNvPr id="9" name="Text 7"/>
          <p:cNvSpPr/>
          <p:nvPr/>
        </p:nvSpPr>
        <p:spPr>
          <a:xfrm>
            <a:off x="2670661" y="2011680"/>
            <a:ext cx="3059427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165.0억 원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795528" y="2487168"/>
            <a:ext cx="493456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795528" y="2487168"/>
            <a:ext cx="1875133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취득세 (4.6% 법정)</a:t>
            </a:r>
            <a:endParaRPr lang="en-US" sz="1150" dirty="0"/>
          </a:p>
        </p:txBody>
      </p:sp>
      <p:sp>
        <p:nvSpPr>
          <p:cNvPr id="12" name="Text 10"/>
          <p:cNvSpPr/>
          <p:nvPr/>
        </p:nvSpPr>
        <p:spPr>
          <a:xfrm>
            <a:off x="2670661" y="2487168"/>
            <a:ext cx="3059427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7.59억 원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795528" y="2962656"/>
            <a:ext cx="493456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795528" y="2962656"/>
            <a:ext cx="1875133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중개보수 (0.9% 한도)</a:t>
            </a:r>
            <a:endParaRPr lang="en-US" sz="1150" dirty="0"/>
          </a:p>
        </p:txBody>
      </p:sp>
      <p:sp>
        <p:nvSpPr>
          <p:cNvPr id="15" name="Text 13"/>
          <p:cNvSpPr/>
          <p:nvPr/>
        </p:nvSpPr>
        <p:spPr>
          <a:xfrm>
            <a:off x="2670661" y="2962656"/>
            <a:ext cx="3059427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1.49억 원</a:t>
            </a:r>
            <a:endParaRPr lang="en-US" sz="1150" dirty="0"/>
          </a:p>
        </p:txBody>
      </p:sp>
      <p:sp>
        <p:nvSpPr>
          <p:cNvPr id="16" name="Shape 14"/>
          <p:cNvSpPr/>
          <p:nvPr/>
        </p:nvSpPr>
        <p:spPr>
          <a:xfrm>
            <a:off x="795528" y="3438144"/>
            <a:ext cx="493456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795528" y="3438144"/>
            <a:ext cx="1875133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총취득원가 (A + 세/비용)</a:t>
            </a:r>
            <a:endParaRPr lang="en-US" sz="1150" dirty="0"/>
          </a:p>
        </p:txBody>
      </p:sp>
      <p:sp>
        <p:nvSpPr>
          <p:cNvPr id="18" name="Text 16"/>
          <p:cNvSpPr/>
          <p:nvPr/>
        </p:nvSpPr>
        <p:spPr>
          <a:xfrm>
            <a:off x="2670661" y="3438144"/>
            <a:ext cx="3059427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174.1억 원</a:t>
            </a:r>
            <a:endParaRPr lang="en-US" sz="1150" dirty="0"/>
          </a:p>
        </p:txBody>
      </p:sp>
      <p:sp>
        <p:nvSpPr>
          <p:cNvPr id="19" name="Shape 17"/>
          <p:cNvSpPr/>
          <p:nvPr/>
        </p:nvSpPr>
        <p:spPr>
          <a:xfrm>
            <a:off x="795528" y="3913632"/>
            <a:ext cx="493456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795528" y="3913632"/>
            <a:ext cx="1875133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(-) 임대보증금 승계</a:t>
            </a:r>
            <a:endParaRPr lang="en-US" sz="1150" dirty="0"/>
          </a:p>
        </p:txBody>
      </p:sp>
      <p:sp>
        <p:nvSpPr>
          <p:cNvPr id="21" name="Text 19"/>
          <p:cNvSpPr/>
          <p:nvPr/>
        </p:nvSpPr>
        <p:spPr>
          <a:xfrm>
            <a:off x="2670661" y="3913632"/>
            <a:ext cx="3059427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8.3억 원</a:t>
            </a:r>
            <a:endParaRPr lang="en-US" sz="1150" dirty="0"/>
          </a:p>
        </p:txBody>
      </p:sp>
      <p:sp>
        <p:nvSpPr>
          <p:cNvPr id="22" name="Shape 20"/>
          <p:cNvSpPr/>
          <p:nvPr/>
        </p:nvSpPr>
        <p:spPr>
          <a:xfrm>
            <a:off x="795528" y="4389120"/>
            <a:ext cx="493456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795528" y="4389120"/>
            <a:ext cx="1875133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(-) 담보대출 조달</a:t>
            </a:r>
            <a:endParaRPr lang="en-US" sz="1150" dirty="0"/>
          </a:p>
        </p:txBody>
      </p:sp>
      <p:sp>
        <p:nvSpPr>
          <p:cNvPr id="24" name="Text 22"/>
          <p:cNvSpPr/>
          <p:nvPr/>
        </p:nvSpPr>
        <p:spPr>
          <a:xfrm>
            <a:off x="2670661" y="4389120"/>
            <a:ext cx="3059427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82.5억 원</a:t>
            </a:r>
            <a:endParaRPr lang="en-US" sz="1150" dirty="0"/>
          </a:p>
        </p:txBody>
      </p:sp>
      <p:sp>
        <p:nvSpPr>
          <p:cNvPr id="25" name="Shape 23"/>
          <p:cNvSpPr/>
          <p:nvPr/>
        </p:nvSpPr>
        <p:spPr>
          <a:xfrm>
            <a:off x="795528" y="4864608"/>
            <a:ext cx="493456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795528" y="4864608"/>
            <a:ext cx="1875133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실투자금 (Net Equity)</a:t>
            </a:r>
            <a:endParaRPr lang="en-US" sz="1150" dirty="0"/>
          </a:p>
        </p:txBody>
      </p:sp>
      <p:sp>
        <p:nvSpPr>
          <p:cNvPr id="27" name="Text 25"/>
          <p:cNvSpPr/>
          <p:nvPr/>
        </p:nvSpPr>
        <p:spPr>
          <a:xfrm>
            <a:off x="2670661" y="4864608"/>
            <a:ext cx="3059427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83.3억 원</a:t>
            </a:r>
            <a:endParaRPr lang="en-US" sz="1150" dirty="0"/>
          </a:p>
        </p:txBody>
      </p:sp>
      <p:sp>
        <p:nvSpPr>
          <p:cNvPr id="28" name="Shape 26"/>
          <p:cNvSpPr/>
          <p:nvPr/>
        </p:nvSpPr>
        <p:spPr>
          <a:xfrm>
            <a:off x="6233008" y="1417320"/>
            <a:ext cx="5391760" cy="4389120"/>
          </a:xfrm>
          <a:prstGeom prst="roundRect">
            <a:avLst>
              <a:gd name="adj" fmla="val 1250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6461608" y="1618488"/>
            <a:ext cx="4934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97702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2. LTV 시나리오별 레버리지 효과</a:t>
            </a:r>
            <a:endParaRPr lang="en-US" sz="1350" dirty="0"/>
          </a:p>
        </p:txBody>
      </p:sp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61608" y="2057400"/>
          <a:ext cx="4934560" cy="914400"/>
        </p:xfrm>
        <a:graphic>
          <a:graphicData uri="http://schemas.openxmlformats.org/drawingml/2006/table">
            <a:tbl>
              <a:tblPr/>
              <a:tblGrid>
                <a:gridCol w="1463040"/>
                <a:gridCol w="1005840"/>
                <a:gridCol w="1280160"/>
                <a:gridCol w="1280160"/>
              </a:tblGrid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71809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구분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71809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대출비율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71809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실투자금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71809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예상수익률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전액 </a:t>
                      </a:r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자기자본 </a:t>
                      </a:r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(무차입)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0%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165.8억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3.78%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보수적 </a:t>
                      </a:r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차입 </a:t>
                      </a:r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(안정형)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40%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99.8억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3.11%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표준 </a:t>
                      </a:r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차입 </a:t>
                      </a:r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(기본형)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50%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83.3억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2.77%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적극적 </a:t>
                      </a:r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차입 </a:t>
                      </a:r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(레버리지)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60%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66.8억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2.27%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</a:tr>
            </a:tbl>
          </a:graphicData>
        </a:graphic>
      </p:graphicFrame>
      <p:sp>
        <p:nvSpPr>
          <p:cNvPr id="31" name="Shape 28"/>
          <p:cNvSpPr/>
          <p:nvPr/>
        </p:nvSpPr>
        <p:spPr>
          <a:xfrm>
            <a:off x="6461608" y="4069080"/>
            <a:ext cx="4934560" cy="1463040"/>
          </a:xfrm>
          <a:prstGeom prst="roundRect">
            <a:avLst>
              <a:gd name="adj" fmla="val 3750"/>
            </a:avLst>
          </a:prstGeom>
          <a:solidFill>
            <a:srgbClr val="FEEBC8"/>
          </a:solidFill>
          <a:ln/>
        </p:spPr>
      </p:sp>
      <p:sp>
        <p:nvSpPr>
          <p:cNvPr id="32" name="Shape 29"/>
          <p:cNvSpPr/>
          <p:nvPr/>
        </p:nvSpPr>
        <p:spPr>
          <a:xfrm>
            <a:off x="6461608" y="4123944"/>
            <a:ext cx="36576" cy="1353312"/>
          </a:xfrm>
          <a:prstGeom prst="rect">
            <a:avLst/>
          </a:prstGeom>
          <a:solidFill>
            <a:srgbClr val="9C4221"/>
          </a:solidFill>
          <a:ln/>
        </p:spPr>
      </p:sp>
      <p:sp>
        <p:nvSpPr>
          <p:cNvPr id="33" name="Text 30"/>
          <p:cNvSpPr/>
          <p:nvPr/>
        </p:nvSpPr>
        <p:spPr>
          <a:xfrm>
            <a:off x="6644488" y="4178808"/>
            <a:ext cx="460537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9C422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역레버리지 유의 구간</a:t>
            </a:r>
            <a:endParaRPr lang="en-US" sz="1050" dirty="0"/>
          </a:p>
        </p:txBody>
      </p:sp>
      <p:sp>
        <p:nvSpPr>
          <p:cNvPr id="34" name="Text 31"/>
          <p:cNvSpPr/>
          <p:nvPr/>
        </p:nvSpPr>
        <p:spPr>
          <a:xfrm>
            <a:off x="6644488" y="4398264"/>
            <a:ext cx="4605376" cy="10607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차입 금리가 자산 총수익률을 상회하여 대출 실행 시 자기자본수익률이 하락할 수 있습니다. 에쿼티 비중 확대를 권장합니다.</a:t>
            </a:r>
            <a:endParaRPr lang="en-US" sz="930" dirty="0"/>
          </a:p>
        </p:txBody>
      </p:sp>
      <p:sp>
        <p:nvSpPr>
          <p:cNvPr id="35" name="Text 32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36" name="Text 33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Thesis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투자 포인트</a:t>
            </a:r>
            <a:endParaRPr lang="en-US" sz="2300" dirty="0"/>
          </a:p>
        </p:txBody>
      </p:sp>
      <p:sp>
        <p:nvSpPr>
          <p:cNvPr id="6" name="Shape 4"/>
          <p:cNvSpPr/>
          <p:nvPr/>
        </p:nvSpPr>
        <p:spPr>
          <a:xfrm>
            <a:off x="566928" y="4983480"/>
            <a:ext cx="11057839" cy="804672"/>
          </a:xfrm>
          <a:prstGeom prst="roundRect">
            <a:avLst>
              <a:gd name="adj" fmla="val 6818"/>
            </a:avLst>
          </a:prstGeom>
          <a:solidFill>
            <a:srgbClr val="F3EBDA"/>
          </a:solidFill>
          <a:ln w="10160">
            <a:solidFill>
              <a:srgbClr val="D9B668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49808" y="5093208"/>
            <a:ext cx="1691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97702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종합 가치 제안</a:t>
            </a:r>
            <a:endParaRPr lang="en-US" sz="1050" dirty="0"/>
          </a:p>
        </p:txBody>
      </p:sp>
      <p:sp>
        <p:nvSpPr>
          <p:cNvPr id="8" name="Text 6"/>
          <p:cNvSpPr/>
          <p:nvPr/>
        </p:nvSpPr>
        <p:spPr>
          <a:xfrm>
            <a:off x="2487168" y="5056632"/>
            <a:ext cx="8954719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관점에서 안정적 월 임대수익과 우량 메디컬 테넌트를 보유한 핵심 투자 자산입니다.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Risk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리스크 점검</a:t>
            </a:r>
            <a:endParaRPr lang="en-US" sz="2300" dirty="0"/>
          </a:p>
        </p:txBody>
      </p:sp>
      <p:sp>
        <p:nvSpPr>
          <p:cNvPr id="6" name="Shape 4"/>
          <p:cNvSpPr/>
          <p:nvPr/>
        </p:nvSpPr>
        <p:spPr>
          <a:xfrm>
            <a:off x="566928" y="1417320"/>
            <a:ext cx="5400904" cy="3657600"/>
          </a:xfrm>
          <a:prstGeom prst="roundRect">
            <a:avLst>
              <a:gd name="adj" fmla="val 1500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566928" y="1417320"/>
            <a:ext cx="5400904" cy="45720"/>
          </a:xfrm>
          <a:prstGeom prst="rect">
            <a:avLst/>
          </a:prstGeom>
          <a:solidFill>
            <a:srgbClr val="B98A2E"/>
          </a:solidFill>
          <a:ln/>
        </p:spPr>
      </p:sp>
      <p:sp>
        <p:nvSpPr>
          <p:cNvPr id="8" name="Text 6"/>
          <p:cNvSpPr/>
          <p:nvPr/>
        </p:nvSpPr>
        <p:spPr>
          <a:xfrm>
            <a:off x="795528" y="1618488"/>
            <a:ext cx="494370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97702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메디컬 단일업종 집중</a:t>
            </a:r>
            <a:endParaRPr lang="en-US" sz="1350" dirty="0"/>
          </a:p>
        </p:txBody>
      </p:sp>
      <p:sp>
        <p:nvSpPr>
          <p:cNvPr id="9" name="Text 7"/>
          <p:cNvSpPr/>
          <p:nvPr/>
        </p:nvSpPr>
        <p:spPr>
          <a:xfrm>
            <a:off x="795528" y="1947672"/>
            <a:ext cx="494370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전층 의료</a:t>
            </a:r>
            <a:endParaRPr lang="en-US" sz="1250" dirty="0"/>
          </a:p>
        </p:txBody>
      </p:sp>
      <p:sp>
        <p:nvSpPr>
          <p:cNvPr id="10" name="Text 8"/>
          <p:cNvSpPr/>
          <p:nvPr/>
        </p:nvSpPr>
        <p:spPr>
          <a:xfrm>
            <a:off x="795528" y="2377440"/>
            <a:ext cx="4943704" cy="26060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342900" indent="-342900">
              <a:lnSpc>
                <a:spcPct val="125000"/>
              </a:lnSpc>
              <a:buSzPct val="100000"/>
              <a:buChar char="•"/>
            </a:pPr>
            <a:r>
              <a:rPr lang="en-US" sz="110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업종 다각화 검토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6223864" y="1417320"/>
            <a:ext cx="5400904" cy="3657600"/>
          </a:xfrm>
          <a:prstGeom prst="roundRect">
            <a:avLst>
              <a:gd name="adj" fmla="val 1500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6223864" y="1417320"/>
            <a:ext cx="5400904" cy="45720"/>
          </a:xfrm>
          <a:prstGeom prst="rect">
            <a:avLst/>
          </a:prstGeom>
          <a:solidFill>
            <a:srgbClr val="B98A2E"/>
          </a:solidFill>
          <a:ln/>
        </p:spPr>
      </p:sp>
      <p:sp>
        <p:nvSpPr>
          <p:cNvPr id="13" name="Text 11"/>
          <p:cNvSpPr/>
          <p:nvPr/>
        </p:nvSpPr>
        <p:spPr>
          <a:xfrm>
            <a:off x="6452464" y="1618488"/>
            <a:ext cx="494370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97702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금리 변동</a:t>
            </a:r>
            <a:endParaRPr lang="en-US" sz="1350" dirty="0"/>
          </a:p>
        </p:txBody>
      </p:sp>
      <p:sp>
        <p:nvSpPr>
          <p:cNvPr id="14" name="Text 12"/>
          <p:cNvSpPr/>
          <p:nvPr/>
        </p:nvSpPr>
        <p:spPr>
          <a:xfrm>
            <a:off x="6452464" y="1947672"/>
            <a:ext cx="494370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4.1% 고정</a:t>
            </a:r>
            <a:endParaRPr lang="en-US" sz="1250" dirty="0"/>
          </a:p>
        </p:txBody>
      </p:sp>
      <p:sp>
        <p:nvSpPr>
          <p:cNvPr id="15" name="Text 13"/>
          <p:cNvSpPr/>
          <p:nvPr/>
        </p:nvSpPr>
        <p:spPr>
          <a:xfrm>
            <a:off x="6452464" y="2377440"/>
            <a:ext cx="4943704" cy="26060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342900" indent="-342900">
              <a:lnSpc>
                <a:spcPct val="125000"/>
              </a:lnSpc>
              <a:buSzPct val="100000"/>
              <a:buChar char="•"/>
            </a:pPr>
            <a:r>
              <a:rPr lang="en-US" sz="110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승계 대출 활용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566928" y="5193792"/>
            <a:ext cx="11057839" cy="621792"/>
          </a:xfrm>
          <a:prstGeom prst="roundRect">
            <a:avLst>
              <a:gd name="adj" fmla="val 8824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795528" y="5193792"/>
            <a:ext cx="10600639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※ 본 리스크 체크는 공부 및 브로커 확인 기반이며, 매수 전 전문 실사팀(변호사/건축사)을 통한 정밀 실사가 필요합니다.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Checklist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실사 및 확인 필요사항</a:t>
            </a:r>
            <a:endParaRPr lang="en-US" sz="2300" dirty="0"/>
          </a:p>
        </p:txBody>
      </p:sp>
      <p:sp>
        <p:nvSpPr>
          <p:cNvPr id="6" name="Text 4"/>
          <p:cNvSpPr/>
          <p:nvPr/>
        </p:nvSpPr>
        <p:spPr>
          <a:xfrm>
            <a:off x="566928" y="1371600"/>
            <a:ext cx="11057839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거래 안정성 확보를 위한 필수 법률·물리·임대차 실사 점검 항목 (총 6건)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566928" y="1719072"/>
            <a:ext cx="5368900" cy="868680"/>
          </a:xfrm>
          <a:prstGeom prst="rect">
            <a:avLst/>
          </a:prstGeom>
          <a:solidFill>
            <a:srgbClr val="F7FAFC"/>
          </a:solidFill>
          <a:ln w="6350">
            <a:solidFill>
              <a:srgbClr val="D9B668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704088" y="1883664"/>
            <a:ext cx="320040" cy="320040"/>
          </a:xfrm>
          <a:prstGeom prst="rect">
            <a:avLst/>
          </a:prstGeom>
          <a:solidFill>
            <a:srgbClr val="977024"/>
          </a:solidFill>
          <a:ln/>
        </p:spPr>
      </p:sp>
      <p:sp>
        <p:nvSpPr>
          <p:cNvPr id="9" name="Text 7"/>
          <p:cNvSpPr/>
          <p:nvPr/>
        </p:nvSpPr>
        <p:spPr>
          <a:xfrm>
            <a:off x="704088" y="1883664"/>
            <a:ext cx="320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0000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✓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1115568" y="1828800"/>
            <a:ext cx="46831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등기부등본 갑구/을구 권리관계 및 근저당 채권최고액 전액 말소 조건 원본 대조</a:t>
            </a:r>
            <a:endParaRPr lang="en-US" sz="1050" dirty="0"/>
          </a:p>
        </p:txBody>
      </p:sp>
      <p:sp>
        <p:nvSpPr>
          <p:cNvPr id="11" name="Shape 9"/>
          <p:cNvSpPr/>
          <p:nvPr/>
        </p:nvSpPr>
        <p:spPr>
          <a:xfrm>
            <a:off x="566928" y="2715768"/>
            <a:ext cx="5368900" cy="868680"/>
          </a:xfrm>
          <a:prstGeom prst="rect">
            <a:avLst/>
          </a:prstGeom>
          <a:solidFill>
            <a:srgbClr val="F7FAFC"/>
          </a:solidFill>
          <a:ln w="6350">
            <a:solidFill>
              <a:srgbClr val="D9B668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704088" y="2880360"/>
            <a:ext cx="320040" cy="320040"/>
          </a:xfrm>
          <a:prstGeom prst="rect">
            <a:avLst/>
          </a:prstGeom>
          <a:solidFill>
            <a:srgbClr val="977024"/>
          </a:solidFill>
          <a:ln/>
        </p:spPr>
      </p:sp>
      <p:sp>
        <p:nvSpPr>
          <p:cNvPr id="13" name="Text 11"/>
          <p:cNvSpPr/>
          <p:nvPr/>
        </p:nvSpPr>
        <p:spPr>
          <a:xfrm>
            <a:off x="704088" y="2880360"/>
            <a:ext cx="320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0000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✓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115568" y="2825496"/>
            <a:ext cx="46831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임대차 원본 계약서 대조 (보증금, 월임대료, 관리비 실입금 내역 및 제소전화해조서)</a:t>
            </a:r>
            <a:endParaRPr lang="en-US" sz="1050" dirty="0"/>
          </a:p>
        </p:txBody>
      </p:sp>
      <p:sp>
        <p:nvSpPr>
          <p:cNvPr id="15" name="Shape 13"/>
          <p:cNvSpPr/>
          <p:nvPr/>
        </p:nvSpPr>
        <p:spPr>
          <a:xfrm>
            <a:off x="566928" y="3712464"/>
            <a:ext cx="5368900" cy="868680"/>
          </a:xfrm>
          <a:prstGeom prst="rect">
            <a:avLst/>
          </a:prstGeom>
          <a:solidFill>
            <a:srgbClr val="F7FAFC"/>
          </a:solidFill>
          <a:ln w="6350">
            <a:solidFill>
              <a:srgbClr val="D9B668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704088" y="3877056"/>
            <a:ext cx="320040" cy="320040"/>
          </a:xfrm>
          <a:prstGeom prst="rect">
            <a:avLst/>
          </a:prstGeom>
          <a:solidFill>
            <a:srgbClr val="977024"/>
          </a:solidFill>
          <a:ln/>
        </p:spPr>
      </p:sp>
      <p:sp>
        <p:nvSpPr>
          <p:cNvPr id="17" name="Text 15"/>
          <p:cNvSpPr/>
          <p:nvPr/>
        </p:nvSpPr>
        <p:spPr>
          <a:xfrm>
            <a:off x="704088" y="3877056"/>
            <a:ext cx="320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0000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✓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1115568" y="3822192"/>
            <a:ext cx="46831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건축물대장상 위반건축물 등재 여부 및 불법 증축·용도변경 이행강제금 납부 이력 점검</a:t>
            </a:r>
            <a:endParaRPr lang="en-US" sz="1050" dirty="0"/>
          </a:p>
        </p:txBody>
      </p:sp>
      <p:sp>
        <p:nvSpPr>
          <p:cNvPr id="19" name="Shape 17"/>
          <p:cNvSpPr/>
          <p:nvPr/>
        </p:nvSpPr>
        <p:spPr>
          <a:xfrm>
            <a:off x="6255868" y="1719072"/>
            <a:ext cx="5368900" cy="868680"/>
          </a:xfrm>
          <a:prstGeom prst="rect">
            <a:avLst/>
          </a:prstGeom>
          <a:solidFill>
            <a:srgbClr val="F7FAFC"/>
          </a:solidFill>
          <a:ln w="6350">
            <a:solidFill>
              <a:srgbClr val="D9B668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6393028" y="1883664"/>
            <a:ext cx="320040" cy="320040"/>
          </a:xfrm>
          <a:prstGeom prst="rect">
            <a:avLst/>
          </a:prstGeom>
          <a:solidFill>
            <a:srgbClr val="977024"/>
          </a:solidFill>
          <a:ln/>
        </p:spPr>
      </p:sp>
      <p:sp>
        <p:nvSpPr>
          <p:cNvPr id="21" name="Text 19"/>
          <p:cNvSpPr/>
          <p:nvPr/>
        </p:nvSpPr>
        <p:spPr>
          <a:xfrm>
            <a:off x="6393028" y="1883664"/>
            <a:ext cx="320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0000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✓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6804508" y="1828800"/>
            <a:ext cx="46831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토지이용계획확인원상 도시계획시설 저촉, 건축선 후퇴, 지구단위계획 특별계획구역 확인</a:t>
            </a:r>
            <a:endParaRPr lang="en-US" sz="1050" dirty="0"/>
          </a:p>
        </p:txBody>
      </p:sp>
      <p:sp>
        <p:nvSpPr>
          <p:cNvPr id="23" name="Shape 21"/>
          <p:cNvSpPr/>
          <p:nvPr/>
        </p:nvSpPr>
        <p:spPr>
          <a:xfrm>
            <a:off x="6255868" y="2715768"/>
            <a:ext cx="5368900" cy="868680"/>
          </a:xfrm>
          <a:prstGeom prst="rect">
            <a:avLst/>
          </a:prstGeom>
          <a:solidFill>
            <a:srgbClr val="F7FAFC"/>
          </a:solidFill>
          <a:ln w="6350">
            <a:solidFill>
              <a:srgbClr val="D9B668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6393028" y="2880360"/>
            <a:ext cx="320040" cy="320040"/>
          </a:xfrm>
          <a:prstGeom prst="rect">
            <a:avLst/>
          </a:prstGeom>
          <a:solidFill>
            <a:srgbClr val="977024"/>
          </a:solidFill>
          <a:ln/>
        </p:spPr>
      </p:sp>
      <p:sp>
        <p:nvSpPr>
          <p:cNvPr id="25" name="Text 23"/>
          <p:cNvSpPr/>
          <p:nvPr/>
        </p:nvSpPr>
        <p:spPr>
          <a:xfrm>
            <a:off x="6393028" y="2880360"/>
            <a:ext cx="320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0000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✓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6804508" y="2825496"/>
            <a:ext cx="46831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기계식 주차기 정기 안전점검 합격증, 승강기 검사필증, 소방 완비증명서 실물 실사</a:t>
            </a:r>
            <a:endParaRPr lang="en-US" sz="1050" dirty="0"/>
          </a:p>
        </p:txBody>
      </p:sp>
      <p:sp>
        <p:nvSpPr>
          <p:cNvPr id="27" name="Shape 25"/>
          <p:cNvSpPr/>
          <p:nvPr/>
        </p:nvSpPr>
        <p:spPr>
          <a:xfrm>
            <a:off x="6255868" y="3712464"/>
            <a:ext cx="5368900" cy="868680"/>
          </a:xfrm>
          <a:prstGeom prst="rect">
            <a:avLst/>
          </a:prstGeom>
          <a:solidFill>
            <a:srgbClr val="F7FAFC"/>
          </a:solidFill>
          <a:ln w="6350">
            <a:solidFill>
              <a:srgbClr val="D9B66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6393028" y="3877056"/>
            <a:ext cx="320040" cy="320040"/>
          </a:xfrm>
          <a:prstGeom prst="rect">
            <a:avLst/>
          </a:prstGeom>
          <a:solidFill>
            <a:srgbClr val="977024"/>
          </a:solidFill>
          <a:ln/>
        </p:spPr>
      </p:sp>
      <p:sp>
        <p:nvSpPr>
          <p:cNvPr id="29" name="Text 27"/>
          <p:cNvSpPr/>
          <p:nvPr/>
        </p:nvSpPr>
        <p:spPr>
          <a:xfrm>
            <a:off x="6393028" y="3877056"/>
            <a:ext cx="320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0000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✓</a:t>
            </a:r>
            <a:endParaRPr lang="en-US" sz="1100" dirty="0"/>
          </a:p>
        </p:txBody>
      </p:sp>
      <p:sp>
        <p:nvSpPr>
          <p:cNvPr id="30" name="Text 28"/>
          <p:cNvSpPr/>
          <p:nvPr/>
        </p:nvSpPr>
        <p:spPr>
          <a:xfrm>
            <a:off x="6804508" y="3822192"/>
            <a:ext cx="46831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정화조 용량 대비 현 업종 적합성 및 하수도 원인자부담금 추가 부과 대상 여부 확인</a:t>
            </a:r>
            <a:endParaRPr lang="en-US" sz="1050" dirty="0"/>
          </a:p>
        </p:txBody>
      </p:sp>
      <p:sp>
        <p:nvSpPr>
          <p:cNvPr id="31" name="Shape 29"/>
          <p:cNvSpPr/>
          <p:nvPr/>
        </p:nvSpPr>
        <p:spPr>
          <a:xfrm>
            <a:off x="566928" y="5760720"/>
            <a:ext cx="11057839" cy="594360"/>
          </a:xfrm>
          <a:prstGeom prst="rect">
            <a:avLst/>
          </a:prstGeom>
          <a:solidFill>
            <a:srgbClr val="D9B668"/>
          </a:solidFill>
          <a:ln/>
        </p:spPr>
      </p:sp>
      <p:sp>
        <p:nvSpPr>
          <p:cNvPr id="32" name="Text 30"/>
          <p:cNvSpPr/>
          <p:nvPr/>
        </p:nvSpPr>
        <p:spPr>
          <a:xfrm>
            <a:off x="749808" y="5833872"/>
            <a:ext cx="10692079" cy="4480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97702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※ 본 체크리스트는 계약 전 매수인의 안전한 자산 인수를 위한 필수 확인 사항이며, 실사(Due Diligence) 결과에 따라 매매 조건 및 잔금 일정이 조정될 수 있습니다.</a:t>
            </a:r>
            <a:endParaRPr lang="en-US" sz="950" dirty="0"/>
          </a:p>
        </p:txBody>
      </p:sp>
      <p:sp>
        <p:nvSpPr>
          <p:cNvPr id="33" name="Text 31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34" name="Text 32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</a:t>
            </a:r>
            <a:endParaRPr lang="en-US" sz="9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13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Process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다음 단계</a:t>
            </a:r>
            <a:endParaRPr lang="en-US" sz="2300" dirty="0"/>
          </a:p>
        </p:txBody>
      </p:sp>
      <p:sp>
        <p:nvSpPr>
          <p:cNvPr id="6" name="Shape 4"/>
          <p:cNvSpPr/>
          <p:nvPr/>
        </p:nvSpPr>
        <p:spPr>
          <a:xfrm>
            <a:off x="566928" y="1572768"/>
            <a:ext cx="11057839" cy="3200400"/>
          </a:xfrm>
          <a:prstGeom prst="roundRect">
            <a:avLst>
              <a:gd name="adj" fmla="val 1714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786384" y="1792224"/>
            <a:ext cx="438912" cy="438912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8" name="Text 6"/>
          <p:cNvSpPr/>
          <p:nvPr/>
        </p:nvSpPr>
        <p:spPr>
          <a:xfrm>
            <a:off x="786384" y="1792224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786384" y="2304288"/>
            <a:ext cx="10618927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1단계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786384" y="2761488"/>
            <a:ext cx="10618927" cy="1828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현장 실사 및 임대차계약서 원본 확인을 권장합니다.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현장 실사 및 임대차계약서 원본 확인을 권장합니다.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13</a:t>
            </a:r>
            <a:endParaRPr lang="en-US" sz="9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1016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14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Closing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58368"/>
            <a:ext cx="10490911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표기 기준 및 면책</a:t>
            </a:r>
            <a:endParaRPr lang="en-US" sz="2400" dirty="0"/>
          </a:p>
        </p:txBody>
      </p:sp>
      <p:sp>
        <p:nvSpPr>
          <p:cNvPr id="6" name="Shape 4"/>
          <p:cNvSpPr/>
          <p:nvPr/>
        </p:nvSpPr>
        <p:spPr>
          <a:xfrm>
            <a:off x="566928" y="1463040"/>
            <a:ext cx="3588410" cy="658368"/>
          </a:xfrm>
          <a:prstGeom prst="roundRect">
            <a:avLst>
              <a:gd name="adj" fmla="val 5556"/>
            </a:avLst>
          </a:prstGeom>
          <a:solidFill>
            <a:srgbClr val="2D3748"/>
          </a:solidFill>
          <a:ln/>
        </p:spPr>
      </p:sp>
      <p:sp>
        <p:nvSpPr>
          <p:cNvPr id="7" name="Shape 5"/>
          <p:cNvSpPr/>
          <p:nvPr/>
        </p:nvSpPr>
        <p:spPr>
          <a:xfrm>
            <a:off x="676656" y="1572768"/>
            <a:ext cx="438912" cy="438912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8" name="Text 6"/>
          <p:cNvSpPr/>
          <p:nvPr/>
        </p:nvSpPr>
        <p:spPr>
          <a:xfrm>
            <a:off x="676656" y="1572768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1225296" y="1554480"/>
            <a:ext cx="282031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관심 표명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1225296" y="1792224"/>
            <a:ext cx="282031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A0AEC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담당 중개사에게 초기 관심 표명 및 상담 요청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4155338" y="1600200"/>
            <a:ext cx="1463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B98A2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→</a:t>
            </a:r>
            <a:endParaRPr lang="en-US" sz="1600" dirty="0"/>
          </a:p>
        </p:txBody>
      </p:sp>
      <p:sp>
        <p:nvSpPr>
          <p:cNvPr id="12" name="Shape 10"/>
          <p:cNvSpPr/>
          <p:nvPr/>
        </p:nvSpPr>
        <p:spPr>
          <a:xfrm>
            <a:off x="4301642" y="1463040"/>
            <a:ext cx="3588410" cy="658368"/>
          </a:xfrm>
          <a:prstGeom prst="roundRect">
            <a:avLst>
              <a:gd name="adj" fmla="val 5556"/>
            </a:avLst>
          </a:prstGeom>
          <a:solidFill>
            <a:srgbClr val="2D3748"/>
          </a:solidFill>
          <a:ln/>
        </p:spPr>
      </p:sp>
      <p:sp>
        <p:nvSpPr>
          <p:cNvPr id="13" name="Shape 11"/>
          <p:cNvSpPr/>
          <p:nvPr/>
        </p:nvSpPr>
        <p:spPr>
          <a:xfrm>
            <a:off x="4411370" y="1572768"/>
            <a:ext cx="438912" cy="438912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14" name="Text 12"/>
          <p:cNvSpPr/>
          <p:nvPr/>
        </p:nvSpPr>
        <p:spPr>
          <a:xfrm>
            <a:off x="4411370" y="1572768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4960010" y="1554480"/>
            <a:ext cx="282031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NDA 체결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4960010" y="1792224"/>
            <a:ext cx="282031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A0AEC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비밀유지계약 후 상세 임대차·재무 자료 제공</a:t>
            </a:r>
            <a:endParaRPr lang="en-US" sz="900" dirty="0"/>
          </a:p>
        </p:txBody>
      </p:sp>
      <p:sp>
        <p:nvSpPr>
          <p:cNvPr id="17" name="Text 15"/>
          <p:cNvSpPr/>
          <p:nvPr/>
        </p:nvSpPr>
        <p:spPr>
          <a:xfrm>
            <a:off x="7890053" y="1600200"/>
            <a:ext cx="1463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B98A2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→</a:t>
            </a:r>
            <a:endParaRPr lang="en-US" sz="1600" dirty="0"/>
          </a:p>
        </p:txBody>
      </p:sp>
      <p:sp>
        <p:nvSpPr>
          <p:cNvPr id="18" name="Shape 16"/>
          <p:cNvSpPr/>
          <p:nvPr/>
        </p:nvSpPr>
        <p:spPr>
          <a:xfrm>
            <a:off x="8036357" y="1463040"/>
            <a:ext cx="3588410" cy="658368"/>
          </a:xfrm>
          <a:prstGeom prst="roundRect">
            <a:avLst>
              <a:gd name="adj" fmla="val 5556"/>
            </a:avLst>
          </a:prstGeom>
          <a:solidFill>
            <a:srgbClr val="2D3748"/>
          </a:solidFill>
          <a:ln/>
        </p:spPr>
      </p:sp>
      <p:sp>
        <p:nvSpPr>
          <p:cNvPr id="19" name="Shape 17"/>
          <p:cNvSpPr/>
          <p:nvPr/>
        </p:nvSpPr>
        <p:spPr>
          <a:xfrm>
            <a:off x="8146085" y="1572768"/>
            <a:ext cx="438912" cy="438912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20" name="Text 18"/>
          <p:cNvSpPr/>
          <p:nvPr/>
        </p:nvSpPr>
        <p:spPr>
          <a:xfrm>
            <a:off x="8146085" y="1572768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8694725" y="1554480"/>
            <a:ext cx="282031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현장 실사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8694725" y="1792224"/>
            <a:ext cx="282031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A0AEC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건물 컨디션 및 설비 직접 확인 후 의향서(LOI) 제출</a:t>
            </a:r>
            <a:endParaRPr lang="en-US" sz="900" dirty="0"/>
          </a:p>
        </p:txBody>
      </p:sp>
      <p:sp>
        <p:nvSpPr>
          <p:cNvPr id="23" name="Text 21"/>
          <p:cNvSpPr/>
          <p:nvPr/>
        </p:nvSpPr>
        <p:spPr>
          <a:xfrm>
            <a:off x="566928" y="2395728"/>
            <a:ext cx="5486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데이터 출처 표기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566928" y="2724912"/>
            <a:ext cx="1280160" cy="292608"/>
          </a:xfrm>
          <a:prstGeom prst="roundRect">
            <a:avLst>
              <a:gd name="adj" fmla="val 12500"/>
            </a:avLst>
          </a:prstGeom>
          <a:solidFill>
            <a:srgbClr val="2D3748"/>
          </a:solidFill>
          <a:ln/>
        </p:spPr>
      </p:sp>
      <p:sp>
        <p:nvSpPr>
          <p:cNvPr id="25" name="Text 23"/>
          <p:cNvSpPr/>
          <p:nvPr/>
        </p:nvSpPr>
        <p:spPr>
          <a:xfrm>
            <a:off x="566928" y="2724912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✓ 공부확인</a:t>
            </a:r>
            <a:endParaRPr lang="en-US" sz="900" dirty="0"/>
          </a:p>
        </p:txBody>
      </p:sp>
      <p:sp>
        <p:nvSpPr>
          <p:cNvPr id="26" name="Text 24"/>
          <p:cNvSpPr/>
          <p:nvPr/>
        </p:nvSpPr>
        <p:spPr>
          <a:xfrm>
            <a:off x="1993392" y="2706624"/>
            <a:ext cx="3840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2E8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등기부·대장 등 공적 장부 직접 확인</a:t>
            </a:r>
            <a:endParaRPr lang="en-US" sz="900" dirty="0"/>
          </a:p>
        </p:txBody>
      </p:sp>
      <p:sp>
        <p:nvSpPr>
          <p:cNvPr id="27" name="Shape 25"/>
          <p:cNvSpPr/>
          <p:nvPr/>
        </p:nvSpPr>
        <p:spPr>
          <a:xfrm>
            <a:off x="566928" y="3200400"/>
            <a:ext cx="1280160" cy="292608"/>
          </a:xfrm>
          <a:prstGeom prst="roundRect">
            <a:avLst>
              <a:gd name="adj" fmla="val 12500"/>
            </a:avLst>
          </a:prstGeom>
          <a:solidFill>
            <a:srgbClr val="2D3748"/>
          </a:solidFill>
          <a:ln/>
        </p:spPr>
      </p:sp>
      <p:sp>
        <p:nvSpPr>
          <p:cNvPr id="28" name="Text 26"/>
          <p:cNvSpPr/>
          <p:nvPr/>
        </p:nvSpPr>
        <p:spPr>
          <a:xfrm>
            <a:off x="566928" y="3200400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★ 전문가검증</a:t>
            </a:r>
            <a:endParaRPr lang="en-US" sz="900" dirty="0"/>
          </a:p>
        </p:txBody>
      </p:sp>
      <p:sp>
        <p:nvSpPr>
          <p:cNvPr id="29" name="Text 27"/>
          <p:cNvSpPr/>
          <p:nvPr/>
        </p:nvSpPr>
        <p:spPr>
          <a:xfrm>
            <a:off x="1993392" y="3182112"/>
            <a:ext cx="3840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2E8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세무사·감정평가사 등 전문가 확인</a:t>
            </a:r>
            <a:endParaRPr lang="en-US" sz="900" dirty="0"/>
          </a:p>
        </p:txBody>
      </p:sp>
      <p:sp>
        <p:nvSpPr>
          <p:cNvPr id="30" name="Shape 28"/>
          <p:cNvSpPr/>
          <p:nvPr/>
        </p:nvSpPr>
        <p:spPr>
          <a:xfrm>
            <a:off x="566928" y="3675888"/>
            <a:ext cx="1280160" cy="292608"/>
          </a:xfrm>
          <a:prstGeom prst="roundRect">
            <a:avLst>
              <a:gd name="adj" fmla="val 12500"/>
            </a:avLst>
          </a:prstGeom>
          <a:solidFill>
            <a:srgbClr val="2D3748"/>
          </a:solidFill>
          <a:ln/>
        </p:spPr>
      </p:sp>
      <p:sp>
        <p:nvSpPr>
          <p:cNvPr id="31" name="Text 29"/>
          <p:cNvSpPr/>
          <p:nvPr/>
        </p:nvSpPr>
        <p:spPr>
          <a:xfrm>
            <a:off x="566928" y="3675888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▲ 매도인고지</a:t>
            </a:r>
            <a:endParaRPr lang="en-US" sz="900" dirty="0"/>
          </a:p>
        </p:txBody>
      </p:sp>
      <p:sp>
        <p:nvSpPr>
          <p:cNvPr id="32" name="Text 30"/>
          <p:cNvSpPr/>
          <p:nvPr/>
        </p:nvSpPr>
        <p:spPr>
          <a:xfrm>
            <a:off x="1993392" y="3657600"/>
            <a:ext cx="3840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2E8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매도인이 구두 또는 서면으로 고지</a:t>
            </a:r>
            <a:endParaRPr lang="en-US" sz="900" dirty="0"/>
          </a:p>
        </p:txBody>
      </p:sp>
      <p:sp>
        <p:nvSpPr>
          <p:cNvPr id="33" name="Shape 31"/>
          <p:cNvSpPr/>
          <p:nvPr/>
        </p:nvSpPr>
        <p:spPr>
          <a:xfrm>
            <a:off x="566928" y="4151376"/>
            <a:ext cx="1280160" cy="292608"/>
          </a:xfrm>
          <a:prstGeom prst="roundRect">
            <a:avLst>
              <a:gd name="adj" fmla="val 12500"/>
            </a:avLst>
          </a:prstGeom>
          <a:solidFill>
            <a:srgbClr val="2D3748"/>
          </a:solidFill>
          <a:ln/>
        </p:spPr>
      </p:sp>
      <p:sp>
        <p:nvSpPr>
          <p:cNvPr id="34" name="Text 32"/>
          <p:cNvSpPr/>
          <p:nvPr/>
        </p:nvSpPr>
        <p:spPr>
          <a:xfrm>
            <a:off x="566928" y="4151376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● 중개인입력</a:t>
            </a:r>
            <a:endParaRPr lang="en-US" sz="900" dirty="0"/>
          </a:p>
        </p:txBody>
      </p:sp>
      <p:sp>
        <p:nvSpPr>
          <p:cNvPr id="35" name="Text 33"/>
          <p:cNvSpPr/>
          <p:nvPr/>
        </p:nvSpPr>
        <p:spPr>
          <a:xfrm>
            <a:off x="1993392" y="4133088"/>
            <a:ext cx="3840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2E8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중개인 현장 조사 및 경험 기반 입력</a:t>
            </a:r>
            <a:endParaRPr lang="en-US" sz="900" dirty="0"/>
          </a:p>
        </p:txBody>
      </p:sp>
      <p:sp>
        <p:nvSpPr>
          <p:cNvPr id="36" name="Shape 34"/>
          <p:cNvSpPr/>
          <p:nvPr/>
        </p:nvSpPr>
        <p:spPr>
          <a:xfrm>
            <a:off x="566928" y="4626864"/>
            <a:ext cx="1280160" cy="292608"/>
          </a:xfrm>
          <a:prstGeom prst="roundRect">
            <a:avLst>
              <a:gd name="adj" fmla="val 12500"/>
            </a:avLst>
          </a:prstGeom>
          <a:solidFill>
            <a:srgbClr val="2D3748"/>
          </a:solidFill>
          <a:ln/>
        </p:spPr>
      </p:sp>
      <p:sp>
        <p:nvSpPr>
          <p:cNvPr id="37" name="Text 35"/>
          <p:cNvSpPr/>
          <p:nvPr/>
        </p:nvSpPr>
        <p:spPr>
          <a:xfrm>
            <a:off x="566928" y="4626864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◇ AI추정·가정</a:t>
            </a:r>
            <a:endParaRPr lang="en-US" sz="900" dirty="0"/>
          </a:p>
        </p:txBody>
      </p:sp>
      <p:sp>
        <p:nvSpPr>
          <p:cNvPr id="38" name="Text 36"/>
          <p:cNvSpPr/>
          <p:nvPr/>
        </p:nvSpPr>
        <p:spPr>
          <a:xfrm>
            <a:off x="1993392" y="4608576"/>
            <a:ext cx="3840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2E8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시나리오 분석 및 AI 모델 추정</a:t>
            </a:r>
            <a:endParaRPr lang="en-US" sz="900" dirty="0"/>
          </a:p>
        </p:txBody>
      </p:sp>
      <p:sp>
        <p:nvSpPr>
          <p:cNvPr id="39" name="Text 37"/>
          <p:cNvSpPr/>
          <p:nvPr/>
        </p:nvSpPr>
        <p:spPr>
          <a:xfrm>
            <a:off x="6492240" y="2395728"/>
            <a:ext cx="512978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면책 조항</a:t>
            </a:r>
            <a:endParaRPr lang="en-US" sz="1100" dirty="0"/>
          </a:p>
        </p:txBody>
      </p:sp>
      <p:sp>
        <p:nvSpPr>
          <p:cNvPr id="40" name="Shape 38"/>
          <p:cNvSpPr/>
          <p:nvPr/>
        </p:nvSpPr>
        <p:spPr>
          <a:xfrm>
            <a:off x="6492240" y="2724912"/>
            <a:ext cx="5129784" cy="1645920"/>
          </a:xfrm>
          <a:prstGeom prst="roundRect">
            <a:avLst>
              <a:gd name="adj" fmla="val 2222"/>
            </a:avLst>
          </a:prstGeom>
          <a:solidFill>
            <a:srgbClr val="1C2433"/>
          </a:solidFill>
          <a:ln/>
        </p:spPr>
      </p:sp>
      <p:sp>
        <p:nvSpPr>
          <p:cNvPr id="41" name="Text 39"/>
          <p:cNvSpPr/>
          <p:nvPr/>
        </p:nvSpPr>
        <p:spPr>
          <a:xfrm>
            <a:off x="6675120" y="2834640"/>
            <a:ext cx="4764024" cy="14264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8000"/>
              </a:lnSpc>
              <a:buNone/>
            </a:pPr>
            <a:r>
              <a:rPr lang="en-US" sz="900" dirty="0">
                <a:solidFill>
                  <a:srgbClr val="A0AEC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본 자료는 투자 권유가 아니며, 기재된 정보의 정확성을 보증하지 않습니다.</a:t>
            </a:r>
            <a:endParaRPr lang="en-US" sz="900" dirty="0"/>
          </a:p>
        </p:txBody>
      </p:sp>
      <p:sp>
        <p:nvSpPr>
          <p:cNvPr id="42" name="Shape 40"/>
          <p:cNvSpPr/>
          <p:nvPr/>
        </p:nvSpPr>
        <p:spPr>
          <a:xfrm>
            <a:off x="566928" y="5760720"/>
            <a:ext cx="11057839" cy="457200"/>
          </a:xfrm>
          <a:prstGeom prst="rect">
            <a:avLst/>
          </a:prstGeom>
          <a:solidFill>
            <a:srgbClr val="977024"/>
          </a:solidFill>
          <a:ln/>
        </p:spPr>
      </p:sp>
      <p:sp>
        <p:nvSpPr>
          <p:cNvPr id="43" name="Text 41"/>
          <p:cNvSpPr/>
          <p:nvPr/>
        </p:nvSpPr>
        <p:spPr>
          <a:xfrm>
            <a:off x="749808" y="5806440"/>
            <a:ext cx="1069207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F3EBD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본 자료의 모든 수치는 예비 검토용이며, 상세 실사 자료 및 비밀 상담은 담당 전문 중개사를 통해 제공됩니다.</a:t>
            </a:r>
            <a:endParaRPr lang="en-US" sz="900" dirty="0"/>
          </a:p>
        </p:txBody>
      </p:sp>
      <p:sp>
        <p:nvSpPr>
          <p:cNvPr id="44" name="Text 42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45" name="Text 43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14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15</Slides>
  <Notes>15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15</vt:i4>
      </vt:variant>
    </vt:vector>
  </HeadingPairs>
  <TitlesOfParts>
    <vt:vector size="1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2026-09-06T11:21:48Z</dcterms:created>
  <dcterms:modified xsi:type="dcterms:W3CDTF">2026-09-06T11:21:48Z</dcterms:modified>
</cp:coreProperties>
</file>