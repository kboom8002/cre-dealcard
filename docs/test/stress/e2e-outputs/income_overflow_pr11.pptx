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income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02920" y="3639312"/>
            <a:ext cx="109728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3639312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1691640" y="3639312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691640" y="3639312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02920" y="4078224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58952" y="4187952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 투자 지표 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이 건물은 매우 우수한 투자 물건입니다.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02920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7512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667512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3308528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73120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등급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473120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6114136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78728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소재지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278728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919743" y="1965960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4335" y="2093976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자산유형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9084335" y="2313432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메디컬빌딩</a:t>
            </a:r>
            <a:endParaRPr lang="en-US" sz="2200" dirty="0"/>
          </a:p>
        </p:txBody>
      </p:sp>
      <p:sp>
        <p:nvSpPr>
          <p:cNvPr id="20" name="Shape 18"/>
          <p:cNvSpPr/>
          <p:nvPr/>
        </p:nvSpPr>
        <p:spPr>
          <a:xfrm>
            <a:off x="502920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7512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수익률(Cap Rate)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667512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3" name="Shape 21"/>
          <p:cNvSpPr/>
          <p:nvPr/>
        </p:nvSpPr>
        <p:spPr>
          <a:xfrm>
            <a:off x="3308528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473120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3473120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6" name="Shape 24"/>
          <p:cNvSpPr/>
          <p:nvPr/>
        </p:nvSpPr>
        <p:spPr>
          <a:xfrm>
            <a:off x="6114136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78728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278728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8919743" y="3090672"/>
            <a:ext cx="2641016" cy="960120"/>
          </a:xfrm>
          <a:prstGeom prst="roundRect">
            <a:avLst>
              <a:gd name="adj" fmla="val 5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84335" y="3218688"/>
            <a:ext cx="23118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9084335" y="3438144"/>
            <a:ext cx="231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502920" y="430682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33" name="Shape 31"/>
          <p:cNvSpPr/>
          <p:nvPr/>
        </p:nvSpPr>
        <p:spPr>
          <a:xfrm>
            <a:off x="502920" y="4636008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4709160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4709160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4672584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가치: 대중교통 역세권 입지, 해당 권역 업무·상업 중심지 배후 수요 확보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02920" y="5114544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12648" y="5187696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2648" y="5187696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143000" y="5151120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 규모: 해당 권역 소재 단독 빌딩 매입 기회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02920" y="5593080"/>
            <a:ext cx="11057839" cy="396240"/>
          </a:xfrm>
          <a:prstGeom prst="roundRect">
            <a:avLst>
              <a:gd name="adj" fmla="val 11538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12648" y="5666232"/>
            <a:ext cx="411480" cy="249936"/>
          </a:xfrm>
          <a:prstGeom prst="roundRect">
            <a:avLst>
              <a:gd name="adj" fmla="val 14634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612648" y="5666232"/>
            <a:ext cx="411480" cy="249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1143000" y="5629656"/>
            <a:ext cx="10280599" cy="323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안정성: 안정적 임대수익 기반 투자 매물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대중교통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549323" y="14813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 및 간선버스 인접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5989320" y="19385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989320" y="1938528"/>
            <a:ext cx="156000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상권권역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549323" y="1938528"/>
            <a:ext cx="40114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주요 상업·업무 권역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5989320" y="2505456"/>
            <a:ext cx="5571439" cy="658368"/>
          </a:xfrm>
          <a:prstGeom prst="roundRect">
            <a:avLst>
              <a:gd name="adj" fmla="val 8333"/>
            </a:avLst>
          </a:prstGeom>
          <a:solidFill>
            <a:srgbClr val="BEE3F8"/>
          </a:solidFill>
          <a:ln/>
        </p:spPr>
      </p:sp>
      <p:sp>
        <p:nvSpPr>
          <p:cNvPr id="13" name="Shape 10"/>
          <p:cNvSpPr/>
          <p:nvPr/>
        </p:nvSpPr>
        <p:spPr>
          <a:xfrm>
            <a:off x="5989320" y="2560320"/>
            <a:ext cx="36576" cy="548640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1"/>
          <p:cNvSpPr/>
          <p:nvPr/>
        </p:nvSpPr>
        <p:spPr>
          <a:xfrm>
            <a:off x="6135624" y="2596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15" name="Text 12"/>
          <p:cNvSpPr/>
          <p:nvPr/>
        </p:nvSpPr>
        <p:spPr>
          <a:xfrm>
            <a:off x="6135624" y="2798064"/>
            <a:ext cx="5315407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서초권역 배후 상권 기반 안정적 임대 수요</a:t>
            </a:r>
            <a:endParaRPr lang="en-US" sz="980" dirty="0"/>
          </a:p>
        </p:txBody>
      </p:sp>
      <p:sp>
        <p:nvSpPr>
          <p:cNvPr id="16" name="Text 1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및 건축 규제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 열람 및 건축 규제 확인 필요</a:t>
            </a:r>
            <a:endParaRPr lang="en-US" sz="980" dirty="0"/>
          </a:p>
        </p:txBody>
      </p:sp>
      <p:sp>
        <p:nvSpPr>
          <p:cNvPr id="16" name="Shape 14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권리관계 및 공적장부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 소유권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기재 사항 실물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개별공시지가 및 실거래가 비교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개요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Rent Roll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렌트롤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700784"/>
            <a:ext cx="11057839" cy="1371600"/>
          </a:xfrm>
          <a:prstGeom prst="roundRect">
            <a:avLst>
              <a:gd name="adj" fmla="val 4000"/>
            </a:avLst>
          </a:prstGeom>
          <a:solidFill>
            <a:srgbClr val="BEE3F8"/>
          </a:solidFill>
          <a:ln/>
        </p:spPr>
      </p:sp>
      <p:sp>
        <p:nvSpPr>
          <p:cNvPr id="7" name="Shape 5"/>
          <p:cNvSpPr/>
          <p:nvPr/>
        </p:nvSpPr>
        <p:spPr>
          <a:xfrm>
            <a:off x="502920" y="1755648"/>
            <a:ext cx="36576" cy="12618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8" name="Text 6"/>
          <p:cNvSpPr/>
          <p:nvPr/>
        </p:nvSpPr>
        <p:spPr>
          <a:xfrm>
            <a:off x="649224" y="1792224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현황 데이터 준비 중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649224" y="1993392"/>
            <a:ext cx="10801807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임대차 계약 현황(호실별 보증금, 월차임, 관리비, 만기일)은 소유자/중개인 확인 후 업데이트됩니다.</a:t>
            </a:r>
            <a:endParaRPr lang="en-US" sz="980" dirty="0"/>
          </a:p>
        </p:txBody>
      </p:sp>
      <p:sp>
        <p:nvSpPr>
          <p:cNvPr id="10" name="Shape 8"/>
          <p:cNvSpPr/>
          <p:nvPr/>
        </p:nvSpPr>
        <p:spPr>
          <a:xfrm>
            <a:off x="502920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502920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649224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실사 점검 항목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49224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층별/호실별 임대차 계약서 및 사업자등록 현황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보증금 총액 및 월 임대료 입금 내역(최근 6개월)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렌트프리, 핏아웃 등 특약 조건 존재 여부</a:t>
            </a:r>
            <a:endParaRPr lang="en-US" sz="980" dirty="0"/>
          </a:p>
        </p:txBody>
      </p:sp>
      <p:sp>
        <p:nvSpPr>
          <p:cNvPr id="14" name="Shape 12"/>
          <p:cNvSpPr/>
          <p:nvPr/>
        </p:nvSpPr>
        <p:spPr>
          <a:xfrm>
            <a:off x="6123280" y="3291840"/>
            <a:ext cx="5437480" cy="2194560"/>
          </a:xfrm>
          <a:prstGeom prst="roundRect">
            <a:avLst>
              <a:gd name="adj" fmla="val 2500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6123280" y="3346704"/>
            <a:ext cx="36576" cy="20848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6269584" y="3383280"/>
            <a:ext cx="5181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수익률 분석 유의사항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269584" y="3584448"/>
            <a:ext cx="5181448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상가임대차보호법상 10년 계약갱신요구권 적용 여부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시세 대비 적정 임대료(Market Rent) 갭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명도 가능 여부 및 리모델링/신축 타당성</a:t>
            </a:r>
            <a:endParaRPr lang="en-US" sz="98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Stability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645920"/>
            <a:ext cx="6858000" cy="1645920"/>
          </a:xfrm>
          <a:prstGeom prst="roundRect">
            <a:avLst>
              <a:gd name="adj" fmla="val 3333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700784"/>
            <a:ext cx="36576" cy="15361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737360"/>
            <a:ext cx="66019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임대안정성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649224" y="1938528"/>
            <a:ext cx="6601968" cy="1316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갑구·을구 권리관계 공적장부 대조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 주요 용도 및 위반건축물 여부 확인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실사를 통한 물리적 하자 및 하자보수 이력 점검</a:t>
            </a:r>
            <a:endParaRPr lang="en-US" sz="980" dirty="0"/>
          </a:p>
        </p:txBody>
      </p:sp>
      <p:sp>
        <p:nvSpPr>
          <p:cNvPr id="11" name="Shape 9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건물은 이 건물은 이 건물은 이 건물은 이 건물은 이 건물은 이 건물은 이 건물은 이 건물은 이 건물은 이 건물은 이 건물은 이 건물은 이 건물은 이 건물은 이 건물은 이 건물은 이 건물은 이 건물은 이 건물은</a:t>
            </a:r>
            <a:endParaRPr lang="en-US" sz="980" dirty="0"/>
          </a:p>
        </p:txBody>
      </p:sp>
      <p:sp>
        <p:nvSpPr>
          <p:cNvPr id="16" name="Text 14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Profit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2588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51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66751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69억 원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4243730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08322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순수익(매월)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4408322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3,650만 원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7984541" y="1554480"/>
            <a:ext cx="3576218" cy="1188720"/>
          </a:xfrm>
          <a:prstGeom prst="roundRect">
            <a:avLst>
              <a:gd name="adj" fmla="val 4615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149133" y="168249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레버리지 수익률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149133" y="1901952"/>
            <a:ext cx="32470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5.8%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502920" y="2999232"/>
            <a:ext cx="11057839" cy="1280160"/>
          </a:xfrm>
          <a:prstGeom prst="roundRect">
            <a:avLst>
              <a:gd name="adj" fmla="val 4286"/>
            </a:avLst>
          </a:prstGeom>
          <a:solidFill>
            <a:srgbClr val="BEE3F8"/>
          </a:solidFill>
          <a:ln/>
        </p:spPr>
      </p:sp>
      <p:sp>
        <p:nvSpPr>
          <p:cNvPr id="17" name="Shape 15"/>
          <p:cNvSpPr/>
          <p:nvPr/>
        </p:nvSpPr>
        <p:spPr>
          <a:xfrm>
            <a:off x="502920" y="3054096"/>
            <a:ext cx="36576" cy="117043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" y="3090672"/>
            <a:ext cx="108018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가치 제안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49224" y="3291840"/>
            <a:ext cx="10801807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 순영업소득(NOI) 약 7.14억 원, 매입 Cap Rate 4.62%입니다.</a:t>
            </a:r>
            <a:endParaRPr lang="en-US" sz="980" dirty="0"/>
          </a:p>
        </p:txBody>
      </p:sp>
      <p:sp>
        <p:nvSpPr>
          <p:cNvPr id="20" name="Text 18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자본구조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31520" y="201168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01417" y="201168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165억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31520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48716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3001417" y="248716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7.59억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31520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962656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001417" y="2962656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1.49억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31520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3438144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3001417" y="3438144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174.1억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31520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1520" y="3913632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3001417" y="3913632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31520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4389120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001417" y="4389120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82.5억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31520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4864608"/>
            <a:ext cx="226989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3001417" y="4864608"/>
            <a:ext cx="266466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91.6억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169000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397600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7600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0161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174.1억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108.1억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91.6억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75.1억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-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397600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397600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543904" y="4160520"/>
            <a:ext cx="46785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543904" y="4361688"/>
            <a:ext cx="4678528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98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80" dirty="0"/>
          </a:p>
        </p:txBody>
      </p:sp>
      <p:sp>
        <p:nvSpPr>
          <p:cNvPr id="35" name="Text 3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논거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493776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85800" y="504748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23160" y="501091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관점에서 안정적 월 임대수익과 우량 메디컬 테넌트를 보유한 핵심 투자 자산입니다.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02920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메디컬 단일업종 집중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31520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의료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31520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업종 다각화 검토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59856" y="1417320"/>
            <a:ext cx="5400904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59856" y="1417320"/>
            <a:ext cx="5400904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13" name="Text 11"/>
          <p:cNvSpPr/>
          <p:nvPr/>
        </p:nvSpPr>
        <p:spPr>
          <a:xfrm>
            <a:off x="6388456" y="1618488"/>
            <a:ext cx="49437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금리 변동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388456" y="1947672"/>
            <a:ext cx="49437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4.1% 고정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88456" y="2377440"/>
            <a:ext cx="49437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1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승계 대출 활용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2920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체크리스트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0292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103327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0292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3327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03327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6191860" y="171907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29020" y="194767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22212" y="179222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1860" y="254203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29020" y="277063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722212" y="261518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191860" y="3364992"/>
            <a:ext cx="5368900" cy="749808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29020" y="3593592"/>
            <a:ext cx="292608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6722212" y="3438144"/>
            <a:ext cx="4710532" cy="60350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502920" y="5349240"/>
            <a:ext cx="11057839" cy="45720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685800" y="5422392"/>
            <a:ext cx="10692079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진행 절차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2376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22376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22376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22376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 및 임대차계약서 원본 확인을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414016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자료의 모든 수치는 예비 검토용이며, 상세 실사 자료 및 비밀 상담은 담당 전문 중개사를 통해 제공됩니다.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2026-09-22T04:17:07Z</dcterms:created>
  <dcterms:modified xsi:type="dcterms:W3CDTF">2026-09-22T04:17:07Z</dcterms:modified>
</cp:coreProperties>
</file>