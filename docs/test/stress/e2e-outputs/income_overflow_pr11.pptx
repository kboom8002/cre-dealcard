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0D2233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1A3A4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132A3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02920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02920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포스처 테스트 문서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02920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02920" y="3685032"/>
            <a:ext cx="1097280" cy="292608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685032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1691640" y="3685032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691640" y="368503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02920" y="4187952"/>
            <a:ext cx="6858000" cy="1051560"/>
          </a:xfrm>
          <a:prstGeom prst="roundRect">
            <a:avLst>
              <a:gd name="adj" fmla="val 3478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58952" y="4297680"/>
            <a:ext cx="634593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502920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투자 지표 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매우 우수한 투자 물건입니다.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7512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67512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308528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73120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등급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473120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114136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78728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소재지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278728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서초권역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8919743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084335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자산유형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084335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502920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7512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수익률(Cap Rate)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667512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1700" dirty="0"/>
          </a:p>
        </p:txBody>
      </p:sp>
      <p:sp>
        <p:nvSpPr>
          <p:cNvPr id="23" name="Shape 21"/>
          <p:cNvSpPr/>
          <p:nvPr/>
        </p:nvSpPr>
        <p:spPr>
          <a:xfrm>
            <a:off x="3308528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473120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3473120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6114136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278728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278728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1700" dirty="0"/>
          </a:p>
        </p:txBody>
      </p:sp>
      <p:sp>
        <p:nvSpPr>
          <p:cNvPr id="29" name="Shape 27"/>
          <p:cNvSpPr/>
          <p:nvPr/>
        </p:nvSpPr>
        <p:spPr>
          <a:xfrm>
            <a:off x="8919743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084335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9084335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1700" dirty="0"/>
          </a:p>
        </p:txBody>
      </p:sp>
      <p:sp>
        <p:nvSpPr>
          <p:cNvPr id="32" name="Text 30"/>
          <p:cNvSpPr/>
          <p:nvPr/>
        </p:nvSpPr>
        <p:spPr>
          <a:xfrm>
            <a:off x="502920" y="430682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502920" y="4636008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12648" y="4709160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12648" y="4709160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1143000" y="4672584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대중교통 역세권 입지, 해당 권역 업무·상업 중심지 배후 수요 확보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02920" y="5114544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12648" y="5187696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12648" y="5187696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1143000" y="5151120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 규모: 해당 권역 소재 단독 빌딩 매입 기회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502920" y="5593080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12648" y="5666232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12648" y="5666232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1143000" y="5629656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안정성: 안정적 임대수익 기반 투자 매물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분석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989320" y="1481328"/>
            <a:ext cx="1560003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대중교통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549323" y="1481328"/>
            <a:ext cx="40114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인접 지하철역 역세권 (상세 확인 필요)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989320" y="1975104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89320" y="1975104"/>
            <a:ext cx="1560003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상권권역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7549323" y="1975104"/>
            <a:ext cx="40114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서초권역 주요 상업·업무 권역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989320" y="2606040"/>
            <a:ext cx="5571439" cy="658368"/>
          </a:xfrm>
          <a:prstGeom prst="roundRect">
            <a:avLst>
              <a:gd name="adj" fmla="val 8333"/>
            </a:avLst>
          </a:prstGeom>
          <a:solidFill>
            <a:srgbClr val="BEE3F8"/>
          </a:solidFill>
          <a:ln/>
        </p:spPr>
      </p:sp>
      <p:sp>
        <p:nvSpPr>
          <p:cNvPr id="13" name="Shape 10"/>
          <p:cNvSpPr/>
          <p:nvPr/>
        </p:nvSpPr>
        <p:spPr>
          <a:xfrm>
            <a:off x="5989320" y="2660904"/>
            <a:ext cx="36576" cy="548640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4" name="Text 11"/>
          <p:cNvSpPr/>
          <p:nvPr/>
        </p:nvSpPr>
        <p:spPr>
          <a:xfrm>
            <a:off x="6135624" y="2697480"/>
            <a:ext cx="53154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종합 분석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6135624" y="2898648"/>
            <a:ext cx="531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서초권역 배후 상권 기반 안정적 임대 수요</a:t>
            </a:r>
            <a:endParaRPr lang="en-US" sz="980" dirty="0"/>
          </a:p>
        </p:txBody>
      </p:sp>
      <p:sp>
        <p:nvSpPr>
          <p:cNvPr id="16" name="Text 1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1645920"/>
            <a:ext cx="6858000" cy="1828800"/>
          </a:xfrm>
          <a:prstGeom prst="roundRect">
            <a:avLst>
              <a:gd name="adj" fmla="val 3000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02920" y="1700784"/>
            <a:ext cx="36576" cy="171907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649224" y="1737360"/>
            <a:ext cx="66019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 요약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49224" y="1938528"/>
            <a:ext cx="6601968" cy="1499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갑구·을구 권리관계 확인 필요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주요 용도 및 위반건축물 여부 확인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실사를 통한 물리적 하자 및 하자보수 이력 점검</a:t>
            </a:r>
            <a:endParaRPr lang="en-US" sz="980" dirty="0"/>
          </a:p>
        </p:txBody>
      </p:sp>
      <p:sp>
        <p:nvSpPr>
          <p:cNvPr id="11" name="Shape 9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20279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3" name="Shape 11"/>
          <p:cNvSpPr/>
          <p:nvPr/>
        </p:nvSpPr>
        <p:spPr>
          <a:xfrm>
            <a:off x="7720279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4" name="Text 12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및 건축 규제 포인트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866583" y="1938528"/>
            <a:ext cx="3584448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용도지역·용도지구 기준 건폐율/용적률 상한 확인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필지 형상 및 접도 조건에 따른 건축 가능 면적 검토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열람 및 개발행위허가 제한 여부 확인</a:t>
            </a:r>
            <a:endParaRPr lang="en-US" sz="980" dirty="0"/>
          </a:p>
        </p:txBody>
      </p:sp>
      <p:sp>
        <p:nvSpPr>
          <p:cNvPr id="16" name="Shape 14"/>
          <p:cNvSpPr/>
          <p:nvPr/>
        </p:nvSpPr>
        <p:spPr>
          <a:xfrm>
            <a:off x="7720279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7" name="Shape 15"/>
          <p:cNvSpPr/>
          <p:nvPr/>
        </p:nvSpPr>
        <p:spPr>
          <a:xfrm>
            <a:off x="7720279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8" name="Text 16"/>
          <p:cNvSpPr/>
          <p:nvPr/>
        </p:nvSpPr>
        <p:spPr>
          <a:xfrm>
            <a:off x="7866583" y="406908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권리관계 및 공적장부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866583" y="4270248"/>
            <a:ext cx="3584448" cy="1819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 소유권 및 을구 근저당·가압류 확인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기재 사항과 실물 현황 대조 점검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개별공시지가 및 실거래가 비교 분석</a:t>
            </a:r>
            <a:endParaRPr lang="en-US" sz="980" dirty="0"/>
          </a:p>
        </p:txBody>
      </p:sp>
      <p:sp>
        <p:nvSpPr>
          <p:cNvPr id="20" name="Text 18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1645920"/>
            <a:ext cx="6858000" cy="1828800"/>
          </a:xfrm>
          <a:prstGeom prst="roundRect">
            <a:avLst>
              <a:gd name="adj" fmla="val 3000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02920" y="1700784"/>
            <a:ext cx="36576" cy="171907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649224" y="1737360"/>
            <a:ext cx="66019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개요 요약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49224" y="1938528"/>
            <a:ext cx="6601968" cy="1499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갑구·을구 권리관계 확인 필요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주요 용도 및 위반건축물 여부 확인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실사를 통한 물리적 하자 및 하자보수 이력 점검</a:t>
            </a:r>
            <a:endParaRPr lang="en-US" sz="980" dirty="0"/>
          </a:p>
        </p:txBody>
      </p:sp>
      <p:sp>
        <p:nvSpPr>
          <p:cNvPr id="11" name="Shape 9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20279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3" name="Shape 11"/>
          <p:cNvSpPr/>
          <p:nvPr/>
        </p:nvSpPr>
        <p:spPr>
          <a:xfrm>
            <a:off x="7720279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4" name="Text 12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866583" y="1938528"/>
            <a:ext cx="3584448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건물은 이 건물은 이 건물은 이 건물은 이 건물은 이 건물은 이 건물은 이 건물은 이 건물은 이 건물은 이 건물은 이 건물은 이 건물은 이 건물은 이 건물은 이 건물은 이 건물은 이 건물은 이 건물은 이 건물은</a:t>
            </a:r>
            <a:endParaRPr lang="en-US" sz="980" dirty="0"/>
          </a:p>
        </p:txBody>
      </p:sp>
      <p:sp>
        <p:nvSpPr>
          <p:cNvPr id="16" name="Text 14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Roll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렌트롤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700784"/>
            <a:ext cx="11057839" cy="1371600"/>
          </a:xfrm>
          <a:prstGeom prst="roundRect">
            <a:avLst>
              <a:gd name="adj" fmla="val 4000"/>
            </a:avLst>
          </a:prstGeom>
          <a:solidFill>
            <a:srgbClr val="BEE3F8"/>
          </a:solidFill>
          <a:ln/>
        </p:spPr>
      </p:sp>
      <p:sp>
        <p:nvSpPr>
          <p:cNvPr id="7" name="Shape 5"/>
          <p:cNvSpPr/>
          <p:nvPr/>
        </p:nvSpPr>
        <p:spPr>
          <a:xfrm>
            <a:off x="502920" y="1755648"/>
            <a:ext cx="36576" cy="126187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8" name="Text 6"/>
          <p:cNvSpPr/>
          <p:nvPr/>
        </p:nvSpPr>
        <p:spPr>
          <a:xfrm>
            <a:off x="649224" y="1792224"/>
            <a:ext cx="108018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현황 데이터 준비 중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49224" y="1993392"/>
            <a:ext cx="10801807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임대차 계약 현황(호실별 보증금, 월차임, 관리비, 만기일)은 소유자/중개인 확인 후 업데이트됩니다.</a:t>
            </a:r>
            <a:endParaRPr lang="en-US" sz="980" dirty="0"/>
          </a:p>
        </p:txBody>
      </p:sp>
      <p:sp>
        <p:nvSpPr>
          <p:cNvPr id="10" name="Shape 8"/>
          <p:cNvSpPr/>
          <p:nvPr/>
        </p:nvSpPr>
        <p:spPr>
          <a:xfrm>
            <a:off x="502920" y="3291840"/>
            <a:ext cx="5437480" cy="2194560"/>
          </a:xfrm>
          <a:prstGeom prst="roundRect">
            <a:avLst>
              <a:gd name="adj" fmla="val 2500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502920" y="3346704"/>
            <a:ext cx="36576" cy="20848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649224" y="3383280"/>
            <a:ext cx="5181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실사 점검 항목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649224" y="3584448"/>
            <a:ext cx="5181448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층별/호실별 임대차 계약서 및 사업자등록 현황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보증금 총액 및 월 임대료 입금 내역(최근 6개월)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렌트프리, 핏아웃 등 특약 조건 존재 여부</a:t>
            </a:r>
            <a:endParaRPr lang="en-US" sz="980" dirty="0"/>
          </a:p>
        </p:txBody>
      </p:sp>
      <p:sp>
        <p:nvSpPr>
          <p:cNvPr id="14" name="Shape 12"/>
          <p:cNvSpPr/>
          <p:nvPr/>
        </p:nvSpPr>
        <p:spPr>
          <a:xfrm>
            <a:off x="6123280" y="3291840"/>
            <a:ext cx="5437480" cy="2194560"/>
          </a:xfrm>
          <a:prstGeom prst="roundRect">
            <a:avLst>
              <a:gd name="adj" fmla="val 2500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6123280" y="3346704"/>
            <a:ext cx="36576" cy="20848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6269584" y="3383280"/>
            <a:ext cx="5181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수익률 분석 유의사항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269584" y="3584448"/>
            <a:ext cx="5181448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상가임대차보호법상 10년 계약갱신요구권 적용 여부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주변 시세 대비 적정 임대료(Market Rent) 갭 분석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향후 명도 가능 여부 및 리모델링/신축 타당성</a:t>
            </a:r>
            <a:endParaRPr lang="en-US" sz="980" dirty="0"/>
          </a:p>
        </p:txBody>
      </p:sp>
      <p:sp>
        <p:nvSpPr>
          <p:cNvPr id="18" name="Text 16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Stability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임대안정성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1645920"/>
            <a:ext cx="6858000" cy="1828800"/>
          </a:xfrm>
          <a:prstGeom prst="roundRect">
            <a:avLst>
              <a:gd name="adj" fmla="val 3000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02920" y="1700784"/>
            <a:ext cx="36576" cy="171907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649224" y="1737360"/>
            <a:ext cx="66019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임대안정성 요약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49224" y="1938528"/>
            <a:ext cx="6601968" cy="1499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갑구·을구 권리관계 확인 필요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주요 용도 및 위반건축물 여부 확인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실사를 통한 물리적 하자 및 하자보수 이력 점검</a:t>
            </a:r>
            <a:endParaRPr lang="en-US" sz="980" dirty="0"/>
          </a:p>
        </p:txBody>
      </p:sp>
      <p:sp>
        <p:nvSpPr>
          <p:cNvPr id="11" name="Shape 9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20279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3" name="Shape 11"/>
          <p:cNvSpPr/>
          <p:nvPr/>
        </p:nvSpPr>
        <p:spPr>
          <a:xfrm>
            <a:off x="7720279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4" name="Text 12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866583" y="1938528"/>
            <a:ext cx="3584448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건물은 이 건물은 이 건물은 이 건물은 이 건물은 이 건물은 이 건물은 이 건물은 이 건물은 이 건물은 이 건물은 이 건물은 이 건물은 이 건물은 이 건물은 이 건물은 이 건물은 이 건물은 이 건물은 이 건물은</a:t>
            </a:r>
            <a:endParaRPr lang="en-US" sz="980" dirty="0"/>
          </a:p>
        </p:txBody>
      </p:sp>
      <p:sp>
        <p:nvSpPr>
          <p:cNvPr id="16" name="Text 14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수익구조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7512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667512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69억 원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4243730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08322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순수익(매월)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408322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3,650만 원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7984541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149133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레버리지 수익률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8149133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5.8%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02920" y="2999232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17" name="Shape 15"/>
          <p:cNvSpPr/>
          <p:nvPr/>
        </p:nvSpPr>
        <p:spPr>
          <a:xfrm>
            <a:off x="502920" y="3054096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8" name="Text 16"/>
          <p:cNvSpPr/>
          <p:nvPr/>
        </p:nvSpPr>
        <p:spPr>
          <a:xfrm>
            <a:off x="649224" y="3090672"/>
            <a:ext cx="108018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649224" y="3291840"/>
            <a:ext cx="10801807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순영업소득(NOI) 약 7.14억 원, 매입 Cap Rate 4.62%입니다.</a:t>
            </a:r>
            <a:endParaRPr lang="en-US" sz="980" dirty="0"/>
          </a:p>
        </p:txBody>
      </p:sp>
      <p:sp>
        <p:nvSpPr>
          <p:cNvPr id="20" name="Text 18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자본구조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31520" y="2011680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3001417" y="2011680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165.0억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31520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2487168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001417" y="2487168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7.59억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31520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2962656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3001417" y="2962656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1.49억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31520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3438144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001417" y="3438144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174.1억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31520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3913632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3001417" y="3913632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0.0억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31520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1520" y="4389120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3001417" y="4389120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82.5억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31520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1520" y="4864608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3001417" y="4864608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91.6억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169000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397600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97600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174.1억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0.00%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108.1억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0.00%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91.6억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0.00%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75.1억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0.00%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397600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397600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543904" y="4160520"/>
            <a:ext cx="46785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543904" y="4361688"/>
            <a:ext cx="4678528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80" dirty="0"/>
          </a:p>
        </p:txBody>
      </p:sp>
      <p:sp>
        <p:nvSpPr>
          <p:cNvPr id="35" name="Text 32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논거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493776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504748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23160" y="501091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관점에서 안정적 월 임대수익과 우량 메디컬 테넌트를 보유한 핵심 투자 자산입니다.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 단일업종 집중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31520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의료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31520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업종 다각화 검토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159856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59856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3" name="Text 11"/>
          <p:cNvSpPr/>
          <p:nvPr/>
        </p:nvSpPr>
        <p:spPr>
          <a:xfrm>
            <a:off x="6388456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금리 변동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388456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4.1% 고정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388456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승계 대출 활용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02920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체크리스트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051560" y="1810512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02920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051560" y="2807208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02920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051560" y="3803904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191860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29020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29020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740500" y="1810512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191860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29020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29020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740500" y="2807208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191860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29020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29020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740500" y="3803904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02920" y="5349240"/>
            <a:ext cx="11057839" cy="45720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685800" y="5422392"/>
            <a:ext cx="10692079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진행 절차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22376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22376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22376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22376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02920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12648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12648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161288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61288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091330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237634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347362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347362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896002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96002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26045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7972349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082077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082077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30717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30717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02920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02920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02920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29384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02920" y="312724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0292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29384" y="310896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02920" y="352958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02920" y="352958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29384" y="351129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02920" y="393192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02920" y="39319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29384" y="391363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02920" y="433425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02920" y="433425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29384" y="431596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414016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005840"/>
          </a:xfrm>
          <a:prstGeom prst="roundRect">
            <a:avLst>
              <a:gd name="adj" fmla="val 3636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02920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685800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2026-09-20T11:57:54Z</dcterms:created>
  <dcterms:modified xsi:type="dcterms:W3CDTF">2026-09-20T11:57:54Z</dcterms:modified>
</cp:coreProperties>
</file>