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MEMORANDUM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income 포스처 테스트 문서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메디컬빌딩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메디컬빌딩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773936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773936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165억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매우 우수한 투자 물건입니다.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965960"/>
            <a:ext cx="3564026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093976"/>
            <a:ext cx="323484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등급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2313432"/>
            <a:ext cx="323484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4313834" y="1965960"/>
            <a:ext cx="3564026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78426" y="2093976"/>
            <a:ext cx="323484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소재지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4478426" y="2313432"/>
            <a:ext cx="323484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서초권역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8060741" y="1965960"/>
            <a:ext cx="3564026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5333" y="2093976"/>
            <a:ext cx="323484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자산유형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8225333" y="2313432"/>
            <a:ext cx="323484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메디컬빌딩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566928" y="350215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566928" y="3831336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76656" y="3941064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76656" y="3941064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207008" y="3904488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분석: 핵심권역 소재 자산의 입지 특성 및 대지 지분 가치 확인 필요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566928" y="4526280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76656" y="4636008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76656" y="4636008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1207008" y="4599432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 구조: 매매 시장 적정가 수준 대비 임대수익 현황 분석 필요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566928" y="5221224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76656" y="5330952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76656" y="5330952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1207008" y="5294376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향후 검토: 권역 개발 동향 및 공법상 변경 가능성 확인 필요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교통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645920"/>
            <a:ext cx="6858000" cy="1828800"/>
          </a:xfrm>
          <a:prstGeom prst="roundRect">
            <a:avLst>
              <a:gd name="adj" fmla="val 3000"/>
            </a:avLst>
          </a:prstGeom>
          <a:solidFill>
            <a:srgbClr val="BEE3F8"/>
          </a:solidFill>
          <a:ln/>
        </p:spPr>
      </p:sp>
      <p:sp>
        <p:nvSpPr>
          <p:cNvPr id="8" name="Shape 6"/>
          <p:cNvSpPr/>
          <p:nvPr/>
        </p:nvSpPr>
        <p:spPr>
          <a:xfrm>
            <a:off x="566928" y="1700784"/>
            <a:ext cx="36576" cy="171907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9" name="Text 7"/>
          <p:cNvSpPr/>
          <p:nvPr/>
        </p:nvSpPr>
        <p:spPr>
          <a:xfrm>
            <a:off x="749808" y="1755648"/>
            <a:ext cx="65288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물리 스펙 요약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749808" y="1975104"/>
            <a:ext cx="6528816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상세 건물 제원은 실사 자료를 참조하시기 바랍니다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현황 및 규모는 첨부 대장을 기준으로 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상태 및 설비 현황은 실사 보고서를 참조하십시오</a:t>
            </a:r>
            <a:endParaRPr lang="en-US" sz="930" dirty="0"/>
          </a:p>
        </p:txBody>
      </p:sp>
      <p:sp>
        <p:nvSpPr>
          <p:cNvPr id="11" name="Shape 9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3" name="Shape 11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4" name="Text 12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권리관계 실사 포인트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접면 도로 폭 및 진출입 여건은 현장 실사 확인 사항입니다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등기부등본상 권리관계 및 제한물권 설정 여부를 확인하였습니다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지구단위계획 및 토지이용계획상 허용 용도를 검토하였습니다</a:t>
            </a:r>
            <a:endParaRPr lang="en-US" sz="930" dirty="0"/>
          </a:p>
        </p:txBody>
      </p:sp>
      <p:sp>
        <p:nvSpPr>
          <p:cNvPr id="16" name="Shape 14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7" name="Shape 15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8" name="Text 16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및 운용 관리 상태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임차인별 계약 만기 분산 및 렌트롤 실사가 필요합니다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관리비 정산 내역 및 수선유지비 집행 이력을 점검하였습니다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감면 및 대출 조달 구조는 금융·세무 자문 후 확정됩니다</a:t>
            </a:r>
            <a:endParaRPr lang="en-US" sz="93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개요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645920"/>
            <a:ext cx="6858000" cy="1828800"/>
          </a:xfrm>
          <a:prstGeom prst="roundRect">
            <a:avLst>
              <a:gd name="adj" fmla="val 3000"/>
            </a:avLst>
          </a:prstGeom>
          <a:solidFill>
            <a:srgbClr val="BEE3F8"/>
          </a:solidFill>
          <a:ln/>
        </p:spPr>
      </p:sp>
      <p:sp>
        <p:nvSpPr>
          <p:cNvPr id="8" name="Shape 6"/>
          <p:cNvSpPr/>
          <p:nvPr/>
        </p:nvSpPr>
        <p:spPr>
          <a:xfrm>
            <a:off x="566928" y="1700784"/>
            <a:ext cx="36576" cy="171907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9" name="Text 7"/>
          <p:cNvSpPr/>
          <p:nvPr/>
        </p:nvSpPr>
        <p:spPr>
          <a:xfrm>
            <a:off x="749808" y="1755648"/>
            <a:ext cx="65288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물리 스펙 요약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749808" y="1975104"/>
            <a:ext cx="6528816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상세 건물 제원은 실사 자료를 참조하시기 바랍니다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현황 및 규모는 첨부 대장을 기준으로 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상태 및 설비 현황은 실사 보고서를 참조하십시오</a:t>
            </a:r>
            <a:endParaRPr lang="en-US" sz="930" dirty="0"/>
          </a:p>
        </p:txBody>
      </p:sp>
      <p:sp>
        <p:nvSpPr>
          <p:cNvPr id="11" name="Shape 9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3" name="Shape 11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4" name="Text 12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건물은 이 건물은 이 건물은 이 건물은 이 건물은 이 건물은 이 건물은 이 건물은 이 건물은 이 건물은 이 건물은 이 건물은 이 건물은 이 건물은 이 건물은 이 건물은 이 건물은 이 건물은 이 건물은 이 건물은</a:t>
            </a:r>
            <a:endParaRPr lang="en-US" sz="930" dirty="0"/>
          </a:p>
        </p:txBody>
      </p:sp>
      <p:sp>
        <p:nvSpPr>
          <p:cNvPr id="16" name="Text 1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Rent Roll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현황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700784"/>
            <a:ext cx="11057839" cy="1371600"/>
          </a:xfrm>
          <a:prstGeom prst="roundRect">
            <a:avLst>
              <a:gd name="adj" fmla="val 4000"/>
            </a:avLst>
          </a:prstGeom>
          <a:solidFill>
            <a:srgbClr val="BEE3F8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755648"/>
            <a:ext cx="36576" cy="126187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8" name="Text 6"/>
          <p:cNvSpPr/>
          <p:nvPr/>
        </p:nvSpPr>
        <p:spPr>
          <a:xfrm>
            <a:off x="749808" y="1810512"/>
            <a:ext cx="1072865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현황 데이터 준비 중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749808" y="2029968"/>
            <a:ext cx="10728655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상세 임대차 계약 현황(호실별 보증금, 월차임, 관리비, 만기일)은 소유자/중개인 확인 후 업데이트됩니다.</a:t>
            </a:r>
            <a:endParaRPr lang="en-US" sz="930" dirty="0"/>
          </a:p>
        </p:txBody>
      </p:sp>
      <p:sp>
        <p:nvSpPr>
          <p:cNvPr id="10" name="Shape 8"/>
          <p:cNvSpPr/>
          <p:nvPr/>
        </p:nvSpPr>
        <p:spPr>
          <a:xfrm>
            <a:off x="566928" y="3291840"/>
            <a:ext cx="5437480" cy="2194560"/>
          </a:xfrm>
          <a:prstGeom prst="roundRect">
            <a:avLst>
              <a:gd name="adj" fmla="val 2500"/>
            </a:avLst>
          </a:prstGeom>
          <a:solidFill>
            <a:srgbClr val="BEE3F8"/>
          </a:solidFill>
          <a:ln/>
        </p:spPr>
      </p:sp>
      <p:sp>
        <p:nvSpPr>
          <p:cNvPr id="11" name="Shape 9"/>
          <p:cNvSpPr/>
          <p:nvPr/>
        </p:nvSpPr>
        <p:spPr>
          <a:xfrm>
            <a:off x="566928" y="3346704"/>
            <a:ext cx="36576" cy="20848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2" name="Text 10"/>
          <p:cNvSpPr/>
          <p:nvPr/>
        </p:nvSpPr>
        <p:spPr>
          <a:xfrm>
            <a:off x="749808" y="3401568"/>
            <a:ext cx="5108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실사 점검 항목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49808" y="3621024"/>
            <a:ext cx="5108296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층별/호실별 임대차 계약서 및 사업자등록 현황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보증금 총액 및 월 임대료 입금 내역(최근 6개월)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렌트프리, 핏아웃 등 특약 조건 존재 여부</a:t>
            </a:r>
            <a:endParaRPr lang="en-US" sz="930" dirty="0"/>
          </a:p>
        </p:txBody>
      </p:sp>
      <p:sp>
        <p:nvSpPr>
          <p:cNvPr id="14" name="Shape 12"/>
          <p:cNvSpPr/>
          <p:nvPr/>
        </p:nvSpPr>
        <p:spPr>
          <a:xfrm>
            <a:off x="6187288" y="3291840"/>
            <a:ext cx="5437480" cy="2194560"/>
          </a:xfrm>
          <a:prstGeom prst="roundRect">
            <a:avLst>
              <a:gd name="adj" fmla="val 2500"/>
            </a:avLst>
          </a:prstGeom>
          <a:solidFill>
            <a:srgbClr val="BEE3F8"/>
          </a:solidFill>
          <a:ln/>
        </p:spPr>
      </p:sp>
      <p:sp>
        <p:nvSpPr>
          <p:cNvPr id="15" name="Shape 13"/>
          <p:cNvSpPr/>
          <p:nvPr/>
        </p:nvSpPr>
        <p:spPr>
          <a:xfrm>
            <a:off x="6187288" y="3346704"/>
            <a:ext cx="36576" cy="20848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6" name="Text 14"/>
          <p:cNvSpPr/>
          <p:nvPr/>
        </p:nvSpPr>
        <p:spPr>
          <a:xfrm>
            <a:off x="6370168" y="3401568"/>
            <a:ext cx="5108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수익률 분석 유의사항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6370168" y="3621024"/>
            <a:ext cx="5108296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상가임대차보호법상 10년 계약갱신요구권 적용 여부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주변 시세 대비 적정 임대료(Market Rent) 갭 분석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향후 명도 가능 여부 및 리모델링/신축 타당성</a:t>
            </a:r>
            <a:endParaRPr lang="en-US" sz="930" dirty="0"/>
          </a:p>
        </p:txBody>
      </p:sp>
      <p:sp>
        <p:nvSpPr>
          <p:cNvPr id="18" name="Text 1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Stability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임대안정성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645920"/>
            <a:ext cx="6858000" cy="1828800"/>
          </a:xfrm>
          <a:prstGeom prst="roundRect">
            <a:avLst>
              <a:gd name="adj" fmla="val 3000"/>
            </a:avLst>
          </a:prstGeom>
          <a:solidFill>
            <a:srgbClr val="BEE3F8"/>
          </a:solidFill>
          <a:ln/>
        </p:spPr>
      </p:sp>
      <p:sp>
        <p:nvSpPr>
          <p:cNvPr id="8" name="Shape 6"/>
          <p:cNvSpPr/>
          <p:nvPr/>
        </p:nvSpPr>
        <p:spPr>
          <a:xfrm>
            <a:off x="566928" y="1700784"/>
            <a:ext cx="36576" cy="171907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9" name="Text 7"/>
          <p:cNvSpPr/>
          <p:nvPr/>
        </p:nvSpPr>
        <p:spPr>
          <a:xfrm>
            <a:off x="749808" y="1755648"/>
            <a:ext cx="65288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물리 스펙 요약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749808" y="1975104"/>
            <a:ext cx="6528816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상세 건물 제원은 실사 자료를 참조하시기 바랍니다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현황 및 규모는 첨부 대장을 기준으로 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상태 및 설비 현황은 실사 보고서를 참조하십시오</a:t>
            </a:r>
            <a:endParaRPr lang="en-US" sz="930" dirty="0"/>
          </a:p>
        </p:txBody>
      </p:sp>
      <p:sp>
        <p:nvSpPr>
          <p:cNvPr id="11" name="Shape 9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3" name="Shape 11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4" name="Text 12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건물은 이 건물은 이 건물은 이 건물은 이 건물은 이 건물은 이 건물은 이 건물은 이 건물은 이 건물은 이 건물은 이 건물은 이 건물은 이 건물은 이 건물은 이 건물은 이 건물은 이 건물은 이 건물은 이 건물은</a:t>
            </a:r>
            <a:endParaRPr lang="en-US" sz="930" dirty="0"/>
          </a:p>
        </p:txBody>
      </p:sp>
      <p:sp>
        <p:nvSpPr>
          <p:cNvPr id="16" name="Text 1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Profit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수익성 분석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32588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731520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69억 원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4307738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472330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순수익(매월)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4472330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3,650만 원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8048549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13141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레버리지 수익률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8213141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5.8%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566928" y="2999232"/>
            <a:ext cx="11057839" cy="1280160"/>
          </a:xfrm>
          <a:prstGeom prst="roundRect">
            <a:avLst>
              <a:gd name="adj" fmla="val 4286"/>
            </a:avLst>
          </a:prstGeom>
          <a:solidFill>
            <a:srgbClr val="BEE3F8"/>
          </a:solidFill>
          <a:ln/>
        </p:spPr>
      </p:sp>
      <p:sp>
        <p:nvSpPr>
          <p:cNvPr id="17" name="Shape 15"/>
          <p:cNvSpPr/>
          <p:nvPr/>
        </p:nvSpPr>
        <p:spPr>
          <a:xfrm>
            <a:off x="566928" y="3054096"/>
            <a:ext cx="36576" cy="11704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8" name="Text 16"/>
          <p:cNvSpPr/>
          <p:nvPr/>
        </p:nvSpPr>
        <p:spPr>
          <a:xfrm>
            <a:off x="749808" y="3108960"/>
            <a:ext cx="1072865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가치 제안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749808" y="3328416"/>
            <a:ext cx="10728655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순영업소득(NOI) 약 7.14억 원, 매입 Cap Rate 4.62%입니다.</a:t>
            </a:r>
            <a:endParaRPr lang="en-US" sz="93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비교사례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645920"/>
            <a:ext cx="42019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실투자금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768907" y="1645920"/>
            <a:ext cx="68558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69억 원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2048256"/>
            <a:ext cx="110578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" y="2048256"/>
            <a:ext cx="42019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순수익(매월)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768907" y="2048256"/>
            <a:ext cx="68558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3,650만 원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66928" y="2450592"/>
            <a:ext cx="110578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6928" y="2450592"/>
            <a:ext cx="42019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레버리지 수익률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768907" y="2450592"/>
            <a:ext cx="68558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5.8%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Capital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및 자본 조달 구조 분석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9552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 총취득원가 및 자기자본 소요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95528" y="2011680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 (A)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2670661" y="2011680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165.0억 원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95528" y="248716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95528" y="2487168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(4.6% 법정)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2670661" y="2487168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7.59억 원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795528" y="2962656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95528" y="2962656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중개보수 (0.9% 한도)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2670661" y="2962656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1.49억 원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95528" y="3438144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95528" y="3438144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총취득원가 (A + 세/비용)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2670661" y="3438144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174.1억 원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95528" y="3913632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95528" y="3913632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임대보증금 승계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2670661" y="3913632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8.3억 원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795528" y="4389120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95528" y="4389120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담보대출 조달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2670661" y="4389120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82.5억 원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795528" y="486460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95528" y="4864608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 (Net Equity)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2670661" y="4864608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83.3억 원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23300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6160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 LTV 시나리오별 레버리지 효과</a:t>
            </a:r>
            <a:endParaRPr lang="en-US" sz="13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61608" y="2057400"/>
          <a:ext cx="49345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005840"/>
                <a:gridCol w="1280160"/>
                <a:gridCol w="12801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대출비율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실투자금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예상수익률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전액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자기자본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(무차입)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165.8억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3.78%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보수적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(안정형)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99.8억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3.11%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표준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(기본형)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83.3억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2.77%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적극적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(레버리지)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66.8억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2.27%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31" name="Shape 28"/>
          <p:cNvSpPr/>
          <p:nvPr/>
        </p:nvSpPr>
        <p:spPr>
          <a:xfrm>
            <a:off x="6461608" y="4069080"/>
            <a:ext cx="4934560" cy="1463040"/>
          </a:xfrm>
          <a:prstGeom prst="roundRect">
            <a:avLst>
              <a:gd name="adj" fmla="val 3750"/>
            </a:avLst>
          </a:prstGeom>
          <a:solidFill>
            <a:srgbClr val="FEEBC8"/>
          </a:solidFill>
          <a:ln/>
        </p:spPr>
      </p:sp>
      <p:sp>
        <p:nvSpPr>
          <p:cNvPr id="32" name="Shape 29"/>
          <p:cNvSpPr/>
          <p:nvPr/>
        </p:nvSpPr>
        <p:spPr>
          <a:xfrm>
            <a:off x="6461608" y="4123944"/>
            <a:ext cx="36576" cy="1353312"/>
          </a:xfrm>
          <a:prstGeom prst="rect">
            <a:avLst/>
          </a:prstGeom>
          <a:solidFill>
            <a:srgbClr val="9C4221"/>
          </a:solidFill>
          <a:ln/>
        </p:spPr>
      </p:sp>
      <p:sp>
        <p:nvSpPr>
          <p:cNvPr id="33" name="Text 30"/>
          <p:cNvSpPr/>
          <p:nvPr/>
        </p:nvSpPr>
        <p:spPr>
          <a:xfrm>
            <a:off x="6644488" y="4178808"/>
            <a:ext cx="46053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C422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역레버리지 유의 구간</a:t>
            </a:r>
            <a:endParaRPr lang="en-US" sz="1050" dirty="0"/>
          </a:p>
        </p:txBody>
      </p:sp>
      <p:sp>
        <p:nvSpPr>
          <p:cNvPr id="34" name="Text 31"/>
          <p:cNvSpPr/>
          <p:nvPr/>
        </p:nvSpPr>
        <p:spPr>
          <a:xfrm>
            <a:off x="6644488" y="4398264"/>
            <a:ext cx="460537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차입 금리가 자산 총수익률을 상회하여 대출 실행 시 자기자본수익률이 하락할 수 있습니다. 에쿼티 비중 확대를 권장합니다.</a:t>
            </a:r>
            <a:endParaRPr lang="en-US" sz="930" dirty="0"/>
          </a:p>
        </p:txBody>
      </p:sp>
      <p:sp>
        <p:nvSpPr>
          <p:cNvPr id="35" name="Text 3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6" name="Text 3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포인트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4983480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5093208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487168" y="5056632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관점에서 안정적 월 임대수익과 우량 메디컬 테넌트를 보유한 핵심 투자 자산입니다.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 점검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5400904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417320"/>
            <a:ext cx="5400904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4943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 단일업종 집중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47672"/>
            <a:ext cx="4943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전층 의료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95528" y="2377440"/>
            <a:ext cx="494370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업종 다각화 검토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23864" y="1417320"/>
            <a:ext cx="5400904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23864" y="1417320"/>
            <a:ext cx="5400904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13" name="Text 11"/>
          <p:cNvSpPr/>
          <p:nvPr/>
        </p:nvSpPr>
        <p:spPr>
          <a:xfrm>
            <a:off x="6452464" y="1618488"/>
            <a:ext cx="4943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금리 변동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6452464" y="1947672"/>
            <a:ext cx="4943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4.1% 고정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452464" y="2377440"/>
            <a:ext cx="494370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승계 대출 활용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66928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95528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리스크 체크는 공부 및 브로커 확인 기반이며, 매수 전 전문 실사팀(변호사/건축사)을 통한 정밀 실사가 필요합니다.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Checklist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및 확인 필요사항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 안정성 확보를 위한 필수 법률·물리·임대차 실사 점검 항목 (총 6건)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9" name="Text 7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1556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갑구/을구 권리관계 및 근저당 채권최고액 전액 말소 조건 원본 대조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6692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3" name="Text 11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11556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원본 계약서 대조 (보증금, 월임대료, 관리비 실입금 내역 및 제소전화해조서)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6692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7" name="Text 15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11556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건축물대장상 위반건축물 등재 여부 및 불법 증축·용도변경 이행강제금 납부 이력 점검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25586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1" name="Text 19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80450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토지이용계획확인원상 도시계획시설 저촉, 건축선 후퇴, 지구단위계획 특별계획구역 확인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25586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5" name="Text 23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80450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기계식 주차기 정기 안전점검 합격증, 승강기 검사필증, 소방 완비증명서 실물 실사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25586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9" name="Text 27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80450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정화조 용량 대비 현 업종 적합성 및 하수도 원인자부담금 추가 부과 대상 여부 확인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66928" y="5760720"/>
            <a:ext cx="11057839" cy="594360"/>
          </a:xfrm>
          <a:prstGeom prst="rect">
            <a:avLst/>
          </a:prstGeom>
          <a:solidFill>
            <a:srgbClr val="D9B668"/>
          </a:solidFill>
          <a:ln/>
        </p:spPr>
      </p:sp>
      <p:sp>
        <p:nvSpPr>
          <p:cNvPr id="32" name="Text 30"/>
          <p:cNvSpPr/>
          <p:nvPr/>
        </p:nvSpPr>
        <p:spPr>
          <a:xfrm>
            <a:off x="749808" y="5833872"/>
            <a:ext cx="10692079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체크리스트는 계약 전 매수인의 안전한 자산 인수를 위한 필수 확인 사항이며, 실사(Due Diligence) 결과에 따라 매매 조건 및 잔금 일정이 조정될 수 있습니다.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다음 단계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1단계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 및 임대차계약서 원본 확인을 권장합니다.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 및 임대차계약서 원본 확인을 권장합니다.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76656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25296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225296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155338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301642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411370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411370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60010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60010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890053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036357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146085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146085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94725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94725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66928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66928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993392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66928" y="320040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66928" y="32004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993392" y="318211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6928" y="367588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67588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993392" y="365760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" y="415137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66928" y="41513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993392" y="413308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66928" y="462686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" y="462686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993392" y="460857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645920"/>
          </a:xfrm>
          <a:prstGeom prst="roundRect">
            <a:avLst>
              <a:gd name="adj" fmla="val 2222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66928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749808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자료의 모든 수치는 예비 검토용이며, 상세 실사 자료 및 비밀 상담은 담당 전문 중개사를 통해 제공됩니다.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2026-09-06T13:36:55Z</dcterms:created>
  <dcterms:modified xsi:type="dcterms:W3CDTF">2026-09-06T13:36:55Z</dcterms:modified>
</cp:coreProperties>
</file>