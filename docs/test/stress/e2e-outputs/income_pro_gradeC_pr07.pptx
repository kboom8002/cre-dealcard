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0" y="0"/>
            <a:ext cx="4419295" cy="6858000"/>
          </a:xfrm>
          <a:prstGeom prst="rect">
            <a:avLst/>
          </a:prstGeom>
          <a:solidFill>
            <a:srgbClr val="0D2233"/>
          </a:solidFill>
          <a:ln/>
        </p:spPr>
      </p:sp>
      <p:sp>
        <p:nvSpPr>
          <p:cNvPr id="3" name="Shape 1"/>
          <p:cNvSpPr/>
          <p:nvPr/>
        </p:nvSpPr>
        <p:spPr>
          <a:xfrm>
            <a:off x="8778240" y="731520"/>
            <a:ext cx="2926080" cy="2377440"/>
          </a:xfrm>
          <a:prstGeom prst="rect">
            <a:avLst/>
          </a:prstGeom>
          <a:solidFill>
            <a:srgbClr val="1A3A4A"/>
          </a:solidFill>
          <a:ln/>
        </p:spPr>
      </p:sp>
      <p:sp>
        <p:nvSpPr>
          <p:cNvPr id="4" name="Shape 2"/>
          <p:cNvSpPr/>
          <p:nvPr/>
        </p:nvSpPr>
        <p:spPr>
          <a:xfrm>
            <a:off x="8138160" y="3657600"/>
            <a:ext cx="3474720" cy="2560320"/>
          </a:xfrm>
          <a:prstGeom prst="rect">
            <a:avLst/>
          </a:prstGeom>
          <a:solidFill>
            <a:srgbClr val="132A3A"/>
          </a:solidFill>
          <a:ln/>
        </p:spPr>
      </p:sp>
      <p:sp>
        <p:nvSpPr>
          <p:cNvPr id="5" name="Shape 3"/>
          <p:cNvSpPr/>
          <p:nvPr/>
        </p:nvSpPr>
        <p:spPr>
          <a:xfrm>
            <a:off x="8503920" y="365760"/>
            <a:ext cx="0" cy="6126480"/>
          </a:xfrm>
          <a:prstGeom prst="line">
            <a:avLst/>
          </a:prstGeom>
          <a:noFill/>
          <a:ln w="10160">
            <a:solidFill>
              <a:srgbClr val="B98A2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75320" y="0"/>
            <a:ext cx="1417320" cy="4041648"/>
          </a:xfrm>
          <a:prstGeom prst="rect">
            <a:avLst/>
          </a:prstGeom>
          <a:solidFill>
            <a:srgbClr val="1A2030"/>
          </a:solidFill>
          <a:ln/>
        </p:spPr>
      </p:sp>
      <p:sp>
        <p:nvSpPr>
          <p:cNvPr id="7" name="Shape 5"/>
          <p:cNvSpPr/>
          <p:nvPr/>
        </p:nvSpPr>
        <p:spPr>
          <a:xfrm>
            <a:off x="9784080" y="868680"/>
            <a:ext cx="1143000" cy="3172968"/>
          </a:xfrm>
          <a:prstGeom prst="rect">
            <a:avLst/>
          </a:prstGeom>
          <a:solidFill>
            <a:srgbClr val="161D2B"/>
          </a:solidFill>
          <a:ln/>
        </p:spPr>
      </p:sp>
      <p:sp>
        <p:nvSpPr>
          <p:cNvPr id="8" name="Shape 6"/>
          <p:cNvSpPr/>
          <p:nvPr/>
        </p:nvSpPr>
        <p:spPr>
          <a:xfrm>
            <a:off x="11018520" y="1691640"/>
            <a:ext cx="1170432" cy="2350008"/>
          </a:xfrm>
          <a:prstGeom prst="rect">
            <a:avLst/>
          </a:prstGeom>
          <a:solidFill>
            <a:srgbClr val="2E2718"/>
          </a:solidFill>
          <a:ln/>
        </p:spPr>
      </p:sp>
      <p:sp>
        <p:nvSpPr>
          <p:cNvPr id="9" name="Text 7"/>
          <p:cNvSpPr/>
          <p:nvPr/>
        </p:nvSpPr>
        <p:spPr>
          <a:xfrm>
            <a:off x="502920" y="47548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</a:t>
            </a:r>
            <a:pPr indent="0" marL="0">
              <a:buNone/>
            </a:pPr>
            <a:r>
              <a:rPr lang="en-US" sz="15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DEAL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02920" y="20299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5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 MEMORANDUM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02920" y="2304288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income 포스처 테스트 문서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502920" y="3090672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메디컬빌딩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02920" y="3639312"/>
            <a:ext cx="1097280" cy="292608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4" name="Text 12"/>
          <p:cNvSpPr/>
          <p:nvPr/>
        </p:nvSpPr>
        <p:spPr>
          <a:xfrm>
            <a:off x="502920" y="3639312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메디컬빌딩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1691640" y="3639312"/>
            <a:ext cx="1005840" cy="292608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6" name="Text 14"/>
          <p:cNvSpPr/>
          <p:nvPr/>
        </p:nvSpPr>
        <p:spPr>
          <a:xfrm>
            <a:off x="1691640" y="3639312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165억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502920" y="4078224"/>
            <a:ext cx="6858000" cy="1051560"/>
          </a:xfrm>
          <a:prstGeom prst="roundRect">
            <a:avLst>
              <a:gd name="adj" fmla="val 3478"/>
            </a:avLst>
          </a:prstGeom>
          <a:solidFill>
            <a:srgbClr val="977024"/>
          </a:solidFill>
          <a:ln w="12700">
            <a:solidFill>
              <a:srgbClr val="B98A2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58952" y="4187952"/>
            <a:ext cx="6345936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165억</a:t>
            </a:r>
            <a:endParaRPr lang="en-US" sz="2100" dirty="0"/>
          </a:p>
        </p:txBody>
      </p:sp>
      <p:sp>
        <p:nvSpPr>
          <p:cNvPr id="19" name="Text 17"/>
          <p:cNvSpPr/>
          <p:nvPr/>
        </p:nvSpPr>
        <p:spPr>
          <a:xfrm>
            <a:off x="502920" y="6035040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Summary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 투자 지표 요약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02920" y="1188720"/>
            <a:ext cx="1105783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서초 메디컬 빌딩은 지하2층~지상7층 규모의 올근생 빌딩입니다.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02920" y="169164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02920" y="1965960"/>
            <a:ext cx="2641016" cy="960120"/>
          </a:xfrm>
          <a:prstGeom prst="roundRect">
            <a:avLst>
              <a:gd name="adj" fmla="val 5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67512" y="2093976"/>
            <a:ext cx="2311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매매 희망가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667512" y="2313432"/>
            <a:ext cx="2311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3308528" y="1965960"/>
            <a:ext cx="2641016" cy="960120"/>
          </a:xfrm>
          <a:prstGeom prst="roundRect">
            <a:avLst>
              <a:gd name="adj" fmla="val 5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473120" y="2093976"/>
            <a:ext cx="2311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대지면적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3473120" y="2313432"/>
            <a:ext cx="2311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142.5평</a:t>
            </a:r>
            <a:endParaRPr lang="en-US" sz="2200" dirty="0"/>
          </a:p>
        </p:txBody>
      </p:sp>
      <p:sp>
        <p:nvSpPr>
          <p:cNvPr id="14" name="Shape 12"/>
          <p:cNvSpPr/>
          <p:nvPr/>
        </p:nvSpPr>
        <p:spPr>
          <a:xfrm>
            <a:off x="6114136" y="1965960"/>
            <a:ext cx="2641016" cy="960120"/>
          </a:xfrm>
          <a:prstGeom prst="roundRect">
            <a:avLst>
              <a:gd name="adj" fmla="val 5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278728" y="2093976"/>
            <a:ext cx="2311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연면적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6278728" y="2313432"/>
            <a:ext cx="2311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620.8평</a:t>
            </a:r>
            <a:endParaRPr lang="en-US" sz="2200" dirty="0"/>
          </a:p>
        </p:txBody>
      </p:sp>
      <p:sp>
        <p:nvSpPr>
          <p:cNvPr id="17" name="Shape 15"/>
          <p:cNvSpPr/>
          <p:nvPr/>
        </p:nvSpPr>
        <p:spPr>
          <a:xfrm>
            <a:off x="8919743" y="1965960"/>
            <a:ext cx="2641016" cy="960120"/>
          </a:xfrm>
          <a:prstGeom prst="roundRect">
            <a:avLst>
              <a:gd name="adj" fmla="val 5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084335" y="2093976"/>
            <a:ext cx="2311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준공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9084335" y="2313432"/>
            <a:ext cx="2311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2017년</a:t>
            </a:r>
            <a:endParaRPr lang="en-US" sz="2200" dirty="0"/>
          </a:p>
        </p:txBody>
      </p:sp>
      <p:sp>
        <p:nvSpPr>
          <p:cNvPr id="20" name="Shape 18"/>
          <p:cNvSpPr/>
          <p:nvPr/>
        </p:nvSpPr>
        <p:spPr>
          <a:xfrm>
            <a:off x="502920" y="3090672"/>
            <a:ext cx="2641016" cy="960120"/>
          </a:xfrm>
          <a:prstGeom prst="roundRect">
            <a:avLst>
              <a:gd name="adj" fmla="val 5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67512" y="3218688"/>
            <a:ext cx="2311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서초 메디컬 빌딩은 지하2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667512" y="3438144"/>
            <a:ext cx="2311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2층</a:t>
            </a:r>
            <a:endParaRPr lang="en-US" sz="2200" dirty="0"/>
          </a:p>
        </p:txBody>
      </p:sp>
      <p:sp>
        <p:nvSpPr>
          <p:cNvPr id="23" name="Shape 21"/>
          <p:cNvSpPr/>
          <p:nvPr/>
        </p:nvSpPr>
        <p:spPr>
          <a:xfrm>
            <a:off x="3308528" y="3090672"/>
            <a:ext cx="2641016" cy="960120"/>
          </a:xfrm>
          <a:prstGeom prst="roundRect">
            <a:avLst>
              <a:gd name="adj" fmla="val 5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473120" y="3218688"/>
            <a:ext cx="2311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 수익률(Cap Rate)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3473120" y="3438144"/>
            <a:ext cx="2311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</a:t>
            </a:r>
            <a:endParaRPr lang="en-US" sz="2200" dirty="0"/>
          </a:p>
        </p:txBody>
      </p:sp>
      <p:sp>
        <p:nvSpPr>
          <p:cNvPr id="26" name="Shape 24"/>
          <p:cNvSpPr/>
          <p:nvPr/>
        </p:nvSpPr>
        <p:spPr>
          <a:xfrm>
            <a:off x="6114136" y="3090672"/>
            <a:ext cx="2641016" cy="960120"/>
          </a:xfrm>
          <a:prstGeom prst="roundRect">
            <a:avLst>
              <a:gd name="adj" fmla="val 5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278728" y="3218688"/>
            <a:ext cx="2311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실투자금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6278728" y="3438144"/>
            <a:ext cx="2311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</a:t>
            </a:r>
            <a:endParaRPr lang="en-US" sz="2200" dirty="0"/>
          </a:p>
        </p:txBody>
      </p:sp>
      <p:sp>
        <p:nvSpPr>
          <p:cNvPr id="29" name="Shape 27"/>
          <p:cNvSpPr/>
          <p:nvPr/>
        </p:nvSpPr>
        <p:spPr>
          <a:xfrm>
            <a:off x="8919743" y="3090672"/>
            <a:ext cx="2641016" cy="960120"/>
          </a:xfrm>
          <a:prstGeom prst="roundRect">
            <a:avLst>
              <a:gd name="adj" fmla="val 5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9084335" y="3218688"/>
            <a:ext cx="2311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공실 현황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9084335" y="3438144"/>
            <a:ext cx="2311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확인 중</a:t>
            </a:r>
            <a:endParaRPr lang="en-US" sz="2200" dirty="0"/>
          </a:p>
        </p:txBody>
      </p:sp>
      <p:sp>
        <p:nvSpPr>
          <p:cNvPr id="32" name="Text 30"/>
          <p:cNvSpPr/>
          <p:nvPr/>
        </p:nvSpPr>
        <p:spPr>
          <a:xfrm>
            <a:off x="502920" y="4306824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3대 핵심 투자 포인트 (Investment Highlights)</a:t>
            </a:r>
            <a:endParaRPr lang="en-US" sz="1250" dirty="0"/>
          </a:p>
        </p:txBody>
      </p:sp>
      <p:sp>
        <p:nvSpPr>
          <p:cNvPr id="33" name="Shape 31"/>
          <p:cNvSpPr/>
          <p:nvPr/>
        </p:nvSpPr>
        <p:spPr>
          <a:xfrm>
            <a:off x="502920" y="4636008"/>
            <a:ext cx="11057839" cy="396240"/>
          </a:xfrm>
          <a:prstGeom prst="roundRect">
            <a:avLst>
              <a:gd name="adj" fmla="val 11538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12648" y="4709160"/>
            <a:ext cx="411480" cy="249936"/>
          </a:xfrm>
          <a:prstGeom prst="roundRect">
            <a:avLst>
              <a:gd name="adj" fmla="val 14634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12648" y="4709160"/>
            <a:ext cx="411480" cy="249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1143000" y="4672584"/>
            <a:ext cx="10280599" cy="323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가치: 대중교통 역세권 입지, 해당 권역 업무·상업 중심지 배후 수요 확보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502920" y="5114544"/>
            <a:ext cx="11057839" cy="396240"/>
          </a:xfrm>
          <a:prstGeom prst="roundRect">
            <a:avLst>
              <a:gd name="adj" fmla="val 11538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12648" y="5187696"/>
            <a:ext cx="411480" cy="249936"/>
          </a:xfrm>
          <a:prstGeom prst="roundRect">
            <a:avLst>
              <a:gd name="adj" fmla="val 14634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12648" y="5187696"/>
            <a:ext cx="411480" cy="249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1143000" y="5151120"/>
            <a:ext cx="10280599" cy="323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자산 규모: 해당 권역 소재 단독 빌딩 매입 기회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502920" y="5593080"/>
            <a:ext cx="11057839" cy="396240"/>
          </a:xfrm>
          <a:prstGeom prst="roundRect">
            <a:avLst>
              <a:gd name="adj" fmla="val 11538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612648" y="5666232"/>
            <a:ext cx="411480" cy="249936"/>
          </a:xfrm>
          <a:prstGeom prst="roundRect">
            <a:avLst>
              <a:gd name="adj" fmla="val 14634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12648" y="5666232"/>
            <a:ext cx="411480" cy="249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1143000" y="5629656"/>
            <a:ext cx="10280599" cy="323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수익 안정성: 안정적 임대수익 기반 투자 매물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46" name="Text 44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분석</a:t>
            </a:r>
            <a:endParaRPr lang="en-US" sz="23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481328"/>
            <a:ext cx="5120640" cy="41148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989320" y="1481328"/>
            <a:ext cx="156000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대중교통</a:t>
            </a:r>
            <a:endParaRPr lang="en-US" sz="1250" dirty="0"/>
          </a:p>
        </p:txBody>
      </p:sp>
      <p:sp>
        <p:nvSpPr>
          <p:cNvPr id="8" name="Text 5"/>
          <p:cNvSpPr/>
          <p:nvPr/>
        </p:nvSpPr>
        <p:spPr>
          <a:xfrm>
            <a:off x="7549323" y="1481328"/>
            <a:ext cx="40114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지하철 및 간선버스 인접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5989320" y="1938528"/>
            <a:ext cx="5571439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989320" y="1938528"/>
            <a:ext cx="156000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상권권역</a:t>
            </a:r>
            <a:endParaRPr lang="en-US" sz="1250" dirty="0"/>
          </a:p>
        </p:txBody>
      </p:sp>
      <p:sp>
        <p:nvSpPr>
          <p:cNvPr id="11" name="Text 8"/>
          <p:cNvSpPr/>
          <p:nvPr/>
        </p:nvSpPr>
        <p:spPr>
          <a:xfrm>
            <a:off x="7549323" y="1938528"/>
            <a:ext cx="40114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서초권역 주요 상업·업무 권역</a:t>
            </a:r>
            <a:endParaRPr lang="en-US" sz="1250" dirty="0"/>
          </a:p>
        </p:txBody>
      </p:sp>
      <p:sp>
        <p:nvSpPr>
          <p:cNvPr id="12" name="Shape 9"/>
          <p:cNvSpPr/>
          <p:nvPr/>
        </p:nvSpPr>
        <p:spPr>
          <a:xfrm>
            <a:off x="5989320" y="2505456"/>
            <a:ext cx="5571439" cy="658368"/>
          </a:xfrm>
          <a:prstGeom prst="roundRect">
            <a:avLst>
              <a:gd name="adj" fmla="val 8333"/>
            </a:avLst>
          </a:prstGeom>
          <a:solidFill>
            <a:srgbClr val="BEE3F8"/>
          </a:solidFill>
          <a:ln/>
        </p:spPr>
      </p:sp>
      <p:sp>
        <p:nvSpPr>
          <p:cNvPr id="13" name="Shape 10"/>
          <p:cNvSpPr/>
          <p:nvPr/>
        </p:nvSpPr>
        <p:spPr>
          <a:xfrm>
            <a:off x="5989320" y="2560320"/>
            <a:ext cx="36576" cy="548640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4" name="Text 11"/>
          <p:cNvSpPr/>
          <p:nvPr/>
        </p:nvSpPr>
        <p:spPr>
          <a:xfrm>
            <a:off x="6135624" y="2596896"/>
            <a:ext cx="5315407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종합 분석</a:t>
            </a:r>
            <a:endParaRPr lang="en-US" sz="1050" dirty="0"/>
          </a:p>
        </p:txBody>
      </p:sp>
      <p:sp>
        <p:nvSpPr>
          <p:cNvPr id="15" name="Text 12"/>
          <p:cNvSpPr/>
          <p:nvPr/>
        </p:nvSpPr>
        <p:spPr>
          <a:xfrm>
            <a:off x="6135624" y="2798064"/>
            <a:ext cx="531540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8000"/>
              </a:lnSpc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서초권역 배후 상권 기반 안정적 임대 수요</a:t>
            </a:r>
            <a:endParaRPr lang="en-US" sz="980" dirty="0"/>
          </a:p>
        </p:txBody>
      </p:sp>
      <p:sp>
        <p:nvSpPr>
          <p:cNvPr id="16" name="Text 13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17" name="Text 14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Land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 현황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02920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 현황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02920" y="1645920"/>
            <a:ext cx="1920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대지면적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2423160" y="1645920"/>
            <a:ext cx="4937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142.5평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502920" y="2048256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02920" y="2048256"/>
            <a:ext cx="1920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연면적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2423160" y="2048256"/>
            <a:ext cx="4937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620.8평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7540600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720279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BEE3F8"/>
          </a:solidFill>
          <a:ln/>
        </p:spPr>
      </p:sp>
      <p:sp>
        <p:nvSpPr>
          <p:cNvPr id="14" name="Shape 12"/>
          <p:cNvSpPr/>
          <p:nvPr/>
        </p:nvSpPr>
        <p:spPr>
          <a:xfrm>
            <a:off x="7720279" y="1700784"/>
            <a:ext cx="36576" cy="199339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5" name="Text 13"/>
          <p:cNvSpPr/>
          <p:nvPr/>
        </p:nvSpPr>
        <p:spPr>
          <a:xfrm>
            <a:off x="7866583" y="1737360"/>
            <a:ext cx="35844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 및 건축 규제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7866583" y="1938528"/>
            <a:ext cx="3584448" cy="1773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8000"/>
              </a:lnSpc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토지이용계획 열람 및 건축 규제 확인 필요</a:t>
            </a:r>
            <a:endParaRPr lang="en-US" sz="980" dirty="0"/>
          </a:p>
        </p:txBody>
      </p:sp>
      <p:sp>
        <p:nvSpPr>
          <p:cNvPr id="17" name="Shape 15"/>
          <p:cNvSpPr/>
          <p:nvPr/>
        </p:nvSpPr>
        <p:spPr>
          <a:xfrm>
            <a:off x="7720279" y="3977640"/>
            <a:ext cx="3840480" cy="2148840"/>
          </a:xfrm>
          <a:prstGeom prst="roundRect">
            <a:avLst>
              <a:gd name="adj" fmla="val 2553"/>
            </a:avLst>
          </a:prstGeom>
          <a:solidFill>
            <a:srgbClr val="BEE3F8"/>
          </a:solidFill>
          <a:ln/>
        </p:spPr>
      </p:sp>
      <p:sp>
        <p:nvSpPr>
          <p:cNvPr id="18" name="Shape 16"/>
          <p:cNvSpPr/>
          <p:nvPr/>
        </p:nvSpPr>
        <p:spPr>
          <a:xfrm>
            <a:off x="7720279" y="4032504"/>
            <a:ext cx="36576" cy="203911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9" name="Text 17"/>
          <p:cNvSpPr/>
          <p:nvPr/>
        </p:nvSpPr>
        <p:spPr>
          <a:xfrm>
            <a:off x="7866583" y="4069080"/>
            <a:ext cx="35844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권리관계 및 공적장부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7866583" y="4270248"/>
            <a:ext cx="3584448" cy="1819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8000"/>
              </a:lnSpc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 갑구 소유권 확인</a:t>
            </a:r>
            <a:endParaRPr lang="en-US" sz="980" dirty="0"/>
          </a:p>
          <a:p>
            <a:pPr marL="342900" indent="-342900">
              <a:lnSpc>
                <a:spcPct val="108000"/>
              </a:lnSpc>
              <a:spcBef>
                <a:spcPts val="300"/>
              </a:spcBef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건축물대장 기재 사항 실물 대조</a:t>
            </a:r>
            <a:endParaRPr lang="en-US" sz="980" dirty="0"/>
          </a:p>
          <a:p>
            <a:pPr marL="342900" indent="-342900">
              <a:lnSpc>
                <a:spcPct val="108000"/>
              </a:lnSpc>
              <a:spcBef>
                <a:spcPts val="300"/>
              </a:spcBef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개별공시지가 및 실거래가 비교</a:t>
            </a:r>
            <a:endParaRPr lang="en-US" sz="980" dirty="0"/>
          </a:p>
        </p:txBody>
      </p:sp>
      <p:sp>
        <p:nvSpPr>
          <p:cNvPr id="21" name="Text 19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Building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개요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02920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02920" y="1645920"/>
            <a:ext cx="1920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대지면적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2423160" y="1645920"/>
            <a:ext cx="4937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142.5평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502920" y="2048256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02920" y="2048256"/>
            <a:ext cx="1920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연면적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2423160" y="2048256"/>
            <a:ext cx="4937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620.8평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502920" y="2450592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02920" y="2450592"/>
            <a:ext cx="1920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준공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2423160" y="2450592"/>
            <a:ext cx="4937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2017년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7540600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720279" y="1645920"/>
            <a:ext cx="3840480" cy="1645920"/>
          </a:xfrm>
          <a:prstGeom prst="roundRect">
            <a:avLst>
              <a:gd name="adj" fmla="val 3333"/>
            </a:avLst>
          </a:prstGeom>
          <a:solidFill>
            <a:srgbClr val="F3EBDA"/>
          </a:solidFill>
          <a:ln/>
        </p:spPr>
      </p:sp>
      <p:sp>
        <p:nvSpPr>
          <p:cNvPr id="17" name="Shape 15"/>
          <p:cNvSpPr/>
          <p:nvPr/>
        </p:nvSpPr>
        <p:spPr>
          <a:xfrm>
            <a:off x="7720279" y="1700784"/>
            <a:ext cx="36576" cy="15361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8" name="Text 16"/>
          <p:cNvSpPr/>
          <p:nvPr/>
        </p:nvSpPr>
        <p:spPr>
          <a:xfrm>
            <a:off x="7866583" y="1737360"/>
            <a:ext cx="35844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7866583" y="1938528"/>
            <a:ext cx="3584448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서초 메디컬 빌딩은 지하2층~지상7층 규모의 올근생 빌딩입니다.</a:t>
            </a:r>
            <a:endParaRPr lang="en-US" sz="980" dirty="0"/>
          </a:p>
        </p:txBody>
      </p:sp>
      <p:sp>
        <p:nvSpPr>
          <p:cNvPr id="20" name="Text 18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Rent Roll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렌트롤</a:t>
            </a:r>
            <a:endParaRPr lang="en-US" sz="23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645920"/>
          <a:ext cx="11057839" cy="914400"/>
        </p:xfrm>
        <a:graphic>
          <a:graphicData uri="http://schemas.openxmlformats.org/drawingml/2006/table">
            <a:tbl>
              <a:tblPr/>
              <a:tblGrid>
                <a:gridCol w="1842973"/>
                <a:gridCol w="3071622"/>
                <a:gridCol w="3071622"/>
                <a:gridCol w="3071622"/>
              </a:tblGrid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층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업종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보증금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월세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1F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약국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3억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1,200만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2F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안과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2억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1,100만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8" name="Text 5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Stability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임대안정성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02920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02920" y="1645920"/>
            <a:ext cx="1920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1F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2423160" y="1645920"/>
            <a:ext cx="4937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약국 (3억)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502920" y="2048256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02920" y="2048256"/>
            <a:ext cx="1920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2F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2423160" y="2048256"/>
            <a:ext cx="4937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안과 (2억)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7540600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720279" y="1645920"/>
            <a:ext cx="3840480" cy="1645920"/>
          </a:xfrm>
          <a:prstGeom prst="roundRect">
            <a:avLst>
              <a:gd name="adj" fmla="val 3333"/>
            </a:avLst>
          </a:prstGeom>
          <a:solidFill>
            <a:srgbClr val="F3EBDA"/>
          </a:solidFill>
          <a:ln/>
        </p:spPr>
      </p:sp>
      <p:sp>
        <p:nvSpPr>
          <p:cNvPr id="14" name="Shape 12"/>
          <p:cNvSpPr/>
          <p:nvPr/>
        </p:nvSpPr>
        <p:spPr>
          <a:xfrm>
            <a:off x="7720279" y="1700784"/>
            <a:ext cx="36576" cy="15361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5" name="Text 13"/>
          <p:cNvSpPr/>
          <p:nvPr/>
        </p:nvSpPr>
        <p:spPr>
          <a:xfrm>
            <a:off x="7866583" y="1737360"/>
            <a:ext cx="35844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7866583" y="1938528"/>
            <a:ext cx="3584448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전층 메디컬 만실 운영 중이며 WALE 평균 3.5년입니다.</a:t>
            </a:r>
            <a:endParaRPr lang="en-US" sz="980" dirty="0"/>
          </a:p>
        </p:txBody>
      </p:sp>
      <p:sp>
        <p:nvSpPr>
          <p:cNvPr id="17" name="Text 15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Profit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수익구조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32588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02920" y="1554480"/>
            <a:ext cx="3576218" cy="1188720"/>
          </a:xfrm>
          <a:prstGeom prst="roundRect">
            <a:avLst>
              <a:gd name="adj" fmla="val 4615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67512" y="168249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실투자금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667512" y="1901952"/>
            <a:ext cx="324703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69억 원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4243730" y="1554480"/>
            <a:ext cx="3576218" cy="1188720"/>
          </a:xfrm>
          <a:prstGeom prst="roundRect">
            <a:avLst>
              <a:gd name="adj" fmla="val 4615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408322" y="168249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순수익(매월)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4408322" y="1901952"/>
            <a:ext cx="324703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3,650만 원</a:t>
            </a:r>
            <a:endParaRPr lang="en-US" sz="2200" dirty="0"/>
          </a:p>
        </p:txBody>
      </p:sp>
      <p:sp>
        <p:nvSpPr>
          <p:cNvPr id="13" name="Shape 11"/>
          <p:cNvSpPr/>
          <p:nvPr/>
        </p:nvSpPr>
        <p:spPr>
          <a:xfrm>
            <a:off x="7984541" y="1554480"/>
            <a:ext cx="3576218" cy="1188720"/>
          </a:xfrm>
          <a:prstGeom prst="roundRect">
            <a:avLst>
              <a:gd name="adj" fmla="val 4615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149133" y="168249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레버리지 수익률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8149133" y="1901952"/>
            <a:ext cx="324703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5.8%</a:t>
            </a:r>
            <a:endParaRPr lang="en-US" sz="2200" dirty="0"/>
          </a:p>
        </p:txBody>
      </p:sp>
      <p:sp>
        <p:nvSpPr>
          <p:cNvPr id="16" name="Shape 14"/>
          <p:cNvSpPr/>
          <p:nvPr/>
        </p:nvSpPr>
        <p:spPr>
          <a:xfrm>
            <a:off x="502920" y="2999232"/>
            <a:ext cx="11057839" cy="1280160"/>
          </a:xfrm>
          <a:prstGeom prst="roundRect">
            <a:avLst>
              <a:gd name="adj" fmla="val 4286"/>
            </a:avLst>
          </a:prstGeom>
          <a:solidFill>
            <a:srgbClr val="BEE3F8"/>
          </a:solidFill>
          <a:ln/>
        </p:spPr>
      </p:sp>
      <p:sp>
        <p:nvSpPr>
          <p:cNvPr id="17" name="Shape 15"/>
          <p:cNvSpPr/>
          <p:nvPr/>
        </p:nvSpPr>
        <p:spPr>
          <a:xfrm>
            <a:off x="502920" y="3054096"/>
            <a:ext cx="36576" cy="117043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8" name="Text 16"/>
          <p:cNvSpPr/>
          <p:nvPr/>
        </p:nvSpPr>
        <p:spPr>
          <a:xfrm>
            <a:off x="649224" y="3090672"/>
            <a:ext cx="10801807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 가치 제안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649224" y="3291840"/>
            <a:ext cx="10801807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 순영업소득(NOI) 약 7.14억 원, 매입 Cap Rate 4.62%입니다.</a:t>
            </a:r>
            <a:endParaRPr lang="en-US" sz="980" dirty="0"/>
          </a:p>
        </p:txBody>
      </p:sp>
      <p:sp>
        <p:nvSpPr>
          <p:cNvPr id="20" name="Text 18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Thesis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 논거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4937760"/>
            <a:ext cx="11057839" cy="804672"/>
          </a:xfrm>
          <a:prstGeom prst="roundRect">
            <a:avLst>
              <a:gd name="adj" fmla="val 6818"/>
            </a:avLst>
          </a:prstGeom>
          <a:solidFill>
            <a:srgbClr val="F3EBDA"/>
          </a:solidFill>
          <a:ln w="10160">
            <a:solidFill>
              <a:srgbClr val="D9B66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85800" y="5047488"/>
            <a:ext cx="1691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종합 가치 제안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2423160" y="5010912"/>
            <a:ext cx="895471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관점에서 안정적 월 임대수익과 우량 메디컬 테넌트를 보유한 핵심 투자 자산입니다.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리스크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417320"/>
            <a:ext cx="5400904" cy="3657600"/>
          </a:xfrm>
          <a:prstGeom prst="roundRect">
            <a:avLst>
              <a:gd name="adj" fmla="val 150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02920" y="1417320"/>
            <a:ext cx="5400904" cy="45720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31520" y="1618488"/>
            <a:ext cx="49437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메디컬 단일업종 집중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731520" y="1947672"/>
            <a:ext cx="49437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전층 의료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731520" y="2377440"/>
            <a:ext cx="494370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lnSpc>
                <a:spcPct val="115000"/>
              </a:lnSpc>
              <a:buSzPct val="100000"/>
              <a:buChar char="•"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업종 다각화 검토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159856" y="1417320"/>
            <a:ext cx="5400904" cy="3657600"/>
          </a:xfrm>
          <a:prstGeom prst="roundRect">
            <a:avLst>
              <a:gd name="adj" fmla="val 150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159856" y="1417320"/>
            <a:ext cx="5400904" cy="45720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13" name="Text 11"/>
          <p:cNvSpPr/>
          <p:nvPr/>
        </p:nvSpPr>
        <p:spPr>
          <a:xfrm>
            <a:off x="6388456" y="1618488"/>
            <a:ext cx="49437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금리 변동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6388456" y="1947672"/>
            <a:ext cx="49437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4.1% 고정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6388456" y="2377440"/>
            <a:ext cx="494370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lnSpc>
                <a:spcPct val="115000"/>
              </a:lnSpc>
              <a:buSzPct val="100000"/>
              <a:buChar char="•"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승계 대출 활용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502920" y="5193792"/>
            <a:ext cx="11057839" cy="621792"/>
          </a:xfrm>
          <a:prstGeom prst="roundRect">
            <a:avLst>
              <a:gd name="adj" fmla="val 882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31520" y="5193792"/>
            <a:ext cx="10600639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본 리스크 체크는 공부 및 브로커 확인 기반이며, 매수 전 전문 실사팀(변호사/건축사)을 통한 정밀 실사가 필요합니다.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Checklist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실사 체크리스트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02920" y="1371600"/>
            <a:ext cx="11057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거래 안정성 확보를 위한 필수 법률·물리·임대차 실사 점검 항목 (총 6건)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02920" y="1719072"/>
            <a:ext cx="5368900" cy="749808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1947672"/>
            <a:ext cx="292608" cy="292608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1947672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1033272" y="1792224"/>
            <a:ext cx="471053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 갑구/을구 권리관계 및 근저당 채권최고액 전액 말소 조건 원본 대조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502920" y="2542032"/>
            <a:ext cx="5368900" cy="749808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40080" y="2770632"/>
            <a:ext cx="292608" cy="292608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2770632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1033272" y="2615184"/>
            <a:ext cx="471053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원본 계약서 검토 (보증금, 월임대료, 관리비 실입금 내역 및 제소전화해조서)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502920" y="3364992"/>
            <a:ext cx="5368900" cy="749808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40080" y="3593592"/>
            <a:ext cx="292608" cy="292608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7" name="Text 15"/>
          <p:cNvSpPr/>
          <p:nvPr/>
        </p:nvSpPr>
        <p:spPr>
          <a:xfrm>
            <a:off x="640080" y="3593592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1033272" y="3438144"/>
            <a:ext cx="471053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건축물대장상 위반건축물 등재 여부 및 불법 증축·용도변경 이행강제금 납부 이력 점검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6191860" y="1719072"/>
            <a:ext cx="5368900" cy="749808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329020" y="1947672"/>
            <a:ext cx="292608" cy="292608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1" name="Text 19"/>
          <p:cNvSpPr/>
          <p:nvPr/>
        </p:nvSpPr>
        <p:spPr>
          <a:xfrm>
            <a:off x="6329020" y="1947672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6722212" y="1792224"/>
            <a:ext cx="471053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토지이용계획확인원상 도시계획시설 저촉, 건축선 후퇴, 지구단위계획 특별계획구역 확인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6191860" y="2542032"/>
            <a:ext cx="5368900" cy="749808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329020" y="2770632"/>
            <a:ext cx="292608" cy="292608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5" name="Text 23"/>
          <p:cNvSpPr/>
          <p:nvPr/>
        </p:nvSpPr>
        <p:spPr>
          <a:xfrm>
            <a:off x="6329020" y="2770632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6722212" y="2615184"/>
            <a:ext cx="471053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기계식 주차기 정기 안전점검 합격증, 승강기 검사필증, 소방 완비증명서 실물 실사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6191860" y="3364992"/>
            <a:ext cx="5368900" cy="749808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329020" y="3593592"/>
            <a:ext cx="292608" cy="292608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9" name="Text 27"/>
          <p:cNvSpPr/>
          <p:nvPr/>
        </p:nvSpPr>
        <p:spPr>
          <a:xfrm>
            <a:off x="6329020" y="3593592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6722212" y="3438144"/>
            <a:ext cx="471053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정화조 용량 대비 현 업종 적합성 및 하수도 원인자부담금 추가 부과 대상 여부 확인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502920" y="5349240"/>
            <a:ext cx="11057839" cy="457200"/>
          </a:xfrm>
          <a:prstGeom prst="rect">
            <a:avLst/>
          </a:prstGeom>
          <a:solidFill>
            <a:srgbClr val="D9B668"/>
          </a:solidFill>
          <a:ln/>
        </p:spPr>
      </p:sp>
      <p:sp>
        <p:nvSpPr>
          <p:cNvPr id="32" name="Text 30"/>
          <p:cNvSpPr/>
          <p:nvPr/>
        </p:nvSpPr>
        <p:spPr>
          <a:xfrm>
            <a:off x="685800" y="5422392"/>
            <a:ext cx="10692079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본 체크리스트는 계약 전 매수인의 안전한 자산 인수를 위한 필수 확인 사항이며, 실사(Due Diligence) 결과에 따라 매매 조건 및 잔금 일정이 조정될 수 있습니다.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Process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진행 절차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572768"/>
            <a:ext cx="11057839" cy="3200400"/>
          </a:xfrm>
          <a:prstGeom prst="roundRect">
            <a:avLst>
              <a:gd name="adj" fmla="val 1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22376" y="1792224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22376" y="179222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22376" y="2304288"/>
            <a:ext cx="10618927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1단계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22376" y="2761488"/>
            <a:ext cx="10618927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 및 임대차계약서 원본 확인을 권장합니다.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 및 임대차계약서 원본 확인을 권장합니다.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Closing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58368"/>
            <a:ext cx="10490911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표기 기준 및 면책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502920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7" name="Shape 5"/>
          <p:cNvSpPr/>
          <p:nvPr/>
        </p:nvSpPr>
        <p:spPr>
          <a:xfrm>
            <a:off x="612648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612648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161288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관심 표명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161288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담당 중개사에게 초기 관심 표명 및 상담 요청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4091330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4237634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3" name="Shape 11"/>
          <p:cNvSpPr/>
          <p:nvPr/>
        </p:nvSpPr>
        <p:spPr>
          <a:xfrm>
            <a:off x="4347362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14" name="Text 12"/>
          <p:cNvSpPr/>
          <p:nvPr/>
        </p:nvSpPr>
        <p:spPr>
          <a:xfrm>
            <a:off x="4347362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896002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NDA 체결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896002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비밀유지계약 후 상세 임대차·재무 자료 제공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7826045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7972349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9" name="Shape 17"/>
          <p:cNvSpPr/>
          <p:nvPr/>
        </p:nvSpPr>
        <p:spPr>
          <a:xfrm>
            <a:off x="8082077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20" name="Text 18"/>
          <p:cNvSpPr/>
          <p:nvPr/>
        </p:nvSpPr>
        <p:spPr>
          <a:xfrm>
            <a:off x="8082077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630717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8630717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컨디션 및 설비 직접 확인 후 의향서(LOI) 제출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502920" y="2395728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데이터 출처 표기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02920" y="2724912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5" name="Text 23"/>
          <p:cNvSpPr/>
          <p:nvPr/>
        </p:nvSpPr>
        <p:spPr>
          <a:xfrm>
            <a:off x="502920" y="272491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 공부확인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929384" y="2706624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등기부·대장 등 공적 장부 직접 확인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502920" y="3127248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8" name="Text 26"/>
          <p:cNvSpPr/>
          <p:nvPr/>
        </p:nvSpPr>
        <p:spPr>
          <a:xfrm>
            <a:off x="502920" y="312724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★ 전문가검증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1929384" y="3108960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세무사·감정평가사 등 전문가 확인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502920" y="3529584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1" name="Text 29"/>
          <p:cNvSpPr/>
          <p:nvPr/>
        </p:nvSpPr>
        <p:spPr>
          <a:xfrm>
            <a:off x="502920" y="3529584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▲ 매도인고지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1929384" y="3511296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매도인이 구두 또는 서면으로 고지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502920" y="3931920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4" name="Text 32"/>
          <p:cNvSpPr/>
          <p:nvPr/>
        </p:nvSpPr>
        <p:spPr>
          <a:xfrm>
            <a:off x="502920" y="393192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● 중개인입력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1929384" y="3913632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중개인 현장 조사 및 경험 기반 입력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502920" y="4334256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7" name="Text 35"/>
          <p:cNvSpPr/>
          <p:nvPr/>
        </p:nvSpPr>
        <p:spPr>
          <a:xfrm>
            <a:off x="502920" y="4334256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◇ AI추정·가정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1929384" y="4315968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시나리오 분석 및 AI 모델 추정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6492240" y="2414016"/>
            <a:ext cx="51297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면책 조항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6492240" y="2724912"/>
            <a:ext cx="5129784" cy="1005840"/>
          </a:xfrm>
          <a:prstGeom prst="roundRect">
            <a:avLst>
              <a:gd name="adj" fmla="val 3636"/>
            </a:avLst>
          </a:prstGeom>
          <a:solidFill>
            <a:srgbClr val="1C2433"/>
          </a:solidFill>
          <a:ln/>
        </p:spPr>
      </p:sp>
      <p:sp>
        <p:nvSpPr>
          <p:cNvPr id="41" name="Text 39"/>
          <p:cNvSpPr/>
          <p:nvPr/>
        </p:nvSpPr>
        <p:spPr>
          <a:xfrm>
            <a:off x="6675120" y="2834640"/>
            <a:ext cx="4764024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자료는 투자 권유가 아니며, 기재된 정보의 정확성을 보증하지 않습니다.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502920" y="5760720"/>
            <a:ext cx="11057839" cy="45720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43" name="Text 41"/>
          <p:cNvSpPr/>
          <p:nvPr/>
        </p:nvSpPr>
        <p:spPr>
          <a:xfrm>
            <a:off x="685800" y="5806440"/>
            <a:ext cx="1069207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자료의 모든 수치는 예비 검토용이며, 상세 실사 자료 및 비밀 상담은 담당 전문 중개사를 통해 제공됩니다.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2026-09-29T02:22:30Z</dcterms:created>
  <dcterms:modified xsi:type="dcterms:W3CDTF">2026-09-29T02:22:30Z</dcterms:modified>
</cp:coreProperties>
</file>