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772400" y="0"/>
            <a:ext cx="4419295" cy="6858000"/>
          </a:xfrm>
          <a:prstGeom prst="rect">
            <a:avLst/>
          </a:prstGeom>
          <a:solidFill>
            <a:srgbClr val="2A2118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731520"/>
            <a:ext cx="2926080" cy="2377440"/>
          </a:xfrm>
          <a:prstGeom prst="rect">
            <a:avLst/>
          </a:prstGeom>
          <a:solidFill>
            <a:srgbClr val="3D2E1A"/>
          </a:solidFill>
          <a:ln/>
        </p:spPr>
      </p:sp>
      <p:sp>
        <p:nvSpPr>
          <p:cNvPr id="4" name="Shape 2"/>
          <p:cNvSpPr/>
          <p:nvPr/>
        </p:nvSpPr>
        <p:spPr>
          <a:xfrm>
            <a:off x="8138160" y="3657600"/>
            <a:ext cx="3474720" cy="2560320"/>
          </a:xfrm>
          <a:prstGeom prst="rect">
            <a:avLst/>
          </a:prstGeom>
          <a:solidFill>
            <a:srgbClr val="33271A"/>
          </a:solidFill>
          <a:ln/>
        </p:spPr>
      </p:sp>
      <p:sp>
        <p:nvSpPr>
          <p:cNvPr id="5" name="Shape 3"/>
          <p:cNvSpPr/>
          <p:nvPr/>
        </p:nvSpPr>
        <p:spPr>
          <a:xfrm>
            <a:off x="8503920" y="365760"/>
            <a:ext cx="0" cy="6126480"/>
          </a:xfrm>
          <a:prstGeom prst="line">
            <a:avLst/>
          </a:prstGeom>
          <a:noFill/>
          <a:ln w="10160">
            <a:solidFill>
              <a:srgbClr val="B98A2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75320" y="0"/>
            <a:ext cx="1417320" cy="4041648"/>
          </a:xfrm>
          <a:prstGeom prst="rect">
            <a:avLst/>
          </a:prstGeom>
          <a:solidFill>
            <a:srgbClr val="1A2030"/>
          </a:solidFill>
          <a:ln/>
        </p:spPr>
      </p:sp>
      <p:sp>
        <p:nvSpPr>
          <p:cNvPr id="7" name="Shape 5"/>
          <p:cNvSpPr/>
          <p:nvPr/>
        </p:nvSpPr>
        <p:spPr>
          <a:xfrm>
            <a:off x="9784080" y="868680"/>
            <a:ext cx="1143000" cy="3172968"/>
          </a:xfrm>
          <a:prstGeom prst="rect">
            <a:avLst/>
          </a:prstGeom>
          <a:solidFill>
            <a:srgbClr val="161D2B"/>
          </a:solidFill>
          <a:ln/>
        </p:spPr>
      </p:sp>
      <p:sp>
        <p:nvSpPr>
          <p:cNvPr id="8" name="Shape 6"/>
          <p:cNvSpPr/>
          <p:nvPr/>
        </p:nvSpPr>
        <p:spPr>
          <a:xfrm>
            <a:off x="11018520" y="1691640"/>
            <a:ext cx="1170432" cy="2350008"/>
          </a:xfrm>
          <a:prstGeom prst="rect">
            <a:avLst/>
          </a:prstGeom>
          <a:solidFill>
            <a:srgbClr val="2E2718"/>
          </a:solidFill>
          <a:ln/>
        </p:spPr>
      </p:sp>
      <p:sp>
        <p:nvSpPr>
          <p:cNvPr id="9" name="Text 7"/>
          <p:cNvSpPr/>
          <p:nvPr/>
        </p:nvSpPr>
        <p:spPr>
          <a:xfrm>
            <a:off x="566928" y="475488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CRE</a:t>
            </a:r>
            <a:pPr indent="0" marL="0">
              <a:buNone/>
            </a:pPr>
            <a:r>
              <a:rPr lang="en-US" sz="15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DEAL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66928" y="20299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spc="25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INVESTMENT MEMORANDUM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66928" y="2304288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owner_occupied 포스처 테스트 문서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566928" y="3090672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566928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4" name="Text 12"/>
          <p:cNvSpPr/>
          <p:nvPr/>
        </p:nvSpPr>
        <p:spPr>
          <a:xfrm>
            <a:off x="566928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773936" y="3584448"/>
            <a:ext cx="1097280" cy="310896"/>
          </a:xfrm>
          <a:prstGeom prst="roundRect">
            <a:avLst>
              <a:gd name="adj" fmla="val 50000"/>
            </a:avLst>
          </a:prstGeom>
          <a:solidFill>
            <a:srgbClr val="2D3748"/>
          </a:solidFill>
          <a:ln/>
        </p:spPr>
      </p:sp>
      <p:sp>
        <p:nvSpPr>
          <p:cNvPr id="16" name="Text 14"/>
          <p:cNvSpPr/>
          <p:nvPr/>
        </p:nvSpPr>
        <p:spPr>
          <a:xfrm>
            <a:off x="1773936" y="3584448"/>
            <a:ext cx="1097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66928" y="4224528"/>
            <a:ext cx="6858000" cy="1225296"/>
          </a:xfrm>
          <a:prstGeom prst="roundRect">
            <a:avLst>
              <a:gd name="adj" fmla="val 2985"/>
            </a:avLst>
          </a:prstGeom>
          <a:solidFill>
            <a:srgbClr val="977024"/>
          </a:solidFill>
          <a:ln w="12700">
            <a:solidFill>
              <a:srgbClr val="B98A2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22960" y="4425696"/>
            <a:ext cx="634593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135억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566928" y="786384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이민규  |  알스퀘어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2" name="Text 2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Summary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핵심요약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188720"/>
            <a:ext cx="11057839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691640"/>
            <a:ext cx="11057839" cy="0"/>
          </a:xfrm>
          <a:prstGeom prst="line">
            <a:avLst/>
          </a:prstGeom>
          <a:noFill/>
          <a:ln w="19050">
            <a:solidFill>
              <a:srgbClr val="B98A2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6692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73152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6187288" y="1965960"/>
            <a:ext cx="5437480" cy="1280160"/>
          </a:xfrm>
          <a:prstGeom prst="roundRect">
            <a:avLst>
              <a:gd name="adj" fmla="val 4286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351880" y="2093976"/>
            <a:ext cx="5108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351880" y="2313432"/>
            <a:ext cx="510829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161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4.2m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566928" y="350215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3대 핵심 투자 포인트 (Investment Highlights)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3831336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76656" y="3941064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6656" y="3941064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207008" y="3904488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분석: 핵심권역 소재 자산의 입지 특성 및 대지 지분 가치 확인 필요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566928" y="4526280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6656" y="4636008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6656" y="4636008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1207008" y="4599432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수익 구조: 매매 시장 적정가 수준 대비 임대수익 현황 분석 필요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566928" y="5221224"/>
            <a:ext cx="11057839" cy="585216"/>
          </a:xfrm>
          <a:prstGeom prst="roundRect">
            <a:avLst>
              <a:gd name="adj" fmla="val 7813"/>
            </a:avLst>
          </a:prstGeom>
          <a:solidFill>
            <a:srgbClr val="F8F9FA"/>
          </a:solidFill>
          <a:ln w="762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76656" y="5330952"/>
            <a:ext cx="411480" cy="365760"/>
          </a:xfrm>
          <a:prstGeom prst="roundRect">
            <a:avLst>
              <a:gd name="adj" fmla="val 10000"/>
            </a:avLst>
          </a:prstGeom>
          <a:solidFill>
            <a:srgbClr val="F3EBDA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6656" y="5330952"/>
            <a:ext cx="411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9770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207008" y="5294376"/>
            <a:ext cx="10280599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향후 검토: 권역 개발 동향 및 공법상 변경 가능성 확인 필요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Location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교통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Land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 현황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84287" y="1645920"/>
            <a:ext cx="3840480" cy="2103120"/>
          </a:xfrm>
          <a:prstGeom prst="roundRect">
            <a:avLst>
              <a:gd name="adj" fmla="val 2609"/>
            </a:avLst>
          </a:prstGeom>
          <a:solidFill>
            <a:srgbClr val="BEE3F8"/>
          </a:solidFill>
          <a:ln/>
        </p:spPr>
      </p:sp>
      <p:sp>
        <p:nvSpPr>
          <p:cNvPr id="11" name="Shape 9"/>
          <p:cNvSpPr/>
          <p:nvPr/>
        </p:nvSpPr>
        <p:spPr>
          <a:xfrm>
            <a:off x="7784287" y="1700784"/>
            <a:ext cx="36576" cy="199339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2" name="Text 10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입지 및 권리관계 실사 포인트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967167" y="1975104"/>
            <a:ext cx="3511296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접면 도로 폭 및 진출입 여건은 현장 실사 확인 사항입니다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등기부등본상 권리관계 및 제한물권 설정 여부를 확인하였습니다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지구단위계획 및 토지이용계획상 허용 용도를 검토하였습니다</a:t>
            </a:r>
            <a:endParaRPr lang="en-US" sz="930" dirty="0"/>
          </a:p>
        </p:txBody>
      </p:sp>
      <p:sp>
        <p:nvSpPr>
          <p:cNvPr id="14" name="Shape 12"/>
          <p:cNvSpPr/>
          <p:nvPr/>
        </p:nvSpPr>
        <p:spPr>
          <a:xfrm>
            <a:off x="7784287" y="3977640"/>
            <a:ext cx="3840480" cy="2148840"/>
          </a:xfrm>
          <a:prstGeom prst="roundRect">
            <a:avLst>
              <a:gd name="adj" fmla="val 2553"/>
            </a:avLst>
          </a:prstGeom>
          <a:solidFill>
            <a:srgbClr val="BEE3F8"/>
          </a:solidFill>
          <a:ln/>
        </p:spPr>
      </p:sp>
      <p:sp>
        <p:nvSpPr>
          <p:cNvPr id="15" name="Shape 13"/>
          <p:cNvSpPr/>
          <p:nvPr/>
        </p:nvSpPr>
        <p:spPr>
          <a:xfrm>
            <a:off x="7784287" y="4032504"/>
            <a:ext cx="36576" cy="203911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16" name="Text 14"/>
          <p:cNvSpPr/>
          <p:nvPr/>
        </p:nvSpPr>
        <p:spPr>
          <a:xfrm>
            <a:off x="7967167" y="408736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및 운용 관리 상태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967167" y="4306824"/>
            <a:ext cx="3511296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주요 임차인별 계약 만기 분산 및 렌트롤 실사가 필요합니다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관리비 정산 내역 및 수선유지비 집행 이력을 점검하였습니다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감면 및 대출 조달 구조는 금융·세무 자문 후 확정됩니다</a:t>
            </a:r>
            <a:endParaRPr lang="en-US" sz="930" dirty="0"/>
          </a:p>
        </p:txBody>
      </p:sp>
      <p:sp>
        <p:nvSpPr>
          <p:cNvPr id="18" name="Text 16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Building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물건 개요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연면적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3172968" y="1645920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512.4평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2084832"/>
            <a:ext cx="26060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층고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172968" y="2084832"/>
            <a:ext cx="42519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4.2m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4" name="Shape 12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5" name="Text 13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IT밸리 단독 통사옥 빌딩입니다.</a:t>
            </a:r>
            <a:endParaRPr lang="en-US" sz="930" dirty="0"/>
          </a:p>
        </p:txBody>
      </p:sp>
      <p:sp>
        <p:nvSpPr>
          <p:cNvPr id="17" name="Text 15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적합성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645920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자주식 주차 12대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084832"/>
            <a:ext cx="685800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66928" y="2084832"/>
            <a:ext cx="6858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옥상 휴게정원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2" name="Shape 10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전층 명도 완료, 즉시 사옥 입주 가능합니다.</a:t>
            </a:r>
            <a:endParaRPr lang="en-US" sz="930" dirty="0"/>
          </a:p>
        </p:txBody>
      </p:sp>
      <p:sp>
        <p:nvSpPr>
          <p:cNvPr id="15" name="Text 13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Vs Lease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비용 비교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Commute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통근 및 접근성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Value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자산가치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6858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개요 및 물리 스펙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645920"/>
            <a:ext cx="6858000" cy="1828800"/>
          </a:xfrm>
          <a:prstGeom prst="roundRect">
            <a:avLst>
              <a:gd name="adj" fmla="val 3000"/>
            </a:avLst>
          </a:prstGeom>
          <a:solidFill>
            <a:srgbClr val="BEE3F8"/>
          </a:solidFill>
          <a:ln/>
        </p:spPr>
      </p:sp>
      <p:sp>
        <p:nvSpPr>
          <p:cNvPr id="8" name="Shape 6"/>
          <p:cNvSpPr/>
          <p:nvPr/>
        </p:nvSpPr>
        <p:spPr>
          <a:xfrm>
            <a:off x="566928" y="1700784"/>
            <a:ext cx="36576" cy="1719072"/>
          </a:xfrm>
          <a:prstGeom prst="rect">
            <a:avLst/>
          </a:prstGeom>
          <a:solidFill>
            <a:srgbClr val="2B6CB0"/>
          </a:solidFill>
          <a:ln/>
        </p:spPr>
      </p:sp>
      <p:sp>
        <p:nvSpPr>
          <p:cNvPr id="9" name="Text 7"/>
          <p:cNvSpPr/>
          <p:nvPr/>
        </p:nvSpPr>
        <p:spPr>
          <a:xfrm>
            <a:off x="749808" y="1755648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B6CB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 물리 스펙 요약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749808" y="1975104"/>
            <a:ext cx="6528816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상세 건물 제원은 실사 자료를 참조하시기 바랍니다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현황 및 규모는 첨부 대장을 기준으로 합니다</a:t>
            </a:r>
            <a:endParaRPr lang="en-US" sz="93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상태 및 설비 현황은 실사 보고서를 참조하십시오</a:t>
            </a:r>
            <a:endParaRPr lang="en-US" sz="930" dirty="0"/>
          </a:p>
        </p:txBody>
      </p:sp>
      <p:sp>
        <p:nvSpPr>
          <p:cNvPr id="11" name="Shape 9"/>
          <p:cNvSpPr/>
          <p:nvPr/>
        </p:nvSpPr>
        <p:spPr>
          <a:xfrm>
            <a:off x="7604608" y="1371600"/>
            <a:ext cx="0" cy="4754880"/>
          </a:xfrm>
          <a:prstGeom prst="line">
            <a:avLst/>
          </a:prstGeom>
          <a:noFill/>
          <a:ln w="8890">
            <a:solidFill>
              <a:srgbClr val="B98A2E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784287" y="1645920"/>
            <a:ext cx="3840480" cy="1645920"/>
          </a:xfrm>
          <a:prstGeom prst="roundRect">
            <a:avLst>
              <a:gd name="adj" fmla="val 3333"/>
            </a:avLst>
          </a:prstGeom>
          <a:solidFill>
            <a:srgbClr val="F3EBDA"/>
          </a:solidFill>
          <a:ln/>
        </p:spPr>
      </p:sp>
      <p:sp>
        <p:nvSpPr>
          <p:cNvPr id="13" name="Shape 11"/>
          <p:cNvSpPr/>
          <p:nvPr/>
        </p:nvSpPr>
        <p:spPr>
          <a:xfrm>
            <a:off x="7784287" y="1700784"/>
            <a:ext cx="36576" cy="1536192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4" name="Text 12"/>
          <p:cNvSpPr/>
          <p:nvPr/>
        </p:nvSpPr>
        <p:spPr>
          <a:xfrm>
            <a:off x="7967167" y="1755648"/>
            <a:ext cx="35112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967167" y="1975104"/>
            <a:ext cx="351129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자가 vs 임차 연간 비용 비교 결과, 약 2.5억 원 절감 효과가 있습니다.</a:t>
            </a:r>
            <a:endParaRPr lang="en-US" sz="930" dirty="0"/>
          </a:p>
        </p:txBody>
      </p:sp>
      <p:sp>
        <p:nvSpPr>
          <p:cNvPr id="16" name="Text 14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Capital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및 자본 조달 구조 분석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9552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 총취득원가 및 자기자본 소요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795528" y="201168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매매 희망가 (A)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2670661" y="201168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135.0억 원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795528" y="248716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5528" y="248716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취득세 (4.6% 법정)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2670661" y="248716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6.21억 원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795528" y="2962656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5528" y="2962656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중개보수 (0.9% 한도)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2670661" y="2962656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1.22억 원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795528" y="3438144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95528" y="3438144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총취득원가 (A + 세/비용)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2670661" y="3438144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142.4억 원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" y="3913632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5528" y="3913632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임대보증금 승계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670661" y="3913632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6.8억 원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795528" y="4389120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95528" y="4389120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(-) 담보대출 조달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670661" y="4389120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67.5억 원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795528" y="4864608"/>
            <a:ext cx="4934560" cy="0"/>
          </a:xfrm>
          <a:prstGeom prst="line">
            <a:avLst/>
          </a:prstGeom>
          <a:noFill/>
          <a:ln w="3810">
            <a:solidFill>
              <a:srgbClr val="CBD5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5528" y="4864608"/>
            <a:ext cx="1875133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실투자금 (Net Equity)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2670661" y="4864608"/>
            <a:ext cx="3059427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68.2억 원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6233008" y="1417320"/>
            <a:ext cx="5391760" cy="4389120"/>
          </a:xfrm>
          <a:prstGeom prst="roundRect">
            <a:avLst>
              <a:gd name="adj" fmla="val 125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61608" y="1618488"/>
            <a:ext cx="4934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 LTV 시나리오별 레버리지 효과</a:t>
            </a:r>
            <a:endParaRPr lang="en-US" sz="135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61608" y="2057400"/>
          <a:ext cx="493456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005840"/>
                <a:gridCol w="128016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구분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대출비율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실투자금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718096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예상수익률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전액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자기자본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(무차입)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135.7억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3.78%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보수적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(안정형)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81.7억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3.11%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표준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(기본형)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68.2억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2.77%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적극적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차입 </a:t>
                      </a:r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(레버리지)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60%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54.7억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0161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2.27%</a:t>
                      </a:r>
                      <a:endParaRPr 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50800" marR="50800" marT="25400" marB="25400" anchor="ctr">
                    <a:lnL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CBD5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AFC"/>
                    </a:solidFill>
                  </a:tcPr>
                </a:tc>
              </a:tr>
            </a:tbl>
          </a:graphicData>
        </a:graphic>
      </p:graphicFrame>
      <p:sp>
        <p:nvSpPr>
          <p:cNvPr id="31" name="Shape 28"/>
          <p:cNvSpPr/>
          <p:nvPr/>
        </p:nvSpPr>
        <p:spPr>
          <a:xfrm>
            <a:off x="6461608" y="4069080"/>
            <a:ext cx="4934560" cy="1463040"/>
          </a:xfrm>
          <a:prstGeom prst="roundRect">
            <a:avLst>
              <a:gd name="adj" fmla="val 3750"/>
            </a:avLst>
          </a:prstGeom>
          <a:solidFill>
            <a:srgbClr val="FEEBC8"/>
          </a:solidFill>
          <a:ln/>
        </p:spPr>
      </p:sp>
      <p:sp>
        <p:nvSpPr>
          <p:cNvPr id="32" name="Shape 29"/>
          <p:cNvSpPr/>
          <p:nvPr/>
        </p:nvSpPr>
        <p:spPr>
          <a:xfrm>
            <a:off x="6461608" y="4123944"/>
            <a:ext cx="36576" cy="1353312"/>
          </a:xfrm>
          <a:prstGeom prst="rect">
            <a:avLst/>
          </a:prstGeom>
          <a:solidFill>
            <a:srgbClr val="9C4221"/>
          </a:solidFill>
          <a:ln/>
        </p:spPr>
      </p:sp>
      <p:sp>
        <p:nvSpPr>
          <p:cNvPr id="33" name="Text 30"/>
          <p:cNvSpPr/>
          <p:nvPr/>
        </p:nvSpPr>
        <p:spPr>
          <a:xfrm>
            <a:off x="6644488" y="4178808"/>
            <a:ext cx="46053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C422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역레버리지 유의 구간</a:t>
            </a:r>
            <a:endParaRPr lang="en-US" sz="1050" dirty="0"/>
          </a:p>
        </p:txBody>
      </p:sp>
      <p:sp>
        <p:nvSpPr>
          <p:cNvPr id="34" name="Text 31"/>
          <p:cNvSpPr/>
          <p:nvPr/>
        </p:nvSpPr>
        <p:spPr>
          <a:xfrm>
            <a:off x="6644488" y="4398264"/>
            <a:ext cx="4605376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93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차입 금리가 자산 총수익률을 상회하여 대출 실행 시 자기자본수익률이 하락할 수 있습니다. 에쿼티 비중 확대를 권장합니다.</a:t>
            </a:r>
            <a:endParaRPr lang="en-US" sz="930" dirty="0"/>
          </a:p>
        </p:txBody>
      </p:sp>
      <p:sp>
        <p:nvSpPr>
          <p:cNvPr id="35" name="Text 3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6" name="Text 3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Thesis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투자 포인트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4983480"/>
            <a:ext cx="11057839" cy="804672"/>
          </a:xfrm>
          <a:prstGeom prst="roundRect">
            <a:avLst>
              <a:gd name="adj" fmla="val 6818"/>
            </a:avLst>
          </a:prstGeom>
          <a:solidFill>
            <a:srgbClr val="F3EBDA"/>
          </a:solidFill>
          <a:ln w="10160">
            <a:solidFill>
              <a:srgbClr val="D9B66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5093208"/>
            <a:ext cx="1691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종합 가치 제안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7168" y="5056632"/>
            <a:ext cx="8954719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성수 IT산업 거점으로서의 입지 가치와 통사옥 희소성을 갖추고 있습니다.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Risk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리스크 점검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417320"/>
            <a:ext cx="11057839" cy="3657600"/>
          </a:xfrm>
          <a:prstGeom prst="roundRect">
            <a:avLst>
              <a:gd name="adj" fmla="val 1500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566928" y="1417320"/>
            <a:ext cx="11057839" cy="45720"/>
          </a:xfrm>
          <a:prstGeom prst="rect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1618488"/>
            <a:ext cx="106006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준공업 용도제한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95528" y="1947672"/>
            <a:ext cx="106006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IT 허용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795528" y="2377440"/>
            <a:ext cx="10600639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사전 확인 완료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66928" y="5193792"/>
            <a:ext cx="11057839" cy="621792"/>
          </a:xfrm>
          <a:prstGeom prst="roundRect">
            <a:avLst>
              <a:gd name="adj" fmla="val 882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95528" y="5193792"/>
            <a:ext cx="10600639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리스크 체크는 공부 및 브로커 확인 기반이며, 매수 전 전문 실사팀(변호사/건축사)을 통한 정밀 실사가 필요합니다.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4" name="Text 1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Checklist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실사 및 확인 필요사항</a:t>
            </a:r>
            <a:endParaRPr lang="en-US" sz="2300" dirty="0"/>
          </a:p>
        </p:txBody>
      </p:sp>
      <p:sp>
        <p:nvSpPr>
          <p:cNvPr id="6" name="Text 4"/>
          <p:cNvSpPr/>
          <p:nvPr/>
        </p:nvSpPr>
        <p:spPr>
          <a:xfrm>
            <a:off x="566928" y="1371600"/>
            <a:ext cx="1105783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거래 안정성 확보를 위한 필수 법률·물리·임대차 실사 점검 항목 (총 6건)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56692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9" name="Text 7"/>
          <p:cNvSpPr/>
          <p:nvPr/>
        </p:nvSpPr>
        <p:spPr>
          <a:xfrm>
            <a:off x="70408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11556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등기부등본 갑구/을구 권리관계 및 근저당 채권최고액 전액 말소 조건 원본 대조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3" name="Text 11"/>
          <p:cNvSpPr/>
          <p:nvPr/>
        </p:nvSpPr>
        <p:spPr>
          <a:xfrm>
            <a:off x="70408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11556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임대차 원본 계약서 대조 (보증금, 월임대료, 관리비 실입금 내역 및 제소전화해조서)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56692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17" name="Text 15"/>
          <p:cNvSpPr/>
          <p:nvPr/>
        </p:nvSpPr>
        <p:spPr>
          <a:xfrm>
            <a:off x="70408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11556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건축물대장상 위반건축물 등재 여부 및 불법 증축·용도변경 이행강제금 납부 이력 점검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6255868" y="1719072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1" name="Text 19"/>
          <p:cNvSpPr/>
          <p:nvPr/>
        </p:nvSpPr>
        <p:spPr>
          <a:xfrm>
            <a:off x="6393028" y="1883664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04508" y="1828800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토지이용계획확인원상 도시계획시설 저촉, 건축선 후퇴, 지구단위계획 특별계획구역 확인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255868" y="2715768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5" name="Text 23"/>
          <p:cNvSpPr/>
          <p:nvPr/>
        </p:nvSpPr>
        <p:spPr>
          <a:xfrm>
            <a:off x="6393028" y="28803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804508" y="2825496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기계식 주차기 정기 안전점검 합격증, 승강기 검사필증, 소방 완비증명서 실물 실사</a:t>
            </a:r>
            <a:endParaRPr lang="en-US" sz="1050" dirty="0"/>
          </a:p>
        </p:txBody>
      </p:sp>
      <p:sp>
        <p:nvSpPr>
          <p:cNvPr id="27" name="Shape 25"/>
          <p:cNvSpPr/>
          <p:nvPr/>
        </p:nvSpPr>
        <p:spPr>
          <a:xfrm>
            <a:off x="6255868" y="3712464"/>
            <a:ext cx="5368900" cy="868680"/>
          </a:xfrm>
          <a:prstGeom prst="rect">
            <a:avLst/>
          </a:prstGeom>
          <a:solidFill>
            <a:srgbClr val="F7FAFC"/>
          </a:solidFill>
          <a:ln w="6350">
            <a:solidFill>
              <a:srgbClr val="D9B66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29" name="Text 27"/>
          <p:cNvSpPr/>
          <p:nvPr/>
        </p:nvSpPr>
        <p:spPr>
          <a:xfrm>
            <a:off x="6393028" y="3877056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804508" y="3822192"/>
            <a:ext cx="46831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정화조 용량 대비 현 업종 적합성 및 하수도 원인자부담금 추가 부과 대상 여부 확인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66928" y="5760720"/>
            <a:ext cx="11057839" cy="594360"/>
          </a:xfrm>
          <a:prstGeom prst="rect">
            <a:avLst/>
          </a:prstGeom>
          <a:solidFill>
            <a:srgbClr val="D9B668"/>
          </a:solidFill>
          <a:ln/>
        </p:spPr>
      </p:sp>
      <p:sp>
        <p:nvSpPr>
          <p:cNvPr id="32" name="Text 30"/>
          <p:cNvSpPr/>
          <p:nvPr/>
        </p:nvSpPr>
        <p:spPr>
          <a:xfrm>
            <a:off x="749808" y="5833872"/>
            <a:ext cx="10692079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7702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※ 본 체크리스트는 계약 전 매수인의 안전한 자산 인수를 위한 필수 확인 사항이며, 실사(Due Diligence) 결과에 따라 매매 조건 및 잔금 일정이 조정될 수 있습니다.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34" name="Text 32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40080"/>
            <a:ext cx="1049091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단계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66928" y="1572768"/>
            <a:ext cx="11057839" cy="3200400"/>
          </a:xfrm>
          <a:prstGeom prst="roundRect">
            <a:avLst>
              <a:gd name="adj" fmla="val 1714"/>
            </a:avLst>
          </a:prstGeom>
          <a:solidFill>
            <a:srgbClr val="F7FAFC"/>
          </a:solidFill>
          <a:ln w="6350">
            <a:solidFill>
              <a:srgbClr val="CBD5E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86384" y="1792224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786384" y="1792224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6384" y="2304288"/>
            <a:ext cx="10618927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1단계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786384" y="2761488"/>
            <a:ext cx="10618927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1016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사옥 활용 레이아웃 설계 및 인테리어 비용 산정을 권장합니다.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0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57200"/>
            <a:ext cx="104909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Closing</a:t>
            </a:r>
            <a:endParaRPr lang="en-US" sz="950" dirty="0"/>
          </a:p>
        </p:txBody>
      </p:sp>
      <p:sp>
        <p:nvSpPr>
          <p:cNvPr id="5" name="Text 3"/>
          <p:cNvSpPr/>
          <p:nvPr/>
        </p:nvSpPr>
        <p:spPr>
          <a:xfrm>
            <a:off x="1133856" y="658368"/>
            <a:ext cx="10490911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표기 기준 및 면책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566928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7" name="Shape 5"/>
          <p:cNvSpPr/>
          <p:nvPr/>
        </p:nvSpPr>
        <p:spPr>
          <a:xfrm>
            <a:off x="676656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8" name="Text 6"/>
          <p:cNvSpPr/>
          <p:nvPr/>
        </p:nvSpPr>
        <p:spPr>
          <a:xfrm>
            <a:off x="676656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225296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표명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25296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 중개사에게 초기 관심 표명 및 상담 요청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155338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301642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3" name="Shape 11"/>
          <p:cNvSpPr/>
          <p:nvPr/>
        </p:nvSpPr>
        <p:spPr>
          <a:xfrm>
            <a:off x="4411370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14" name="Text 12"/>
          <p:cNvSpPr/>
          <p:nvPr/>
        </p:nvSpPr>
        <p:spPr>
          <a:xfrm>
            <a:off x="4411370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960010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NDA 체결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960010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비밀유지계약 후 상세 임대차·재무 자료 제공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7890053" y="1600200"/>
            <a:ext cx="14630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B98A2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→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8036357" y="1463040"/>
            <a:ext cx="3588410" cy="658368"/>
          </a:xfrm>
          <a:prstGeom prst="roundRect">
            <a:avLst>
              <a:gd name="adj" fmla="val 5556"/>
            </a:avLst>
          </a:prstGeom>
          <a:solidFill>
            <a:srgbClr val="2D3748"/>
          </a:solidFill>
          <a:ln/>
        </p:spPr>
      </p:sp>
      <p:sp>
        <p:nvSpPr>
          <p:cNvPr id="19" name="Shape 17"/>
          <p:cNvSpPr/>
          <p:nvPr/>
        </p:nvSpPr>
        <p:spPr>
          <a:xfrm>
            <a:off x="8146085" y="1572768"/>
            <a:ext cx="438912" cy="438912"/>
          </a:xfrm>
          <a:prstGeom prst="ellipse">
            <a:avLst/>
          </a:prstGeom>
          <a:solidFill>
            <a:srgbClr val="B98A2E"/>
          </a:solidFill>
          <a:ln/>
        </p:spPr>
      </p:sp>
      <p:sp>
        <p:nvSpPr>
          <p:cNvPr id="20" name="Text 18"/>
          <p:cNvSpPr/>
          <p:nvPr/>
        </p:nvSpPr>
        <p:spPr>
          <a:xfrm>
            <a:off x="8146085" y="157276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694725" y="1554480"/>
            <a:ext cx="282031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 실사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694725" y="1792224"/>
            <a:ext cx="282031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컨디션 및 설비 직접 확인 후 의향서(LOI) 제출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66928" y="2395728"/>
            <a:ext cx="5486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출처 표기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66928" y="2724912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5" name="Text 23"/>
          <p:cNvSpPr/>
          <p:nvPr/>
        </p:nvSpPr>
        <p:spPr>
          <a:xfrm>
            <a:off x="566928" y="2724912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✓ 공부확인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993392" y="27066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등기부·대장 등 공적 장부 직접 확인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66928" y="3200400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28" name="Text 26"/>
          <p:cNvSpPr/>
          <p:nvPr/>
        </p:nvSpPr>
        <p:spPr>
          <a:xfrm>
            <a:off x="566928" y="320040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★ 전문가검증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1993392" y="3182112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세무사·감정평가사 등 전문가 확인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566928" y="3675888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1" name="Text 29"/>
          <p:cNvSpPr/>
          <p:nvPr/>
        </p:nvSpPr>
        <p:spPr>
          <a:xfrm>
            <a:off x="566928" y="3675888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▲ 매도인고지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993392" y="3657600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매도인이 구두 또는 서면으로 고지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66928" y="4151376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4" name="Text 32"/>
          <p:cNvSpPr/>
          <p:nvPr/>
        </p:nvSpPr>
        <p:spPr>
          <a:xfrm>
            <a:off x="566928" y="4151376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● 중개인입력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993392" y="4133088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중개인 현장 조사 및 경험 기반 입력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566928" y="4626864"/>
            <a:ext cx="1280160" cy="292608"/>
          </a:xfrm>
          <a:prstGeom prst="roundRect">
            <a:avLst>
              <a:gd name="adj" fmla="val 12500"/>
            </a:avLst>
          </a:prstGeom>
          <a:solidFill>
            <a:srgbClr val="2D3748"/>
          </a:solidFill>
          <a:ln/>
        </p:spPr>
      </p:sp>
      <p:sp>
        <p:nvSpPr>
          <p:cNvPr id="37" name="Text 35"/>
          <p:cNvSpPr/>
          <p:nvPr/>
        </p:nvSpPr>
        <p:spPr>
          <a:xfrm>
            <a:off x="566928" y="4626864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◇ AI추정·가정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993392" y="460857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2E8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시나리오 분석 및 AI 모델 추정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6492240" y="2395728"/>
            <a:ext cx="512978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면책 조항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92240" y="2724912"/>
            <a:ext cx="5129784" cy="1645920"/>
          </a:xfrm>
          <a:prstGeom prst="roundRect">
            <a:avLst>
              <a:gd name="adj" fmla="val 2222"/>
            </a:avLst>
          </a:prstGeom>
          <a:solidFill>
            <a:srgbClr val="1C2433"/>
          </a:solidFill>
          <a:ln/>
        </p:spPr>
      </p:sp>
      <p:sp>
        <p:nvSpPr>
          <p:cNvPr id="41" name="Text 39"/>
          <p:cNvSpPr/>
          <p:nvPr/>
        </p:nvSpPr>
        <p:spPr>
          <a:xfrm>
            <a:off x="6675120" y="2834640"/>
            <a:ext cx="476402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900" dirty="0">
                <a:solidFill>
                  <a:srgbClr val="A0AEC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 자료는 투자 권유가 아니며, 기재된 정보의 정확성을 보증하지 않습니다.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66928" y="5760720"/>
            <a:ext cx="11057839" cy="457200"/>
          </a:xfrm>
          <a:prstGeom prst="rect">
            <a:avLst/>
          </a:prstGeom>
          <a:solidFill>
            <a:srgbClr val="977024"/>
          </a:solidFill>
          <a:ln/>
        </p:spPr>
      </p:sp>
      <p:sp>
        <p:nvSpPr>
          <p:cNvPr id="43" name="Text 41"/>
          <p:cNvSpPr/>
          <p:nvPr/>
        </p:nvSpPr>
        <p:spPr>
          <a:xfrm>
            <a:off x="749808" y="5806440"/>
            <a:ext cx="1069207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F3EBD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알스퀘어 · 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566928" y="6382512"/>
            <a:ext cx="7315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71809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크리딜   |   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10710367" y="638251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B98A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2026-09-06T10:40:35Z</dcterms:created>
  <dcterms:modified xsi:type="dcterms:W3CDTF">2026-09-06T10:40:35Z</dcterms:modified>
</cp:coreProperties>
</file>