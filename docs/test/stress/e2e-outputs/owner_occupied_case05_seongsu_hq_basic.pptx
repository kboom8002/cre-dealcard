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owner_occupied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소재 사옥, 희망가 135억 원 — 법인 사옥 매입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매매가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8,925,620원/평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8144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임대료 절감액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9.1억 원/년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83751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자가전환 손익분기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6년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25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54억 원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8144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1513평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83751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가치: 성수권역 소재 단독 사옥으로 기업 브랜딩 및 자산 축적 효과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절감: 기존 임차료 대비 사옥 매입 시 실질 비용 절감 및 손익분기 분석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성수권역 업무·상업 중심지 배후 수요 확보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true,"mocked":true,"extractedFields":{"area_signal":"성","asset_type":"건물명 비공개","price_band":"135억","size_signal":"580평(약 1917.4㎡)"},"extractedFacts":{"region":"성","exactAddressCandidate":"해당 권역가 277-33","assetType":"건물명 비공개","priceText":"135억","sizeText":"580평(약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매물"},"detectedSensitiveFields":"exact_address","ambiguousFields":,"warnings":,"areaSignal":"성","assetType":"건물명 비공개","priceBand":"135억","sizeSignal":"580평(약 1917.4㎡)","dealType":"매각","buildingName":"건물명 비공개","exactAddress":"성동구 성수동2가 277-33","totalFloorArea":1917.364,"buildYear":2015,"currentUseSignal":"근린생활시설","vacancySignal":"공실 없음","fitSummary":"성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사옥형","budgetRange":{"min":70,"max":70,"display":"135억"},"preferredRegions":"강남","성수","assetTypes":"건물명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예산(135억)에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부탁드립니다.","title":"성 역세권 도보 3분 이내 건물명 비공개 매각","shortSummary":"성역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필요합니다.","kakaoText":"성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{"ok":true,"mocked":true,"extractedFields":{"area_signal":"성","asset_type":"[건물명 비공개]","price_band":"135억","size_signal"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사용계획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전용 공간 제원 및 층별 활용 계획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전층 독립 사옥 사용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가용 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공부상 연면적 실사 확인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 수용 인원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50명 본사 임직원 쾌적한 상주 공간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1인당 유효 면적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후 부서별 배분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부속 공간 활용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회의실, 휴게실 및 공용 복합 공간으로 전용 활용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및 이동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주차 및 승강기 설비 완비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및 명도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잔금일 기준 매도인 전층 즉시 퇴거 (명도 리스크 해소)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F3EBDA"/>
          </a:solidFill>
          <a:ln/>
        </p:spPr>
      </p:sp>
      <p:sp>
        <p:nvSpPr>
          <p:cNvPr id="29" name="Shape 27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0" name="Text 2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사옥 브랜딩 및 보안 극대화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사옥 명칭 표기(간판 설치권) 확보로 성수권역 내 기업 인지도 극대화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입주사 간섭 없는 전층 단독 보안 통제 및 기업 문화 맞춤 인테리어 구현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7784287" y="365760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7784287" y="371246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4" name="Text 32"/>
          <p:cNvSpPr/>
          <p:nvPr/>
        </p:nvSpPr>
        <p:spPr>
          <a:xfrm>
            <a:off x="7967167" y="3767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업무 환경 및 몰입도 제고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967167" y="398678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역세권 입지로 핵심 인력 채용 경쟁력 및 출퇴근 접근성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부서 분리 및 부대 복지 공간 구성을 통한 최상의 업무 인프라 구축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Lease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자가비교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현금 유출입 비교 (성수권역 임차 vs 본 사옥 매입)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성수권역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(135.0억)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차액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4.7억원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54.0억원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(LTV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임대료/금융이자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5.67억원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4,725만)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3.65억원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(대출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81.0억@4.5%)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+2.02억원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임대수익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(해당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5.67억원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(소멸성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3.65억원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금융부담)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2.02억원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순절감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(36%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9776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 누적 자산 형성 및 순현재가치 비교 (단위: 억원)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9768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지속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56.7억원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(전액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소멸)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36.5억원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이자·비용)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20.2억원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부동산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자산가치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4.7억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회수)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202.5억원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(연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4.1%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지가상승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가정)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성수권역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가치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순자산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-56.7억원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+87.7억원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(매각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재무제표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획기적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F3EBDA"/>
          </a:solidFill>
          <a:ln/>
        </p:spPr>
      </p:sp>
      <p:sp>
        <p:nvSpPr>
          <p:cNvPr id="11" name="Shape 7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8"/>
          <p:cNvSpPr/>
          <p:nvPr/>
        </p:nvSpPr>
        <p:spPr>
          <a:xfrm>
            <a:off x="7680960" y="18470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소멸성 임차료의 자산 축적 전환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680960" y="20665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10년간 임차료로 소멸되는 56.7억원을 매월 사옥 자산 형성 및 원금 상환으로 전환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토지 지가 상승분을 법인 자산으로 온전히 흡수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7498080" y="37947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BEE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0" y="3849624"/>
            <a:ext cx="36576" cy="18105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2"/>
          <p:cNvSpPr/>
          <p:nvPr/>
        </p:nvSpPr>
        <p:spPr>
          <a:xfrm>
            <a:off x="7680960" y="39044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법인세 절감 및 사옥 보유 안정성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680960" y="41239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이자비용 및 건물 감가상각비의 손금산입으로 법인세 절감 효과 극대화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임대인의 계약 갱신 거절이나 퇴거 리스크 없이 10년 이상 안정적 사옥 운용</a:t>
            </a:r>
            <a:endParaRPr lang="en-US" sz="930" dirty="0"/>
          </a:p>
        </p:txBody>
      </p:sp>
      <p:sp>
        <p:nvSpPr>
          <p:cNvPr id="18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통근·접근성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비즈니스 입지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도보 접근성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도보 접근 초역세권 입지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환승역 접근성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 지하철 및 복합 환승역 연계로 광역 접근성 우수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도로 교통망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주요 간선도로 및 도심 고속화도로 직결 접근로 인접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임직원 출퇴근 편의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비즈니스 거점 연결로 수도권 전역 통근 편의성 극대화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53328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776472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비즈니스 인프라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170475" y="3776472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금융기관, 기업 지원시설, 특허/법률/세무 전문 서비스 밀집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53328" y="4407408"/>
            <a:ext cx="5571439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23" name="Shape 20"/>
          <p:cNvSpPr/>
          <p:nvPr/>
        </p:nvSpPr>
        <p:spPr>
          <a:xfrm>
            <a:off x="6053328" y="446227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Text 21"/>
          <p:cNvSpPr/>
          <p:nvPr/>
        </p:nvSpPr>
        <p:spPr>
          <a:xfrm>
            <a:off x="6236208" y="4517136"/>
            <a:ext cx="5242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인재 유치 및 통근 만족도 극대화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236208" y="4736592"/>
            <a:ext cx="52422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역세권으로 우수 IT/전문직 인재 채용 시 강력한 경쟁력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광역 대중교통망 연계로 수도권 전역 임직원 통근 피로도 최소화</a:t>
            </a:r>
            <a:endParaRPr lang="en-US" sz="930" dirty="0"/>
          </a:p>
        </p:txBody>
      </p:sp>
      <p:sp>
        <p:nvSpPr>
          <p:cNvPr id="26" name="Text 23"/>
          <p:cNvSpPr/>
          <p:nvPr/>
        </p:nvSpPr>
        <p:spPr>
          <a:xfrm>
            <a:off x="6053328" y="566928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지도 / V-World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자산가치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가치 제안 및 거시적 투자 배경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통사옥 희소성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내 단독 사옥 가용 매물 극히 희소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전면 사옥 단독 명칭 표기(간판 설치권) 및 기업 단독 브랜딩 확보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지가 하방 경직성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토지 가치 지속 상승세로 자산 가치 보존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환금성 및 엑시트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내 풍부한 사옥 수요 기반 최상의 환금성 및 매각 용이성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즉시 입주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시 지상 전층 공실 인도 조건으로 인테리어 즉시 착공 가능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F3EBDA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및 대외 신인도 제고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내 단독 사옥 보유로 기업 위상 및 투자자/고객사 신뢰도 제고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설명회, 고객사 미팅, IR 행사 등 자체 공간 활용을 통한 브랜드 가치 증대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784287" y="365760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371246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3767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지가 상승에 따른 인플레이션 헤지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398678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 가치 하락 방어 및 법인 차원의 최우량 실물 안전자산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 보유 후 리모델링 또는 재매각 시 막대한 자본 이득(Capital Gain) 실현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6.21억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1.22억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142.4억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6.8억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68.2억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135.7억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81.7억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68.2억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54.7억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단독 사옥 매입의 전략적·재무적 타당성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업무권역 입지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지하철역 인근 비즈니스 업무권역으로 우수 IT/전문직 인재 유치 및 통근 최적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8748" y="164592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16" name="Text 14"/>
          <p:cNvSpPr/>
          <p:nvPr/>
        </p:nvSpPr>
        <p:spPr>
          <a:xfrm>
            <a:off x="6438748" y="1645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즉시 입주 가능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잔금 시 매도인 퇴거 및 명도 확약 조건으로 공실 및 명도 리스크 최소화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 대비 순비용 절감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동급 오피스 임차료 지출 대비 장기 현금 순지출 절감 및 10년 자산 가치 축적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8748" y="34975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9B668"/>
          </a:solidFill>
          <a:ln/>
        </p:spPr>
      </p:sp>
      <p:sp>
        <p:nvSpPr>
          <p:cNvPr id="28" name="Text 26"/>
          <p:cNvSpPr/>
          <p:nvPr/>
        </p:nvSpPr>
        <p:spPr>
          <a:xfrm>
            <a:off x="6438748" y="34975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확보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단독 명칭 표기(간판 설치권) 확보 및 독립 사옥 운영을 통한 대외 신인도 제고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 소재 단독 사옥으로, 임차료 지출을 법인 자산 축적으로 전환하는 최적의 자가 사옥 매입 기회입니다.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{"ok":true,"mocked":true,"extractedFields":{"area_signal":"성","asset_type":"[건물명 비공개]","price_band":"135억","size_signal":"580평(약 1917.4㎡)"},"extractedFacts":{"region":"성","exactAddressCandidate":"해당 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9건)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true,"mocked":true,"extractedFields":{"area_signal":"성","asset_type":"[건물명 비공개]","price_band":"135억","size_signal":"580평(약 1917.4㎡)"},"extractedFacts":{"region":"성","exactAddressCandidate":"해당 권역가 277-33","assetType":"[건물명 비공개]","priceText":"135억","sizeText":"580평(약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매물"]},"detectedSensitiveFields":["exact_address"],"ambiguousFields":[],"warnings":[],"areaSignal":"성","assetType":"[건물명 비공개]","priceBand":"135억","sizeSignal":"580평(약 1917.4㎡)","dealType":"매각","buildingName":"[건물명 비공개]","exactAddress":"성동구 성수동2가 277-33","totalFloorArea":1917.364,"buildYear":2015,"currentUseSignal":"근린생활시설","vacancySignal":"공실 없음","fitSummary":"성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사옥형","budgetRange":{"min":70,"max":70,"display":"135억"},"preferredRegions":["강남","성수"],"assetTypes":["[건물명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예산(135억)에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부탁드립니다.","title":"성 역세권 도보 3분 이내 [건물명 비공개] 매각","shortSummary":"성역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필요합니다.","kakaoText":"성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2026-09-17T08:53:42Z</dcterms:created>
  <dcterms:modified xsi:type="dcterms:W3CDTF">2026-09-17T08:53:42Z</dcterms:modified>
</cp:coreProperties>
</file>