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98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61D2B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E271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owner_occupied IM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사옥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368503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36850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사옥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664208" y="368503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6" name="Text 14"/>
          <p:cNvSpPr/>
          <p:nvPr/>
        </p:nvSpPr>
        <p:spPr>
          <a:xfrm>
            <a:off x="1664208" y="36850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76억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" y="4187952"/>
            <a:ext cx="6858000" cy="1051560"/>
          </a:xfrm>
          <a:prstGeom prst="roundRect">
            <a:avLst>
              <a:gd name="adj" fmla="val 3478"/>
            </a:avLst>
          </a:prstGeom>
          <a:solidFill>
            <a:srgbClr val="977024"/>
          </a:solidFill>
          <a:ln w="12700">
            <a:solidFill>
              <a:srgbClr val="B98A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297680"/>
            <a:ext cx="63459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76억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지표 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강남권역 소재 사옥, 희망가 76억 원 — 법인 사옥 매입 검토 자료입니다.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76억 원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372536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37128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평당 매매가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537128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5,024,793원/평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178144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42736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임대료 절감액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342736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10.7억 원/년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983751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8343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자가전환 손익분기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148343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2.9년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66928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수익률(Cap Rate)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31520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3372536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37128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537128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30.4억 원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178144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42736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342736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1513평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8983751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8343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148343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303평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566928" y="43068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66928" y="4636008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6656" y="4709160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" y="4709160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207008" y="4672584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사옥 가치: 강남권역 소재 단독 사옥으로 기업 브랜딩 및 자산 축적 효과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66928" y="5114544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6656" y="5187696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6656" y="5187696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207008" y="5151120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 절감: 기존 임차료 대비 사옥 매입 시 실질 비용 절감 및 손익분기 분석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66928" y="5593080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6656" y="5666232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6656" y="5666232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207008" y="5629656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가치: 대중교통 역세권 입지, 강남권역 업무·상업 중심지 배후 수요 확보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현황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토지이용계획 · 개별공시지가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일반상업지역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1,000㎡ (302.5평)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84287" y="1645920"/>
            <a:ext cx="3840480" cy="1810512"/>
          </a:xfrm>
          <a:prstGeom prst="roundRect">
            <a:avLst>
              <a:gd name="adj" fmla="val 3030"/>
            </a:avLst>
          </a:prstGeom>
          <a:solidFill>
            <a:srgbClr val="BEE3F8"/>
          </a:solidFill>
          <a:ln/>
        </p:spPr>
      </p:sp>
      <p:sp>
        <p:nvSpPr>
          <p:cNvPr id="14" name="Shape 12"/>
          <p:cNvSpPr/>
          <p:nvPr/>
        </p:nvSpPr>
        <p:spPr>
          <a:xfrm>
            <a:off x="7784287" y="1700784"/>
            <a:ext cx="36576" cy="170078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5" name="Text 13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규제 및 공법 분석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967167" y="1975104"/>
            <a:ext cx="351129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일반상업지역 기준 건폐율 -% 이하, 용적률 -% 이하 적용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형상 및 도로 접면 여건 확인 기반 최적 토지이용계획 수립 가능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개요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개요 및 물리 스펙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true,"mocked":true,"extractedFields":{"area_signal":"논현","asset_type":"건물명 비공개","price_band":"76억","size_signal":"580평(약 1917.4㎡)"},"extractedFacts":{"region":"논현","exactAddressCandidate":"해당 권역","assetType":"건물명 비공개","priceText":"76억","sizeText":"580평(약 1917.4㎡)","currentUse":"근린생활시설","currentUseSignal":"근린생활시설","leaseSignal":"임대중","vacancySignal":"공실없음","tenantNames":,"unitRentTexts":,"sellerMotivationText":"자산 효율화","brokerNotes":"역세권 매물"},"detectedSensitiveFields":"exact_address","ambiguousFields":,"warnings":,"areaSignal":"논현","assetType":"건물명 비공개","priceBand":"76억","sizeSignal":"580평(약 1917.4㎡)","dealType":"매각","buildingName":"건물명 비공개","exactAddress":"강남구 논현동 112-9","totalFloorArea":1917.364,"buildYear":2015,"currentUseSignal":"근린생활시설","vacancySignal":"공실 없음","fitSummary":"논현 권역 입지의 건물명 비공개 매각 물건","cautionSummary":"권리관계 및 현장 실사 확인 필요","hiddenFields":"exact_address","seller_motivation","confidence":{"areaSignal":"confirmed","assetType":"confirmed","priceBand":"confirmed","fitSummary":"ai_hypothesis"},"missingData":,"boundaryNote":"본 자료는 실거래 통계 기반 참고치입니다.","buyerType":"법인 사옥형","budgetRange":{"min":70,"max":70,"display":"76억"},"preferredRegions":"강남","성수","assetTypes":"건물명 비공개","사옥용","purchasePurpose":"사옥용 매입","mustHave":"역세권 도보 3분 이내","주차","niceToHave":"테라스","루프탑","riskTolerance":"medium","financingNote":"자본금 50% 준비","missingQuestions":"구체적인 입주 시기가 언제인가요?","선호하는 수익률이 있나요?","privacyNotes":"연락처 비공개","fitReasons":"매수자 예산(76억)에 부합하는 매물입니다.","요청하신 성수/강남 권역에 해당합니다.","cautionReasons":"요청한 용도와 달리 명도 협의가 다소 필요합니다.","recommendedNextAction":"현장 답사 제안","kakaoMessage":"안녕하세요! 요청하신 조건에 부합하는 추천 매물이 있어 안내해 드립니다. 확인해보시고 피드백 부탁드립니다.","title":"논현 역세권 도보 3분 이내 건물명 비공개 매각","shortSummary":"논현역 도보 거리의 우량 건물명 비공개 매물입니다.","dealPoints":"역세권 도보 3분 이내","개발 및 사옥 최적","cautionPoints":"권리관계 확인 필요","hiddenInfoNotice":"보증금 및 지번은 인가 후 확인 가능","gateMessage":"G1 등급 등록이 필요합니다.","kakaoText":"논현 건물명 비공개 매각 안내입니다.","exactUnitCandidate":"101호","floor":"1층","areaSqmText":"150㎡","spaceType":"office","depositText":"5000만","monthlyRentText":"400만","maintenanceFeeText":"50만","availableFromText":"즉시입주","leaseTermMonthsText":"24","incentivesText":"렌트프리(무상임대) 2개월","restrictions":,"landlordIdentity":"김성수","currentTenant":"스타트업","vacancyReason":"이전 확장","rentNegotiation":"협의 가능","region":"성수동","areaSqm":150,"deposit":5000,"monthlyRent":400,"maintenanceFee":50,"availableFrom":"즉시입주","leaseTermMonths":24,"incentives":{"렌트프리(무상임대)(무상임대)Months":2,"interiorSupport":"일부 인테리어 지원","freeRentDetail":"렌트프리(무상임대) 2개월 지원"},"shortSummaryLease":"성수역 도보 5분 거리 1층 리테일 상가 매물입니다."}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3931920"/>
            <a:ext cx="6858000" cy="548640"/>
          </a:xfrm>
          <a:prstGeom prst="rect">
            <a:avLst/>
          </a:prstGeom>
          <a:solidFill>
            <a:srgbClr val="F6F1E4"/>
          </a:solidFill>
          <a:ln w="15240">
            <a:solidFill>
              <a:srgbClr val="B886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3931920"/>
            <a:ext cx="24003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67228" y="3931920"/>
            <a:ext cx="42748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76억 원 (VAT 별도)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F3EBDA"/>
          </a:solidFill>
          <a:ln/>
        </p:spPr>
      </p:sp>
      <p:sp>
        <p:nvSpPr>
          <p:cNvPr id="14" name="Shape 12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5" name="Text 13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{"ok":true,"mocked":true,"extractedFields":{"area_signal":"논현","asset_type":"[건물명 비공개]","price_band":"76억","size_signal"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사용계획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본사 전용 공간 제원 및 층별 활용 계획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층수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지상 전층 독립 사옥 사용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사옥 가용 연면적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공부상 연면적 실사 확인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252374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52374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적정 수용 인원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172968" y="252374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50명 본사 임직원 쾌적한 상주 공간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66928" y="29626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96265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1인당 유효 면적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172968" y="2962656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후 부서별 배분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66928" y="340156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4015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부속 공간 활용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172968" y="3401568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본사 회의실, 휴게실 및 공용 복합 공간으로 전용 활용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66928" y="384048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84048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 및 이동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172968" y="384048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자주식 주차 및 승강기 설비 완비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66928" y="427939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427939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잔금 및 명도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3172968" y="427939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잔금일 기준 매도인 전층 즉시 퇴거 (명도 리스크 해소)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84287" y="1645920"/>
            <a:ext cx="3840480" cy="1810512"/>
          </a:xfrm>
          <a:prstGeom prst="roundRect">
            <a:avLst>
              <a:gd name="adj" fmla="val 3030"/>
            </a:avLst>
          </a:prstGeom>
          <a:solidFill>
            <a:srgbClr val="F3EBDA"/>
          </a:solidFill>
          <a:ln/>
        </p:spPr>
      </p:sp>
      <p:sp>
        <p:nvSpPr>
          <p:cNvPr id="29" name="Shape 27"/>
          <p:cNvSpPr/>
          <p:nvPr/>
        </p:nvSpPr>
        <p:spPr>
          <a:xfrm>
            <a:off x="7784287" y="1700784"/>
            <a:ext cx="36576" cy="1700784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30" name="Text 28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단독 사옥 브랜딩 및 보안 극대화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967167" y="1975104"/>
            <a:ext cx="351129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기업 단독 사옥 명칭 표기(간판 설치권) 확보로 강남권역 내 기업 인지도 극대화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입주사 간섭 없는 전층 단독 보안 통제 및 기업 문화 맞춤 인테리어 구현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7784287" y="3657600"/>
            <a:ext cx="3840480" cy="1810512"/>
          </a:xfrm>
          <a:prstGeom prst="roundRect">
            <a:avLst>
              <a:gd name="adj" fmla="val 3030"/>
            </a:avLst>
          </a:prstGeom>
          <a:solidFill>
            <a:srgbClr val="BEE3F8"/>
          </a:solidFill>
          <a:ln/>
        </p:spPr>
      </p:sp>
      <p:sp>
        <p:nvSpPr>
          <p:cNvPr id="33" name="Shape 31"/>
          <p:cNvSpPr/>
          <p:nvPr/>
        </p:nvSpPr>
        <p:spPr>
          <a:xfrm>
            <a:off x="7784287" y="3712464"/>
            <a:ext cx="36576" cy="170078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4" name="Text 32"/>
          <p:cNvSpPr/>
          <p:nvPr/>
        </p:nvSpPr>
        <p:spPr>
          <a:xfrm>
            <a:off x="7967167" y="376732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임직원 업무 환경 및 몰입도 제고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967167" y="3986784"/>
            <a:ext cx="351129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강남권역 역세권 입지로 핵심 인력 채용 경쟁력 및 출퇴근 접근성 확보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층별 부서 분리 및 부대 복지 공간 구성을 통한 최상의 업무 인프라 구축</a:t>
            </a:r>
            <a:endParaRPr lang="en-US" sz="930" dirty="0"/>
          </a:p>
        </p:txBody>
      </p:sp>
      <p:sp>
        <p:nvSpPr>
          <p:cNvPr id="36" name="Text 34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Lease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자가비교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463040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연간 현금 유출입 비교 (강남권역 임차 vs 본 사옥 매입)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37360"/>
          <a:ext cx="6675120" cy="914400"/>
        </p:xfrm>
        <a:graphic>
          <a:graphicData uri="http://schemas.openxmlformats.org/drawingml/2006/table">
            <a:tbl>
              <a:tblPr/>
              <a:tblGrid>
                <a:gridCol w="1668780"/>
                <a:gridCol w="1668780"/>
                <a:gridCol w="1668780"/>
                <a:gridCol w="166878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비교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강남권역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임차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유지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본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사옥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매입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운용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(76.0억)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연간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차액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/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절감액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보증금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/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자기자본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보증금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2.7억원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자기자본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30.4억원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(LTV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60%)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연간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임대료/금융이자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3.19억원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(월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2,660만)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2.05억원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(대출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45.6억@4.5%)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+1.14억원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절감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부가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임대수익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(해당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없음)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(전층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자가사용)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실질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연간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순비용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3.19억원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(소멸성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비용)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2.05억원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(실질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금융부담)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1.14억원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순절감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(36%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절감)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66928" y="3977640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10년 누적 자산 형성 및 순현재가치 비교 (단위: 억원)</a:t>
            </a:r>
            <a:endParaRPr lang="en-US" sz="11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297680"/>
          <a:ext cx="6675120" cy="914400"/>
        </p:xfrm>
        <a:graphic>
          <a:graphicData uri="http://schemas.openxmlformats.org/drawingml/2006/table">
            <a:tbl>
              <a:tblPr/>
              <a:tblGrid>
                <a:gridCol w="1668780"/>
                <a:gridCol w="1668780"/>
                <a:gridCol w="1668780"/>
                <a:gridCol w="166878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(10년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누적)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임차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지속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본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사옥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매입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보유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비고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10년간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순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비용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지출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31.9억원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(전액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소멸)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20.5억원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(실질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이자·비용)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11.4억원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현금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유출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절감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10년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부동산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자산가치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(보증금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2.7억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원금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회수)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114.0억원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(연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4.1%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지가상승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가정)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강남권역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토지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가치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형성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10년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법인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순자산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기여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-31.9억원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+49.4억원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(매각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세전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차익)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법인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재무제표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획기적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개선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7498080" y="1737360"/>
            <a:ext cx="4123944" cy="1920240"/>
          </a:xfrm>
          <a:prstGeom prst="roundRect">
            <a:avLst>
              <a:gd name="adj" fmla="val 2857"/>
            </a:avLst>
          </a:prstGeom>
          <a:solidFill>
            <a:srgbClr val="F3EBDA"/>
          </a:solidFill>
          <a:ln/>
        </p:spPr>
      </p:sp>
      <p:sp>
        <p:nvSpPr>
          <p:cNvPr id="11" name="Shape 7"/>
          <p:cNvSpPr/>
          <p:nvPr/>
        </p:nvSpPr>
        <p:spPr>
          <a:xfrm>
            <a:off x="7498080" y="1792224"/>
            <a:ext cx="36576" cy="1810512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2" name="Text 8"/>
          <p:cNvSpPr/>
          <p:nvPr/>
        </p:nvSpPr>
        <p:spPr>
          <a:xfrm>
            <a:off x="7680960" y="184708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소멸성 임차료의 자산 축적 전환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7680960" y="2066544"/>
            <a:ext cx="379476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10년간 임차료로 소멸되는 31.9억원을 매월 사옥 자산 형성 및 원금 상환으로 전환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강남권역 토지 지가 상승분을 법인 자산으로 온전히 흡수</a:t>
            </a:r>
            <a:endParaRPr lang="en-US" sz="930" dirty="0"/>
          </a:p>
        </p:txBody>
      </p:sp>
      <p:sp>
        <p:nvSpPr>
          <p:cNvPr id="14" name="Shape 10"/>
          <p:cNvSpPr/>
          <p:nvPr/>
        </p:nvSpPr>
        <p:spPr>
          <a:xfrm>
            <a:off x="7498080" y="3794760"/>
            <a:ext cx="4123944" cy="1920240"/>
          </a:xfrm>
          <a:prstGeom prst="roundRect">
            <a:avLst>
              <a:gd name="adj" fmla="val 2857"/>
            </a:avLst>
          </a:prstGeom>
          <a:solidFill>
            <a:srgbClr val="BEE3F8"/>
          </a:solidFill>
          <a:ln/>
        </p:spPr>
      </p:sp>
      <p:sp>
        <p:nvSpPr>
          <p:cNvPr id="15" name="Shape 11"/>
          <p:cNvSpPr/>
          <p:nvPr/>
        </p:nvSpPr>
        <p:spPr>
          <a:xfrm>
            <a:off x="7498080" y="3849624"/>
            <a:ext cx="36576" cy="181051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6" name="Text 12"/>
          <p:cNvSpPr/>
          <p:nvPr/>
        </p:nvSpPr>
        <p:spPr>
          <a:xfrm>
            <a:off x="7680960" y="390448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법인세 절감 및 사옥 보유 안정성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7680960" y="4123944"/>
            <a:ext cx="379476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대출 이자비용 및 건물 감가상각비의 손금산입으로 법인세 절감 효과 극대화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임대인의 계약 갱신 거절이나 퇴거 리스크 없이 10년 이상 안정적 사옥 운용</a:t>
            </a:r>
            <a:endParaRPr lang="en-US" sz="930" dirty="0"/>
          </a:p>
        </p:txBody>
      </p:sp>
      <p:sp>
        <p:nvSpPr>
          <p:cNvPr id="18" name="Text 14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Commute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통근·접근성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강남권역 비즈니스 입지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지하철 도보 접근성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강남권역 도보 접근 초역세권 입지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53328" y="229514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295144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환승역 접근성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170475" y="2295144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간선 지하철 및 복합 환승역 연계로 광역 접근성 우수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053328" y="278892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788920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광역 도로 교통망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170475" y="2788920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도심 주요 간선도로 및 도심 고속화도로 직결 접근로 인접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053328" y="328269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3282696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임직원 출퇴근 편의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170475" y="3282696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강남권역 비즈니스 거점 연결로 수도권 전역 통근 편의성 극대화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053328" y="377647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776472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주변 비즈니스 인프라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170475" y="3776472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금융기관, 기업 지원시설, 특허/법률/세무 전문 서비스 밀집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053328" y="4407408"/>
            <a:ext cx="5571439" cy="1097280"/>
          </a:xfrm>
          <a:prstGeom prst="roundRect">
            <a:avLst>
              <a:gd name="adj" fmla="val 5000"/>
            </a:avLst>
          </a:prstGeom>
          <a:solidFill>
            <a:srgbClr val="BEE3F8"/>
          </a:solidFill>
          <a:ln/>
        </p:spPr>
      </p:sp>
      <p:sp>
        <p:nvSpPr>
          <p:cNvPr id="23" name="Shape 20"/>
          <p:cNvSpPr/>
          <p:nvPr/>
        </p:nvSpPr>
        <p:spPr>
          <a:xfrm>
            <a:off x="6053328" y="4462272"/>
            <a:ext cx="36576" cy="9875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4" name="Text 21"/>
          <p:cNvSpPr/>
          <p:nvPr/>
        </p:nvSpPr>
        <p:spPr>
          <a:xfrm>
            <a:off x="6236208" y="4517136"/>
            <a:ext cx="52422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인재 유치 및 통근 만족도 극대화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236208" y="4736592"/>
            <a:ext cx="524225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강남권역 역세권으로 우수 IT/전문직 인재 채용 시 강력한 경쟁력 확보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광역 대중교통망 연계로 수도권 전역 임직원 통근 피로도 최소화</a:t>
            </a:r>
            <a:endParaRPr lang="en-US" sz="930" dirty="0"/>
          </a:p>
        </p:txBody>
      </p:sp>
      <p:sp>
        <p:nvSpPr>
          <p:cNvPr id="26" name="Text 23"/>
          <p:cNvSpPr/>
          <p:nvPr/>
        </p:nvSpPr>
        <p:spPr>
          <a:xfrm>
            <a:off x="6053328" y="5669280"/>
            <a:ext cx="55714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카카오 지도 / V-World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자산가치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가치 제안 및 거시적 투자 배경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통사옥 희소성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강남권역 내 단독 사옥 가용 매물 극히 희소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사옥 단독 명칭 표기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전면 사옥 단독 명칭 표기(간판 설치권) 및 기업 단독 브랜딩 확보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252374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52374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지가 하방 경직성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172968" y="252374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강남권역 토지 가치 지속 상승세로 자산 가치 보존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66928" y="29626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96265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환금성 및 엑시트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172968" y="2962656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권역 내 풍부한 사옥 수요 기반 최상의 환금성 및 매각 용이성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66928" y="340156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4015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명도 및 즉시 입주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172968" y="3401568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잔금 시 지상 전층 공실 인도 조건으로 인테리어 즉시 착공 가능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84287" y="1645920"/>
            <a:ext cx="3840480" cy="1810512"/>
          </a:xfrm>
          <a:prstGeom prst="roundRect">
            <a:avLst>
              <a:gd name="adj" fmla="val 3030"/>
            </a:avLst>
          </a:prstGeom>
          <a:solidFill>
            <a:srgbClr val="F3EBDA"/>
          </a:solidFill>
          <a:ln/>
        </p:spPr>
      </p:sp>
      <p:sp>
        <p:nvSpPr>
          <p:cNvPr id="23" name="Shape 21"/>
          <p:cNvSpPr/>
          <p:nvPr/>
        </p:nvSpPr>
        <p:spPr>
          <a:xfrm>
            <a:off x="7784287" y="1700784"/>
            <a:ext cx="36576" cy="1700784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4" name="Text 22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기업 단독 브랜딩 및 대외 신인도 제고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967167" y="1975104"/>
            <a:ext cx="351129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강남권역 내 단독 사옥 보유로 기업 위상 및 투자자/고객사 신뢰도 제고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채용 설명회, 고객사 미팅, IR 행사 등 자체 공간 활용을 통한 브랜드 가치 증대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7784287" y="3657600"/>
            <a:ext cx="3840480" cy="1810512"/>
          </a:xfrm>
          <a:prstGeom prst="roundRect">
            <a:avLst>
              <a:gd name="adj" fmla="val 3030"/>
            </a:avLst>
          </a:prstGeom>
          <a:solidFill>
            <a:srgbClr val="BEE3F8"/>
          </a:solidFill>
          <a:ln/>
        </p:spPr>
      </p:sp>
      <p:sp>
        <p:nvSpPr>
          <p:cNvPr id="27" name="Shape 25"/>
          <p:cNvSpPr/>
          <p:nvPr/>
        </p:nvSpPr>
        <p:spPr>
          <a:xfrm>
            <a:off x="7784287" y="3712464"/>
            <a:ext cx="36576" cy="170078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8" name="Text 26"/>
          <p:cNvSpPr/>
          <p:nvPr/>
        </p:nvSpPr>
        <p:spPr>
          <a:xfrm>
            <a:off x="7967167" y="376732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지가 상승에 따른 인플레이션 헤지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967167" y="3986784"/>
            <a:ext cx="351129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현금 가치 하락 방어 및 법인 차원의 최우량 실물 안전자산 확보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장기 보유 후 리모델링 또는 재매각 시 막대한 자본 이득(Capital Gain) 실현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자본구조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5391760" cy="4389120"/>
          </a:xfrm>
          <a:prstGeom prst="roundRect">
            <a:avLst>
              <a:gd name="adj" fmla="val 125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총취득원가 및 자기자본 소요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95528" y="2011680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 (A)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670661" y="2011680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76.0억 원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5528" y="2487168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487168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(4.6% 법정)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670661" y="2487168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3.50억 원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95528" y="2962656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2962656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중개보수 (0.9% 한도)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670661" y="2962656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0.68억 원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5528" y="3438144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3438144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총취득원가 (A + 세/비용)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670661" y="3438144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80.2억 원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95528" y="3913632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913632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(-) 임대보증금 승계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670661" y="3913632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3.8억 원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95528" y="4389120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" y="4389120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(-) 담보대출 조달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670661" y="4389120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38.0억 원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95528" y="4864608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" y="4864608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 (Net Equity)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670661" y="4864608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38.4억 원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33008" y="1417320"/>
            <a:ext cx="5391760" cy="4389120"/>
          </a:xfrm>
          <a:prstGeom prst="roundRect">
            <a:avLst>
              <a:gd name="adj" fmla="val 125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61608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LTV 시나리오별 레버리지 효과</a:t>
            </a:r>
            <a:endParaRPr lang="en-US" sz="13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61608" y="2057400"/>
          <a:ext cx="49345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1280160"/>
                <a:gridCol w="1280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대출비율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실투자금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예상수익률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전액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자기자본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(무차입)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76.4억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3.78%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보수적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(안정형)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46.0억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3.11%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표준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(기본형)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38.4억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2.77%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적극적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(레버리지)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30.8억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2.27%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31" name="Shape 28"/>
          <p:cNvSpPr/>
          <p:nvPr/>
        </p:nvSpPr>
        <p:spPr>
          <a:xfrm>
            <a:off x="6461608" y="4069080"/>
            <a:ext cx="4934560" cy="1463040"/>
          </a:xfrm>
          <a:prstGeom prst="roundRect">
            <a:avLst>
              <a:gd name="adj" fmla="val 3750"/>
            </a:avLst>
          </a:prstGeom>
          <a:solidFill>
            <a:srgbClr val="FEEBC8"/>
          </a:solidFill>
          <a:ln/>
        </p:spPr>
      </p:sp>
      <p:sp>
        <p:nvSpPr>
          <p:cNvPr id="32" name="Shape 29"/>
          <p:cNvSpPr/>
          <p:nvPr/>
        </p:nvSpPr>
        <p:spPr>
          <a:xfrm>
            <a:off x="6461608" y="4123944"/>
            <a:ext cx="36576" cy="1353312"/>
          </a:xfrm>
          <a:prstGeom prst="rect">
            <a:avLst/>
          </a:prstGeom>
          <a:solidFill>
            <a:srgbClr val="9C4221"/>
          </a:solidFill>
          <a:ln/>
        </p:spPr>
      </p:sp>
      <p:sp>
        <p:nvSpPr>
          <p:cNvPr id="33" name="Text 30"/>
          <p:cNvSpPr/>
          <p:nvPr/>
        </p:nvSpPr>
        <p:spPr>
          <a:xfrm>
            <a:off x="6644488" y="4178808"/>
            <a:ext cx="460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C42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역레버리지 유의 구간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6644488" y="4398264"/>
            <a:ext cx="460537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차입 금리가 자산 총수익률을 상회하여 대출 실행 시 자기자본수익률이 하락할 수 있습니다. 에쿼티 비중 확대를 권장합니다.</a:t>
            </a:r>
            <a:endParaRPr lang="en-US" sz="930" dirty="0"/>
          </a:p>
        </p:txBody>
      </p:sp>
      <p:sp>
        <p:nvSpPr>
          <p:cNvPr id="35" name="Text 3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Thesis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논거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133856" y="1005840"/>
            <a:ext cx="104909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강남권역 단독 사옥 매입의 전략적·재무적 타당성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48132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7FAFC"/>
          </a:solidFill>
          <a:ln w="10160">
            <a:solidFill>
              <a:srgbClr val="CBD5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481328"/>
            <a:ext cx="54864" cy="162306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" y="1645920"/>
            <a:ext cx="438912" cy="274320"/>
          </a:xfrm>
          <a:prstGeom prst="roundRect">
            <a:avLst>
              <a:gd name="adj" fmla="val 13333"/>
            </a:avLst>
          </a:prstGeom>
          <a:solidFill>
            <a:srgbClr val="D9B668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164592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298448" y="164592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업무권역 입지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95528" y="201168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C2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인근 지하철역 인근 비즈니스 업무권역으로 우수 IT/전문직 인재 유치 및 통근 최적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55868" y="148132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7FAFC"/>
          </a:solidFill>
          <a:ln w="1016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55868" y="1481328"/>
            <a:ext cx="54864" cy="162306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6438748" y="1645920"/>
            <a:ext cx="438912" cy="274320"/>
          </a:xfrm>
          <a:prstGeom prst="roundRect">
            <a:avLst>
              <a:gd name="adj" fmla="val 13333"/>
            </a:avLst>
          </a:prstGeom>
          <a:solidFill>
            <a:srgbClr val="D9B668"/>
          </a:solidFill>
          <a:ln/>
        </p:spPr>
      </p:sp>
      <p:sp>
        <p:nvSpPr>
          <p:cNvPr id="16" name="Text 14"/>
          <p:cNvSpPr/>
          <p:nvPr/>
        </p:nvSpPr>
        <p:spPr>
          <a:xfrm>
            <a:off x="6438748" y="164592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987388" y="164592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사옥 즉시 입주 가능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84468" y="201168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C2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잔금 시 매도인 퇴거 및 명도 확약 조건으로 공실 및 명도 리스크 최소화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33298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7FAFC"/>
          </a:solidFill>
          <a:ln w="10160">
            <a:solidFill>
              <a:srgbClr val="CBD5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3332988"/>
            <a:ext cx="54864" cy="162306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21" name="Shape 19"/>
          <p:cNvSpPr/>
          <p:nvPr/>
        </p:nvSpPr>
        <p:spPr>
          <a:xfrm>
            <a:off x="749808" y="3497580"/>
            <a:ext cx="438912" cy="274320"/>
          </a:xfrm>
          <a:prstGeom prst="roundRect">
            <a:avLst>
              <a:gd name="adj" fmla="val 13333"/>
            </a:avLst>
          </a:prstGeom>
          <a:solidFill>
            <a:srgbClr val="D9B668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349758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298448" y="349758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임차 대비 순비용 절감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95528" y="386334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C2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동급 오피스 임차료 지출 대비 장기 현금 순지출 절감 및 10년 자산 가치 축적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55868" y="333298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7FAFC"/>
          </a:solidFill>
          <a:ln w="10160">
            <a:solidFill>
              <a:srgbClr val="CBD5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55868" y="3332988"/>
            <a:ext cx="54864" cy="162306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27" name="Shape 25"/>
          <p:cNvSpPr/>
          <p:nvPr/>
        </p:nvSpPr>
        <p:spPr>
          <a:xfrm>
            <a:off x="6438748" y="3497580"/>
            <a:ext cx="438912" cy="274320"/>
          </a:xfrm>
          <a:prstGeom prst="roundRect">
            <a:avLst>
              <a:gd name="adj" fmla="val 13333"/>
            </a:avLst>
          </a:prstGeom>
          <a:solidFill>
            <a:srgbClr val="D9B668"/>
          </a:solidFill>
          <a:ln/>
        </p:spPr>
      </p:sp>
      <p:sp>
        <p:nvSpPr>
          <p:cNvPr id="28" name="Text 26"/>
          <p:cNvSpPr/>
          <p:nvPr/>
        </p:nvSpPr>
        <p:spPr>
          <a:xfrm>
            <a:off x="6438748" y="349758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987388" y="349758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기업 단독 브랜딩 확보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84468" y="386334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C2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사옥 단독 명칭 표기(간판 설치권) 확보 및 독립 사옥 운영을 통한 대외 신인도 제고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66928" y="5138928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F3EBDA"/>
          </a:solidFill>
          <a:ln w="10160">
            <a:solidFill>
              <a:srgbClr val="D9B66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" y="524865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가치 제안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487168" y="5212080"/>
            <a:ext cx="89547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강남권역 소재 단독 사옥으로, 임차료 지출을 법인 자산 축적으로 전환하는 최적의 자가 사옥 매입 기회입니다.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11057839" cy="3657600"/>
          </a:xfrm>
          <a:prstGeom prst="roundRect">
            <a:avLst>
              <a:gd name="adj" fmla="val 15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17320"/>
            <a:ext cx="11057839" cy="4572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618488"/>
            <a:ext cx="106006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 리스크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5528" y="1947672"/>
            <a:ext cx="106006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95528" y="2377440"/>
            <a:ext cx="10600639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{"ok":true,"mocked":true,"extractedFields":{"area_signal":"논현","asset_type":"[건물명 비공개]","price_band":"76억","size_signal":"580평(약 1917.4㎡)"},"extractedFacts":{"region":"논현","exactAddressCandidate":"해당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5193792"/>
            <a:ext cx="11057839" cy="621792"/>
          </a:xfrm>
          <a:prstGeom prst="roundRect">
            <a:avLst>
              <a:gd name="adj" fmla="val 882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5193792"/>
            <a:ext cx="106006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리스크 체크는 공부 및 브로커 확인 기반이며, 매수 전 전문 실사팀(변호사/건축사)을 통한 정밀 실사가 필요합니다.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체크리스트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 안정성 확보를 위한 필수 법률·물리·임대차 실사 점검 항목 (총 9건)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719072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" y="1883664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" y="1883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15568" y="1810512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6928" y="2715768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4088" y="2880360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15568" y="2807208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6928" y="3712464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" y="3877056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" y="38770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15568" y="3803904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6928" y="4709160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4088" y="4873752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" y="4873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15568" y="4800600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55868" y="1719072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93028" y="1883664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5" name="Text 23"/>
          <p:cNvSpPr/>
          <p:nvPr/>
        </p:nvSpPr>
        <p:spPr>
          <a:xfrm>
            <a:off x="6393028" y="1883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04508" y="1810512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55868" y="2715768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93028" y="2880360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9" name="Text 27"/>
          <p:cNvSpPr/>
          <p:nvPr/>
        </p:nvSpPr>
        <p:spPr>
          <a:xfrm>
            <a:off x="6393028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04508" y="2807208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55868" y="3712464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93028" y="3877056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33" name="Text 31"/>
          <p:cNvSpPr/>
          <p:nvPr/>
        </p:nvSpPr>
        <p:spPr>
          <a:xfrm>
            <a:off x="6393028" y="38770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04508" y="3803904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55868" y="4709160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93028" y="4873752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37" name="Text 35"/>
          <p:cNvSpPr/>
          <p:nvPr/>
        </p:nvSpPr>
        <p:spPr>
          <a:xfrm>
            <a:off x="6393028" y="4873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04508" y="4800600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66928" y="5760720"/>
            <a:ext cx="11057839" cy="594360"/>
          </a:xfrm>
          <a:prstGeom prst="rect">
            <a:avLst/>
          </a:prstGeom>
          <a:solidFill>
            <a:srgbClr val="D9B668"/>
          </a:solidFill>
          <a:ln/>
        </p:spPr>
      </p:sp>
      <p:sp>
        <p:nvSpPr>
          <p:cNvPr id="40" name="Text 38"/>
          <p:cNvSpPr/>
          <p:nvPr/>
        </p:nvSpPr>
        <p:spPr>
          <a:xfrm>
            <a:off x="749808" y="5833872"/>
            <a:ext cx="10692079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체크리스트는 계약 전 매수인의 안전한 자산 인수를 위한 필수 확인 사항이며, 실사(Due Diligence) 결과에 따라 매매 조건 및 잔금 일정이 조정될 수 있습니다.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절차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11057839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1792224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2304288"/>
            <a:ext cx="1061892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2761488"/>
            <a:ext cx="10618927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true,"mocked":true,"extractedFields":{"area_signal":"논현","asset_type":"[건물명 비공개]","price_band":"76억","size_signal":"580평(약 1917.4㎡)"},"extractedFacts":{"region":"논현","exactAddressCandidate":"해당 권역","assetType":"[건물명 비공개]","priceText":"76억","sizeText":"580평(약 1917.4㎡)","currentUse":"근린생활시설","currentUseSignal":"근린생활시설","leaseSignal":"임대중","vacancySignal":"공실없음","tenantNames":[],"unitRentTexts":[],"sellerMotivationText":"자산 효율화","brokerNotes":["역세권 매물"]},"detectedSensitiveFields":["exact_address"],"ambiguousFields":[],"warnings":[],"areaSignal":"논현","assetType":"[건물명 비공개]","priceBand":"76억","sizeSignal":"580평(약 1917.4㎡)","dealType":"매각","buildingName":"[건물명 비공개]","exactAddress":"강남구 논현동 112-9","totalFloorArea":1917.364,"buildYear":2015,"currentUseSignal":"근린생활시설","vacancySignal":"공실 없음","fitSummary":"논현 권역 입지의 [건물명 비공개] 매각 물건","cautionSummary":"권리관계 및 현장 실사 확인 필요","hiddenFields":["exact_address","seller_motivation"],"confidence":{"areaSignal":"confirmed","assetType":"confirmed","priceBand":"confirmed","fitSummary":"ai_hypothesis"},"missingData":[],"boundaryNote":"본 자료는 실거래 통계 기반 참고치입니다.","buyerType":"법인 사옥형","budgetRange":{"min":70,"max":70,"display":"76억"},"preferredRegions":["강남","성수"],"assetTypes":["[건물명 비공개]","사옥용"],"purchasePurpose":"사옥용 매입","mustHave":["역세권 도보 3분 이내","주차"],"niceToHave":["테라스","루프탑"],"riskTolerance":"medium","financingNote":"자본금 50% 준비","missingQuestions":["구체적인 입주 시기가 언제인가요?","선호하는 수익률이 있나요?"],"privacyNotes":["연락처 비공개"],"fitReasons":["매수자 예산(76억)에 부합하는 매물입니다.","요청하신 성수/강남 권역에 해당합니다."],"cautionReasons":["요청한 용도와 달리 명도 협의가 다소 필요합니다."],"recommendedNextAction":"현장 답사 제안","kakaoMessage":"안녕하세요! 요청하신 조건에 부합하는 추천 매물이 있어 안내해 드립니다. 확인해보시고 피드백 부탁드립니다.","title":"논현 역세권 도보 3분 이내 [건물명 비공개] 매각","shortSummary":"논현역 도보 거리의 우량 [건물명 비공개] 매물입니다.","dealPoints":["역세권 도보 3분 이내","개발 및 사옥 최적"],"cautionPoints":["권리관계 확인 필요"],"hiddenInfoNotice":["보증금 및 지번은 인가 후 확인 가능"],"gateMessage":"G1 등급 등록이 필요합니다.","kakaoText":"논현 [건물명 비공개] 매각 안내입니다.","exactUnitCandidate":"101호","floor":"1층","areaSqmText":"150㎡","spaceType":"office","depositText":"5000만","monthlyRentText":"400만","maintenanceFeeText":"50만","availableFromText":"즉시입주","leaseTermMonthsText":"24","incentivesText":"렌트프리(무상임대) 2개월","restrictions":[],"landlordIdentity":"김성수","currentTenant":"스타트업","vacancyReason":"이전 확장","rentNegotiation":"협의 가능","region":"성수동","areaSqm":150,"deposit":5000,"monthlyRent":400,"maintenanceFee":50,"availableFrom":"즉시입주","leaseTermMonths":24,"incentives":{"렌트프리(무상임대)(무상임대)Months":2,"interiorSupport":"일부 인테리어 지원","freeRentDetail":"렌트프리(무상임대) 2개월 지원"},"shortSummaryLease":"성수역 도보 5분 거리 1층 리테일 상가 매물입니다."}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13" name="Shape 11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14" name="Text 12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19" name="Shape 17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20" name="Text 18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6928" y="320040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3200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93392" y="3182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" y="367588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3675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93392" y="3657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928" y="415137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4151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93392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6928" y="462686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93392" y="4608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414016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C2433"/>
          </a:solidFill>
          <a:ln/>
        </p:spPr>
      </p:sp>
      <p:sp>
        <p:nvSpPr>
          <p:cNvPr id="41" name="Text 39"/>
          <p:cNvSpPr/>
          <p:nvPr/>
        </p:nvSpPr>
        <p:spPr>
          <a:xfrm>
            <a:off x="6675120" y="2834640"/>
            <a:ext cx="4764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43" name="Text 41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자료의 모든 수치는 예비 검토용이며, 상세 실사 자료 및 비밀 상담은 담당 전문 중개사를 통해 제공됩니다.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공부 발췌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 표제부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5,000㎡ (1512.5평)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BEE3F8"/>
          </a:solidFill>
          <a:ln/>
        </p:spPr>
      </p:sp>
      <p:sp>
        <p:nvSpPr>
          <p:cNvPr id="11" name="Shape 9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2" name="Text 10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자산 개요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도심 비즈니스 권역 소재 우량 투자 자산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대중교통 접근성 및 주변 상업·업무 인프라 밀집 지역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 및 토지이용계획 기준 권리관계 정상 확인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BEE3F8"/>
          </a:solidFill>
          <a:ln/>
        </p:spPr>
      </p:sp>
      <p:sp>
        <p:nvSpPr>
          <p:cNvPr id="15" name="Shape 13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6" name="Text 14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수익 및 운영 현황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 수익형 자산으로 안정적 캐시플로우 확보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임차인 계약 유지 중으로 즉시 수익 실현 가능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관리비 및 수선유지 비용 정상 운영 상태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2026-09-17T08:53:44Z</dcterms:created>
  <dcterms:modified xsi:type="dcterms:W3CDTF">2026-09-17T08:53:44Z</dcterms:modified>
</cp:coreProperties>
</file>