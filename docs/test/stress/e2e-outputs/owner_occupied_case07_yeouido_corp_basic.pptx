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0"/>
            <a:ext cx="4419295" cy="6858000"/>
          </a:xfrm>
          <a:prstGeom prst="rect">
            <a:avLst/>
          </a:prstGeom>
          <a:solidFill>
            <a:srgbClr val="2A2118"/>
          </a:solidFill>
          <a:ln/>
        </p:spPr>
      </p:sp>
      <p:sp>
        <p:nvSpPr>
          <p:cNvPr id="3" name="Shape 1"/>
          <p:cNvSpPr/>
          <p:nvPr/>
        </p:nvSpPr>
        <p:spPr>
          <a:xfrm>
            <a:off x="8778240" y="731520"/>
            <a:ext cx="2926080" cy="2377440"/>
          </a:xfrm>
          <a:prstGeom prst="rect">
            <a:avLst/>
          </a:prstGeom>
          <a:solidFill>
            <a:srgbClr val="3D2E1A"/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3657600"/>
            <a:ext cx="3474720" cy="2560320"/>
          </a:xfrm>
          <a:prstGeom prst="rect">
            <a:avLst/>
          </a:prstGeom>
          <a:solidFill>
            <a:srgbClr val="33271A"/>
          </a:solidFill>
          <a:ln/>
        </p:spPr>
      </p:sp>
      <p:sp>
        <p:nvSpPr>
          <p:cNvPr id="5" name="Shape 3"/>
          <p:cNvSpPr/>
          <p:nvPr/>
        </p:nvSpPr>
        <p:spPr>
          <a:xfrm>
            <a:off x="8503920" y="365760"/>
            <a:ext cx="0" cy="6126480"/>
          </a:xfrm>
          <a:prstGeom prst="line">
            <a:avLst/>
          </a:prstGeom>
          <a:noFill/>
          <a:ln w="10160">
            <a:solidFill>
              <a:srgbClr val="6B8E0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772400" y="0"/>
            <a:ext cx="4419295" cy="6858000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7" name="Shape 5"/>
          <p:cNvSpPr/>
          <p:nvPr/>
        </p:nvSpPr>
        <p:spPr>
          <a:xfrm rot="120000">
            <a:off x="8412480" y="548640"/>
            <a:ext cx="3291840" cy="5760720"/>
          </a:xfrm>
          <a:prstGeom prst="rect">
            <a:avLst/>
          </a:prstGeom>
          <a:solidFill>
            <a:srgbClr val="0F172A">
              <a:alpha val="12000"/>
            </a:srgbClr>
          </a:solidFill>
          <a:ln/>
        </p:spPr>
      </p:sp>
      <p:sp>
        <p:nvSpPr>
          <p:cNvPr id="8" name="Text 6"/>
          <p:cNvSpPr/>
          <p:nvPr/>
        </p:nvSpPr>
        <p:spPr>
          <a:xfrm>
            <a:off x="566928" y="47548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</a:t>
            </a:r>
            <a:pPr indent="0" marL="0">
              <a:buNone/>
            </a:pPr>
            <a:r>
              <a:rPr lang="en-US" sz="1500" b="1" dirty="0">
                <a:solidFill>
                  <a:srgbClr val="6B8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DEAL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8229600" y="530352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상업용 부동산 투자 플랫폼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566928" y="20299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50" kern="0" dirty="0">
                <a:solidFill>
                  <a:srgbClr val="6B8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BASIC IM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66928" y="2304288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owner_occupied IM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566928" y="3090672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F1F5F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사옥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66928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334155"/>
          </a:solidFill>
          <a:ln/>
        </p:spPr>
      </p:sp>
      <p:sp>
        <p:nvSpPr>
          <p:cNvPr id="14" name="Text 12"/>
          <p:cNvSpPr/>
          <p:nvPr/>
        </p:nvSpPr>
        <p:spPr>
          <a:xfrm>
            <a:off x="566928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사옥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1773936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334155"/>
          </a:solidFill>
          <a:ln/>
        </p:spPr>
      </p:sp>
      <p:sp>
        <p:nvSpPr>
          <p:cNvPr id="16" name="Text 14"/>
          <p:cNvSpPr/>
          <p:nvPr/>
        </p:nvSpPr>
        <p:spPr>
          <a:xfrm>
            <a:off x="1773936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95억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66928" y="4224528"/>
            <a:ext cx="6858000" cy="1225296"/>
          </a:xfrm>
          <a:prstGeom prst="roundRect">
            <a:avLst>
              <a:gd name="adj" fmla="val 2985"/>
            </a:avLst>
          </a:prstGeom>
          <a:solidFill>
            <a:srgbClr val="4F6A00"/>
          </a:solidFill>
          <a:ln w="12700">
            <a:solidFill>
              <a:srgbClr val="6B8E0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2960" y="4425696"/>
            <a:ext cx="63459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E8F5C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95억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566928" y="6419088"/>
            <a:ext cx="110578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·    ·  1</a:t>
            </a:r>
            <a:endParaRPr lang="en-US" sz="750" dirty="0"/>
          </a:p>
        </p:txBody>
      </p:sp>
      <p:sp>
        <p:nvSpPr>
          <p:cNvPr id="21" name="Shape 19"/>
          <p:cNvSpPr/>
          <p:nvPr/>
        </p:nvSpPr>
        <p:spPr>
          <a:xfrm>
            <a:off x="4437172" y="6382512"/>
            <a:ext cx="3317352" cy="0"/>
          </a:xfrm>
          <a:prstGeom prst="line">
            <a:avLst/>
          </a:prstGeom>
          <a:noFill/>
          <a:ln w="6350">
            <a:solidFill>
              <a:srgbClr val="6B8E00"/>
            </a:solidFill>
            <a:prstDash val="solid"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5720" cy="566928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3" name="Text 1"/>
          <p:cNvSpPr/>
          <p:nvPr/>
        </p:nvSpPr>
        <p:spPr>
          <a:xfrm>
            <a:off x="749808" y="384048"/>
            <a:ext cx="1087495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6B8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 Summary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749808" y="566928"/>
            <a:ext cx="1087495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핵심요약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566928" y="1188720"/>
            <a:ext cx="1105783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여의도권역 내 사옥, 매각 희망가 95억. 입지·임대차 현황을 감안할 때 투자 검토 가치가 있는 물건입니다.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66928" y="1691640"/>
            <a:ext cx="11057839" cy="0"/>
          </a:xfrm>
          <a:prstGeom prst="line">
            <a:avLst/>
          </a:prstGeom>
          <a:noFill/>
          <a:ln w="19050">
            <a:solidFill>
              <a:srgbClr val="6B8E0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8FAFC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매매 희망가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731520" y="2276856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95억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337710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8FAFC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4170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평당 매매가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3541700" y="2276856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6,280,982원/평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618728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8FAFC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35188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 임대료 절감액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6351880" y="2276856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12.7억 원/년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8997467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8FAFC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162059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자가전환 손익분기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9162059" y="2276856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7.5년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566928" y="6419088"/>
            <a:ext cx="110578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·    ·  2</a:t>
            </a:r>
            <a:endParaRPr lang="en-US" sz="750" dirty="0"/>
          </a:p>
        </p:txBody>
      </p:sp>
      <p:sp>
        <p:nvSpPr>
          <p:cNvPr id="20" name="Shape 18"/>
          <p:cNvSpPr/>
          <p:nvPr/>
        </p:nvSpPr>
        <p:spPr>
          <a:xfrm>
            <a:off x="4437172" y="6382512"/>
            <a:ext cx="3317352" cy="0"/>
          </a:xfrm>
          <a:prstGeom prst="line">
            <a:avLst/>
          </a:prstGeom>
          <a:noFill/>
          <a:ln w="6350">
            <a:solidFill>
              <a:srgbClr val="6B8E00"/>
            </a:solidFill>
            <a:prstDash val="solid"/>
          </a:ln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5720" cy="566928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3" name="Text 1"/>
          <p:cNvSpPr/>
          <p:nvPr/>
        </p:nvSpPr>
        <p:spPr>
          <a:xfrm>
            <a:off x="749808" y="384048"/>
            <a:ext cx="1087495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6B8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 Location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749808" y="566928"/>
            <a:ext cx="1087495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입지, 투자할 만한 곳인가</a:t>
            </a:r>
            <a:endParaRPr lang="en-US" sz="22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481328"/>
            <a:ext cx="5120640" cy="41148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053328" y="1481328"/>
            <a:ext cx="21171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교통 접근성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8170475" y="1481328"/>
            <a:ext cx="345429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{"ok":true,"mocked":true,"extractedFields":{"area_signal":"역…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566928" y="6419088"/>
            <a:ext cx="110578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·    ·  3</a:t>
            </a:r>
            <a:endParaRPr lang="en-US" sz="750" dirty="0"/>
          </a:p>
        </p:txBody>
      </p:sp>
      <p:sp>
        <p:nvSpPr>
          <p:cNvPr id="9" name="Shape 6"/>
          <p:cNvSpPr/>
          <p:nvPr/>
        </p:nvSpPr>
        <p:spPr>
          <a:xfrm>
            <a:off x="4437172" y="6382512"/>
            <a:ext cx="3317352" cy="0"/>
          </a:xfrm>
          <a:prstGeom prst="line">
            <a:avLst/>
          </a:prstGeom>
          <a:noFill/>
          <a:ln w="6350">
            <a:solidFill>
              <a:srgbClr val="6B8E00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66928" y="1481328"/>
            <a:ext cx="11057839" cy="9692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{"ok":true,"mocked":true,"extractedFields":{"area_signal":"역삼","asset_type":"오피스빌딩","price_band":"300억","size_signal":"3000평(약 9917.4㎡)"},"extractedFacts":{"region":"역삼","exactAddressCandidate":"역삼동 742-1","assetType":"오피스빌딩","priceText":"300억","sizeText":"3000평(약 9917.4㎡)","currentUse":"오피스","currentUseSignal":"근린생활시설","leaseSignal":"임대중","vacancySignal":"공실없음","tenantNames":["쿠팡","네이버"],"unitRentTexts":["301호: 1500만"],"sellerMotivationText":"자산 효율화","brokerNotes":["초역세권 매물"]},"detectedSensitiveFields":["exact_address","tenant_name"],"ambiguousFields":[],"warnings":[],"areaSignal":"역삼","assetType":"오피스빌딩","priceBand":"300억","sizeSignal":"3000평(약 9917.4㎡)","dealType":"매각","buildingName":"역삼 센트럴타워","exactAddress":"역삼동 742-1","totalFloorArea":9917.3,"buildYear":2015,"currentUseSignal":"근린생활시설","vacancySignal":"공실 없음","fitSummary":"초역세권 근생 빌딩으로 시행/사옥 매입에 최적화","cautionSummary":"주요 임차 업종 만기 조율 필요","hiddenFields":["exact_address","seller_motivation"],"confidence":{"areaSignal":"confirmed","assetType":"confirmed","priceBand":"ai_hypothesis","fitSummary":"ai_hypothesis"},"missingData":["sizeSignal"],"boundaryNote":"본 자료는 실거래 통계 기반 참고치입니다.","buyerType":"법인 사옥형","budgetRange":{"min":50,"max":80,"display":"50억~80억"},"preferredRegions":["강남","성수"],"assetTypes":["꼬마빌딩","사옥용"],"purchasePurpose":"사옥용 매입","mustHave":["초역세권","주차"],"niceToHave":["테라스","루프탑"],"riskTolerance":"medium","financingNote":"자본금 50% 준비","missingQuestions":["구체적인 입주 시기가 언제인가요?","선호하는 수익률이 있나요?"],"privacyNotes":["연락처 비공개"],"fitReasons":["매수자 예산(50-80억)에 부합하는 매물입니다.","요청하신 성수/강남 권역에 해당합니다."],"cautionReasons":["요청한 용도와 달리 명도 협의가 다소 필요합니다."],"recommendedNextAction":"현장 답사 제안","kakaoMessage":"안녕하세요! 요청하신 조건에 부합하는 추천 매물이 있어 안내해 드립니다. 확인해보시고 피드백 부탁드립니다.","title":"강남 역삼역 초역세권 오피스 사옥용 빌딩 매각","shortSummary":"역삼역 도보 5분 거리의 준신축급 대형 오피스빌딩입니다.","dealPoints":["초역세권","사옥 최적"],"cautionPoints":["명도 조율 필요"],"hiddenInfoNotice":["보증금 및 지번은 인가 후 확인 가능"],"gateMessage":"G1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 2개월","restrictions":[],"landlordIdentity":"김성수","currentTenant":"스타트업","vacancyReason":"이전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가능","region":"성수동","areaSqm":150,"deposit":5000,"monthlyRent":400,"maintenanceFee":50,"availableFrom":"즉시입주","leaseTermMonths":24,"incentives":{"rentFreeMonths":2,"interiorSupport":"일부 인테리어 지원","freeRentDetail":"렌트프리 2개월 지원"},"shortSummaryLease":"성수역 도보 5분 거리 1층 리테일 상가 매물입니다."}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5720" cy="566928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3" name="Text 1"/>
          <p:cNvSpPr/>
          <p:nvPr/>
        </p:nvSpPr>
        <p:spPr>
          <a:xfrm>
            <a:off x="749808" y="384048"/>
            <a:ext cx="1087495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6B8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 Building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749808" y="566928"/>
            <a:ext cx="1087495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매물, 어떤 자산인가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66928" y="1645920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3172968" y="1645920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true,"mocked":true,"extractedFields":{"area_signal":"역삼","asset_type":"오피스빌딩","price_band":"300억","size_signal":"3000평(약 9917.4㎡)"},"extractedFacts":{"region":"역삼","exactAddressCandidate":"역삼동 742-1","assetType":"오피스빌딩","priceText":"300억","sizeText":"3000평(약 9917.4㎡)","currentUse":"오피스","currentUseSignal":"근린생활시설","leaseSignal":"임대중","vacancySignal":"공실없음","tenantNames":"쿠팡","네이버","unitRentTexts":"301호: 1500만","sellerMotivationText":"자산 효율화","brokerNotes":"초역세권 매물"},"detectedSensitiveFields":"exact_address","tenant_name","ambiguousFields":,"warnings":,"areaSignal":"역삼","assetType":"오피스빌딩","priceBand":"300억","sizeSignal":"3000평(약 9917.4㎡)","dealType":"매각","buildingName":"역삼 센트럴타워","exactAddress":"역삼동 742-1","totalFloorArea":9917.3,"buildYear":2015,"currentUseSignal":"근린생활시설","vacancySignal":"공실 없음","fitSummary":"초역세권 근생 빌딩으로 시행/사옥 매입에 최적화","cautionSummary":"주요 임차 업종 만기 조율 필요","hiddenFields":"exact_address","seller_motivation","confidence":{"areaSignal":"confirmed","assetType":"confirmed","priceBand":"ai_hypothesis","fitSummary":"ai_hypothesis"},"missingData":"sizeSignal","boundaryNote":"본 자료는 실거래 통계 기반 참고치입니다.","buyerType":"법인 사옥형","budgetRange":{"min":50,"max":80,"display":"50억~80억"},"preferredRegions":"강남","성수","assetTypes":"꼬마빌딩","사옥용","purchasePurpose":"사옥용 매입","mustHave":"초역세권","주차","niceToHave":"테라스","루프탑","riskTolerance":"medium","financingNote":"자본금 50% 준비","missingQuestions":"구체적인 입주 시기가 언제인가요?","선호하는 수익률이 있나요?","privacyNotes":"연락처 비공개","fitReasons":"매수자 예산(50-80억)에 부합하는 매물입니다.","요청하신 성수/강남 권역에 해당합니다.","cautionReasons":"요청한 용도와 달리 명도 협의가 다소 필요합니다.","recommendedNextAction":"현장 답사 제안","kakaoMessage":"안녕하세요! 요청하신 조건에 부합하는 추천 매물이 있어 안내해 드립니다. 확인해보시고 피드백 부탁드립니다.","title":"강남 역삼역 초역세권 오피스 사옥용 빌딩 매각","shortSummary":"역삼역 도보 5분 거리의 준신축급 대형 오피스빌딩입니다.","dealPoints":"초역세권","사옥 최적","cautionPoints":"명도 조율 필요","hiddenInfoNotice":"보증금 및 지번은 인가 후 확인 가능","gateMessage":"G1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 2개월","restrictions":,"landlordIdentity":"김성수","currentTenant":"스타트업","vacancyReason":"이전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가능","region":"성수동","areaSqm":150,"deposit":5000,"monthlyRent":400,"maintenanceFee":50,"availableFrom":"즉시입주","leaseTermMonths":24,"incentives":{"rentFreeMonths":2,"interiorSupport":"일부 인테리어 지원","freeRentDetail":"렌트프리 2개월 지원"},"shortSummaryLease":"성수역 도보 5분 거리 1층 리테일 상가 매물입니다."}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6B8E0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DBEAFE"/>
          </a:solidFill>
          <a:ln/>
        </p:spPr>
      </p:sp>
      <p:sp>
        <p:nvSpPr>
          <p:cNvPr id="10" name="Shape 8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1D4ED8"/>
          </a:solidFill>
          <a:ln/>
        </p:spPr>
      </p:sp>
      <p:sp>
        <p:nvSpPr>
          <p:cNvPr id="11" name="Text 9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D4ED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및 건물 분석 포인트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서초대로 25m 메인 도로변 우수한 가시성 확보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제3종일반주거지역 법정 용적률 완비 자산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침대용 승강기 완비로 병의원 입점 최적화 구조</a:t>
            </a:r>
            <a:endParaRPr lang="en-US" sz="930" dirty="0"/>
          </a:p>
        </p:txBody>
      </p:sp>
      <p:sp>
        <p:nvSpPr>
          <p:cNvPr id="13" name="Shape 11"/>
          <p:cNvSpPr/>
          <p:nvPr/>
        </p:nvSpPr>
        <p:spPr>
          <a:xfrm>
            <a:off x="7784287" y="3977640"/>
            <a:ext cx="3840480" cy="2148840"/>
          </a:xfrm>
          <a:prstGeom prst="roundRect">
            <a:avLst>
              <a:gd name="adj" fmla="val 2553"/>
            </a:avLst>
          </a:prstGeom>
          <a:solidFill>
            <a:srgbClr val="DBEAFE"/>
          </a:solidFill>
          <a:ln/>
        </p:spPr>
      </p:sp>
      <p:sp>
        <p:nvSpPr>
          <p:cNvPr id="14" name="Shape 12"/>
          <p:cNvSpPr/>
          <p:nvPr/>
        </p:nvSpPr>
        <p:spPr>
          <a:xfrm>
            <a:off x="7784287" y="4032504"/>
            <a:ext cx="36576" cy="2039112"/>
          </a:xfrm>
          <a:prstGeom prst="rect">
            <a:avLst/>
          </a:prstGeom>
          <a:solidFill>
            <a:srgbClr val="1D4ED8"/>
          </a:solidFill>
          <a:ln/>
        </p:spPr>
      </p:sp>
      <p:sp>
        <p:nvSpPr>
          <p:cNvPr id="15" name="Text 13"/>
          <p:cNvSpPr/>
          <p:nvPr/>
        </p:nvSpPr>
        <p:spPr>
          <a:xfrm>
            <a:off x="7967167" y="408736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D4ED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물건 실사 및 관리 상태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7967167" y="4306824"/>
            <a:ext cx="3511296" cy="1746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2017년 준공 신축급 상태로 누수·균열 0건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단독 법인 소유로 권리관계 투명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1금융권 담보대출 85억 원 승계 적격</a:t>
            </a:r>
            <a:endParaRPr lang="en-US" sz="930" dirty="0"/>
          </a:p>
        </p:txBody>
      </p:sp>
      <p:sp>
        <p:nvSpPr>
          <p:cNvPr id="17" name="Text 15"/>
          <p:cNvSpPr/>
          <p:nvPr/>
        </p:nvSpPr>
        <p:spPr>
          <a:xfrm>
            <a:off x="566928" y="6419088"/>
            <a:ext cx="110578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·    ·  4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4437172" y="6382512"/>
            <a:ext cx="3317352" cy="0"/>
          </a:xfrm>
          <a:prstGeom prst="line">
            <a:avLst/>
          </a:prstGeom>
          <a:noFill/>
          <a:ln w="6350">
            <a:solidFill>
              <a:srgbClr val="6B8E00"/>
            </a:solidFill>
            <a:prstDash val="solid"/>
          </a:ln>
        </p:spPr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5720" cy="566928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3" name="Text 1"/>
          <p:cNvSpPr/>
          <p:nvPr/>
        </p:nvSpPr>
        <p:spPr>
          <a:xfrm>
            <a:off x="749808" y="384048"/>
            <a:ext cx="1087495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6B8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  Plan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749808" y="566928"/>
            <a:ext cx="1087495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사옥으로 활용하기에 적합한가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66928" y="1645920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3172968" y="1645920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true,"mocked":true,"extractedFields":{"area_signal":"역삼","asset_type":"오피스빌딩","price_band":"300억","size_signal":"3000평(약 9917.4㎡)"},"extractedFacts":{"region":"역삼","exactAddressCandidate":"역삼동 742-1","assetType":"오피스빌딩","priceText":"300억","sizeText":"3000평(약 9917.4㎡)","currentUse":"오피스","currentUseSignal":"근린생활시설","leaseSignal":"임대중","vacancySignal":"공실없음","tenantNames":"쿠팡","네이버","unitRentTexts":"301호: 1500만","sellerMotivationText":"자산 효율화","brokerNotes":"초역세권 매물"},"detectedSensitiveFields":"exact_address","tenant_name","ambiguousFields":,"warnings":,"areaSignal":"역삼","assetType":"오피스빌딩","priceBand":"300억","sizeSignal":"3000평(약 9917.4㎡)","dealType":"매각","buildingName":"역삼 센트럴타워","exactAddress":"역삼동 742-1","totalFloorArea":9917.3,"buildYear":2015,"currentUseSignal":"근린생활시설","vacancySignal":"공실 없음","fitSummary":"초역세권 근생 빌딩으로 시행/사옥 매입에 최적화","cautionSummary":"주요 임차 업종 만기 조율 필요","hiddenFields":"exact_address","seller_motivation","confidence":{"areaSignal":"confirmed","assetType":"confirmed","priceBand":"ai_hypothesis","fitSummary":"ai_hypothesis"},"missingData":"sizeSignal","boundaryNote":"본 자료는 실거래 통계 기반 참고치입니다.","buyerType":"법인 사옥형","budgetRange":{"min":50,"max":80,"display":"50억~80억"},"preferredRegions":"강남","성수","assetTypes":"꼬마빌딩","사옥용","purchasePurpose":"사옥용 매입","mustHave":"초역세권","주차","niceToHave":"테라스","루프탑","riskTolerance":"medium","financingNote":"자본금 50% 준비","missingQuestions":"구체적인 입주 시기가 언제인가요?","선호하는 수익률이 있나요?","privacyNotes":"연락처 비공개","fitReasons":"매수자 예산(50-80억)에 부합하는 매물입니다.","요청하신 성수/강남 권역에 해당합니다.","cautionReasons":"요청한 용도와 달리 명도 협의가 다소 필요합니다.","recommendedNextAction":"현장 답사 제안","kakaoMessage":"안녕하세요! 요청하신 조건에 부합하는 추천 매물이 있어 안내해 드립니다. 확인해보시고 피드백 부탁드립니다.","title":"강남 역삼역 초역세권 오피스 사옥용 빌딩 매각","shortSummary":"역삼역 도보 5분 거리의 준신축급 대형 오피스빌딩입니다.","dealPoints":"초역세권","사옥 최적","cautionPoints":"명도 조율 필요","hiddenInfoNotice":"보증금 및 지번은 인가 후 확인 가능","gateMessage":"G1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 2개월","restrictions":,"landlordIdentity":"김성수","currentTenant":"스타트업","vacancyReason":"이전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가능","region":"성수동","areaSqm":150,"deposit":5000,"monthlyRent":400,"maintenanceFee":50,"availableFrom":"즉시입주","leaseTermMonths":24,"incentives":{"rentFreeMonths":2,"interiorSupport":"일부 인테리어 지원","freeRentDetail":"렌트프리 2개월 지원"},"shortSummaryLease":"성수역 도보 5분 거리 1층 리테일 상가 매물입니다."}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6B8E0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DBEAFE"/>
          </a:solidFill>
          <a:ln/>
        </p:spPr>
      </p:sp>
      <p:sp>
        <p:nvSpPr>
          <p:cNvPr id="10" name="Shape 8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1D4ED8"/>
          </a:solidFill>
          <a:ln/>
        </p:spPr>
      </p:sp>
      <p:sp>
        <p:nvSpPr>
          <p:cNvPr id="11" name="Text 9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D4ED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및 건물 분석 포인트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서초대로 25m 메인 도로변 우수한 가시성 확보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제3종일반주거지역 법정 용적률 완비 자산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침대용 승강기 완비로 병의원 입점 최적화 구조</a:t>
            </a:r>
            <a:endParaRPr lang="en-US" sz="930" dirty="0"/>
          </a:p>
        </p:txBody>
      </p:sp>
      <p:sp>
        <p:nvSpPr>
          <p:cNvPr id="13" name="Shape 11"/>
          <p:cNvSpPr/>
          <p:nvPr/>
        </p:nvSpPr>
        <p:spPr>
          <a:xfrm>
            <a:off x="7784287" y="3977640"/>
            <a:ext cx="3840480" cy="2148840"/>
          </a:xfrm>
          <a:prstGeom prst="roundRect">
            <a:avLst>
              <a:gd name="adj" fmla="val 2553"/>
            </a:avLst>
          </a:prstGeom>
          <a:solidFill>
            <a:srgbClr val="DBEAFE"/>
          </a:solidFill>
          <a:ln/>
        </p:spPr>
      </p:sp>
      <p:sp>
        <p:nvSpPr>
          <p:cNvPr id="14" name="Shape 12"/>
          <p:cNvSpPr/>
          <p:nvPr/>
        </p:nvSpPr>
        <p:spPr>
          <a:xfrm>
            <a:off x="7784287" y="4032504"/>
            <a:ext cx="36576" cy="2039112"/>
          </a:xfrm>
          <a:prstGeom prst="rect">
            <a:avLst/>
          </a:prstGeom>
          <a:solidFill>
            <a:srgbClr val="1D4ED8"/>
          </a:solidFill>
          <a:ln/>
        </p:spPr>
      </p:sp>
      <p:sp>
        <p:nvSpPr>
          <p:cNvPr id="15" name="Text 13"/>
          <p:cNvSpPr/>
          <p:nvPr/>
        </p:nvSpPr>
        <p:spPr>
          <a:xfrm>
            <a:off x="7967167" y="408736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D4ED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물건 실사 및 관리 상태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7967167" y="4306824"/>
            <a:ext cx="3511296" cy="1746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2017년 준공 신축급 상태로 누수·균열 0건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단독 법인 소유로 권리관계 투명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1금융권 담보대출 85억 원 승계 적격</a:t>
            </a:r>
            <a:endParaRPr lang="en-US" sz="930" dirty="0"/>
          </a:p>
        </p:txBody>
      </p:sp>
      <p:sp>
        <p:nvSpPr>
          <p:cNvPr id="17" name="Text 15"/>
          <p:cNvSpPr/>
          <p:nvPr/>
        </p:nvSpPr>
        <p:spPr>
          <a:xfrm>
            <a:off x="566928" y="6419088"/>
            <a:ext cx="110578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·    ·  5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4437172" y="6382512"/>
            <a:ext cx="3317352" cy="0"/>
          </a:xfrm>
          <a:prstGeom prst="line">
            <a:avLst/>
          </a:prstGeom>
          <a:noFill/>
          <a:ln w="6350">
            <a:solidFill>
              <a:srgbClr val="6B8E00"/>
            </a:solidFill>
            <a:prstDash val="solid"/>
          </a:ln>
        </p:spPr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5720" cy="566928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3" name="Text 1"/>
          <p:cNvSpPr/>
          <p:nvPr/>
        </p:nvSpPr>
        <p:spPr>
          <a:xfrm>
            <a:off x="749808" y="384048"/>
            <a:ext cx="1087495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6B8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  Vs Lease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749808" y="566928"/>
            <a:ext cx="1087495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자가 사용 vs 임차 유지, 무엇이 유리한가</a:t>
            </a:r>
            <a:endParaRPr lang="en-US" sz="22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737360"/>
          <a:ext cx="6675120" cy="914400"/>
        </p:xfrm>
        <a:graphic>
          <a:graphicData uri="http://schemas.openxmlformats.org/drawingml/2006/table">
            <a:tbl>
              <a:tblPr/>
              <a:tblGrid>
                <a:gridCol w="1668780"/>
                <a:gridCol w="1668780"/>
                <a:gridCol w="1668780"/>
                <a:gridCol w="1668780"/>
              </a:tblGrid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64748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구분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64748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임차 </a:t>
                      </a:r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64748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유지 </a:t>
                      </a:r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64748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시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64748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사옥 </a:t>
                      </a:r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64748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자가소유 </a:t>
                      </a:r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64748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시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64748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절감 </a:t>
                      </a:r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64748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효과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연간 </a:t>
                      </a:r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소요 </a:t>
                      </a:r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비용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주변 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시장 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임대료 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지출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대출 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이자 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+ 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운영 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관리비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연간 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임대료 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절감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자산 </a:t>
                      </a:r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가치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비용 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소멸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건물/토지 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가치 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상승 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유인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자본 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이득 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형성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세제 </a:t>
                      </a:r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혜택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임대료 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손비 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처리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감가상각 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및 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이자 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비용 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처리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법인세 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절감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7498080" y="1737360"/>
            <a:ext cx="4123944" cy="1920240"/>
          </a:xfrm>
          <a:prstGeom prst="roundRect">
            <a:avLst>
              <a:gd name="adj" fmla="val 2857"/>
            </a:avLst>
          </a:prstGeom>
          <a:solidFill>
            <a:srgbClr val="DBEAFE"/>
          </a:solidFill>
          <a:ln/>
        </p:spPr>
      </p:sp>
      <p:sp>
        <p:nvSpPr>
          <p:cNvPr id="7" name="Shape 4"/>
          <p:cNvSpPr/>
          <p:nvPr/>
        </p:nvSpPr>
        <p:spPr>
          <a:xfrm>
            <a:off x="7498080" y="1792224"/>
            <a:ext cx="36576" cy="1810512"/>
          </a:xfrm>
          <a:prstGeom prst="rect">
            <a:avLst/>
          </a:prstGeom>
          <a:solidFill>
            <a:srgbClr val="1D4ED8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0" y="1847088"/>
            <a:ext cx="3794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9" name="Text 6"/>
          <p:cNvSpPr/>
          <p:nvPr/>
        </p:nvSpPr>
        <p:spPr>
          <a:xfrm>
            <a:off x="7680960" y="2066544"/>
            <a:ext cx="3794760" cy="1517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임차 대비 연간 수억 원 수준의 임대료 절감 및 투자금 회수가 기대됩니다.</a:t>
            </a:r>
            <a:endParaRPr lang="en-US" sz="930" dirty="0"/>
          </a:p>
        </p:txBody>
      </p:sp>
      <p:sp>
        <p:nvSpPr>
          <p:cNvPr id="10" name="Text 7"/>
          <p:cNvSpPr/>
          <p:nvPr/>
        </p:nvSpPr>
        <p:spPr>
          <a:xfrm>
            <a:off x="566928" y="6419088"/>
            <a:ext cx="110578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·    ·  6</a:t>
            </a:r>
            <a:endParaRPr lang="en-US" sz="750" dirty="0"/>
          </a:p>
        </p:txBody>
      </p:sp>
      <p:sp>
        <p:nvSpPr>
          <p:cNvPr id="11" name="Shape 8"/>
          <p:cNvSpPr/>
          <p:nvPr/>
        </p:nvSpPr>
        <p:spPr>
          <a:xfrm>
            <a:off x="4437172" y="6382512"/>
            <a:ext cx="3317352" cy="0"/>
          </a:xfrm>
          <a:prstGeom prst="line">
            <a:avLst/>
          </a:prstGeom>
          <a:noFill/>
          <a:ln w="6350">
            <a:solidFill>
              <a:srgbClr val="6B8E00"/>
            </a:solidFill>
            <a:prstDash val="solid"/>
          </a:ln>
        </p:spPr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5720" cy="566928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3" name="Text 1"/>
          <p:cNvSpPr/>
          <p:nvPr/>
        </p:nvSpPr>
        <p:spPr>
          <a:xfrm>
            <a:off x="749808" y="384048"/>
            <a:ext cx="1087495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6B8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  Risk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749808" y="566928"/>
            <a:ext cx="1087495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리스크는 무엇이고 대응책은 있는가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566928" y="1417320"/>
            <a:ext cx="3503066" cy="3611880"/>
          </a:xfrm>
          <a:prstGeom prst="rect">
            <a:avLst/>
          </a:prstGeom>
          <a:solidFill>
            <a:srgbClr val="F8FAFC"/>
          </a:solidFill>
          <a:ln w="3810">
            <a:solidFill>
              <a:srgbClr val="CBD5E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1417320"/>
            <a:ext cx="3503066" cy="36576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7" name="Shape 5"/>
          <p:cNvSpPr/>
          <p:nvPr/>
        </p:nvSpPr>
        <p:spPr>
          <a:xfrm>
            <a:off x="566928" y="1417320"/>
            <a:ext cx="3503066" cy="45720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8" name="Text 6"/>
          <p:cNvSpPr/>
          <p:nvPr/>
        </p:nvSpPr>
        <p:spPr>
          <a:xfrm>
            <a:off x="795528" y="1618488"/>
            <a:ext cx="304586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4F6A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용도 리스크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795528" y="1929384"/>
            <a:ext cx="304586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—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795528" y="2313432"/>
            <a:ext cx="3045866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125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{"ok":true,"mocked":true,"extractedFields":{"area_signal":"역삼","asset_type":"오피스빌딩","price_band":"300억","size_signal":"3000평(약 9917.4㎡)"},"extractedFacts":{"region":"역삼","exactAddressCandidate":"역삼동 7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566928" y="6419088"/>
            <a:ext cx="110578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·    ·  7</a:t>
            </a:r>
            <a:endParaRPr lang="en-US" sz="750" dirty="0"/>
          </a:p>
        </p:txBody>
      </p:sp>
      <p:sp>
        <p:nvSpPr>
          <p:cNvPr id="12" name="Shape 10"/>
          <p:cNvSpPr/>
          <p:nvPr/>
        </p:nvSpPr>
        <p:spPr>
          <a:xfrm>
            <a:off x="4437172" y="6382512"/>
            <a:ext cx="3317352" cy="0"/>
          </a:xfrm>
          <a:prstGeom prst="line">
            <a:avLst/>
          </a:prstGeom>
          <a:noFill/>
          <a:ln w="6350">
            <a:solidFill>
              <a:srgbClr val="6B8E00"/>
            </a:solidFill>
            <a:prstDash val="solid"/>
          </a:ln>
        </p:spPr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5720" cy="566928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3" name="Text 1"/>
          <p:cNvSpPr/>
          <p:nvPr/>
        </p:nvSpPr>
        <p:spPr>
          <a:xfrm>
            <a:off x="749808" y="384048"/>
            <a:ext cx="1087495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6B8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  Thesis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749808" y="566928"/>
            <a:ext cx="1087495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왜 지금 이 매물을 사야 하는가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566928" y="4983480"/>
            <a:ext cx="11057839" cy="804672"/>
          </a:xfrm>
          <a:prstGeom prst="roundRect">
            <a:avLst>
              <a:gd name="adj" fmla="val 6818"/>
            </a:avLst>
          </a:prstGeom>
          <a:solidFill>
            <a:srgbClr val="E8F5CC"/>
          </a:solidFill>
          <a:ln w="10160">
            <a:solidFill>
              <a:srgbClr val="A3D90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49808" y="5093208"/>
            <a:ext cx="1645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4F6A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💡 종합 가치 제안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2441448" y="5074920"/>
            <a:ext cx="9000439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33415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{"ok":true,"mocked":true,"extractedFields":{"area_signal":"역삼","asset_type":"오피스빌딩","price_band":"300억","size_signal":"3000평(약 9917.4㎡)"},"extractedFacts":{"region":"역삼","exactAddressCandidate":"역삼동 742-1","assetType":"오피스빌딩","priceText":"300억","sizeText":"3000평(약 9917.4㎡)","currentUse":"오피스","currentUseSignal":"근린생활시설","leaseSignal":"임대중","vacancySignal":"공실없음","tenantNames":["쿠팡","네이버"],"unitRentTexts":["301호: 1500만"],"sellerMotivationText":"자산 효율화","brokerNotes":["초역세권 매물"]},"detectedSensitiveFields":["exact_address","tenant_name"],"ambiguousFields":[],"warnings":[],"areaSignal":"역삼","assetType":"오피스빌딩","priceBand":"300억","sizeSignal":"3000평(약 9917.4㎡)","dealType":"매각","buildingName":"역삼 센트럴타워","exactAddress":"역삼동 742-1","totalFloorArea":9917.3,"buildYear":2015,"currentUseSignal":"근린생활시설","vacancySignal":"공실 없음","fitSummary":"초역세권 근생 빌딩으로 시행/사옥 매입에 최적화","cautionSummary":"주요 임차 업종 만기 조율 필요","hiddenFields":["exact_address","seller_motivation"],"confidence":{"areaSignal":"confirmed","assetType":"confirmed","priceBand":"ai_hypothesis","fitSummary":"ai_hypothesis"},"missingData":["sizeSignal"],"boundaryNote":"본 자료는 실거래 통계 기반 참고치입니다.","buyerType":"법인 사옥형","budgetRange":{"min":50,"max":80,"display":"50억~80억"},"preferredRegions":["강남","성수"],"assetTypes":["꼬마빌딩","사옥용"],"purchasePurpose":"사옥용 매입","mustHave":["초역세권","주차"],"niceToHave":["테라스","루프탑"],"riskTolerance":"medium","financingNote":"자본금 50% 준비","missingQuestions":["구체적인 입주 시기가 언제인가요?","선호하는 수익률이 있나요?"],"privacyNotes":["연락처 비공개"],"fitReasons":["매수자 예산(50-80억)에 부합하는 매물입니다.","요청하신 성수/강남 권역에 해당합니다."],"cautionReasons":["요청한 용도와 달리 명도 협의가 다소 필요합니다."],"recommendedNextAction":"현장 답사 제안","kakaoMessage":"안녕하세요! 요청하신 조건에 부합하는 추천 매물이 있어 안내해 드립니다. 확인해보시고 피드백 부탁드립니다.","title":"강남 역삼역 초역세권 오피스 사옥용 빌딩 매각","shortSummary":"역삼역 도보 5분 거리의 준신축급 대형 오피스빌딩입니다.","dealPoints":["초역세권","사옥 최적"],"cautionPoints":["명도 조율 필요"],"hiddenInfoNotice":["보증금 및 지번은 인가 후 확인 가능"],"gateMessage":"G1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 2개월","restrictions":[],"landlordIdentity":"김성수","currentTenant":"스타트업","vacancyReason":"이전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가능","region":"성수동","areaSqm":150,"deposit":5000,"monthlyRent":400,"maintenanceFee":50,"availableFrom":"즉시입주","leaseTermMonths":24,"incentives":{"rentFreeMonths":2,"interiorSupport":"일부 인테리어 지원","freeRentDetail":"렌트프리 2개월 지원"},"shortSummaryLease":"성수역 도보 5분 거리 1층 리테일 상가 매물입니다."}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66928" y="6419088"/>
            <a:ext cx="110578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·    ·  8</a:t>
            </a:r>
            <a:endParaRPr lang="en-US" sz="750" dirty="0"/>
          </a:p>
        </p:txBody>
      </p:sp>
      <p:sp>
        <p:nvSpPr>
          <p:cNvPr id="9" name="Shape 7"/>
          <p:cNvSpPr/>
          <p:nvPr/>
        </p:nvSpPr>
        <p:spPr>
          <a:xfrm>
            <a:off x="4437172" y="6382512"/>
            <a:ext cx="3317352" cy="0"/>
          </a:xfrm>
          <a:prstGeom prst="line">
            <a:avLst/>
          </a:prstGeom>
          <a:noFill/>
          <a:ln w="6350">
            <a:solidFill>
              <a:srgbClr val="6B8E00"/>
            </a:solidFill>
            <a:prstDash val="solid"/>
          </a:ln>
        </p:spPr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5720" cy="566928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3" name="Text 1"/>
          <p:cNvSpPr/>
          <p:nvPr/>
        </p:nvSpPr>
        <p:spPr>
          <a:xfrm>
            <a:off x="749808" y="384048"/>
            <a:ext cx="1087495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6B8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  Process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749808" y="566928"/>
            <a:ext cx="1087495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검토 후 다음 단계는 무엇인가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566928" y="1572768"/>
            <a:ext cx="11057839" cy="3200400"/>
          </a:xfrm>
          <a:prstGeom prst="rect">
            <a:avLst/>
          </a:prstGeom>
          <a:solidFill>
            <a:srgbClr val="F8FAFC"/>
          </a:solidFill>
          <a:ln w="3810">
            <a:solidFill>
              <a:srgbClr val="CBD5E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1572768"/>
            <a:ext cx="11057839" cy="36576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7" name="Shape 5"/>
          <p:cNvSpPr/>
          <p:nvPr/>
        </p:nvSpPr>
        <p:spPr>
          <a:xfrm>
            <a:off x="786384" y="1792224"/>
            <a:ext cx="384048" cy="384048"/>
          </a:xfrm>
          <a:prstGeom prst="ellipse">
            <a:avLst/>
          </a:prstGeom>
          <a:solidFill>
            <a:srgbClr val="6B8E00"/>
          </a:solidFill>
          <a:ln/>
        </p:spPr>
      </p:sp>
      <p:sp>
        <p:nvSpPr>
          <p:cNvPr id="8" name="Text 6"/>
          <p:cNvSpPr/>
          <p:nvPr/>
        </p:nvSpPr>
        <p:spPr>
          <a:xfrm>
            <a:off x="786384" y="17922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786384" y="2304288"/>
            <a:ext cx="10618927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86384" y="2761488"/>
            <a:ext cx="10618927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true,"mocked":true,"extractedFields":{"area_signal":"역삼","asset_type":"오피스빌딩","price_band":"300억","size_signal":"3000평(약 9917.4㎡)"},"extractedFacts":{"region":"역삼","exactAddressCandidate":"역삼동 742-1","assetType":"오피스빌딩","priceText":"300억","sizeText":"3000평(약 9917.4㎡)","currentUse":"오피스","currentUseSignal":"근린생활시설","leaseSignal":"임대중","vacancySignal":"공실없음","tenantNames":["쿠팡","네이버"],"unitRentTexts":["301호: 1500만"],"sellerMotivationText":"자산 효율화","brokerNotes":["초역세권 매물"]},"detectedSensitiveFields":["exact_address","tenant_name"],"ambiguousFields":[],"warnings":[],"areaSignal":"역삼","assetType":"오피스빌딩","priceBand":"300억","sizeSignal":"3000평(약 9917.4㎡)","dealType":"매각","buildingName":"역삼 센트럴타워","exactAddress":"역삼동 742-1","totalFloorArea":9917.3,"buildYear":2015,"currentUseSignal":"근린생활시설","vacancySignal":"공실 없음","fitSummary":"초역세권 근생 빌딩으로 시행/사옥 매입에 최적화","cautionSummary":"주요 임차 업종 만기 조율 필요","hiddenFields":["exact_address","seller_motivation"],"confidence":{"areaSignal":"confirmed","assetType":"confirmed","priceBand":"ai_hypothesis","fitSummary":"ai_hypothesis"},"missingData":["sizeSignal"],"boundaryNote":"본 자료는 실거래 통계 기반 참고치입니다.","buyerType":"법인 사옥형","budgetRange":{"min":50,"max":80,"display":"50억~80억"},"preferredRegions":["강남","성수"],"assetTypes":["꼬마빌딩","사옥용"],"purchasePurpose":"사옥용 매입","mustHave":["초역세권","주차"],"niceToHave":["테라스","루프탑"],"riskTolerance":"medium","financingNote":"자본금 50% 준비","missingQuestions":["구체적인 입주 시기가 언제인가요?","선호하는 수익률이 있나요?"],"privacyNotes":["연락처 비공개"],"fitReasons":["매수자 예산(50-80억)에 부합하는 매물입니다.","요청하신 성수/강남 권역에 해당합니다."],"cautionReasons":["요청한 용도와 달리 명도 협의가 다소 필요합니다."],"recommendedNextAction":"현장 답사 제안","kakaoMessage":"안녕하세요! 요청하신 조건에 부합하는 추천 매물이 있어 안내해 드립니다. 확인해보시고 피드백 부탁드립니다.","title":"강남 역삼역 초역세권 오피스 사옥용 빌딩 매각","shortSummary":"역삼역 도보 5분 거리의 준신축급 대형 오피스빌딩입니다.","dealPoints":["초역세권","사옥 최적"],"cautionPoints":["명도 조율 필요"],"hiddenInfoNotice":["보증금 및 지번은 인가 후 확인 가능"],"gateMessage":"G1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 2개월","restrictions":[],"landlordIdentity":"김성수","currentTenant":"스타트업","vacancyReason":"이전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가능","region":"성수동","areaSqm":150,"deposit":5000,"monthlyRent":400,"maintenanceFee":50,"availableFrom":"즉시입주","leaseTermMonths":24,"incentives":{"rentFreeMonths":2,"interiorSupport":"일부 인테리어 지원","freeRentDetail":"렌트프리 2개월 지원"},"shortSummaryLease":"성수역 도보 5분 거리 1층 리테일 상가 매물입니다."}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66928" y="6419088"/>
            <a:ext cx="110578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·    ·  9</a:t>
            </a:r>
            <a:endParaRPr lang="en-US" sz="750" dirty="0"/>
          </a:p>
        </p:txBody>
      </p:sp>
      <p:sp>
        <p:nvSpPr>
          <p:cNvPr id="12" name="Shape 10"/>
          <p:cNvSpPr/>
          <p:nvPr/>
        </p:nvSpPr>
        <p:spPr>
          <a:xfrm>
            <a:off x="4437172" y="6382512"/>
            <a:ext cx="3317352" cy="0"/>
          </a:xfrm>
          <a:prstGeom prst="line">
            <a:avLst/>
          </a:prstGeom>
          <a:noFill/>
          <a:ln w="6350">
            <a:solidFill>
              <a:srgbClr val="6B8E00"/>
            </a:solidFill>
            <a:prstDash val="solid"/>
          </a:ln>
        </p:spPr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5720" cy="566928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3" name="Text 1"/>
          <p:cNvSpPr/>
          <p:nvPr/>
        </p:nvSpPr>
        <p:spPr>
          <a:xfrm>
            <a:off x="749808" y="384048"/>
            <a:ext cx="1087495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6B8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 Disclaimer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749808" y="566928"/>
            <a:ext cx="1087495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표기 기준 및 면책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566928" y="1517904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데이터 출처 표기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66928" y="1847088"/>
            <a:ext cx="1417320" cy="347472"/>
          </a:xfrm>
          <a:prstGeom prst="roundRect">
            <a:avLst>
              <a:gd name="adj" fmla="val 10526"/>
            </a:avLst>
          </a:prstGeom>
          <a:solidFill>
            <a:srgbClr val="334155"/>
          </a:solidFill>
          <a:ln/>
        </p:spPr>
      </p:sp>
      <p:sp>
        <p:nvSpPr>
          <p:cNvPr id="7" name="Text 5"/>
          <p:cNvSpPr/>
          <p:nvPr/>
        </p:nvSpPr>
        <p:spPr>
          <a:xfrm>
            <a:off x="566928" y="1847088"/>
            <a:ext cx="1417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 공부확인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2139696" y="1828800"/>
            <a:ext cx="3566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1F5F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등기부·대장 등 공적 장부 직접 확인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5504688" y="1847088"/>
            <a:ext cx="731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1.00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66928" y="2505456"/>
            <a:ext cx="1417320" cy="347472"/>
          </a:xfrm>
          <a:prstGeom prst="roundRect">
            <a:avLst>
              <a:gd name="adj" fmla="val 10526"/>
            </a:avLst>
          </a:prstGeom>
          <a:solidFill>
            <a:srgbClr val="334155"/>
          </a:solidFill>
          <a:ln/>
        </p:spPr>
      </p:sp>
      <p:sp>
        <p:nvSpPr>
          <p:cNvPr id="11" name="Text 9"/>
          <p:cNvSpPr/>
          <p:nvPr/>
        </p:nvSpPr>
        <p:spPr>
          <a:xfrm>
            <a:off x="566928" y="2505456"/>
            <a:ext cx="1417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★ 전문가검증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2139696" y="2487168"/>
            <a:ext cx="3566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1F5F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세무사·감정평가사 등 전문가 확인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5504688" y="2505456"/>
            <a:ext cx="731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0.95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66928" y="3163824"/>
            <a:ext cx="1417320" cy="347472"/>
          </a:xfrm>
          <a:prstGeom prst="roundRect">
            <a:avLst>
              <a:gd name="adj" fmla="val 10526"/>
            </a:avLst>
          </a:prstGeom>
          <a:solidFill>
            <a:srgbClr val="334155"/>
          </a:solidFill>
          <a:ln/>
        </p:spPr>
      </p:sp>
      <p:sp>
        <p:nvSpPr>
          <p:cNvPr id="15" name="Text 13"/>
          <p:cNvSpPr/>
          <p:nvPr/>
        </p:nvSpPr>
        <p:spPr>
          <a:xfrm>
            <a:off x="566928" y="3163824"/>
            <a:ext cx="1417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▲ 매도인고지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2139696" y="3145536"/>
            <a:ext cx="3566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1F5F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매도인이 구두 또는 서면으로 고지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5504688" y="3163824"/>
            <a:ext cx="731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0.65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566928" y="3822192"/>
            <a:ext cx="1417320" cy="347472"/>
          </a:xfrm>
          <a:prstGeom prst="roundRect">
            <a:avLst>
              <a:gd name="adj" fmla="val 10526"/>
            </a:avLst>
          </a:prstGeom>
          <a:solidFill>
            <a:srgbClr val="334155"/>
          </a:solidFill>
          <a:ln/>
        </p:spPr>
      </p:sp>
      <p:sp>
        <p:nvSpPr>
          <p:cNvPr id="19" name="Text 17"/>
          <p:cNvSpPr/>
          <p:nvPr/>
        </p:nvSpPr>
        <p:spPr>
          <a:xfrm>
            <a:off x="566928" y="3822192"/>
            <a:ext cx="1417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● 중개인입력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2139696" y="3803904"/>
            <a:ext cx="3566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1F5F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중개인 현장 조사 및 경험 기반 입력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504688" y="3822192"/>
            <a:ext cx="731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0.60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566928" y="4480560"/>
            <a:ext cx="1417320" cy="347472"/>
          </a:xfrm>
          <a:prstGeom prst="roundRect">
            <a:avLst>
              <a:gd name="adj" fmla="val 10526"/>
            </a:avLst>
          </a:prstGeom>
          <a:solidFill>
            <a:srgbClr val="334155"/>
          </a:solidFill>
          <a:ln/>
        </p:spPr>
      </p:sp>
      <p:sp>
        <p:nvSpPr>
          <p:cNvPr id="23" name="Text 21"/>
          <p:cNvSpPr/>
          <p:nvPr/>
        </p:nvSpPr>
        <p:spPr>
          <a:xfrm>
            <a:off x="566928" y="4480560"/>
            <a:ext cx="1417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◇ AI추정·가정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2139696" y="4462272"/>
            <a:ext cx="3566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1F5F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시나리오 분석 및 AI 모델 추정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5504688" y="4480560"/>
            <a:ext cx="731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0.30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6492240" y="1517904"/>
            <a:ext cx="5129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면책 조항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6492240" y="1847088"/>
            <a:ext cx="5129784" cy="2615184"/>
          </a:xfrm>
          <a:prstGeom prst="roundRect">
            <a:avLst>
              <a:gd name="adj" fmla="val 1399"/>
            </a:avLst>
          </a:prstGeom>
          <a:solidFill>
            <a:srgbClr val="1E293B"/>
          </a:solidFill>
          <a:ln/>
        </p:spPr>
      </p:sp>
      <p:sp>
        <p:nvSpPr>
          <p:cNvPr id="28" name="Text 26"/>
          <p:cNvSpPr/>
          <p:nvPr/>
        </p:nvSpPr>
        <p:spPr>
          <a:xfrm>
            <a:off x="6711696" y="2011680"/>
            <a:ext cx="4690872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93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자료는 투자 권유가 아니며, 기재된 정보의 정확성을 보증하지 않습니다.</a:t>
            </a:r>
            <a:endParaRPr lang="en-US" sz="930" dirty="0"/>
          </a:p>
        </p:txBody>
      </p:sp>
      <p:sp>
        <p:nvSpPr>
          <p:cNvPr id="29" name="Shape 27"/>
          <p:cNvSpPr/>
          <p:nvPr/>
        </p:nvSpPr>
        <p:spPr>
          <a:xfrm>
            <a:off x="566928" y="5230368"/>
            <a:ext cx="11057839" cy="640080"/>
          </a:xfrm>
          <a:prstGeom prst="rect">
            <a:avLst/>
          </a:prstGeom>
          <a:solidFill>
            <a:srgbClr val="4F6A00"/>
          </a:solidFill>
          <a:ln/>
        </p:spPr>
      </p:sp>
      <p:sp>
        <p:nvSpPr>
          <p:cNvPr id="30" name="Text 28"/>
          <p:cNvSpPr/>
          <p:nvPr/>
        </p:nvSpPr>
        <p:spPr>
          <a:xfrm>
            <a:off x="786384" y="5321808"/>
            <a:ext cx="1061892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F5C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자료의 모든 수치는 예비 검토용이며, 상세 실사 자료(등기·임대차계약서) 및 1:1 비밀 상담은 담당 전문 중개사를 통해 제공됩니다.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566928" y="6419088"/>
            <a:ext cx="110578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·    ·  10</a:t>
            </a:r>
            <a:endParaRPr lang="en-US" sz="750" dirty="0"/>
          </a:p>
        </p:txBody>
      </p:sp>
      <p:sp>
        <p:nvSpPr>
          <p:cNvPr id="32" name="Shape 30"/>
          <p:cNvSpPr/>
          <p:nvPr/>
        </p:nvSpPr>
        <p:spPr>
          <a:xfrm>
            <a:off x="4437172" y="6382512"/>
            <a:ext cx="3317352" cy="0"/>
          </a:xfrm>
          <a:prstGeom prst="line">
            <a:avLst/>
          </a:prstGeom>
          <a:noFill/>
          <a:ln w="6350">
            <a:solidFill>
              <a:srgbClr val="6B8E00"/>
            </a:solidFill>
            <a:prstDash val="solid"/>
          </a:ln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2026-08-16T06:16:36Z</dcterms:created>
  <dcterms:modified xsi:type="dcterms:W3CDTF">2026-08-16T06:16:36Z</dcterms:modified>
</cp:coreProperties>
</file>