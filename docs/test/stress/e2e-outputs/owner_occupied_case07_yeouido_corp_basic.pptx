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 내 사옥, 매각 희망가 95억.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95억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평당 매매가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6,280,982원/평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임대료 절감액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12.7억 원/년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자가전환 손익분기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7.5년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안전판: 여의도권역 핵심 입지 및 우량 대지 지분 가치로 하방 경직성 확보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매각 희망가 95억 대비 안정적인 월 임대수익 창출 구조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미래 가치: 향후 권역 지가 상승 및 공법상 잔여 용적률 활용 밸류업 기회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매물,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</a:t>
            </a:r>
            <a:endParaRPr lang="en-US" sz="93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사옥으로 활용하기에 적합한가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입주 적합성 분석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수용 가능 인원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50~150명 수용 가능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 독점성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단독 사용 구조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및 접근성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지상/지하 주차 및 대중교통 우수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파사드 브랜딩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전면 간판 설치 가능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84287" y="1645920"/>
            <a:ext cx="3840480" cy="1810512"/>
          </a:xfrm>
          <a:prstGeom prst="roundRect">
            <a:avLst>
              <a:gd name="adj" fmla="val 3030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84287" y="1700784"/>
            <a:ext cx="36576" cy="1700784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967167" y="1975104"/>
            <a:ext cx="3511296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자산은 연면적 약 1513평(약 5001.7㎡) (대지 약 303평(약 1001.7㎡)) 규모로, 본사 사옥 및 대형 사업장 입주에 적합한 공간 스펙을 갖추고 있습니다.</a:t>
            </a:r>
            <a:endParaRPr lang="en-US" sz="930" dirty="0"/>
          </a:p>
        </p:txBody>
      </p:sp>
      <p:sp>
        <p:nvSpPr>
          <p:cNvPr id="23" name="Shape 21"/>
          <p:cNvSpPr/>
          <p:nvPr/>
        </p:nvSpPr>
        <p:spPr>
          <a:xfrm>
            <a:off x="7784287" y="365760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24" name="Shape 22"/>
          <p:cNvSpPr/>
          <p:nvPr/>
        </p:nvSpPr>
        <p:spPr>
          <a:xfrm>
            <a:off x="7784287" y="371246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5" name="Text 23"/>
          <p:cNvSpPr/>
          <p:nvPr/>
        </p:nvSpPr>
        <p:spPr>
          <a:xfrm>
            <a:off x="7967167" y="376732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967167" y="398678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사옥 이전 시 브랜딩 가치 향상 및 장기 사옥 소요 충족이 가능합니다.</a:t>
            </a:r>
            <a:endParaRPr lang="en-US" sz="93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사용 vs 임차 유지, 무엇이 유리한가</a:t>
            </a:r>
            <a:endParaRPr lang="en-US" sz="2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737360"/>
          <a:ext cx="6675120" cy="914400"/>
        </p:xfrm>
        <a:graphic>
          <a:graphicData uri="http://schemas.openxmlformats.org/drawingml/2006/table">
            <a:tbl>
              <a:tblPr/>
              <a:tblGrid>
                <a:gridCol w="1668780"/>
                <a:gridCol w="1668780"/>
                <a:gridCol w="1668780"/>
                <a:gridCol w="166878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자가소유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주변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시장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건물/토지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가치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상승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유인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이득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형성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세제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혜택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손비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감가상각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및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이자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비용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처리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절감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498080" y="1737360"/>
            <a:ext cx="4123944" cy="1920240"/>
          </a:xfrm>
          <a:prstGeom prst="roundRect">
            <a:avLst>
              <a:gd name="adj" fmla="val 2857"/>
            </a:avLst>
          </a:prstGeom>
          <a:solidFill>
            <a:srgbClr val="BEE3F8"/>
          </a:solidFill>
          <a:ln/>
        </p:spPr>
      </p:sp>
      <p:sp>
        <p:nvSpPr>
          <p:cNvPr id="8" name="Shape 5"/>
          <p:cNvSpPr/>
          <p:nvPr/>
        </p:nvSpPr>
        <p:spPr>
          <a:xfrm>
            <a:off x="7498080" y="1792224"/>
            <a:ext cx="36576" cy="18105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0" y="184708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680960" y="2066544"/>
            <a:ext cx="379476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임차 대비 연간 수억 원 수준의 임대료 절감 및 투자금 회수가 기대됩니다.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매물을 사야 하는가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1133856" y="1005840"/>
            <a:ext cx="1049091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9" name="Shape 7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0" name="Text 8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5528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여의도권역의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359554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6" name="Shape 14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7" name="Text 15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88154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임대차 구조를 기반으로 매월 안정적인 순영업소득(NOI) 창출이 기대됩니다.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2181" y="1481328"/>
            <a:ext cx="3472586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23" name="Shape 21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24" name="Text 22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80781" y="2779776"/>
            <a:ext cx="301538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178808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빌딩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수익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법인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사옥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여의도권역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직주근접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소규모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개발업체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★★★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밸류업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매각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시나리오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Shape 26"/>
          <p:cNvSpPr/>
          <p:nvPr/>
        </p:nvSpPr>
        <p:spPr>
          <a:xfrm>
            <a:off x="566928" y="5678424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49808" y="5788152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31" name="Text 28"/>
          <p:cNvSpPr/>
          <p:nvPr/>
        </p:nvSpPr>
        <p:spPr>
          <a:xfrm>
            <a:off x="2487168" y="5751576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여의도권역 핵심 상권의 희소성 높은 우량 자산으로, 안정적인 임대 수익과 향후 공법상 밸류업 및 권역 지가 상승에 따른 자본 이득(Capital Gain)을 동시에 실현할 수 있는 전략적 매물입니다.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1485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4228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422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36422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6422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422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04408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78728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98184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64981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98184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98184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860307" y="3035808"/>
            <a:ext cx="182880" cy="274320"/>
          </a:xfrm>
          <a:prstGeom prst="rightArrow">
            <a:avLst/>
          </a:prstGeom>
          <a:solidFill>
            <a:srgbClr val="CBD5E0"/>
          </a:solidFill>
          <a:ln w="6350">
            <a:solidFill>
              <a:srgbClr val="71809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34627" y="1572768"/>
            <a:ext cx="2490140" cy="3200400"/>
          </a:xfrm>
          <a:prstGeom prst="roundRect">
            <a:avLst>
              <a:gd name="adj" fmla="val 2203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54083" y="1792224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6" name="Text 24"/>
          <p:cNvSpPr/>
          <p:nvPr/>
        </p:nvSpPr>
        <p:spPr>
          <a:xfrm>
            <a:off x="9354083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4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354083" y="2304288"/>
            <a:ext cx="20512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LOI(투자의향서) 제출 → 가격 협의 개시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9354083" y="2761488"/>
            <a:ext cx="2051228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2026-08-23T11:28:44Z</dcterms:created>
  <dcterms:modified xsi:type="dcterms:W3CDTF">2026-08-23T11:28:44Z</dcterms:modified>
</cp:coreProperties>
</file>