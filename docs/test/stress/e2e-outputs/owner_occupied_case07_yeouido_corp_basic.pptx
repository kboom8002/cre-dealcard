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owner_occupied IM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사옥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사옥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95억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95억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여의도권역 소재 사옥, 희망가 95억 투자 검토 자료입니다.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95억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37710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4170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평당 매매가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54170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6,280,982원/평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18728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5188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임대료 절감액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35188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12.7억 원/년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8997467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62059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자가전환 손익분기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162059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7.5년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566928" y="350215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66928" y="383133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76656" y="394106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6656" y="394106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207008" y="3904488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가치: 여의도권역 소재 자산으로 중장기 자산 가치 및 안정적 수요 검토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4526280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76656" y="4636008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656" y="463600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207008" y="4599432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 구조: 95억 수준의 가격대 및 현 임대차 기반의 현금흐름 분석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66928" y="522122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76656" y="533095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6656" y="533095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207008" y="5294376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점검: 계약서 및 공부 확인을 통한 권리관계·물리적 상태 정밀 진단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입지, 투자할 만한 곳인가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 · 개별공시지가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용도지역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일반상업지역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권리관계 실사 포인트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접면 도로 폭 및 진출입 여건은 현장 실사 확인 사항입니다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등기부등본상 권리관계 및 제한물권 설정 여부를 확인하였습니다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지구단위계획 및 토지이용계획상 허용 용도를 검토하였습니다</a:t>
            </a:r>
            <a:endParaRPr lang="en-US" sz="930" dirty="0"/>
          </a:p>
        </p:txBody>
      </p:sp>
      <p:sp>
        <p:nvSpPr>
          <p:cNvPr id="14" name="Shape 12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5" name="Shape 13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및 운용 관리 상태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임차인별 계약 만기 분산 및 렌트롤 실사가 필요합니다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관리비 정산 내역 및 수선유지비 집행 이력을 점검하였습니다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감면 및 대출 조달 구조는 금융·세무 자문 후 확정됩니다</a:t>
            </a:r>
            <a:endParaRPr lang="en-US" sz="930" dirty="0"/>
          </a:p>
        </p:txBody>
      </p:sp>
      <p:sp>
        <p:nvSpPr>
          <p:cNvPr id="18" name="Text 1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매물, 어떤 자산인가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사옥으로 활용하기에 적합한가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Vs Lease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자가 사용 vs 임차 유지, 무엇이 유리한가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Commute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통근 및 접근성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Value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자산가치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Capital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및 자본 조달 구조 분석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9552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 총취득원가 및 자기자본 소요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95528" y="201168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 (A)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2670661" y="201168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95.0억 원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95528" y="248716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95528" y="248716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(4.6% 법정)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2670661" y="248716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4.37억 원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95528" y="2962656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95528" y="2962656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중개보수 (0.9% 한도)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2670661" y="2962656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0.85억 원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95528" y="3438144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5528" y="3438144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총취득원가 (A + 세/비용)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670661" y="3438144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100.2억 원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95528" y="3913632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95528" y="3913632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임대보증금 승계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2670661" y="3913632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4.8억 원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95528" y="4389120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95528" y="438912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담보대출 조달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2670661" y="438912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47.5억 원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795528" y="486460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95528" y="486460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 (Net Equity)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2670661" y="486460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48.0억 원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23300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6160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 LTV 시나리오별 레버리지 효과</a:t>
            </a:r>
            <a:endParaRPr lang="en-US" sz="13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61608" y="2057400"/>
          <a:ext cx="49345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005840"/>
                <a:gridCol w="1280160"/>
                <a:gridCol w="12801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대출비율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실투자금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예상수익률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전액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자기자본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(무차입)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95.5억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3.78%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보수적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(안정형)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57.5억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3.11%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표준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(기본형)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48.0억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2.77%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적극적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(레버리지)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38.5억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2.27%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31" name="Shape 28"/>
          <p:cNvSpPr/>
          <p:nvPr/>
        </p:nvSpPr>
        <p:spPr>
          <a:xfrm>
            <a:off x="6461608" y="4069080"/>
            <a:ext cx="4934560" cy="1463040"/>
          </a:xfrm>
          <a:prstGeom prst="roundRect">
            <a:avLst>
              <a:gd name="adj" fmla="val 3750"/>
            </a:avLst>
          </a:prstGeom>
          <a:solidFill>
            <a:srgbClr val="FEEBC8"/>
          </a:solidFill>
          <a:ln/>
        </p:spPr>
      </p:sp>
      <p:sp>
        <p:nvSpPr>
          <p:cNvPr id="32" name="Shape 29"/>
          <p:cNvSpPr/>
          <p:nvPr/>
        </p:nvSpPr>
        <p:spPr>
          <a:xfrm>
            <a:off x="6461608" y="4123944"/>
            <a:ext cx="36576" cy="1353312"/>
          </a:xfrm>
          <a:prstGeom prst="rect">
            <a:avLst/>
          </a:prstGeom>
          <a:solidFill>
            <a:srgbClr val="9C4221"/>
          </a:solidFill>
          <a:ln/>
        </p:spPr>
      </p:sp>
      <p:sp>
        <p:nvSpPr>
          <p:cNvPr id="33" name="Text 30"/>
          <p:cNvSpPr/>
          <p:nvPr/>
        </p:nvSpPr>
        <p:spPr>
          <a:xfrm>
            <a:off x="6644488" y="4178808"/>
            <a:ext cx="46053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C422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역레버리지 유의 구간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6644488" y="4398264"/>
            <a:ext cx="460537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차입 금리가 자산 총수익률을 상회하여 대출 실행 시 자기자본수익률이 하락할 수 있습니다. 에쿼티 비중 확대를 권장합니다.</a:t>
            </a:r>
            <a:endParaRPr lang="en-US" sz="930" dirty="0"/>
          </a:p>
        </p:txBody>
      </p:sp>
      <p:sp>
        <p:nvSpPr>
          <p:cNvPr id="35" name="Text 3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6" name="Text 3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왜 지금 이 매물을 사야 하는가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4983480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5093208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487168" y="5056632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비공개]","price_band":"300억","size_signal":"3000평(약 9917.4㎡)"},"extractedFacts":{"region":"역삼","exactAddressCandidate":"역삼동 742-1","assetType":"[건물명 비공개]","priceText":"300억","sizeText":"3000평(약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효율화","brokerNotes":["역세권 도보 3분 이내 매물"]},"detectedSensitiveFields":["exact_address","tenant_name"],"ambiguousFields":[],"warnings":[],"areaSignal":"역삼","assetType":"[건물명 비공개]","priceBand":"300억","sizeSignal":"3000평(약 9917.4㎡)","dealType":"매각","buildingName":"역삼 [건물명 비공개]","exactAddress":"역삼동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사옥형","budgetRange":{"min":50,"max":80,"display":"50억~80억"},"preferredRegions":["강남","성수"],"assetTypes":["[건물명 비공개]","사옥용"],"purchasePurpose":"사옥용 매입","mustHave":["역세권 도보 3분 이내","주차"],"niceToHave":["테라스","루프탑"],"riskTolerance":"medium","financingNote":"자본금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[건물명 비공개]입니다.","dealPoints":["역세권 도보 3분 이내","사옥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리스크는 무엇이고 대응책은 있는가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11057839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11057839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106006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 리스크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47672"/>
            <a:ext cx="106006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—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10600639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비공개]","price_band":"300억","size_signal":"3000평(약 9917.4㎡)"},"extractedFacts":{"region":"역삼","exactAddressCandidate":"역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66928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95528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및 확인 필요사항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 안정성 확보를 위한 필수 법률·물리·임대차 실사 점검 항목 (총 6건)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9" name="Text 7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1556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갑구/을구 권리관계 및 근저당 채권최고액 전액 말소 조건 원본 대조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6692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3" name="Text 11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11556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원본 계약서 대조 (보증금, 월임대료, 관리비 실입금 내역 및 제소전화해조서)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6692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7" name="Text 15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11556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건축물대장상 위반건축물 등재 여부 및 불법 증축·용도변경 이행강제금 납부 이력 점검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25586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1" name="Text 19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80450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토지이용계획확인원상 도시계획시설 저촉, 건축선 후퇴, 지구단위계획 특별계획구역 확인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25586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5" name="Text 23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80450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기계식 주차기 정기 안전점검 합격증, 승강기 검사필증, 소방 완비증명서 실물 실사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25586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9" name="Text 27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80450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정화조 용량 대비 현 업종 적합성 및 하수도 원인자부담금 추가 부과 대상 여부 확인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66928" y="5760720"/>
            <a:ext cx="11057839" cy="594360"/>
          </a:xfrm>
          <a:prstGeom prst="rect">
            <a:avLst/>
          </a:prstGeom>
          <a:solidFill>
            <a:srgbClr val="D9B668"/>
          </a:solidFill>
          <a:ln/>
        </p:spPr>
      </p:sp>
      <p:sp>
        <p:nvSpPr>
          <p:cNvPr id="32" name="Text 30"/>
          <p:cNvSpPr/>
          <p:nvPr/>
        </p:nvSpPr>
        <p:spPr>
          <a:xfrm>
            <a:off x="749808" y="5833872"/>
            <a:ext cx="10692079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체크리스트는 계약 전 매수인의 안전한 자산 인수를 위한 필수 확인 사항이며, 실사(Due Diligence) 결과에 따라 매매 조건 및 잔금 일정이 조정될 수 있습니다.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검토 후 다음 단계는 무엇인가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true,"mocked":true,"extractedFields":{"area_signal":"역삼","asset_type":"[건물명 비공개]","price_band":"300억","size_signal":"3000평(약 9917.4㎡)"},"extractedFacts":{"region":"역삼","exactAddressCandidate":"역삼동 742-1","assetType":"[건물명 비공개]","priceText":"300억","sizeText":"3000평(약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효율화","brokerNotes":["역세권 도보 3분 이내 매물"]},"detectedSensitiveFields":["exact_address","tenant_name"],"ambiguousFields":[],"warnings":[],"areaSignal":"역삼","assetType":"[건물명 비공개]","priceBand":"300억","sizeSignal":"3000평(약 9917.4㎡)","dealType":"매각","buildingName":"역삼 [건물명 비공개]","exactAddress":"역삼동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사옥형","budgetRange":{"min":50,"max":80,"display":"50억~80억"},"preferredRegions":["강남","성수"],"assetTypes":["[건물명 비공개]","사옥용"],"purchasePurpose":"사옥용 매입","mustHave":["역세권 도보 3분 이내","주차"],"niceToHave":["테라스","루프탑"],"riskTolerance":"medium","financingNote":"자본금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[건물명 비공개]입니다.","dealPoints":["역세권 도보 3분 이내","사옥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20040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93392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67588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6758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93392" y="36576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415137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41513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93392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62686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6268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93392" y="4608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645920"/>
          </a:xfrm>
          <a:prstGeom prst="roundRect">
            <a:avLst>
              <a:gd name="adj" fmla="val 2222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자료의 모든 수치는 예비 검토용이며, 상세 실사 자료 및 비밀 상담은 담당 전문 중개사를 통해 제공됩니다.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Records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공부 발췌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 표제부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5,000㎡ (1512.5평)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권리관계 실사 포인트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접면 도로 폭 및 진출입 여건은 현장 실사 확인 사항입니다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등기부등본상 권리관계 및 제한물권 설정 여부를 확인하였습니다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지구단위계획 및 토지이용계획상 허용 용도를 검토하였습니다</a:t>
            </a:r>
            <a:endParaRPr lang="en-US" sz="930" dirty="0"/>
          </a:p>
        </p:txBody>
      </p:sp>
      <p:sp>
        <p:nvSpPr>
          <p:cNvPr id="14" name="Shape 12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5" name="Shape 13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및 운용 관리 상태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임차인별 계약 만기 분산 및 렌트롤 실사가 필요합니다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관리비 정산 내역 및 수선유지비 집행 이력을 점검하였습니다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감면 및 대출 조달 구조는 금융·세무 자문 후 확정됩니다</a:t>
            </a:r>
            <a:endParaRPr lang="en-US" sz="930" dirty="0"/>
          </a:p>
        </p:txBody>
      </p:sp>
      <p:sp>
        <p:nvSpPr>
          <p:cNvPr id="18" name="Text 1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2026-09-06T12:59:49Z</dcterms:created>
  <dcterms:modified xsi:type="dcterms:W3CDTF">2026-09-06T12:59:49Z</dcterms:modified>
</cp:coreProperties>
</file>