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0" y="0"/>
            <a:ext cx="4419295" cy="6858000"/>
          </a:xfrm>
          <a:prstGeom prst="rect">
            <a:avLst/>
          </a:prstGeom>
          <a:solidFill>
            <a:srgbClr val="2A2118"/>
          </a:solidFill>
          <a:ln/>
        </p:spPr>
      </p:sp>
      <p:sp>
        <p:nvSpPr>
          <p:cNvPr id="3" name="Shape 1"/>
          <p:cNvSpPr/>
          <p:nvPr/>
        </p:nvSpPr>
        <p:spPr>
          <a:xfrm>
            <a:off x="8778240" y="731520"/>
            <a:ext cx="2926080" cy="2377440"/>
          </a:xfrm>
          <a:prstGeom prst="rect">
            <a:avLst/>
          </a:prstGeom>
          <a:solidFill>
            <a:srgbClr val="3D2E1A"/>
          </a:solidFill>
          <a:ln/>
        </p:spPr>
      </p:sp>
      <p:sp>
        <p:nvSpPr>
          <p:cNvPr id="4" name="Shape 2"/>
          <p:cNvSpPr/>
          <p:nvPr/>
        </p:nvSpPr>
        <p:spPr>
          <a:xfrm>
            <a:off x="8138160" y="3657600"/>
            <a:ext cx="3474720" cy="2560320"/>
          </a:xfrm>
          <a:prstGeom prst="rect">
            <a:avLst/>
          </a:prstGeom>
          <a:solidFill>
            <a:srgbClr val="33271A"/>
          </a:solidFill>
          <a:ln/>
        </p:spPr>
      </p:sp>
      <p:sp>
        <p:nvSpPr>
          <p:cNvPr id="5" name="Shape 3"/>
          <p:cNvSpPr/>
          <p:nvPr/>
        </p:nvSpPr>
        <p:spPr>
          <a:xfrm>
            <a:off x="8503920" y="365760"/>
            <a:ext cx="0" cy="6126480"/>
          </a:xfrm>
          <a:prstGeom prst="line">
            <a:avLst/>
          </a:prstGeom>
          <a:noFill/>
          <a:ln w="10160">
            <a:solidFill>
              <a:srgbClr val="B98A2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75320" y="0"/>
            <a:ext cx="1417320" cy="4041648"/>
          </a:xfrm>
          <a:prstGeom prst="rect">
            <a:avLst/>
          </a:prstGeom>
          <a:solidFill>
            <a:srgbClr val="1A2030"/>
          </a:solidFill>
          <a:ln/>
        </p:spPr>
      </p:sp>
      <p:sp>
        <p:nvSpPr>
          <p:cNvPr id="7" name="Shape 5"/>
          <p:cNvSpPr/>
          <p:nvPr/>
        </p:nvSpPr>
        <p:spPr>
          <a:xfrm>
            <a:off x="9784080" y="868680"/>
            <a:ext cx="1143000" cy="3172968"/>
          </a:xfrm>
          <a:prstGeom prst="rect">
            <a:avLst/>
          </a:prstGeom>
          <a:solidFill>
            <a:srgbClr val="161D2B"/>
          </a:solidFill>
          <a:ln/>
        </p:spPr>
      </p:sp>
      <p:sp>
        <p:nvSpPr>
          <p:cNvPr id="8" name="Shape 6"/>
          <p:cNvSpPr/>
          <p:nvPr/>
        </p:nvSpPr>
        <p:spPr>
          <a:xfrm>
            <a:off x="11018520" y="1691640"/>
            <a:ext cx="1170432" cy="2350008"/>
          </a:xfrm>
          <a:prstGeom prst="rect">
            <a:avLst/>
          </a:prstGeom>
          <a:solidFill>
            <a:srgbClr val="2E2718"/>
          </a:solidFill>
          <a:ln/>
        </p:spPr>
      </p:sp>
      <p:sp>
        <p:nvSpPr>
          <p:cNvPr id="9" name="Text 7"/>
          <p:cNvSpPr/>
          <p:nvPr/>
        </p:nvSpPr>
        <p:spPr>
          <a:xfrm>
            <a:off x="566928" y="47548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</a:t>
            </a:r>
            <a:pPr indent="0" marL="0">
              <a:buNone/>
            </a:pPr>
            <a:r>
              <a:rPr lang="en-US" sz="15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DEAL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66928" y="202996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5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 MEMORANDUM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66928" y="2304288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owner_occupied IM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566928" y="3090672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사옥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66928" y="3584448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2D3748"/>
          </a:solidFill>
          <a:ln/>
        </p:spPr>
      </p:sp>
      <p:sp>
        <p:nvSpPr>
          <p:cNvPr id="14" name="Text 12"/>
          <p:cNvSpPr/>
          <p:nvPr/>
        </p:nvSpPr>
        <p:spPr>
          <a:xfrm>
            <a:off x="566928" y="3584448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사옥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1773936" y="3584448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2D3748"/>
          </a:solidFill>
          <a:ln/>
        </p:spPr>
      </p:sp>
      <p:sp>
        <p:nvSpPr>
          <p:cNvPr id="16" name="Text 14"/>
          <p:cNvSpPr/>
          <p:nvPr/>
        </p:nvSpPr>
        <p:spPr>
          <a:xfrm>
            <a:off x="1773936" y="3584448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180억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66928" y="4224528"/>
            <a:ext cx="6858000" cy="1225296"/>
          </a:xfrm>
          <a:prstGeom prst="roundRect">
            <a:avLst>
              <a:gd name="adj" fmla="val 2985"/>
            </a:avLst>
          </a:prstGeom>
          <a:solidFill>
            <a:srgbClr val="977024"/>
          </a:solidFill>
          <a:ln w="12700">
            <a:solidFill>
              <a:srgbClr val="B98A2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2960" y="4425696"/>
            <a:ext cx="634593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3EBD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180억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Summary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핵심요약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188720"/>
            <a:ext cx="11057839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한남권역 소재 사옥, 희망가 180억 투자 검토 자료입니다.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66928" y="1691640"/>
            <a:ext cx="11057839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6692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3152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매매 희망가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731520" y="2313432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180억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337710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54170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평당 매매가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3541700" y="2313432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11,900,808원/평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618728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35188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 임대료 절감액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6351880" y="2313432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 12.7억 원/년</a:t>
            </a:r>
            <a:endParaRPr lang="en-US" sz="2000" dirty="0"/>
          </a:p>
        </p:txBody>
      </p:sp>
      <p:sp>
        <p:nvSpPr>
          <p:cNvPr id="17" name="Shape 15"/>
          <p:cNvSpPr/>
          <p:nvPr/>
        </p:nvSpPr>
        <p:spPr>
          <a:xfrm>
            <a:off x="8997467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162059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자가전환 손익분기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9162059" y="2313432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 14.2년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566928" y="3502152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3대 핵심 투자 포인트 (Investment Highlights)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566928" y="3831336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76656" y="3941064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76656" y="3941064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1207008" y="3904488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가치: 한남권역 소재 자산으로 중장기 자산 가치 및 안정적 수요 검토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566928" y="4526280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76656" y="4636008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76656" y="4636008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1207008" y="4599432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 구조: 180억 수준의 가격대 및 현 임대차 기반의 현금흐름 분석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566928" y="5221224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76656" y="5330952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76656" y="5330952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1207008" y="5294376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실사 점검: 계약서 및 공부 확인을 통한 권리관계·물리적 상태 정밀 진단</a:t>
            </a:r>
            <a:endParaRPr lang="en-US" sz="1150" dirty="0"/>
          </a:p>
        </p:txBody>
      </p:sp>
      <p:sp>
        <p:nvSpPr>
          <p:cNvPr id="33" name="Text 31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 입지, 투자할 만한 곳인가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Land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 현황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토지이용계획 · 개별공시지가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용도지역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일반상업지역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BEE3F8"/>
          </a:solidFill>
          <a:ln/>
        </p:spPr>
      </p:sp>
      <p:sp>
        <p:nvSpPr>
          <p:cNvPr id="11" name="Shape 9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2" name="Text 10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및 권리관계 실사 포인트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7967167" y="1975104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물건 접면 도로 폭 및 진출입 여건은 현장 실사 확인 사항입니다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등기부등본상 권리관계 및 제한물권 설정 여부를 확인하였습니다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지구단위계획 및 토지이용계획상 허용 용도를 검토하였습니다</a:t>
            </a:r>
            <a:endParaRPr lang="en-US" sz="930" dirty="0"/>
          </a:p>
        </p:txBody>
      </p:sp>
      <p:sp>
        <p:nvSpPr>
          <p:cNvPr id="14" name="Shape 12"/>
          <p:cNvSpPr/>
          <p:nvPr/>
        </p:nvSpPr>
        <p:spPr>
          <a:xfrm>
            <a:off x="7784287" y="3977640"/>
            <a:ext cx="3840480" cy="2148840"/>
          </a:xfrm>
          <a:prstGeom prst="roundRect">
            <a:avLst>
              <a:gd name="adj" fmla="val 2553"/>
            </a:avLst>
          </a:prstGeom>
          <a:solidFill>
            <a:srgbClr val="BEE3F8"/>
          </a:solidFill>
          <a:ln/>
        </p:spPr>
      </p:sp>
      <p:sp>
        <p:nvSpPr>
          <p:cNvPr id="15" name="Shape 13"/>
          <p:cNvSpPr/>
          <p:nvPr/>
        </p:nvSpPr>
        <p:spPr>
          <a:xfrm>
            <a:off x="7784287" y="4032504"/>
            <a:ext cx="36576" cy="203911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6" name="Text 14"/>
          <p:cNvSpPr/>
          <p:nvPr/>
        </p:nvSpPr>
        <p:spPr>
          <a:xfrm>
            <a:off x="7967167" y="408736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 및 운용 관리 상태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7967167" y="4306824"/>
            <a:ext cx="3511296" cy="1746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주요 임차인별 계약 만기 분산 및 렌트롤 실사가 필요합니다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관리비 정산 내역 및 수선유지비 집행 이력을 점검하였습니다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취득세 감면 및 대출 조달 구조는 금융·세무 자문 후 확정됩니다</a:t>
            </a:r>
            <a:endParaRPr lang="en-US" sz="930" dirty="0"/>
          </a:p>
        </p:txBody>
      </p:sp>
      <p:sp>
        <p:nvSpPr>
          <p:cNvPr id="18" name="Text 16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Building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 매물, 어떤 자산인가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true,"mocked":true,"extractedFields":{"area_signal":"역삼","asset_type":"건물명 비공개","price_band":"300억","size_signal":"3000평(약 9917.4㎡)"},"extractedFacts":{"region":"역삼","exactAddressCandidate":"역삼동 742-1","assetType":"건물명 비공개","priceText":"300억","sizeText":"3000평(약 9917.4㎡)","currentUse":"오피스","currentUseSignal":"근린생활시설","leaseSignal":"임대중","vacancySignal":"공실없음","tenantNames":"쿠팡","네이버","unitRentTexts":"301호: 1500만","sellerMotivationText":"자산 효율화","brokerNotes":"역세권 도보 3분 이내 매물"},"detectedSensitiveFields":"exact_address","tenant_name","ambiguousFields":,"warnings":,"areaSignal":"역삼","assetType":"건물명 비공개","priceBand":"300억","sizeSignal":"3000평(약 9917.4㎡)","dealType":"매각","buildingName":"역삼 건물명 비공개","exactAddress":"역삼동 742-1","totalFloorArea":9917.3,"buildYear":2015,"currentUseSignal":"근린생활시설","vacancySignal":"공실 없음","fitSummary":"역세권 도보 3분 이내 근생 빌딩으로 시행/사옥 매입에 최적화","cautionSummary":"주요 임차인 만기 조율 필요","hiddenFields":"exact_address","seller_motivation","confidence":{"areaSignal":"confirmed","assetType":"confirmed","priceBand":"ai_hypothesis","fitSummary":"ai_hypothesis"},"missingData":"sizeSignal","boundaryNote":"본 자료는 실거래 통계 기반 참고치입니다.","buyerType":"법인 사옥형","budgetRange":{"min":50,"max":80,"display":"50억~80억"},"preferredRegions":"강남","성수","assetTypes":"건물명 비공개","사옥용","purchasePurpose":"사옥용 매입","mustHave":"역세권 도보 3분 이내","주차","niceToHave":"테라스","루프탑","riskTolerance":"medium","financingNote":"자본금 50% 준비","missingQuestions":"구체적인 입주 시기가 언제인가요?","선호하는 수익률이 있나요?","privacyNotes":"연락처 비공개","fitReasons":"매수자 예산(50-80억)에 부합하는 매물입니다.","요청하신 성수/강남 권역에 해당합니다.","cautionReasons":"요청한 용도와 달리 명도 협의가 다소 필요합니다.","recommendedNextAction":"현장 답사 제안","kakaoMessage":"안녕하세요! 요청하신 조건에 부합하는 추천 매물이 있어 안내해 드립니다. 확인해보시고 피드백 부탁드립니다.","title":"강남 역삼역 역세권 도보 3분 이내 오피스 사옥용 빌딩 매각","shortSummary":"역삼역 도보 5분 거리의 준신축급 대형 건물명 비공개입니다.","dealPoints":"역세권 도보 3분 이내","사옥 최적","cautionPoints":"명도 조율 필요","hiddenInfoNotice":"보증금 및 지번은 인가 후 확인 가능","gateMessage":"G1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(무상임대) 2개월","restrictions":,"landlordIdentity":"김성수","currentTenant":"스타트업","vacancyReason":"이전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가능","region":"성수동","areaSqm":150,"deposit":5000,"monthlyRent":400,"maintenanceFee":50,"availableFrom":"즉시입주","leaseTermMonths":24,"incentives":{"렌트프리(무상임대)(무상임대)Months":2,"interiorSupport":"일부 인테리어 지원","freeRentDetail":"렌트프리(무상임대) 2개월 지원"},"shortSummaryLease":"성수역 도보 5분 거리 1층 리테일 상가 매물입니다."}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F3EBDA"/>
          </a:solidFill>
          <a:ln/>
        </p:spPr>
      </p:sp>
      <p:sp>
        <p:nvSpPr>
          <p:cNvPr id="11" name="Shape 9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2" name="Text 10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7967167" y="1975104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{"ok":true,"mocked":true,"extractedFields":{"area_signal":"역삼","asset_type":"[건물명 비공개]","price_band":"300억","size_signal</a:t>
            </a:r>
            <a:endParaRPr lang="en-US" sz="930" dirty="0"/>
          </a:p>
        </p:txBody>
      </p:sp>
      <p:sp>
        <p:nvSpPr>
          <p:cNvPr id="14" name="Text 1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사옥으로 활용하기에 적합한가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true,"mocked":true,"extractedFields":{"area_signal":"역삼","asset_type":"건물명 비공개","price_band":"300억","size_signal":"3000평(약 9917.4㎡)"},"extractedFacts":{"region":"역삼","exactAddressCandidate":"역삼동 742-1","assetType":"건물명 비공개","priceText":"300억","sizeText":"3000평(약 9917.4㎡)","currentUse":"오피스","currentUseSignal":"근린생활시설","leaseSignal":"임대중","vacancySignal":"공실없음","tenantNames":"쿠팡","네이버","unitRentTexts":"301호: 1500만","sellerMotivationText":"자산 효율화","brokerNotes":"역세권 도보 3분 이내 매물"},"detectedSensitiveFields":"exact_address","tenant_name","ambiguousFields":,"warnings":,"areaSignal":"역삼","assetType":"건물명 비공개","priceBand":"300억","sizeSignal":"3000평(약 9917.4㎡)","dealType":"매각","buildingName":"역삼 건물명 비공개","exactAddress":"역삼동 742-1","totalFloorArea":9917.3,"buildYear":2015,"currentUseSignal":"근린생활시설","vacancySignal":"공실 없음","fitSummary":"역세권 도보 3분 이내 근생 빌딩으로 시행/사옥 매입에 최적화","cautionSummary":"주요 임차인 만기 조율 필요","hiddenFields":"exact_address","seller_motivation","confidence":{"areaSignal":"confirmed","assetType":"confirmed","priceBand":"ai_hypothesis","fitSummary":"ai_hypothesis"},"missingData":"sizeSignal","boundaryNote":"본 자료는 실거래 통계 기반 참고치입니다.","buyerType":"법인 사옥형","budgetRange":{"min":50,"max":80,"display":"50억~80억"},"preferredRegions":"강남","성수","assetTypes":"건물명 비공개","사옥용","purchasePurpose":"사옥용 매입","mustHave":"역세권 도보 3분 이내","주차","niceToHave":"테라스","루프탑","riskTolerance":"medium","financingNote":"자본금 50% 준비","missingQuestions":"구체적인 입주 시기가 언제인가요?","선호하는 수익률이 있나요?","privacyNotes":"연락처 비공개","fitReasons":"매수자 예산(50-80억)에 부합하는 매물입니다.","요청하신 성수/강남 권역에 해당합니다.","cautionReasons":"요청한 용도와 달리 명도 협의가 다소 필요합니다.","recommendedNextAction":"현장 답사 제안","kakaoMessage":"안녕하세요! 요청하신 조건에 부합하는 추천 매물이 있어 안내해 드립니다. 확인해보시고 피드백 부탁드립니다.","title":"강남 역삼역 역세권 도보 3분 이내 오피스 사옥용 빌딩 매각","shortSummary":"역삼역 도보 5분 거리의 준신축급 대형 건물명 비공개입니다.","dealPoints":"역세권 도보 3분 이내","사옥 최적","cautionPoints":"명도 조율 필요","hiddenInfoNotice":"보증금 및 지번은 인가 후 확인 가능","gateMessage":"G1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(무상임대) 2개월","restrictions":,"landlordIdentity":"김성수","currentTenant":"스타트업","vacancyReason":"이전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가능","region":"성수동","areaSqm":150,"deposit":5000,"monthlyRent":400,"maintenanceFee":50,"availableFrom":"즉시입주","leaseTermMonths":24,"incentives":{"렌트프리(무상임대)(무상임대)Months":2,"interiorSupport":"일부 인테리어 지원","freeRentDetail":"렌트프리(무상임대) 2개월 지원"},"shortSummaryLease":"성수역 도보 5분 거리 1층 리테일 상가 매물입니다."}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F3EBDA"/>
          </a:solidFill>
          <a:ln/>
        </p:spPr>
      </p:sp>
      <p:sp>
        <p:nvSpPr>
          <p:cNvPr id="11" name="Shape 9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2" name="Text 10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7967167" y="1975104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{"ok":true,"mocked":true,"extractedFields":{"area_signal":"역삼","asset_type":"[건물명 비공개]","price_band":"300억","size_signal</a:t>
            </a:r>
            <a:endParaRPr lang="en-US" sz="930" dirty="0"/>
          </a:p>
        </p:txBody>
      </p:sp>
      <p:sp>
        <p:nvSpPr>
          <p:cNvPr id="14" name="Text 1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Vs Lease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자가 사용 vs 임차 유지, 무엇이 유리한가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Commute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통근 및 접근성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Value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자산가치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true,"mocked":true,"extractedFields":{"area_signal":"역삼","asset_type":"건물명 비공개","price_band":"300억","size_signal":"3000평(약 9917.4㎡)"},"extractedFacts":{"region":"역삼","exactAddressCandidate":"역삼동 742-1","assetType":"건물명 비공개","priceText":"300억","sizeText":"3000평(약 9917.4㎡)","currentUse":"오피스","currentUseSignal":"근린생활시설","leaseSignal":"임대중","vacancySignal":"공실없음","tenantNames":"쿠팡","네이버","unitRentTexts":"301호: 1500만","sellerMotivationText":"자산 효율화","brokerNotes":"역세권 도보 3분 이내 매물"},"detectedSensitiveFields":"exact_address","tenant_name","ambiguousFields":,"warnings":,"areaSignal":"역삼","assetType":"건물명 비공개","priceBand":"300억","sizeSignal":"3000평(약 9917.4㎡)","dealType":"매각","buildingName":"역삼 건물명 비공개","exactAddress":"역삼동 742-1","totalFloorArea":9917.3,"buildYear":2015,"currentUseSignal":"근린생활시설","vacancySignal":"공실 없음","fitSummary":"역세권 도보 3분 이내 근생 빌딩으로 시행/사옥 매입에 최적화","cautionSummary":"주요 임차인 만기 조율 필요","hiddenFields":"exact_address","seller_motivation","confidence":{"areaSignal":"confirmed","assetType":"confirmed","priceBand":"ai_hypothesis","fitSummary":"ai_hypothesis"},"missingData":"sizeSignal","boundaryNote":"본 자료는 실거래 통계 기반 참고치입니다.","buyerType":"법인 사옥형","budgetRange":{"min":50,"max":80,"display":"50억~80억"},"preferredRegions":"강남","성수","assetTypes":"건물명 비공개","사옥용","purchasePurpose":"사옥용 매입","mustHave":"역세권 도보 3분 이내","주차","niceToHave":"테라스","루프탑","riskTolerance":"medium","financingNote":"자본금 50% 준비","missingQuestions":"구체적인 입주 시기가 언제인가요?","선호하는 수익률이 있나요?","privacyNotes":"연락처 비공개","fitReasons":"매수자 예산(50-80억)에 부합하는 매물입니다.","요청하신 성수/강남 권역에 해당합니다.","cautionReasons":"요청한 용도와 달리 명도 협의가 다소 필요합니다.","recommendedNextAction":"현장 답사 제안","kakaoMessage":"안녕하세요! 요청하신 조건에 부합하는 추천 매물이 있어 안내해 드립니다. 확인해보시고 피드백 부탁드립니다.","title":"강남 역삼역 역세권 도보 3분 이내 오피스 사옥용 빌딩 매각","shortSummary":"역삼역 도보 5분 거리의 준신축급 대형 건물명 비공개입니다.","dealPoints":"역세권 도보 3분 이내","사옥 최적","cautionPoints":"명도 조율 필요","hiddenInfoNotice":"보증금 및 지번은 인가 후 확인 가능","gateMessage":"G1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(무상임대) 2개월","restrictions":,"landlordIdentity":"김성수","currentTenant":"스타트업","vacancyReason":"이전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가능","region":"성수동","areaSqm":150,"deposit":5000,"monthlyRent":400,"maintenanceFee":50,"availableFrom":"즉시입주","leaseTermMonths":24,"incentives":{"렌트프리(무상임대)(무상임대)Months":2,"interiorSupport":"일부 인테리어 지원","freeRentDetail":"렌트프리(무상임대) 2개월 지원"},"shortSummaryLease":"성수역 도보 5분 거리 1층 리테일 상가 매물입니다."}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F3EBDA"/>
          </a:solidFill>
          <a:ln/>
        </p:spPr>
      </p:sp>
      <p:sp>
        <p:nvSpPr>
          <p:cNvPr id="11" name="Shape 9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2" name="Text 10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7967167" y="1975104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{"ok":true,"mocked":true,"extractedFields":{"area_signal":"역삼","asset_type":"[건물명 비공개]","price_band":"300억","size_signal</a:t>
            </a:r>
            <a:endParaRPr lang="en-US" sz="930" dirty="0"/>
          </a:p>
        </p:txBody>
      </p:sp>
      <p:sp>
        <p:nvSpPr>
          <p:cNvPr id="14" name="Text 1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Capital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투자 및 자본 조달 구조 분석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417320"/>
            <a:ext cx="5391760" cy="4389120"/>
          </a:xfrm>
          <a:prstGeom prst="roundRect">
            <a:avLst>
              <a:gd name="adj" fmla="val 125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95528" y="1618488"/>
            <a:ext cx="493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1. 총취득원가 및 자기자본 소요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795528" y="2011680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매매 희망가 (A)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2670661" y="2011680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180.0억 원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795528" y="2487168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95528" y="2487168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취득세 (4.6% 법정)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2670661" y="2487168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8.28억 원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795528" y="2962656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95528" y="2962656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중개보수 (0.9% 한도)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2670661" y="2962656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1.62억 원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795528" y="3438144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95528" y="3438144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총취득원가 (A + 세/비용)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2670661" y="3438144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189.9억 원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795528" y="3913632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95528" y="3913632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(-) 임대보증금 승계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2670661" y="3913632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9.0억 원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795528" y="4389120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95528" y="4389120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(-) 담보대출 조달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2670661" y="4389120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90.0억 원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795528" y="4864608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95528" y="4864608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실투자금 (Net Equity)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2670661" y="4864608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90.9억 원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6233008" y="1417320"/>
            <a:ext cx="5391760" cy="4389120"/>
          </a:xfrm>
          <a:prstGeom prst="roundRect">
            <a:avLst>
              <a:gd name="adj" fmla="val 125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61608" y="1618488"/>
            <a:ext cx="493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2. LTV 시나리오별 레버리지 효과</a:t>
            </a:r>
            <a:endParaRPr lang="en-US" sz="135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61608" y="2057400"/>
          <a:ext cx="493456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1005840"/>
                <a:gridCol w="1280160"/>
                <a:gridCol w="128016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구분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대출비율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실투자금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예상수익률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전액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자기자본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(무차입)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180.9억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3.78%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보수적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차입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(안정형)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40%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108.9억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3.11%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표준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차입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(기본형)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50%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90.9억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2.77%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적극적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차입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(레버리지)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60%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72.9억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2.27%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</a:tbl>
          </a:graphicData>
        </a:graphic>
      </p:graphicFrame>
      <p:sp>
        <p:nvSpPr>
          <p:cNvPr id="31" name="Shape 28"/>
          <p:cNvSpPr/>
          <p:nvPr/>
        </p:nvSpPr>
        <p:spPr>
          <a:xfrm>
            <a:off x="6461608" y="4069080"/>
            <a:ext cx="4934560" cy="1463040"/>
          </a:xfrm>
          <a:prstGeom prst="roundRect">
            <a:avLst>
              <a:gd name="adj" fmla="val 3750"/>
            </a:avLst>
          </a:prstGeom>
          <a:solidFill>
            <a:srgbClr val="FEEBC8"/>
          </a:solidFill>
          <a:ln/>
        </p:spPr>
      </p:sp>
      <p:sp>
        <p:nvSpPr>
          <p:cNvPr id="32" name="Shape 29"/>
          <p:cNvSpPr/>
          <p:nvPr/>
        </p:nvSpPr>
        <p:spPr>
          <a:xfrm>
            <a:off x="6461608" y="4123944"/>
            <a:ext cx="36576" cy="1353312"/>
          </a:xfrm>
          <a:prstGeom prst="rect">
            <a:avLst/>
          </a:prstGeom>
          <a:solidFill>
            <a:srgbClr val="9C4221"/>
          </a:solidFill>
          <a:ln/>
        </p:spPr>
      </p:sp>
      <p:sp>
        <p:nvSpPr>
          <p:cNvPr id="33" name="Text 30"/>
          <p:cNvSpPr/>
          <p:nvPr/>
        </p:nvSpPr>
        <p:spPr>
          <a:xfrm>
            <a:off x="6644488" y="4178808"/>
            <a:ext cx="460537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C422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역레버리지 유의 구간</a:t>
            </a:r>
            <a:endParaRPr lang="en-US" sz="1050" dirty="0"/>
          </a:p>
        </p:txBody>
      </p:sp>
      <p:sp>
        <p:nvSpPr>
          <p:cNvPr id="34" name="Text 31"/>
          <p:cNvSpPr/>
          <p:nvPr/>
        </p:nvSpPr>
        <p:spPr>
          <a:xfrm>
            <a:off x="6644488" y="4398264"/>
            <a:ext cx="4605376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차입 금리가 자산 총수익률을 상회하여 대출 실행 시 자기자본수익률이 하락할 수 있습니다. 에쿼티 비중 확대를 권장합니다.</a:t>
            </a:r>
            <a:endParaRPr lang="en-US" sz="930" dirty="0"/>
          </a:p>
        </p:txBody>
      </p:sp>
      <p:sp>
        <p:nvSpPr>
          <p:cNvPr id="35" name="Text 3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6" name="Text 3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Thesis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왜 지금 이 매물을 사야 하는가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4983480"/>
            <a:ext cx="11057839" cy="804672"/>
          </a:xfrm>
          <a:prstGeom prst="roundRect">
            <a:avLst>
              <a:gd name="adj" fmla="val 6818"/>
            </a:avLst>
          </a:prstGeom>
          <a:solidFill>
            <a:srgbClr val="F3EBDA"/>
          </a:solidFill>
          <a:ln w="10160">
            <a:solidFill>
              <a:srgbClr val="D9B66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49808" y="5093208"/>
            <a:ext cx="1691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종합 가치 제안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2487168" y="5056632"/>
            <a:ext cx="895471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{"ok":true,"mocked":true,"extractedFields":{"area_signal":"역삼","asset_type":"[건물명 비공개]","price_band":"300억","size_signal":"3000평(약 9917.4㎡)"},"extractedFacts":{"region":"역삼","exactAddressCandidate":"역삼동 742-1","assetType":"[건물명 비공개]","priceText":"300억","sizeText":"3000평(약 9917.4㎡)","currentUse":"오피스","currentUseSignal":"근린생활시설","leaseSignal":"임대중","vacancySignal":"공실없음","tenantNames":["쿠팡","네이버"],"unitRentTexts":["301호: 1500만"],"sellerMotivationText":"자산 효율화","brokerNotes":["역세권 도보 3분 이내 매물"]},"detectedSensitiveFields":["exact_address","tenant_name"],"ambiguousFields":[],"warnings":[],"areaSignal":"역삼","assetType":"[건물명 비공개]","priceBand":"300억","sizeSignal":"3000평(약 9917.4㎡)","dealType":"매각","buildingName":"역삼 [건물명 비공개]","exactAddress":"역삼동 742-1","totalFloorArea":9917.3,"buildYear":2015,"currentUseSignal":"근린생활시설","vacancySignal":"공실 없음","fitSummary":"역세권 도보 3분 이내 근생 빌딩으로 시행/사옥 매입에 최적화","cautionSummary":"주요 임차인 만기 조율 필요","hiddenFields":["exact_address","seller_motivation"],"confidence":{"areaSignal":"confirmed","assetType":"confirmed","priceBand":"ai_hypothesis","fitSummary":"ai_hypothesis"},"missingData":["sizeSignal"],"boundaryNote":"본 자료는 실거래 통계 기반 참고치입니다.","buyerType":"법인 사옥형","budgetRange":{"min":50,"max":80,"display":"50억~80억"},"preferredRegions":["강남","성수"],"assetTypes":["[건물명 비공개]","사옥용"],"purchasePurpose":"사옥용 매입","mustHave":["역세권 도보 3분 이내","주차"],"niceToHave":["테라스","루프탑"],"riskTolerance":"medium","financingNote":"자본금 50% 준비","missingQuestions":["구체적인 입주 시기가 언제인가요?","선호하는 수익률이 있나요?"],"privacyNotes":["연락처 비공개"],"fitReasons":["매수자 예산(50-80억)에 부합하는 매물입니다.","요청하신 성수/강남 권역에 해당합니다."],"cautionReasons":["요청한 용도와 달리 명도 협의가 다소 필요합니다."],"recommendedNextAction":"현장 답사 제안","kakaoMessage":"안녕하세요! 요청하신 조건에 부합하는 추천 매물이 있어 안내해 드립니다. 확인해보시고 피드백 부탁드립니다.","title":"강남 역삼역 역세권 도보 3분 이내 오피스 사옥용 빌딩 매각","shortSummary":"역삼역 도보 5분 거리의 준신축급 대형 [건물명 비공개]입니다.","dealPoints":["역세권 도보 3분 이내","사옥 최적"],"cautionPoints":["명도 조율 필요"],"hiddenInfoNotice":["보증금 및 지번은 인가 후 확인 가능"],"gateMessage":"G1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(무상임대) 2개월","restrictions":[],"landlordIdentity":"김성수","currentTenant":"스타트업","vacancyReason":"이전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가능","region":"성수동","areaSqm":150,"deposit":5000,"monthlyRent":400,"maintenanceFee":50,"availableFrom":"즉시입주","leaseTermMonths":24,"incentives":{"렌트프리(무상임대)(무상임대)Months":2,"interiorSupport":"일부 인테리어 지원","freeRentDetail":"렌트프리(무상임대) 2개월 지원"},"shortSummaryLease":"성수역 도보 5분 거리 1층 리테일 상가 매물입니다."}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리스크는 무엇이고 대응책은 있는가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417320"/>
            <a:ext cx="11057839" cy="3657600"/>
          </a:xfrm>
          <a:prstGeom prst="roundRect">
            <a:avLst>
              <a:gd name="adj" fmla="val 150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1417320"/>
            <a:ext cx="11057839" cy="45720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795528" y="1618488"/>
            <a:ext cx="1060063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용도 리스크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795528" y="1947672"/>
            <a:ext cx="1060063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—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795528" y="2377440"/>
            <a:ext cx="10600639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{"ok":true,"mocked":true,"extractedFields":{"area_signal":"역삼","asset_type":"[건물명 비공개]","price_band":"300억","size_signal":"3000평(약 9917.4㎡)"},"extractedFacts":{"region":"역삼","exactAddressCandidate":"역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66928" y="5193792"/>
            <a:ext cx="11057839" cy="621792"/>
          </a:xfrm>
          <a:prstGeom prst="roundRect">
            <a:avLst>
              <a:gd name="adj" fmla="val 882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95528" y="5193792"/>
            <a:ext cx="10600639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※ 본 리스크 체크는 공부 및 브로커 확인 기반이며, 매수 전 전문 실사팀(변호사/건축사)을 통한 정밀 실사가 필요합니다.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Checklist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실사 및 확인 필요사항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110578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거래 안정성 확보를 위한 필수 법률·물리·임대차 실사 점검 항목 (총 6건)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66928" y="1719072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04088" y="1883664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9" name="Text 7"/>
          <p:cNvSpPr/>
          <p:nvPr/>
        </p:nvSpPr>
        <p:spPr>
          <a:xfrm>
            <a:off x="704088" y="1883664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115568" y="1828800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등기부등본 갑구/을구 권리관계 및 근저당 채권최고액 전액 말소 조건 원본 대조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566928" y="2715768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04088" y="2880360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3" name="Text 11"/>
          <p:cNvSpPr/>
          <p:nvPr/>
        </p:nvSpPr>
        <p:spPr>
          <a:xfrm>
            <a:off x="704088" y="288036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115568" y="2825496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 원본 계약서 대조 (보증금, 월임대료, 관리비 실입금 내역 및 제소전화해조서)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566928" y="3712464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04088" y="3877056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7" name="Text 15"/>
          <p:cNvSpPr/>
          <p:nvPr/>
        </p:nvSpPr>
        <p:spPr>
          <a:xfrm>
            <a:off x="704088" y="3877056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1115568" y="3822192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건축물대장상 위반건축물 등재 여부 및 불법 증축·용도변경 이행강제금 납부 이력 점검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6255868" y="1719072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393028" y="1883664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1" name="Text 19"/>
          <p:cNvSpPr/>
          <p:nvPr/>
        </p:nvSpPr>
        <p:spPr>
          <a:xfrm>
            <a:off x="6393028" y="1883664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6804508" y="1828800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토지이용계획확인원상 도시계획시설 저촉, 건축선 후퇴, 지구단위계획 특별계획구역 확인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6255868" y="2715768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393028" y="2880360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5" name="Text 23"/>
          <p:cNvSpPr/>
          <p:nvPr/>
        </p:nvSpPr>
        <p:spPr>
          <a:xfrm>
            <a:off x="6393028" y="288036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6804508" y="2825496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기계식 주차기 정기 안전점검 합격증, 승강기 검사필증, 소방 완비증명서 실물 실사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6255868" y="3712464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393028" y="3877056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9" name="Text 27"/>
          <p:cNvSpPr/>
          <p:nvPr/>
        </p:nvSpPr>
        <p:spPr>
          <a:xfrm>
            <a:off x="6393028" y="3877056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6804508" y="3822192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정화조 용량 대비 현 업종 적합성 및 하수도 원인자부담금 추가 부과 대상 여부 확인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566928" y="5760720"/>
            <a:ext cx="11057839" cy="594360"/>
          </a:xfrm>
          <a:prstGeom prst="rect">
            <a:avLst/>
          </a:prstGeom>
          <a:solidFill>
            <a:srgbClr val="D9B668"/>
          </a:solidFill>
          <a:ln/>
        </p:spPr>
      </p:sp>
      <p:sp>
        <p:nvSpPr>
          <p:cNvPr id="32" name="Text 30"/>
          <p:cNvSpPr/>
          <p:nvPr/>
        </p:nvSpPr>
        <p:spPr>
          <a:xfrm>
            <a:off x="749808" y="5833872"/>
            <a:ext cx="10692079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※ 본 체크리스트는 계약 전 매수인의 안전한 자산 인수를 위한 필수 확인 사항이며, 실사(Due Diligence) 결과에 따라 매매 조건 및 잔금 일정이 조정될 수 있습니다.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Process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검토 후 다음 단계는 무엇인가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572768"/>
            <a:ext cx="11057839" cy="3200400"/>
          </a:xfrm>
          <a:prstGeom prst="roundRect">
            <a:avLst>
              <a:gd name="adj" fmla="val 1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86384" y="1792224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786384" y="1792224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786384" y="2304288"/>
            <a:ext cx="10618927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1단계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86384" y="2761488"/>
            <a:ext cx="10618927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true,"mocked":true,"extractedFields":{"area_signal":"역삼","asset_type":"[건물명 비공개]","price_band":"300억","size_signal":"3000평(약 9917.4㎡)"},"extractedFacts":{"region":"역삼","exactAddressCandidate":"역삼동 742-1","assetType":"[건물명 비공개]","priceText":"300억","sizeText":"3000평(약 9917.4㎡)","currentUse":"오피스","currentUseSignal":"근린생활시설","leaseSignal":"임대중","vacancySignal":"공실없음","tenantNames":["쿠팡","네이버"],"unitRentTexts":["301호: 1500만"],"sellerMotivationText":"자산 효율화","brokerNotes":["역세권 도보 3분 이내 매물"]},"detectedSensitiveFields":["exact_address","tenant_name"],"ambiguousFields":[],"warnings":[],"areaSignal":"역삼","assetType":"[건물명 비공개]","priceBand":"300억","sizeSignal":"3000평(약 9917.4㎡)","dealType":"매각","buildingName":"역삼 [건물명 비공개]","exactAddress":"역삼동 742-1","totalFloorArea":9917.3,"buildYear":2015,"currentUseSignal":"근린생활시설","vacancySignal":"공실 없음","fitSummary":"역세권 도보 3분 이내 근생 빌딩으로 시행/사옥 매입에 최적화","cautionSummary":"주요 임차인 만기 조율 필요","hiddenFields":["exact_address","seller_motivation"],"confidence":{"areaSignal":"confirmed","assetType":"confirmed","priceBand":"ai_hypothesis","fitSummary":"ai_hypothesis"},"missingData":["sizeSignal"],"boundaryNote":"본 자료는 실거래 통계 기반 참고치입니다.","buyerType":"법인 사옥형","budgetRange":{"min":50,"max":80,"display":"50억~80억"},"preferredRegions":["강남","성수"],"assetTypes":["[건물명 비공개]","사옥용"],"purchasePurpose":"사옥용 매입","mustHave":["역세권 도보 3분 이내","주차"],"niceToHave":["테라스","루프탑"],"riskTolerance":"medium","financingNote":"자본금 50% 준비","missingQuestions":["구체적인 입주 시기가 언제인가요?","선호하는 수익률이 있나요?"],"privacyNotes":["연락처 비공개"],"fitReasons":["매수자 예산(50-80억)에 부합하는 매물입니다.","요청하신 성수/강남 권역에 해당합니다."],"cautionReasons":["요청한 용도와 달리 명도 협의가 다소 필요합니다."],"recommendedNextAction":"현장 답사 제안","kakaoMessage":"안녕하세요! 요청하신 조건에 부합하는 추천 매물이 있어 안내해 드립니다. 확인해보시고 피드백 부탁드립니다.","title":"강남 역삼역 역세권 도보 3분 이내 오피스 사옥용 빌딩 매각","shortSummary":"역삼역 도보 5분 거리의 준신축급 대형 [건물명 비공개]입니다.","dealPoints":["역세권 도보 3분 이내","사옥 최적"],"cautionPoints":["명도 조율 필요"],"hiddenInfoNotice":["보증금 및 지번은 인가 후 확인 가능"],"gateMessage":"G1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(무상임대) 2개월","restrictions":[],"landlordIdentity":"김성수","currentTenant":"스타트업","vacancyReason":"이전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가능","region":"성수동","areaSqm":150,"deposit":5000,"monthlyRent":400,"maintenanceFee":50,"availableFrom":"즉시입주","leaseTermMonths":24,"incentives":{"렌트프리(무상임대)(무상임대)Months":2,"interiorSupport":"일부 인테리어 지원","freeRentDetail":"렌트프리(무상임대) 2개월 지원"},"shortSummaryLease":"성수역 도보 5분 거리 1층 리테일 상가 매물입니다."}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Closing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58368"/>
            <a:ext cx="10490911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표기 기준 및 면책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566928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7" name="Shape 5"/>
          <p:cNvSpPr/>
          <p:nvPr/>
        </p:nvSpPr>
        <p:spPr>
          <a:xfrm>
            <a:off x="676656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676656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225296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관심 표명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225296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담당 중개사에게 초기 관심 표명 및 상담 요청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4155338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4301642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13" name="Shape 11"/>
          <p:cNvSpPr/>
          <p:nvPr/>
        </p:nvSpPr>
        <p:spPr>
          <a:xfrm>
            <a:off x="4411370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14" name="Text 12"/>
          <p:cNvSpPr/>
          <p:nvPr/>
        </p:nvSpPr>
        <p:spPr>
          <a:xfrm>
            <a:off x="4411370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960010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NDA 체결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960010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비밀유지계약 후 상세 임대차·재무 자료 제공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7890053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8036357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19" name="Shape 17"/>
          <p:cNvSpPr/>
          <p:nvPr/>
        </p:nvSpPr>
        <p:spPr>
          <a:xfrm>
            <a:off x="8146085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20" name="Text 18"/>
          <p:cNvSpPr/>
          <p:nvPr/>
        </p:nvSpPr>
        <p:spPr>
          <a:xfrm>
            <a:off x="8146085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694725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현장 실사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8694725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건물 컨디션 및 설비 직접 확인 후 의향서(LOI) 제출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566928" y="2395728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데이터 출처 표기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66928" y="2724912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25" name="Text 23"/>
          <p:cNvSpPr/>
          <p:nvPr/>
        </p:nvSpPr>
        <p:spPr>
          <a:xfrm>
            <a:off x="566928" y="2724912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 공부확인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1993392" y="2706624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등기부·대장 등 공적 장부 직접 확인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566928" y="3200400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28" name="Text 26"/>
          <p:cNvSpPr/>
          <p:nvPr/>
        </p:nvSpPr>
        <p:spPr>
          <a:xfrm>
            <a:off x="566928" y="3200400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★ 전문가검증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1993392" y="3182112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세무사·감정평가사 등 전문가 확인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566928" y="3675888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1" name="Text 29"/>
          <p:cNvSpPr/>
          <p:nvPr/>
        </p:nvSpPr>
        <p:spPr>
          <a:xfrm>
            <a:off x="566928" y="3675888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▲ 매도인고지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1993392" y="3657600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매도인이 구두 또는 서면으로 고지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566928" y="4151376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4" name="Text 32"/>
          <p:cNvSpPr/>
          <p:nvPr/>
        </p:nvSpPr>
        <p:spPr>
          <a:xfrm>
            <a:off x="566928" y="4151376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● 중개인입력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1993392" y="4133088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중개인 현장 조사 및 경험 기반 입력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566928" y="4626864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7" name="Text 35"/>
          <p:cNvSpPr/>
          <p:nvPr/>
        </p:nvSpPr>
        <p:spPr>
          <a:xfrm>
            <a:off x="566928" y="4626864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◇ AI추정·가정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1993392" y="4608576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시나리오 분석 및 AI 모델 추정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6492240" y="2395728"/>
            <a:ext cx="51297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면책 조항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6492240" y="2724912"/>
            <a:ext cx="5129784" cy="1645920"/>
          </a:xfrm>
          <a:prstGeom prst="roundRect">
            <a:avLst>
              <a:gd name="adj" fmla="val 2222"/>
            </a:avLst>
          </a:prstGeom>
          <a:solidFill>
            <a:srgbClr val="1C2433"/>
          </a:solidFill>
          <a:ln/>
        </p:spPr>
      </p:sp>
      <p:sp>
        <p:nvSpPr>
          <p:cNvPr id="41" name="Text 39"/>
          <p:cNvSpPr/>
          <p:nvPr/>
        </p:nvSpPr>
        <p:spPr>
          <a:xfrm>
            <a:off x="6675120" y="2834640"/>
            <a:ext cx="4764024" cy="1426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자료는 투자 권유가 아니며, 기재된 정보의 정확성을 보증하지 않습니다.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566928" y="5760720"/>
            <a:ext cx="11057839" cy="45720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43" name="Text 41"/>
          <p:cNvSpPr/>
          <p:nvPr/>
        </p:nvSpPr>
        <p:spPr>
          <a:xfrm>
            <a:off x="749808" y="5806440"/>
            <a:ext cx="1069207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3EBD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자료의 모든 수치는 예비 검토용이며, 상세 실사 자료 및 비밀 상담은 담당 전문 중개사를 통해 제공됩니다.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Records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공부 발췌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건축물대장 표제부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연면적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5,000㎡ (1512.5평)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BEE3F8"/>
          </a:solidFill>
          <a:ln/>
        </p:spPr>
      </p:sp>
      <p:sp>
        <p:nvSpPr>
          <p:cNvPr id="11" name="Shape 9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2" name="Text 10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및 권리관계 실사 포인트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7967167" y="1975104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물건 접면 도로 폭 및 진출입 여건은 현장 실사 확인 사항입니다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등기부등본상 권리관계 및 제한물권 설정 여부를 확인하였습니다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지구단위계획 및 토지이용계획상 허용 용도를 검토하였습니다</a:t>
            </a:r>
            <a:endParaRPr lang="en-US" sz="930" dirty="0"/>
          </a:p>
        </p:txBody>
      </p:sp>
      <p:sp>
        <p:nvSpPr>
          <p:cNvPr id="14" name="Shape 12"/>
          <p:cNvSpPr/>
          <p:nvPr/>
        </p:nvSpPr>
        <p:spPr>
          <a:xfrm>
            <a:off x="7784287" y="3977640"/>
            <a:ext cx="3840480" cy="2148840"/>
          </a:xfrm>
          <a:prstGeom prst="roundRect">
            <a:avLst>
              <a:gd name="adj" fmla="val 2553"/>
            </a:avLst>
          </a:prstGeom>
          <a:solidFill>
            <a:srgbClr val="BEE3F8"/>
          </a:solidFill>
          <a:ln/>
        </p:spPr>
      </p:sp>
      <p:sp>
        <p:nvSpPr>
          <p:cNvPr id="15" name="Shape 13"/>
          <p:cNvSpPr/>
          <p:nvPr/>
        </p:nvSpPr>
        <p:spPr>
          <a:xfrm>
            <a:off x="7784287" y="4032504"/>
            <a:ext cx="36576" cy="203911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6" name="Text 14"/>
          <p:cNvSpPr/>
          <p:nvPr/>
        </p:nvSpPr>
        <p:spPr>
          <a:xfrm>
            <a:off x="7967167" y="408736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 및 운용 관리 상태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7967167" y="4306824"/>
            <a:ext cx="3511296" cy="1746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주요 임차인별 계약 만기 분산 및 렌트롤 실사가 필요합니다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관리비 정산 내역 및 수선유지비 집행 이력을 점검하였습니다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취득세 감면 및 대출 조달 구조는 금융·세무 자문 후 확정됩니다</a:t>
            </a:r>
            <a:endParaRPr lang="en-US" sz="930" dirty="0"/>
          </a:p>
        </p:txBody>
      </p:sp>
      <p:sp>
        <p:nvSpPr>
          <p:cNvPr id="18" name="Text 16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2026-09-06T12:59:50Z</dcterms:created>
  <dcterms:modified xsi:type="dcterms:W3CDTF">2026-09-06T12:59:50Z</dcterms:modified>
</cp:coreProperties>
</file>