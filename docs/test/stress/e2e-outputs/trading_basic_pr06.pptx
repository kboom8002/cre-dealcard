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0D2233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731520"/>
            <a:ext cx="2926080" cy="2377440"/>
          </a:xfrm>
          <a:prstGeom prst="rect">
            <a:avLst/>
          </a:prstGeom>
          <a:solidFill>
            <a:srgbClr val="1A3A4A"/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3657600"/>
            <a:ext cx="3474720" cy="2560320"/>
          </a:xfrm>
          <a:prstGeom prst="rect">
            <a:avLst/>
          </a:prstGeom>
          <a:solidFill>
            <a:srgbClr val="132A3A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0" y="365760"/>
            <a:ext cx="0" cy="6126480"/>
          </a:xfrm>
          <a:prstGeom prst="line">
            <a:avLst/>
          </a:prstGeom>
          <a:noFill/>
          <a:ln w="10160">
            <a:solidFill>
              <a:srgbClr val="B98A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75320" y="0"/>
            <a:ext cx="1417320" cy="4041648"/>
          </a:xfrm>
          <a:prstGeom prst="rect">
            <a:avLst/>
          </a:prstGeom>
          <a:solidFill>
            <a:srgbClr val="1A2030"/>
          </a:solidFill>
          <a:ln/>
        </p:spPr>
      </p:sp>
      <p:sp>
        <p:nvSpPr>
          <p:cNvPr id="7" name="Shape 5"/>
          <p:cNvSpPr/>
          <p:nvPr/>
        </p:nvSpPr>
        <p:spPr>
          <a:xfrm>
            <a:off x="9784080" y="868680"/>
            <a:ext cx="1143000" cy="3172968"/>
          </a:xfrm>
          <a:prstGeom prst="rect">
            <a:avLst/>
          </a:prstGeom>
          <a:solidFill>
            <a:srgbClr val="161D2B"/>
          </a:solidFill>
          <a:ln/>
        </p:spPr>
      </p:sp>
      <p:sp>
        <p:nvSpPr>
          <p:cNvPr id="8" name="Shape 6"/>
          <p:cNvSpPr/>
          <p:nvPr/>
        </p:nvSpPr>
        <p:spPr>
          <a:xfrm>
            <a:off x="11018520" y="1691640"/>
            <a:ext cx="1170432" cy="2350008"/>
          </a:xfrm>
          <a:prstGeom prst="rect">
            <a:avLst/>
          </a:prstGeom>
          <a:solidFill>
            <a:srgbClr val="2E2718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MEMORANDUM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2304288"/>
            <a:ext cx="7315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trading 포스처 테스트 문서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66928" y="341071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노후빌딩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3959352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2D3748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395935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노후빌딩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664208" y="3959352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2D3748"/>
          </a:solidFill>
          <a:ln/>
        </p:spPr>
      </p:sp>
      <p:sp>
        <p:nvSpPr>
          <p:cNvPr id="16" name="Text 14"/>
          <p:cNvSpPr/>
          <p:nvPr/>
        </p:nvSpPr>
        <p:spPr>
          <a:xfrm>
            <a:off x="1664208" y="395935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98억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66928" y="4398264"/>
            <a:ext cx="6858000" cy="1051560"/>
          </a:xfrm>
          <a:prstGeom prst="roundRect">
            <a:avLst>
              <a:gd name="adj" fmla="val 3478"/>
            </a:avLst>
          </a:prstGeom>
          <a:solidFill>
            <a:srgbClr val="977024"/>
          </a:solidFill>
          <a:ln w="12700">
            <a:solidFill>
              <a:srgbClr val="B98A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507992"/>
            <a:ext cx="634593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3EBD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98억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566928" y="17007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리얼티빌딩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66928" y="5943600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이수민  |  리얼티빌딩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투자 지표 요약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188720"/>
            <a:ext cx="1105783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신사동 가로수길 이면 코너 노후 빌딩입니다.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1480947"/>
            <a:ext cx="11057839" cy="0"/>
          </a:xfrm>
          <a:prstGeom prst="line">
            <a:avLst/>
          </a:prstGeom>
          <a:noFill/>
          <a:ln w="19050">
            <a:solidFill>
              <a:srgbClr val="B98A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618107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746123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 희망가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31520" y="1965579"/>
            <a:ext cx="2311832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372536" y="1618107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37128" y="1746123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537128" y="1965579"/>
            <a:ext cx="2311832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102.3평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178144" y="1618107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42736" y="1746123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342736" y="1965579"/>
            <a:ext cx="2311832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215.4평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8983751" y="1618107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8343" y="1746123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준공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148343" y="1965579"/>
            <a:ext cx="2311832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1988년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566928" y="2742819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2870835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 수익률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31520" y="3090291"/>
            <a:ext cx="2311832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3372536" y="2742819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37128" y="2870835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실투자금 (취득비용 포함)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537128" y="3090291"/>
            <a:ext cx="2311832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6178144" y="2742819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42736" y="2870835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대지면적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342736" y="3090291"/>
            <a:ext cx="2311832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8983751" y="2742819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8343" y="2870835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공실 현황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9148343" y="3090291"/>
            <a:ext cx="2311832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566928" y="3958971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3대 핵심 투자 포인트 (Investment Highlights)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566928" y="4288155"/>
            <a:ext cx="11057839" cy="512191"/>
          </a:xfrm>
          <a:prstGeom prst="roundRect">
            <a:avLst>
              <a:gd name="adj" fmla="val 8926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76656" y="4361371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F3EBDA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6656" y="4361371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77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207008" y="4324731"/>
            <a:ext cx="10280599" cy="43903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가치: 대중교통 역세권 입지, 해당 권역 업무·상업 중심지 배후 수요 확보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566928" y="4882642"/>
            <a:ext cx="11057839" cy="512191"/>
          </a:xfrm>
          <a:prstGeom prst="roundRect">
            <a:avLst>
              <a:gd name="adj" fmla="val 8926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76656" y="4955858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F3EBDA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6656" y="495585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77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207008" y="4919218"/>
            <a:ext cx="10280599" cy="43903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안정적 현금흐름: 전 층 임차인 운영 기반의 안정적 월 임대수익 창출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566928" y="5477129"/>
            <a:ext cx="11057839" cy="512191"/>
          </a:xfrm>
          <a:prstGeom prst="roundRect">
            <a:avLst>
              <a:gd name="adj" fmla="val 8926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76656" y="5550345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F3EBDA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6656" y="5550345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77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207008" y="5513705"/>
            <a:ext cx="10280599" cy="43903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자산 규모: 해당 권역 소재 단독 빌딩 매입 기회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분석</a:t>
            </a:r>
            <a:endParaRPr lang="en-US" sz="2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04088" y="5184648"/>
            <a:ext cx="3200400" cy="320040"/>
          </a:xfrm>
          <a:prstGeom prst="roundRect">
            <a:avLst>
              <a:gd name="adj" fmla="val 11429"/>
            </a:avLst>
          </a:prstGeom>
          <a:solidFill>
            <a:srgbClr val="FFFFFF">
              <a:alpha val="90000"/>
            </a:srgbClr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49808" y="5202936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</a:t>
            </a:r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대상 자산(본건)   </a:t>
            </a:r>
            <a:pPr indent="0" marL="0">
              <a:buNone/>
            </a:pPr>
            <a:r>
              <a:rPr lang="en-US" sz="1000" b="1" dirty="0">
                <a:solidFill>
                  <a:srgbClr val="B886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╌ </a:t>
            </a:r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도보 5분 반경 (약 400m)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715768" y="3739896"/>
            <a:ext cx="822960" cy="219456"/>
          </a:xfrm>
          <a:prstGeom prst="roundRect">
            <a:avLst>
              <a:gd name="adj" fmla="val 16667"/>
            </a:avLst>
          </a:prstGeom>
          <a:solidFill>
            <a:srgbClr val="132A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715768" y="3739896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본건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053328" y="1481328"/>
            <a:ext cx="156000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대중교통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613331" y="1481328"/>
            <a:ext cx="40114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지하철 및 간선버스 인접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053328" y="1938528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53328" y="1938528"/>
            <a:ext cx="156000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상권권역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7613331" y="1938528"/>
            <a:ext cx="40114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강남권역 주요 상업·업무 권역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053328" y="2505456"/>
            <a:ext cx="5571439" cy="658368"/>
          </a:xfrm>
          <a:prstGeom prst="roundRect">
            <a:avLst>
              <a:gd name="adj" fmla="val 8333"/>
            </a:avLst>
          </a:prstGeom>
          <a:solidFill>
            <a:srgbClr val="BEE3F8"/>
          </a:solidFill>
          <a:ln/>
        </p:spPr>
      </p:sp>
      <p:sp>
        <p:nvSpPr>
          <p:cNvPr id="17" name="Shape 14"/>
          <p:cNvSpPr/>
          <p:nvPr/>
        </p:nvSpPr>
        <p:spPr>
          <a:xfrm>
            <a:off x="6053328" y="2560320"/>
            <a:ext cx="36576" cy="54864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8" name="Text 15"/>
          <p:cNvSpPr/>
          <p:nvPr/>
        </p:nvSpPr>
        <p:spPr>
          <a:xfrm>
            <a:off x="6199632" y="2596896"/>
            <a:ext cx="53154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종합 분석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6199632" y="2798064"/>
            <a:ext cx="53154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강남권역 배후 상권 기반 안정적 임대 수요</a:t>
            </a:r>
            <a:endParaRPr lang="en-US" sz="980" dirty="0"/>
          </a:p>
        </p:txBody>
      </p:sp>
      <p:sp>
        <p:nvSpPr>
          <p:cNvPr id="20" name="Text 17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현황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현황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487168" y="1645920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102.3평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" y="2048256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048256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2487168" y="2048256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215.4평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84287" y="164592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BEE3F8"/>
          </a:solidFill>
          <a:ln/>
        </p:spPr>
      </p:sp>
      <p:sp>
        <p:nvSpPr>
          <p:cNvPr id="14" name="Shape 12"/>
          <p:cNvSpPr/>
          <p:nvPr/>
        </p:nvSpPr>
        <p:spPr>
          <a:xfrm>
            <a:off x="7784287" y="1700784"/>
            <a:ext cx="36576" cy="199339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5" name="Text 13"/>
          <p:cNvSpPr/>
          <p:nvPr/>
        </p:nvSpPr>
        <p:spPr>
          <a:xfrm>
            <a:off x="7930591" y="1737360"/>
            <a:ext cx="3584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및 건축 규제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930591" y="1938528"/>
            <a:ext cx="3584448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토지이용계획 열람 및 건축 규제 확인 필요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7784287" y="3977640"/>
            <a:ext cx="3840480" cy="2148840"/>
          </a:xfrm>
          <a:prstGeom prst="roundRect">
            <a:avLst>
              <a:gd name="adj" fmla="val 2553"/>
            </a:avLst>
          </a:prstGeom>
          <a:solidFill>
            <a:srgbClr val="BEE3F8"/>
          </a:solidFill>
          <a:ln/>
        </p:spPr>
      </p:sp>
      <p:sp>
        <p:nvSpPr>
          <p:cNvPr id="18" name="Shape 16"/>
          <p:cNvSpPr/>
          <p:nvPr/>
        </p:nvSpPr>
        <p:spPr>
          <a:xfrm>
            <a:off x="7784287" y="4032504"/>
            <a:ext cx="36576" cy="203911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9" name="Text 17"/>
          <p:cNvSpPr/>
          <p:nvPr/>
        </p:nvSpPr>
        <p:spPr>
          <a:xfrm>
            <a:off x="7930591" y="4069080"/>
            <a:ext cx="3584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권리관계 및 공적장부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930591" y="4270248"/>
            <a:ext cx="3584448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등기부등본 갑구 소유권 확인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건축물대장 기재 사항 실물 대조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개별공시지가 및 실거래가 비교</a:t>
            </a:r>
            <a:endParaRPr lang="en-US" sz="980" dirty="0"/>
          </a:p>
        </p:txBody>
      </p:sp>
      <p:sp>
        <p:nvSpPr>
          <p:cNvPr id="21" name="Text 19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개요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 개요 및 물리 스펙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487168" y="1645920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102.3평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" y="2048256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048256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2487168" y="2048256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215.4평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2450592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45059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준공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2487168" y="2450592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1988년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84287" y="1645920"/>
            <a:ext cx="3840480" cy="1645920"/>
          </a:xfrm>
          <a:prstGeom prst="roundRect">
            <a:avLst>
              <a:gd name="adj" fmla="val 3333"/>
            </a:avLst>
          </a:prstGeom>
          <a:solidFill>
            <a:srgbClr val="F3EBDA"/>
          </a:solidFill>
          <a:ln/>
        </p:spPr>
      </p:sp>
      <p:sp>
        <p:nvSpPr>
          <p:cNvPr id="17" name="Shape 15"/>
          <p:cNvSpPr/>
          <p:nvPr/>
        </p:nvSpPr>
        <p:spPr>
          <a:xfrm>
            <a:off x="7784287" y="1700784"/>
            <a:ext cx="36576" cy="1536192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18" name="Text 16"/>
          <p:cNvSpPr/>
          <p:nvPr/>
        </p:nvSpPr>
        <p:spPr>
          <a:xfrm>
            <a:off x="7930591" y="1737360"/>
            <a:ext cx="3584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930591" y="1938528"/>
            <a:ext cx="3584448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신사동 가로수길 이면 코너 노후 빌딩입니다.</a:t>
            </a:r>
            <a:endParaRPr lang="en-US" sz="980" dirty="0"/>
          </a:p>
        </p:txBody>
      </p:sp>
      <p:sp>
        <p:nvSpPr>
          <p:cNvPr id="20" name="Text 18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비교사례</a:t>
            </a:r>
            <a:endParaRPr lang="en-US" sz="2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45920"/>
          <a:ext cx="11057839" cy="914400"/>
        </p:xfrm>
        <a:graphic>
          <a:graphicData uri="http://schemas.openxmlformats.org/drawingml/2006/table">
            <a:tbl>
              <a:tblPr/>
              <a:tblGrid>
                <a:gridCol w="3685946"/>
                <a:gridCol w="3685946"/>
                <a:gridCol w="3685946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비교항목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본건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인근 </a:t>
                      </a:r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시세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평당 </a:t>
                      </a:r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매매가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9,580만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11,200만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거래동향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325880"/>
            <a:ext cx="11057839" cy="0"/>
          </a:xfrm>
          <a:prstGeom prst="line">
            <a:avLst/>
          </a:prstGeom>
          <a:noFill/>
          <a:ln w="19050">
            <a:solidFill>
              <a:srgbClr val="B98A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554480"/>
            <a:ext cx="3576218" cy="1188720"/>
          </a:xfrm>
          <a:prstGeom prst="roundRect">
            <a:avLst>
              <a:gd name="adj" fmla="val 4615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68249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평당 매매가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31520" y="1901952"/>
            <a:ext cx="3247034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9,580만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31520" y="2231136"/>
            <a:ext cx="324703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11,200만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566928" y="2999232"/>
            <a:ext cx="11057839" cy="1280160"/>
          </a:xfrm>
          <a:prstGeom prst="roundRect">
            <a:avLst>
              <a:gd name="adj" fmla="val 4286"/>
            </a:avLst>
          </a:prstGeom>
          <a:solidFill>
            <a:srgbClr val="BEE3F8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3054096"/>
            <a:ext cx="36576" cy="117043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3" name="Text 11"/>
          <p:cNvSpPr/>
          <p:nvPr/>
        </p:nvSpPr>
        <p:spPr>
          <a:xfrm>
            <a:off x="713232" y="3090672"/>
            <a:ext cx="108018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가치 제안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13232" y="3291840"/>
            <a:ext cx="10801807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인근 유사 매물 대비 평당가가 약 15% 낮은 수준입니다.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Turnover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회전율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 개요 및 물리 스펙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645920"/>
            <a:ext cx="6858000" cy="1645920"/>
          </a:xfrm>
          <a:prstGeom prst="roundRect">
            <a:avLst>
              <a:gd name="adj" fmla="val 3333"/>
            </a:avLst>
          </a:prstGeom>
          <a:solidFill>
            <a:srgbClr val="BEE3F8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1700784"/>
            <a:ext cx="36576" cy="153619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9" name="Text 7"/>
          <p:cNvSpPr/>
          <p:nvPr/>
        </p:nvSpPr>
        <p:spPr>
          <a:xfrm>
            <a:off x="713232" y="1737360"/>
            <a:ext cx="6601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회전율 요약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13232" y="1938528"/>
            <a:ext cx="6601968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등기부등본 갑구·을구 권리관계 공적장부 대조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건축물대장 주요 용도 및 위반건축물 여부 확인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 실사를 통한 물리적 하자 및 하자보수 이력 점검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84287" y="1645920"/>
            <a:ext cx="3840480" cy="1645920"/>
          </a:xfrm>
          <a:prstGeom prst="roundRect">
            <a:avLst>
              <a:gd name="adj" fmla="val 3333"/>
            </a:avLst>
          </a:prstGeom>
          <a:solidFill>
            <a:srgbClr val="F3EBDA"/>
          </a:solidFill>
          <a:ln/>
        </p:spPr>
      </p:sp>
      <p:sp>
        <p:nvSpPr>
          <p:cNvPr id="13" name="Shape 11"/>
          <p:cNvSpPr/>
          <p:nvPr/>
        </p:nvSpPr>
        <p:spPr>
          <a:xfrm>
            <a:off x="7784287" y="1700784"/>
            <a:ext cx="36576" cy="1536192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14" name="Text 12"/>
          <p:cNvSpPr/>
          <p:nvPr/>
        </p:nvSpPr>
        <p:spPr>
          <a:xfrm>
            <a:off x="7930591" y="1737360"/>
            <a:ext cx="3584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930591" y="1938528"/>
            <a:ext cx="3584448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시세 대비 15% 저평가, 용적률 여유 35% 보유입니다.</a:t>
            </a:r>
            <a:endParaRPr lang="en-US" sz="980" dirty="0"/>
          </a:p>
        </p:txBody>
      </p:sp>
      <p:sp>
        <p:nvSpPr>
          <p:cNvPr id="16" name="Text 14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가격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 개요 및 물리 스펙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645920"/>
            <a:ext cx="6858000" cy="1645920"/>
          </a:xfrm>
          <a:prstGeom prst="roundRect">
            <a:avLst>
              <a:gd name="adj" fmla="val 3333"/>
            </a:avLst>
          </a:prstGeom>
          <a:solidFill>
            <a:srgbClr val="BEE3F8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1700784"/>
            <a:ext cx="36576" cy="153619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9" name="Text 7"/>
          <p:cNvSpPr/>
          <p:nvPr/>
        </p:nvSpPr>
        <p:spPr>
          <a:xfrm>
            <a:off x="713232" y="1737360"/>
            <a:ext cx="6601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가격 요약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13232" y="1938528"/>
            <a:ext cx="6601968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등기부등본 갑구·을구 권리관계 공적장부 대조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건축물대장 주요 용도 및 위반건축물 여부 확인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 실사를 통한 물리적 하자 및 하자보수 이력 점검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84287" y="1645920"/>
            <a:ext cx="3840480" cy="1645920"/>
          </a:xfrm>
          <a:prstGeom prst="roundRect">
            <a:avLst>
              <a:gd name="adj" fmla="val 3333"/>
            </a:avLst>
          </a:prstGeom>
          <a:solidFill>
            <a:srgbClr val="F3EBDA"/>
          </a:solidFill>
          <a:ln/>
        </p:spPr>
      </p:sp>
      <p:sp>
        <p:nvSpPr>
          <p:cNvPr id="13" name="Shape 11"/>
          <p:cNvSpPr/>
          <p:nvPr/>
        </p:nvSpPr>
        <p:spPr>
          <a:xfrm>
            <a:off x="7784287" y="1700784"/>
            <a:ext cx="36576" cy="1536192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14" name="Text 12"/>
          <p:cNvSpPr/>
          <p:nvPr/>
        </p:nvSpPr>
        <p:spPr>
          <a:xfrm>
            <a:off x="7930591" y="1737360"/>
            <a:ext cx="3584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930591" y="1938528"/>
            <a:ext cx="3584448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인근 유사 매물 대비 평당가가 약 15% 낮은 수준입니다.</a:t>
            </a:r>
            <a:endParaRPr lang="en-US" sz="980" dirty="0"/>
          </a:p>
        </p:txBody>
      </p:sp>
      <p:sp>
        <p:nvSpPr>
          <p:cNvPr id="16" name="Text 14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Thesis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논거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4937760"/>
            <a:ext cx="11057839" cy="804672"/>
          </a:xfrm>
          <a:prstGeom prst="roundRect">
            <a:avLst>
              <a:gd name="adj" fmla="val 6818"/>
            </a:avLst>
          </a:prstGeom>
          <a:solidFill>
            <a:srgbClr val="F3EBDA"/>
          </a:solidFill>
          <a:ln w="10160">
            <a:solidFill>
              <a:srgbClr val="D9B66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504748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종합 가치 제안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487168" y="5010912"/>
            <a:ext cx="895471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가로수길 프리미엄 입지의 저평가 기회와 증축/리모델링 밸류애드 잠재력이 핵심입니다.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리스크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417320"/>
            <a:ext cx="11057839" cy="3657600"/>
          </a:xfrm>
          <a:prstGeom prst="roundRect">
            <a:avLst>
              <a:gd name="adj" fmla="val 150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417320"/>
            <a:ext cx="11057839" cy="45720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8" name="Text 6"/>
          <p:cNvSpPr/>
          <p:nvPr/>
        </p:nvSpPr>
        <p:spPr>
          <a:xfrm>
            <a:off x="795528" y="1618488"/>
            <a:ext cx="106006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노후 설비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95528" y="1947672"/>
            <a:ext cx="106006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36년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95528" y="2377440"/>
            <a:ext cx="10600639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대수선 예산 반영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" y="5193792"/>
            <a:ext cx="11057839" cy="621792"/>
          </a:xfrm>
          <a:prstGeom prst="roundRect">
            <a:avLst>
              <a:gd name="adj" fmla="val 882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" y="5193792"/>
            <a:ext cx="1060063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본 리스크 체크는 공부 및 브로커 확인 기반이며, 매수 전 전문 실사팀(변호사/건축사)을 통한 정밀 실사가 필요합니다.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실사 체크리스트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거래 안정성 확보를 위한 필수 법률·물리·임대차 실사 점검 항목 (총 6건)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719072"/>
            <a:ext cx="5368900" cy="749808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4088" y="1947672"/>
            <a:ext cx="292608" cy="292608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9" name="Text 7"/>
          <p:cNvSpPr/>
          <p:nvPr/>
        </p:nvSpPr>
        <p:spPr>
          <a:xfrm>
            <a:off x="704088" y="194767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097280" y="1792224"/>
            <a:ext cx="471053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등기부등본 갑구/을구 권리관계 및 근저당 채권최고액 전액 말소 조건 원본 대조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66928" y="2542032"/>
            <a:ext cx="5368900" cy="749808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04088" y="2770632"/>
            <a:ext cx="292608" cy="292608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13" name="Text 11"/>
          <p:cNvSpPr/>
          <p:nvPr/>
        </p:nvSpPr>
        <p:spPr>
          <a:xfrm>
            <a:off x="704088" y="277063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097280" y="2615184"/>
            <a:ext cx="471053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임대차 원본 계약서 검토 (보증금, 월임대료, 관리비 실입금 내역 및 제소전화해조서)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66928" y="3364992"/>
            <a:ext cx="5368900" cy="749808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4088" y="3593592"/>
            <a:ext cx="292608" cy="292608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17" name="Text 15"/>
          <p:cNvSpPr/>
          <p:nvPr/>
        </p:nvSpPr>
        <p:spPr>
          <a:xfrm>
            <a:off x="704088" y="359359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097280" y="3438144"/>
            <a:ext cx="471053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건축물대장상 위반건축물 등재 여부 및 불법 증축·용도변경 이행강제금 납부 이력 점검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255868" y="1719072"/>
            <a:ext cx="5368900" cy="749808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93028" y="1947672"/>
            <a:ext cx="292608" cy="292608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21" name="Text 19"/>
          <p:cNvSpPr/>
          <p:nvPr/>
        </p:nvSpPr>
        <p:spPr>
          <a:xfrm>
            <a:off x="6393028" y="194767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786220" y="1792224"/>
            <a:ext cx="471053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토지이용계획확인원상 도시계획시설 저촉, 건축선 후퇴, 지구단위계획 특별계획구역 확인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255868" y="2542032"/>
            <a:ext cx="5368900" cy="749808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93028" y="2770632"/>
            <a:ext cx="292608" cy="292608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25" name="Text 23"/>
          <p:cNvSpPr/>
          <p:nvPr/>
        </p:nvSpPr>
        <p:spPr>
          <a:xfrm>
            <a:off x="6393028" y="277063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786220" y="2615184"/>
            <a:ext cx="471053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기계식 주차기 정기 안전점검 합격증, 승강기 검사필증, 소방 완비증명서 실물 실사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255868" y="3364992"/>
            <a:ext cx="5368900" cy="749808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93028" y="3593592"/>
            <a:ext cx="292608" cy="292608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29" name="Text 27"/>
          <p:cNvSpPr/>
          <p:nvPr/>
        </p:nvSpPr>
        <p:spPr>
          <a:xfrm>
            <a:off x="6393028" y="359359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786220" y="3438144"/>
            <a:ext cx="471053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정화조 용량 대비 현 업종 적합성 및 하수도 원인자부담금 추가 부과 대상 여부 확인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66928" y="5349240"/>
            <a:ext cx="11057839" cy="457200"/>
          </a:xfrm>
          <a:prstGeom prst="rect">
            <a:avLst/>
          </a:prstGeom>
          <a:solidFill>
            <a:srgbClr val="D9B668"/>
          </a:solidFill>
          <a:ln/>
        </p:spPr>
      </p:sp>
      <p:sp>
        <p:nvSpPr>
          <p:cNvPr id="32" name="Text 30"/>
          <p:cNvSpPr/>
          <p:nvPr/>
        </p:nvSpPr>
        <p:spPr>
          <a:xfrm>
            <a:off x="749808" y="5422392"/>
            <a:ext cx="1069207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본 체크리스트는 계약 전 매수인의 안전한 자산 인수를 위한 필수 확인 사항이며, 실사(Due Diligence) 결과에 따라 매매 조건 및 잔금 일정이 조정될 수 있습니다.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진행 절차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572768"/>
            <a:ext cx="11057839" cy="3200400"/>
          </a:xfrm>
          <a:prstGeom prst="roundRect">
            <a:avLst>
              <a:gd name="adj" fmla="val 1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6384" y="1792224"/>
            <a:ext cx="438912" cy="438912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1792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86384" y="2304288"/>
            <a:ext cx="1061892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1단계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86384" y="2761488"/>
            <a:ext cx="10618927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건축사 사전 상담 및 대수선 비용 산정을 권장합니다.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건축사 사전 상담 및 대수선 비용 산정을 권장합니다.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58368"/>
            <a:ext cx="1049091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표기 기준 및 면책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6928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2D3748"/>
          </a:solidFill>
          <a:ln/>
        </p:spPr>
      </p:sp>
      <p:sp>
        <p:nvSpPr>
          <p:cNvPr id="7" name="Shape 5"/>
          <p:cNvSpPr/>
          <p:nvPr/>
        </p:nvSpPr>
        <p:spPr>
          <a:xfrm>
            <a:off x="676656" y="1572768"/>
            <a:ext cx="438912" cy="438912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8" name="Text 6"/>
          <p:cNvSpPr/>
          <p:nvPr/>
        </p:nvSpPr>
        <p:spPr>
          <a:xfrm>
            <a:off x="676656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25296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관심 표명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25296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 중개사에게 초기 관심 표명 및 상담 요청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55338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98A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301642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2D3748"/>
          </a:solidFill>
          <a:ln/>
        </p:spPr>
      </p:sp>
      <p:sp>
        <p:nvSpPr>
          <p:cNvPr id="13" name="Shape 11"/>
          <p:cNvSpPr/>
          <p:nvPr/>
        </p:nvSpPr>
        <p:spPr>
          <a:xfrm>
            <a:off x="4411370" y="1572768"/>
            <a:ext cx="438912" cy="438912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14" name="Text 12"/>
          <p:cNvSpPr/>
          <p:nvPr/>
        </p:nvSpPr>
        <p:spPr>
          <a:xfrm>
            <a:off x="4411370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60010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NDA 체결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60010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비밀유지계약 후 상세 임대차·재무 자료 제공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890053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98A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036357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2D3748"/>
          </a:solidFill>
          <a:ln/>
        </p:spPr>
      </p:sp>
      <p:sp>
        <p:nvSpPr>
          <p:cNvPr id="19" name="Shape 17"/>
          <p:cNvSpPr/>
          <p:nvPr/>
        </p:nvSpPr>
        <p:spPr>
          <a:xfrm>
            <a:off x="8146085" y="1572768"/>
            <a:ext cx="438912" cy="438912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20" name="Text 18"/>
          <p:cNvSpPr/>
          <p:nvPr/>
        </p:nvSpPr>
        <p:spPr>
          <a:xfrm>
            <a:off x="8146085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94725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 실사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94725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컨디션 및 설비 직접 확인 후 의향서(LOI) 제출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66928" y="23957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928" y="2724912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25" name="Text 23"/>
          <p:cNvSpPr/>
          <p:nvPr/>
        </p:nvSpPr>
        <p:spPr>
          <a:xfrm>
            <a:off x="566928" y="27249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공부확인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993392" y="27066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등기부·대장 등 공적 장부 직접 확인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66928" y="3127248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28" name="Text 26"/>
          <p:cNvSpPr/>
          <p:nvPr/>
        </p:nvSpPr>
        <p:spPr>
          <a:xfrm>
            <a:off x="566928" y="312724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전문가검증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993392" y="310896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세무사·감정평가사 등 전문가 확인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66928" y="3529584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31" name="Text 29"/>
          <p:cNvSpPr/>
          <p:nvPr/>
        </p:nvSpPr>
        <p:spPr>
          <a:xfrm>
            <a:off x="566928" y="352958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매도인고지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993392" y="351129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매도인이 구두 또는 서면으로 고지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66928" y="3931920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34" name="Text 32"/>
          <p:cNvSpPr/>
          <p:nvPr/>
        </p:nvSpPr>
        <p:spPr>
          <a:xfrm>
            <a:off x="566928" y="39319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중개인입력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993392" y="391363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중개인 현장 조사 및 경험 기반 입력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66928" y="4334256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37" name="Text 35"/>
          <p:cNvSpPr/>
          <p:nvPr/>
        </p:nvSpPr>
        <p:spPr>
          <a:xfrm>
            <a:off x="566928" y="433425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◇ AI추정·가정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993392" y="431596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시나리오 분석 및 AI 모델 추정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492240" y="2414016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92240" y="2724912"/>
            <a:ext cx="5129784" cy="1005840"/>
          </a:xfrm>
          <a:prstGeom prst="roundRect">
            <a:avLst>
              <a:gd name="adj" fmla="val 3636"/>
            </a:avLst>
          </a:prstGeom>
          <a:solidFill>
            <a:srgbClr val="1C2433"/>
          </a:solidFill>
          <a:ln/>
        </p:spPr>
      </p:sp>
      <p:sp>
        <p:nvSpPr>
          <p:cNvPr id="41" name="Text 39"/>
          <p:cNvSpPr/>
          <p:nvPr/>
        </p:nvSpPr>
        <p:spPr>
          <a:xfrm>
            <a:off x="6675120" y="2834640"/>
            <a:ext cx="47640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자료는 투자 권유가 아니며, 기재된 정보의 정확성을 보증하지 않습니다.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66928" y="5760720"/>
            <a:ext cx="11057839" cy="45720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43" name="Text 41"/>
          <p:cNvSpPr/>
          <p:nvPr/>
        </p:nvSpPr>
        <p:spPr>
          <a:xfrm>
            <a:off x="749808" y="5806440"/>
            <a:ext cx="106920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3EBD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리얼티빌딩 · 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2026-10-05T15:09:55Z</dcterms:created>
  <dcterms:modified xsi:type="dcterms:W3CDTF">2026-10-05T15:09:55Z</dcterms:modified>
</cp:coreProperties>
</file>