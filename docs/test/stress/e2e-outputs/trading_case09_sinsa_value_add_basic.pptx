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3D2E1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33271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98A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A2030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61D2B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E271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trading IM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66928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노후빌딩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368503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36850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노후빌딩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664208" y="368503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6" name="Text 14"/>
          <p:cNvSpPr/>
          <p:nvPr/>
        </p:nvSpPr>
        <p:spPr>
          <a:xfrm>
            <a:off x="1664208" y="36850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98억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6928" y="4187952"/>
            <a:ext cx="6858000" cy="1051560"/>
          </a:xfrm>
          <a:prstGeom prst="roundRect">
            <a:avLst>
              <a:gd name="adj" fmla="val 3478"/>
            </a:avLst>
          </a:prstGeom>
          <a:solidFill>
            <a:srgbClr val="977024"/>
          </a:solidFill>
          <a:ln w="12700">
            <a:solidFill>
              <a:srgbClr val="B98A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297680"/>
            <a:ext cx="63459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98억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투자 지표 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강남권역 소재 노후빌딩, 희망가 98억 원 — 시세차익형 매매 검토 자료입니다.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B98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98억 원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372536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37128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평당 매매가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537128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6,479,339원/평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178144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42736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시세 할인율(갭)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342736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13% 저평가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983751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8343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수익률(HPR)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148343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66928" y="309067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21868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실투자금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31520" y="343814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98억 원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3372536" y="309067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37128" y="321868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537128" y="343814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1513평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178144" y="309067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42736" y="321868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342736" y="343814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303평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8983751" y="309067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8343" y="321868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공실 현황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148343" y="343814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중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566928" y="430682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66928" y="4636008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6656" y="4709160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6656" y="4709160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207008" y="4672584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보유 전략: 98억 수준에서 단기 보유 후 시세차익 실현 시나리오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66928" y="5114544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76656" y="5187696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6656" y="5187696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207008" y="5151120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가치: 대중교통 역세권 입지, 강남권역 업무·상업 중심지 배후 수요 확보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66928" y="5593080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76656" y="5666232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6656" y="5666232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207008" y="5629656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 안정성: 안정적 임대수익 기반 투자 매물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현황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토지이용계획 · 개별공시지가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일반상업지역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08483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8483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172968" y="208483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1,000㎡ (302.5평)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84287" y="1645920"/>
            <a:ext cx="3840480" cy="1810512"/>
          </a:xfrm>
          <a:prstGeom prst="roundRect">
            <a:avLst>
              <a:gd name="adj" fmla="val 3030"/>
            </a:avLst>
          </a:prstGeom>
          <a:solidFill>
            <a:srgbClr val="BEE3F8"/>
          </a:solidFill>
          <a:ln/>
        </p:spPr>
      </p:sp>
      <p:sp>
        <p:nvSpPr>
          <p:cNvPr id="14" name="Shape 12"/>
          <p:cNvSpPr/>
          <p:nvPr/>
        </p:nvSpPr>
        <p:spPr>
          <a:xfrm>
            <a:off x="7784287" y="1700784"/>
            <a:ext cx="36576" cy="170078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5" name="Text 13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규제 및 공법 분석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967167" y="1975104"/>
            <a:ext cx="351129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일반상업지역 기준 건폐율 -% 이하, 용적률 -% 이하 적용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형상 및 도로 접면 여건 확인 기반 최적 토지이용계획 수립 가능</a:t>
            </a:r>
            <a:endParaRPr lang="en-US" sz="930" dirty="0"/>
          </a:p>
        </p:txBody>
      </p:sp>
      <p:sp>
        <p:nvSpPr>
          <p:cNvPr id="17" name="Text 15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개요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개요 및 물리 스펙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true,"mocked":true,"extractedFields":{"area_signal":"신사","asset_type":"건물명 비공개","price_band":"98억","size_signal":"580평(약 1917.4㎡)"},"extractedFacts":{"region":"신사","exactAddressCandidate":"해당 권역","assetType":"건물명 비공개","priceText":"98억","sizeText":"580평(약 1917.4㎡)","currentUse":"근린생활시설","currentUseSignal":"근린생활시설","leaseSignal":"임대중","vacancySignal":"공실없음","tenantNames":,"unitRentTexts":,"sellerMotivationText":"자산 효율화","brokerNotes":"역세권 매물"},"detectedSensitiveFields":"exact_address","ambiguousFields":,"warnings":,"areaSignal":"신사","assetType":"건물명 비공개","priceBand":"98억","sizeSignal":"580평(약 1917.4㎡)","dealType":"매각","buildingName":"건물명 비공개","exactAddress":"강남구 신사동 534-11","totalFloorArea":1917.364,"buildYear":2015,"currentUseSignal":"근린생활시설","vacancySignal":"공실 없음","fitSummary":"신사 권역 입지의 건물명 비공개 매각 물건","cautionSummary":"권리관계 및 현장 실사 확인 필요","hiddenFields":"exact_address","seller_motivation","confidence":{"areaSignal":"confirmed","assetType":"confirmed","priceBand":"confirmed","fitSummary":"ai_hypothesis"},"missingData":,"boundaryNote":"본 자료는 실거래 통계 기반 참고치입니다.","buyerType":"법인 사옥형","budgetRange":{"min":70,"max":70,"display":"98억"},"preferredRegions":"강남","성수","assetTypes":"건물명 비공개","사옥용","purchasePurpose":"사옥용 매입","mustHave":"역세권 도보 3분 이내","주차","niceToHave":"테라스","루프탑","riskTolerance":"medium","financingNote":"자본금 50% 준비","missingQuestions":"구체적인 입주 시기가 언제인가요?","선호하는 수익률이 있나요?","privacyNotes":"연락처 비공개","fitReasons":"매수자 예산(98억)에 부합하는 매물입니다.","요청하신 성수/강남 권역에 해당합니다.","cautionReasons":"요청한 용도와 달리 명도 협의가 다소 필요합니다.","recommendedNextAction":"현장 답사 제안","kakaoMessage":"안녕하세요! 요청하신 조건에 부합하는 추천 매물이 있어 안내해 드립니다. 확인해보시고 피드백 부탁드립니다.","title":"신사 역세권 도보 3분 이내 건물명 비공개 매각","shortSummary":"신사역 도보 거리의 우량 건물명 비공개 매물입니다.","dealPoints":"역세권 도보 3분 이내","개발 및 사옥 최적","cautionPoints":"권리관계 확인 필요","hiddenInfoNotice":"보증금 및 지번은 인가 후 확인 가능","gateMessage":"G1 등급 등록이 필요합니다.","kakaoText":"신사 건물명 비공개 매각 안내입니다.","exactUnitCandidate":"101호","floor":"1층","areaSqmText":"150㎡","spaceType":"office","depositText":"5000만","monthlyRentText":"400만","maintenanceFeeText":"50만","availableFromText":"즉시입주","leaseTermMonthsText":"24","incentivesText":"렌트프리(무상임대) 2개월","restrictions":,"landlordIdentity":"김성수","currentTenant":"스타트업","vacancyReason":"이전 확장","rentNegotiation":"협의 가능","region":"성수동","areaSqm":150,"deposit":5000,"monthlyRent":400,"maintenanceFee":50,"availableFrom":"즉시입주","leaseTermMonths":24,"incentives":{"렌트프리(무상임대)(무상임대)Months":2,"interiorSupport":"일부 인테리어 지원","freeRentDetail":"렌트프리(무상임대) 2개월 지원"},"shortSummaryLease":"성수역 도보 5분 거리 1층 리테일 상가 매물입니다."}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3931920"/>
            <a:ext cx="6858000" cy="548640"/>
          </a:xfrm>
          <a:prstGeom prst="rect">
            <a:avLst/>
          </a:prstGeom>
          <a:solidFill>
            <a:srgbClr val="F6F1E4"/>
          </a:solidFill>
          <a:ln w="15240">
            <a:solidFill>
              <a:srgbClr val="B886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3931920"/>
            <a:ext cx="24003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67228" y="3931920"/>
            <a:ext cx="42748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98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98억 원 (VAT 별도)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F3EBDA"/>
          </a:solidFill>
          <a:ln/>
        </p:spPr>
      </p:sp>
      <p:sp>
        <p:nvSpPr>
          <p:cNvPr id="14" name="Shape 12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5" name="Text 13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{"ok":true,"mocked":true,"extractedFields":{"area_signal":"신사","asset_type":"[건물명 비공개]","price_band":"98억","size_signal"</a:t>
            </a:r>
            <a:endParaRPr lang="en-US" sz="930" dirty="0"/>
          </a:p>
        </p:txBody>
      </p:sp>
      <p:sp>
        <p:nvSpPr>
          <p:cNvPr id="17" name="Text 15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비교사례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42019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68907" y="1645920"/>
            <a:ext cx="6855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true,"mocked":true,"extractedFields":{"area_signal":"신사","asset_type":"건물명 비공개","price_band":"98억","size_signal":"580평(약 1917.4㎡)"},"extractedFacts":{"region":"신사","exactAddressCandidate":"해당 권역","assetType":"건물명 비공개","priceText":"98억","sizeText":"580평(약 1917.4㎡)","currentUse":"근린생활시설","currentUseSignal":"근린생활시설","leaseSignal":"공실","vacancySignal":"공실 발생","tenantNames":,"unitRentTexts":,"sellerMotivationText":"자산 효율화","brokerNotes":"역세권 매물"},"detectedSensitiveFields":"exact_address","ambiguousFields":,"warnings":,"areaSignal":"신사","assetType":"건물명 비공개","priceBand":"98억","sizeSignal":"580평(약 1917.4㎡)","dealType":"매각","buildingName":"건물명 비공개","exactAddress":"강남구 신사동 534-11","totalFloorArea":1917.364,"buildYear":2015,"currentUseSignal":"근린생활시설","vacancySignal":"공실 발생","fitSummary":"신사 권역 입지의 건물명 비공개 매각 물건","cautionSummary":"권리관계 및 현장 실사 확인 필요","hiddenFields":"exact_address","seller_motivation","confidence":{"areaSignal":"confirmed","assetType":"confirmed","priceBand":"confirmed","fitSummary":"ai_hypothesis"},"missingData":,"boundaryNote":"본 자료는 실거래 통계 기반 참고치입니다.","buyerType":"법인 사옥형","budgetRange":{"min":70,"max":70,"display":"98억"},"preferredRegions":"강남","성수","assetTypes":"건물명 비공개","사옥용","purchasePurpose":"사옥용 매입","mustHave":"역세권 도보 3분 이내","주차","niceToHave":"테라스","루프탑","riskTolerance":"medium","financingNote":"자본금 50% 준비","missingQuestions":"구체적인 입주 시기가 언제인가요?","선호하는 수익률이 있나요?","privacyNotes":"연락처 비공개","fitReasons":"매수자 예산(98억)에 부합하는 매물입니다.","요청하신 성수/강남 권역에 해당합니다.","cautionReasons":"요청한 용도와 달리 명도 협의가 다소 필요합니다.","recommendedNextAction":"현장 답사 제안","kakaoMessage":"안녕하세요! 요청하신 조건에 부합하는 추천 매물이 있어 안내해 드립니다. 확인해보시고 피드백 부탁드립니다.","title":"신사 역세권 도보 3분 이내 건물명 비공개 매각","shortSummary":"신사역 도보 거리의 우량 건물명 비공개 매물입니다.","dealPoints":"역세권 도보 3분 이내","개발 및 사옥 최적","cautionPoints":"권리관계 확인 필요","hiddenInfoNotice":"보증금 및 지번은 인가 후 확인 가능","gateMessage":"G1 등급 등록이 필요합니다.","kakaoText":"신사 건물명 비공개 매각 안내입니다.","exactUnitCandidate":"101호","floor":"1층","areaSqmText":"150㎡","spaceType":"office","depositText":"5000만","monthlyRentText":"400만","maintenanceFeeText":"50만","availableFromText":"즉시입주","leaseTermMonthsText":"24","incentivesText":"렌트프리 2개월","restrictions":,"landlordIdentity":"김성수","currentTenant":"스타트업","vacancyReason":"이전 확장","rentNegotiation":"협의 가능","region":"성수동","areaSqm":150,"deposit":5000,"monthlyRent":400,"maintenanceFee":50,"availableFrom":"즉시입주","leaseTermMonths":24,"incentives":{"렌트프리(무상임대)Months":2,"interiorSupport":"일부 인테리어 지원","freeRentDetail":"렌트프리 2개월 지원"},"shortSummaryLease":"성수역 도보 5분 거리 1층 리테일 상가 매물입니다."}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거래동향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325880"/>
            <a:ext cx="11057839" cy="0"/>
          </a:xfrm>
          <a:prstGeom prst="line">
            <a:avLst/>
          </a:prstGeom>
          <a:noFill/>
          <a:ln w="19050">
            <a:solidFill>
              <a:srgbClr val="B98A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55448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68249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1901952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98억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Turnover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회전율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개요 및 물리 스펙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true,"mocked":true,"extractedFields":{"area_signal":"신사","asset_type":"건물명 비공개","price_band":"98억","size_signal":"580평(약 1917.4㎡)"},"extractedFacts":{"region":"신사","exactAddressCandidate":"해당 권역","assetType":"건물명 비공개","priceText":"98억","sizeText":"580평(약 1917.4㎡)","currentUse":"근린생활시설","currentUseSignal":"근린생활시설","leaseSignal":"임대중","vacancySignal":"공실없음","tenantNames":,"unitRentTexts":,"sellerMotivationText":"자산 효율화","brokerNotes":"역세권 매물"},"detectedSensitiveFields":"exact_address","ambiguousFields":,"warnings":,"areaSignal":"신사","assetType":"건물명 비공개","priceBand":"98억","sizeSignal":"580평(약 1917.4㎡)","dealType":"매각","buildingName":"건물명 비공개","exactAddress":"강남구 신사동 534-11","totalFloorArea":1917.364,"buildYear":2015,"currentUseSignal":"근린생활시설","vacancySignal":"공실 없음","fitSummary":"신사 권역 입지의 건물명 비공개 매각 물건","cautionSummary":"권리관계 및 현장 실사 확인 필요","hiddenFields":"exact_address","seller_motivation","confidence":{"areaSignal":"confirmed","assetType":"confirmed","priceBand":"confirmed","fitSummary":"ai_hypothesis"},"missingData":,"boundaryNote":"본 자료는 실거래 통계 기반 참고치입니다.","buyerType":"법인 사옥형","budgetRange":{"min":70,"max":70,"display":"98억"},"preferredRegions":"강남","성수","assetTypes":"건물명 비공개","사옥용","purchasePurpose":"사옥용 매입","mustHave":"역세권 도보 3분 이내","주차","niceToHave":"테라스","루프탑","riskTolerance":"medium","financingNote":"자본금 50% 준비","missingQuestions":"구체적인 입주 시기가 언제인가요?","선호하는 수익률이 있나요?","privacyNotes":"연락처 비공개","fitReasons":"매수자 예산(98억)에 부합하는 매물입니다.","요청하신 성수/강남 권역에 해당합니다.","cautionReasons":"요청한 용도와 달리 명도 협의가 다소 필요합니다.","recommendedNextAction":"현장 답사 제안","kakaoMessage":"안녕하세요! 요청하신 조건에 부합하는 추천 매물이 있어 안내해 드립니다. 확인해보시고 피드백 부탁드립니다.","title":"신사 역세권 도보 3분 이내 건물명 비공개 매각","shortSummary":"신사역 도보 거리의 우량 건물명 비공개 매물입니다.","dealPoints":"역세권 도보 3분 이내","개발 및 사옥 최적","cautionPoints":"권리관계 확인 필요","hiddenInfoNotice":"보증금 및 지번은 인가 후 확인 가능","gateMessage":"G1 등급 등록이 필요합니다.","kakaoText":"신사 건물명 비공개 매각 안내입니다.","exactUnitCandidate":"101호","floor":"1층","areaSqmText":"150㎡","spaceType":"office","depositText":"5000만","monthlyRentText":"400만","maintenanceFeeText":"50만","availableFromText":"즉시입주","leaseTermMonthsText":"24","incentivesText":"렌트프리(무상임대) 2개월","restrictions":,"landlordIdentity":"김성수","currentTenant":"스타트업","vacancyReason":"이전 확장","rentNegotiation":"협의 가능","region":"성수동","areaSqm":150,"deposit":5000,"monthlyRent":400,"maintenanceFee":50,"availableFrom":"즉시입주","leaseTermMonths":24,"incentives":{"렌트프리(무상임대)(무상임대)Months":2,"interiorSupport":"일부 인테리어 지원","freeRentDetail":"렌트프리(무상임대) 2개월 지원"},"shortSummaryLease":"성수역 도보 5분 거리 1층 리테일 상가 매물입니다."}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F3EBDA"/>
          </a:solidFill>
          <a:ln/>
        </p:spPr>
      </p:sp>
      <p:sp>
        <p:nvSpPr>
          <p:cNvPr id="11" name="Shape 9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2" name="Text 10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{"ok":true,"mocked":true,"extractedFields":{"area_signal":"신사","asset_type":"[건물명 비공개]","price_band":"98억","size_signal"</a:t>
            </a:r>
            <a:endParaRPr lang="en-US" sz="930" dirty="0"/>
          </a:p>
        </p:txBody>
      </p:sp>
      <p:sp>
        <p:nvSpPr>
          <p:cNvPr id="14" name="Text 1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개요 및 물리 스펙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true,"mocked":true,"extractedFields":{"area_signal":"신사","asset_type":"건물명 비공개","price_band":"98억","size_signal":"580평(약 1917.4㎡)"},"extractedFacts":{"region":"신사","exactAddressCandidate":"해당 권역","assetType":"건물명 비공개","priceText":"98억","sizeText":"580평(약 1917.4㎡)","currentUse":"근린생활시설","currentUseSignal":"근린생활시설","leaseSignal":"공실","vacancySignal":"공실 발생","tenantNames":,"unitRentTexts":,"sellerMotivationText":"자산 효율화","brokerNotes":"역세권 매물"},"detectedSensitiveFields":"exact_address","ambiguousFields":,"warnings":,"areaSignal":"신사","assetType":"건물명 비공개","priceBand":"98억","sizeSignal":"580평(약 1917.4㎡)","dealType":"매각","buildingName":"건물명 비공개","exactAddress":"강남구 신사동 534-11","totalFloorArea":1917.364,"buildYear":2015,"currentUseSignal":"근린생활시설","vacancySignal":"공실 발생","fitSummary":"신사 권역 입지의 건물명 비공개 매각 물건","cautionSummary":"권리관계 및 현장 실사 확인 필요","hiddenFields":"exact_address","seller_motivation","confidence":{"areaSignal":"confirmed","assetType":"confirmed","priceBand":"confirmed","fitSummary":"ai_hypothesis"},"missingData":,"boundaryNote":"본 자료는 실거래 통계 기반 참고치입니다.","buyerType":"법인 사옥형","budgetRange":{"min":70,"max":70,"display":"98억"},"preferredRegions":"강남","성수","assetTypes":"건물명 비공개","사옥용","purchasePurpose":"사옥용 매입","mustHave":"역세권 도보 3분 이내","주차","niceToHave":"테라스","루프탑","riskTolerance":"medium","financingNote":"자본금 50% 준비","missingQuestions":"구체적인 입주 시기가 언제인가요?","선호하는 수익률이 있나요?","privacyNotes":"연락처 비공개","fitReasons":"매수자 예산(98억)에 부합하는 매물입니다.","요청하신 성수/강남 권역에 해당합니다.","cautionReasons":"요청한 용도와 달리 명도 협의가 다소 필요합니다.","recommendedNextAction":"현장 답사 제안","kakaoMessage":"안녕하세요! 요청하신 조건에 부합하는 추천 매물이 있어 안내해 드립니다. 확인해보시고 피드백 부탁드립니다.","title":"신사 역세권 도보 3분 이내 건물명 비공개 매각","shortSummary":"신사역 도보 거리의 우량 건물명 비공개 매물입니다.","dealPoints":"역세권 도보 3분 이내","개발 및 사옥 최적","cautionPoints":"권리관계 확인 필요","hiddenInfoNotice":"보증금 및 지번은 인가 후 확인 가능","gateMessage":"G1 등급 등록이 필요합니다.","kakaoText":"신사 건물명 비공개 매각 안내입니다.","exactUnitCandidate":"101호","floor":"1층","areaSqmText":"150㎡","spaceType":"office","depositText":"5000만","monthlyRentText":"400만","maintenanceFeeText":"50만","availableFromText":"즉시입주","leaseTermMonthsText":"24","incentivesText":"렌트프리(무상임대) 2개월","restrictions":,"landlordIdentity":"김성수","currentTenant":"스타트업","vacancyReason":"이전 확장","rentNegotiation":"협의 가능","region":"성수동","areaSqm":150,"deposit":5000,"monthlyRent":400,"maintenanceFee":50,"availableFrom":"즉시입주","leaseTermMonths":24,"incentives":{"렌트프리(무상임대)(무상임대)Months":2,"interiorSupport":"일부 인테리어 지원","freeRentDetail":"렌트프리(무상임대) 2개월 지원"},"shortSummaryLease":"성수역 도보 5분 거리 1층 리테일 상가 매물입니다."}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F3EBDA"/>
          </a:solidFill>
          <a:ln/>
        </p:spPr>
      </p:sp>
      <p:sp>
        <p:nvSpPr>
          <p:cNvPr id="11" name="Shape 9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2" name="Text 10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{"ok":true,"mocked":true,"extractedFields":{"area_signal":"신사","asset_type":"[건물명 비공개]","price_band":"98억","size_signal"</a:t>
            </a:r>
            <a:endParaRPr lang="en-US" sz="930" dirty="0"/>
          </a:p>
        </p:txBody>
      </p:sp>
      <p:sp>
        <p:nvSpPr>
          <p:cNvPr id="14" name="Text 1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자본구조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5391760" cy="4389120"/>
          </a:xfrm>
          <a:prstGeom prst="roundRect">
            <a:avLst>
              <a:gd name="adj" fmla="val 125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618488"/>
            <a:ext cx="493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총취득원가 및 자기자본 소요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95528" y="2011680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 (A)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670661" y="2011680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98.0억 원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5528" y="2487168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2487168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취득세 (4.6% 법정)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670661" y="2487168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4.51억 원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95528" y="2962656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2962656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중개보수 (0.9% 한도)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670661" y="2962656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0.88억 원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5528" y="3438144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" y="3438144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총취득원가 (A + 세/비용)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670661" y="3438144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103.4억 원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95528" y="3913632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913632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(-) 임대보증금 승계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670661" y="3913632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4.9억 원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95528" y="4389120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" y="4389120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(-) 담보대출 조달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670661" y="4389120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49.0억 원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95528" y="4864608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" y="4864608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실투자금 (Net Equity)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670661" y="4864608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49.5억 원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33008" y="1417320"/>
            <a:ext cx="5391760" cy="4389120"/>
          </a:xfrm>
          <a:prstGeom prst="roundRect">
            <a:avLst>
              <a:gd name="adj" fmla="val 125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61608" y="1618488"/>
            <a:ext cx="493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LTV 시나리오별 레버리지 효과</a:t>
            </a:r>
            <a:endParaRPr lang="en-US" sz="13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61608" y="2057400"/>
          <a:ext cx="49345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05840"/>
                <a:gridCol w="1280160"/>
                <a:gridCol w="1280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대출비율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실투자금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예상수익률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전액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자기자본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(무차입)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98.5억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1.34%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보수적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(안정형)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59.3억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0.00%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표준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(기본형)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49.5억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0.00%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적극적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(레버리지)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39.7억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0.00%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31" name="Shape 28"/>
          <p:cNvSpPr/>
          <p:nvPr/>
        </p:nvSpPr>
        <p:spPr>
          <a:xfrm>
            <a:off x="6461608" y="4069080"/>
            <a:ext cx="4934560" cy="1463040"/>
          </a:xfrm>
          <a:prstGeom prst="roundRect">
            <a:avLst>
              <a:gd name="adj" fmla="val 3750"/>
            </a:avLst>
          </a:prstGeom>
          <a:solidFill>
            <a:srgbClr val="FEEBC8"/>
          </a:solidFill>
          <a:ln/>
        </p:spPr>
      </p:sp>
      <p:sp>
        <p:nvSpPr>
          <p:cNvPr id="32" name="Shape 29"/>
          <p:cNvSpPr/>
          <p:nvPr/>
        </p:nvSpPr>
        <p:spPr>
          <a:xfrm>
            <a:off x="6461608" y="4123944"/>
            <a:ext cx="36576" cy="1353312"/>
          </a:xfrm>
          <a:prstGeom prst="rect">
            <a:avLst/>
          </a:prstGeom>
          <a:solidFill>
            <a:srgbClr val="9C4221"/>
          </a:solidFill>
          <a:ln/>
        </p:spPr>
      </p:sp>
      <p:sp>
        <p:nvSpPr>
          <p:cNvPr id="33" name="Text 30"/>
          <p:cNvSpPr/>
          <p:nvPr/>
        </p:nvSpPr>
        <p:spPr>
          <a:xfrm>
            <a:off x="6644488" y="4178808"/>
            <a:ext cx="460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C42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역레버리지 유의 구간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6644488" y="4398264"/>
            <a:ext cx="460537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차입 금리가 자산 총수익률을 상회하여 대출 실행 시 자기자본수익률이 하락할 수 있습니다. 에쿼티 비중 확대를 권장합니다.</a:t>
            </a:r>
            <a:endParaRPr lang="en-US" sz="930" dirty="0"/>
          </a:p>
        </p:txBody>
      </p:sp>
      <p:sp>
        <p:nvSpPr>
          <p:cNvPr id="35" name="Text 3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리스크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11057839" cy="3657600"/>
          </a:xfrm>
          <a:prstGeom prst="roundRect">
            <a:avLst>
              <a:gd name="adj" fmla="val 15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417320"/>
            <a:ext cx="11057839" cy="45720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618488"/>
            <a:ext cx="106006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 리스크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5528" y="1947672"/>
            <a:ext cx="106006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95528" y="2377440"/>
            <a:ext cx="10600639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{"ok":true,"mocked":true,"extractedFields":{"area_signal":"신사","asset_type":"[건물명 비공개]","price_band":"98억","size_signal":"580평(약 1917.4㎡)"},"extractedFacts":{"region":"신사","exactAddressCandidate":"해당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5193792"/>
            <a:ext cx="11057839" cy="621792"/>
          </a:xfrm>
          <a:prstGeom prst="roundRect">
            <a:avLst>
              <a:gd name="adj" fmla="val 882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5193792"/>
            <a:ext cx="106006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리스크 체크는 공부 및 브로커 확인 기반이며, 매수 전 전문 실사팀(변호사/건축사)을 통한 정밀 실사가 필요합니다.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체크리스트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 안정성 확보를 위한 필수 법률·물리·임대차 실사 점검 항목 (총 8건)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719072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" y="1883664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9" name="Text 7"/>
          <p:cNvSpPr/>
          <p:nvPr/>
        </p:nvSpPr>
        <p:spPr>
          <a:xfrm>
            <a:off x="704088" y="18836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15568" y="1810512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66928" y="2715768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4088" y="2880360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3" name="Text 11"/>
          <p:cNvSpPr/>
          <p:nvPr/>
        </p:nvSpPr>
        <p:spPr>
          <a:xfrm>
            <a:off x="704088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15568" y="2807208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6928" y="3712464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" y="3877056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" y="38770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15568" y="3803904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66928" y="4709160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4088" y="4873752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" y="48737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15568" y="4800600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55868" y="1719072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93028" y="1883664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5" name="Text 23"/>
          <p:cNvSpPr/>
          <p:nvPr/>
        </p:nvSpPr>
        <p:spPr>
          <a:xfrm>
            <a:off x="6393028" y="18836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04508" y="1810512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55868" y="2715768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93028" y="2880360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9" name="Text 27"/>
          <p:cNvSpPr/>
          <p:nvPr/>
        </p:nvSpPr>
        <p:spPr>
          <a:xfrm>
            <a:off x="6393028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04508" y="2807208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255868" y="3712464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93028" y="3877056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33" name="Text 31"/>
          <p:cNvSpPr/>
          <p:nvPr/>
        </p:nvSpPr>
        <p:spPr>
          <a:xfrm>
            <a:off x="6393028" y="38770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04508" y="3803904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255868" y="4709160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93028" y="4873752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37" name="Text 35"/>
          <p:cNvSpPr/>
          <p:nvPr/>
        </p:nvSpPr>
        <p:spPr>
          <a:xfrm>
            <a:off x="6393028" y="48737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804508" y="4800600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66928" y="5760720"/>
            <a:ext cx="11057839" cy="594360"/>
          </a:xfrm>
          <a:prstGeom prst="rect">
            <a:avLst/>
          </a:prstGeom>
          <a:solidFill>
            <a:srgbClr val="D9B668"/>
          </a:solidFill>
          <a:ln/>
        </p:spPr>
      </p:sp>
      <p:sp>
        <p:nvSpPr>
          <p:cNvPr id="40" name="Text 38"/>
          <p:cNvSpPr/>
          <p:nvPr/>
        </p:nvSpPr>
        <p:spPr>
          <a:xfrm>
            <a:off x="749808" y="5833872"/>
            <a:ext cx="10692079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체크리스트는 계약 전 매수인의 안전한 자산 인수를 위한 필수 확인 사항이며, 실사(Due Diligence) 결과에 따라 매매 조건 및 잔금 일정이 조정될 수 있습니다.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절차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11057839" cy="3200400"/>
          </a:xfrm>
          <a:prstGeom prst="roundRect">
            <a:avLst>
              <a:gd name="adj" fmla="val 1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1792224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384" y="2304288"/>
            <a:ext cx="1061892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1단계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6384" y="2761488"/>
            <a:ext cx="10618927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true,"mocked":true,"extractedFields":{"area_signal":"신사","asset_type":"[건물명 비공개]","price_band":"98억","size_signal":"580평(약 1917.4㎡)"},"extractedFacts":{"region":"신사","exactAddressCandidate":"해당 권역","assetType":"[건물명 비공개]","priceText":"98억","sizeText":"580평(약 1917.4㎡)","currentUse":"근린생활시설","currentUseSignal":"근린생활시설","leaseSignal":"임대중","vacancySignal":"공실없음","tenantNames":[],"unitRentTexts":[],"sellerMotivationText":"자산 효율화","brokerNotes":["역세권 매물"]},"detectedSensitiveFields":["exact_address"],"ambiguousFields":[],"warnings":[],"areaSignal":"신사","assetType":"[건물명 비공개]","priceBand":"98억","sizeSignal":"580평(약 1917.4㎡)","dealType":"매각","buildingName":"[건물명 비공개]","exactAddress":"강남구 신사동 534-11","totalFloorArea":1917.364,"buildYear":2015,"currentUseSignal":"근린생활시설","vacancySignal":"공실 없음","fitSummary":"신사 권역 입지의 [건물명 비공개] 매각 물건","cautionSummary":"권리관계 및 현장 실사 확인 필요","hiddenFields":["exact_address","seller_motivation"],"confidence":{"areaSignal":"confirmed","assetType":"confirmed","priceBand":"confirmed","fitSummary":"ai_hypothesis"},"missingData":[],"boundaryNote":"본 자료는 실거래 통계 기반 참고치입니다.","buyerType":"법인 사옥형","budgetRange":{"min":70,"max":70,"display":"98억"},"preferredRegions":["강남","성수"],"assetTypes":["[건물명 비공개]","사옥용"],"purchasePurpose":"사옥용 매입","mustHave":["역세권 도보 3분 이내","주차"],"niceToHave":["테라스","루프탑"],"riskTolerance":"medium","financingNote":"자본금 50% 준비","missingQuestions":["구체적인 입주 시기가 언제인가요?","선호하는 수익률이 있나요?"],"privacyNotes":["연락처 비공개"],"fitReasons":["매수자 예산(98억)에 부합하는 매물입니다.","요청하신 성수/강남 권역에 해당합니다."],"cautionReasons":["요청한 용도와 달리 명도 협의가 다소 필요합니다."],"recommendedNextAction":"현장 답사 제안","kakaoMessage":"안녕하세요! 요청하신 조건에 부합하는 추천 매물이 있어 안내해 드립니다. 확인해보시고 피드백 부탁드립니다.","title":"신사 역세권 도보 3분 이내 [건물명 비공개] 매각","shortSummary":"신사역 도보 거리의 우량 [건물명 비공개] 매물입니다.","dealPoints":["역세권 도보 3분 이내","개발 및 사옥 최적"],"cautionPoints":["권리관계 확인 필요"],"hiddenInfoNotice":["보증금 및 지번은 인가 후 확인 가능"],"gateMessage":"G1 등급 등록이 필요합니다.","kakaoText":"신사 [건물명 비공개] 매각 안내입니다.","exactUnitCandidate":"101호","floor":"1층","areaSqmText":"150㎡","spaceType":"office","depositText":"5000만","monthlyRentText":"400만","maintenanceFeeText":"50만","availableFromText":"즉시입주","leaseTermMonthsText":"24","incentivesText":"렌트프리(무상임대) 2개월","restrictions":[],"landlordIdentity":"김성수","currentTenant":"스타트업","vacancyReason":"이전 확장","rentNegotiation":"협의 가능","region":"성수동","areaSqm":150,"deposit":5000,"monthlyRent":400,"maintenanceFee":50,"availableFrom":"즉시입주","leaseTermMonths":24,"incentives":{"렌트프리(무상임대)(무상임대)Months":2,"interiorSupport":"일부 인테리어 지원","freeRentDetail":"렌트프리(무상임대) 2개월 지원"},"shortSummaryLease":"성수역 도보 5분 거리 1층 리테일 상가 매물입니다."}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7" name="Shape 5"/>
          <p:cNvSpPr/>
          <p:nvPr/>
        </p:nvSpPr>
        <p:spPr>
          <a:xfrm>
            <a:off x="676656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25296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25296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55338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8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01642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13" name="Shape 11"/>
          <p:cNvSpPr/>
          <p:nvPr/>
        </p:nvSpPr>
        <p:spPr>
          <a:xfrm>
            <a:off x="4411370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14" name="Text 12"/>
          <p:cNvSpPr/>
          <p:nvPr/>
        </p:nvSpPr>
        <p:spPr>
          <a:xfrm>
            <a:off x="441137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60010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60010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90053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8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36357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19" name="Shape 17"/>
          <p:cNvSpPr/>
          <p:nvPr/>
        </p:nvSpPr>
        <p:spPr>
          <a:xfrm>
            <a:off x="8146085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20" name="Text 18"/>
          <p:cNvSpPr/>
          <p:nvPr/>
        </p:nvSpPr>
        <p:spPr>
          <a:xfrm>
            <a:off x="8146085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94725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94725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6928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93392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66928" y="320040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" y="32004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93392" y="31821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6928" y="367588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" y="36758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93392" y="36576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6928" y="415137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" y="41513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93392" y="41330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6928" y="462686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7" name="Text 35"/>
          <p:cNvSpPr/>
          <p:nvPr/>
        </p:nvSpPr>
        <p:spPr>
          <a:xfrm>
            <a:off x="566928" y="46268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993392" y="46085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414016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2724912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C2433"/>
          </a:solidFill>
          <a:ln/>
        </p:spPr>
      </p:sp>
      <p:sp>
        <p:nvSpPr>
          <p:cNvPr id="41" name="Text 39"/>
          <p:cNvSpPr/>
          <p:nvPr/>
        </p:nvSpPr>
        <p:spPr>
          <a:xfrm>
            <a:off x="6675120" y="2834640"/>
            <a:ext cx="4764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43" name="Text 41"/>
          <p:cNvSpPr/>
          <p:nvPr/>
        </p:nvSpPr>
        <p:spPr>
          <a:xfrm>
            <a:off x="749808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자료의 모든 수치는 예비 검토용이며, 상세 실사 자료 및 비밀 상담은 담당 전문 중개사를 통해 제공됩니다.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공부 발췌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 표제부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5,000㎡ (1512.5평)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BEE3F8"/>
          </a:solidFill>
          <a:ln/>
        </p:spPr>
      </p:sp>
      <p:sp>
        <p:nvSpPr>
          <p:cNvPr id="11" name="Shape 9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2" name="Text 10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자산 개요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도심 비즈니스 권역 소재 우량 투자 자산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대중교통 접근성 및 주변 상업·업무 인프라 밀집 지역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 및 토지이용계획 기준 권리관계 정상 확인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BEE3F8"/>
          </a:solidFill>
          <a:ln/>
        </p:spPr>
      </p:sp>
      <p:sp>
        <p:nvSpPr>
          <p:cNvPr id="15" name="Shape 13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6" name="Text 14"/>
          <p:cNvSpPr/>
          <p:nvPr/>
        </p:nvSpPr>
        <p:spPr>
          <a:xfrm>
            <a:off x="7967167" y="40873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수익 및 운영 현황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967167" y="4306824"/>
            <a:ext cx="351129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 수익형 자산으로 안정적 캐시플로우 확보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임차인 계약 유지 중으로 즉시 수익 실현 가능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관리비 및 수선유지 비용 정상 운영 상태</a:t>
            </a: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2026-09-17T08:53:49Z</dcterms:created>
  <dcterms:modified xsi:type="dcterms:W3CDTF">2026-09-17T08:53:49Z</dcterms:modified>
</cp:coreProperties>
</file>