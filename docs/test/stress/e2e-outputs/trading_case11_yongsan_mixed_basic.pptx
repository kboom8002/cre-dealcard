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BASIC IM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trading IM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복합구옥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복합구옥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43억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43억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용산권역 내 복합구옥, 매각 희망가 43억. 입지·임대차 현황을 감안할 때 투자 검토 가치가 있는 물건입니다.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43억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37710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4170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평당 매매가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54170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2,842,971원/평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18728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5188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시세 할인율(갭)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35188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13.1% 저평가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8997467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62059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목표 수익률(HPR)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162059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20%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566928" y="350215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66928" y="383133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76656" y="394106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6656" y="394106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207008" y="3904488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원금 안전판: 용산권역 핵심 입지 및 우량 대지 지분 가치로 하방 경직성 확보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526280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76656" y="463600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656" y="463600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207008" y="4599432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 안정성: 매각 희망가 43억 대비 안정적인 월 임대수익 창출 구조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66928" y="522122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76656" y="533095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6656" y="533095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207008" y="5294376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미래 가치: 향후 권역 지가 상승 및 공법상 잔여 용적률 활용 밸류업 기회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입지, 투자할 만한 곳인가</a:t>
            </a:r>
            <a:endParaRPr lang="en-US" sz="2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81328"/>
            <a:ext cx="5120640" cy="4114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053328" y="1481328"/>
            <a:ext cx="2117147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교통 접근성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8170475" y="1481328"/>
            <a:ext cx="345429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{"ok":true,"mocked":true,"extractedFields":{"area_signal":"역삼","asset_type":"오피스빌딩","price_band":"300억","size_signal":"3000평(약 9917.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566928" y="1481328"/>
            <a:ext cx="11057839" cy="9692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효율화","brokerNotes":["초역세권 매물"]},"detectedSensitiveFields":["exact_address","tenant_name"],"ambiguousFields":[],"warnings":[],"areaSignal":"역삼","assetType":"오피스빌딩","priceBand":"300억","sizeSignal":"3000평(약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 업종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사옥형","budgetRange":{"min":50,"max":80,"display":"50억~80억"},"preferredRegions":["강남","성수"],"assetTypes":["꼬마빌딩","사옥용"],"purchasePurpose":"사옥용 매입","mustHave":["초역세권","주차"],"niceToHave":["테라스","루프탑"],"riskTolerance":"medium","financingNote":"자본금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오피스빌딩입니다.","dealPoints":["초역세권","사옥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매물, 어떤 자산인가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소재지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용산권역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66928" y="20482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48256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용도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172968" y="2048256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근린생활시설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66928" y="245059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" y="2450592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172968" y="2450592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5,000㎡ (약 1513평(약 5001.7㎡))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66928" y="2852928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66928" y="2852928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3172968" y="2852928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1,000㎡ (약 303평(약 1001.7㎡))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66928" y="3255264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66928" y="3255264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용도지역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3172968" y="3255264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일반상업지역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566928" y="3657600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66928" y="365760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승강기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3172968" y="365760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1대 (15인승 침대용)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566928" y="405993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66928" y="4059936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주차 대수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3172968" y="4059936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18대 (자주식 완비)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566928" y="446227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66928" y="4462272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주구조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3172968" y="4462272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철근콘크리트구조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566928" y="4864608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66928" y="4864608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3172968" y="4864608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43억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784287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BEE3F8"/>
          </a:solidFill>
          <a:ln/>
        </p:spPr>
      </p:sp>
      <p:sp>
        <p:nvSpPr>
          <p:cNvPr id="35" name="Shape 33"/>
          <p:cNvSpPr/>
          <p:nvPr/>
        </p:nvSpPr>
        <p:spPr>
          <a:xfrm>
            <a:off x="7784287" y="1700784"/>
            <a:ext cx="36576" cy="15361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36" name="Text 34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7967167" y="1975104"/>
            <a:ext cx="351129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매물은 용산권역 입지의 안정적 운영 자산입니다.</a:t>
            </a:r>
            <a:endParaRPr lang="en-US" sz="930" dirty="0"/>
          </a:p>
        </p:txBody>
      </p:sp>
      <p:sp>
        <p:nvSpPr>
          <p:cNvPr id="38" name="Text 3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Position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시장 내 자산 위치와 가격 경쟁력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효율화","brokerNotes":"초역세권 매물"},"detectedSensitiveFields":"exact_address","tenant_name","ambiguousFields":,"warnings":,"areaSignal":"역삼","assetType":"오피스빌딩","priceBand":"300억","sizeSignal":"3000평(약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 업종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사옥형","budgetRange":{"min":50,"max":80,"display":"50억~80억"},"preferredRegions":"강남","성수","assetTypes":"꼬마빌딩","사옥용","purchasePurpose":"사옥용 매입","mustHave":"초역세권","주차","niceToHave":"테라스","루프탑","riskTolerance":"medium","financingNote":"자본금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오피스빌딩입니다.","dealPoints":"초역세권","사옥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유사 거래 사례 및 비교 분석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645920"/>
            <a:ext cx="42019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768907" y="1645920"/>
            <a:ext cx="68558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효율화","brokerNotes":"초역세권 매물"},"detectedSensitiveFields":"exact_address","tenant_name","ambiguousFields":,"warnings":,"areaSignal":"역삼","assetType":"오피스빌딩","priceBand":"300억","sizeSignal":"3000평(약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 업종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사옥형","budgetRange":{"min":50,"max":80,"display":"50억~80억"},"preferredRegions":"강남","성수","assetTypes":"꼬마빌딩","사옥용","purchasePurpose":"사옥용 매입","mustHave":"초역세권","주차","niceToHave":"테라스","루프탑","riskTolerance":"medium","financingNote":"자본금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오피스빌딩입니다.","dealPoints":"초역세권","사옥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리스크는 무엇이고 대응책은 있는가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11057839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11057839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106006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 리스크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47672"/>
            <a:ext cx="106006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—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10600639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{"ok":true,"mocked":true,"extractedFields":{"area_signal":"역삼","asset_type":"오피스빌딩","price_band":"300억","size_signal":"3000평(약 9917.4㎡)"},"extractedFacts":{"region":"역삼","exactAddressCandidate":"역삼동 7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6928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95528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왜 지금 이 매물을 사야 하는가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1133856" y="1005840"/>
            <a:ext cx="1049091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481328"/>
            <a:ext cx="3472586" cy="2560320"/>
          </a:xfrm>
          <a:prstGeom prst="roundRect">
            <a:avLst>
              <a:gd name="adj" fmla="val 2857"/>
            </a:avLst>
          </a:prstGeom>
          <a:solidFill>
            <a:srgbClr val="F7FAFC"/>
          </a:solidFill>
          <a:ln w="10160">
            <a:solidFill>
              <a:srgbClr val="CBD5E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481328"/>
            <a:ext cx="3472586" cy="54864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9" name="Shape 7"/>
          <p:cNvSpPr/>
          <p:nvPr/>
        </p:nvSpPr>
        <p:spPr>
          <a:xfrm>
            <a:off x="795528" y="1755648"/>
            <a:ext cx="475488" cy="292608"/>
          </a:xfrm>
          <a:prstGeom prst="roundRect">
            <a:avLst>
              <a:gd name="adj" fmla="val 12500"/>
            </a:avLst>
          </a:prstGeom>
          <a:solidFill>
            <a:srgbClr val="D9B668"/>
          </a:solidFill>
          <a:ln/>
        </p:spPr>
      </p:sp>
      <p:sp>
        <p:nvSpPr>
          <p:cNvPr id="10" name="Text 8"/>
          <p:cNvSpPr/>
          <p:nvPr/>
        </p:nvSpPr>
        <p:spPr>
          <a:xfrm>
            <a:off x="795528" y="1755648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795528" y="2194560"/>
            <a:ext cx="30153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원금 안전판 확보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95528" y="2624328"/>
            <a:ext cx="3015386" cy="0"/>
          </a:xfrm>
          <a:prstGeom prst="line">
            <a:avLst/>
          </a:prstGeom>
          <a:noFill/>
          <a:ln w="635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95528" y="2779776"/>
            <a:ext cx="301538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용산권역의 핵심 입지로, 우량한 대지 지분 가치가 하방 경직성을 강력히 지지합니다.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359554" y="1481328"/>
            <a:ext cx="3472586" cy="2560320"/>
          </a:xfrm>
          <a:prstGeom prst="roundRect">
            <a:avLst>
              <a:gd name="adj" fmla="val 2857"/>
            </a:avLst>
          </a:prstGeom>
          <a:solidFill>
            <a:srgbClr val="F7FAFC"/>
          </a:solidFill>
          <a:ln w="10160">
            <a:solidFill>
              <a:srgbClr val="CBD5E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359554" y="1481328"/>
            <a:ext cx="3472586" cy="54864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16" name="Shape 14"/>
          <p:cNvSpPr/>
          <p:nvPr/>
        </p:nvSpPr>
        <p:spPr>
          <a:xfrm>
            <a:off x="4588154" y="1755648"/>
            <a:ext cx="475488" cy="292608"/>
          </a:xfrm>
          <a:prstGeom prst="roundRect">
            <a:avLst>
              <a:gd name="adj" fmla="val 12500"/>
            </a:avLst>
          </a:prstGeom>
          <a:solidFill>
            <a:srgbClr val="D9B668"/>
          </a:solidFill>
          <a:ln/>
        </p:spPr>
      </p:sp>
      <p:sp>
        <p:nvSpPr>
          <p:cNvPr id="17" name="Text 15"/>
          <p:cNvSpPr/>
          <p:nvPr/>
        </p:nvSpPr>
        <p:spPr>
          <a:xfrm>
            <a:off x="4588154" y="1755648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588154" y="2194560"/>
            <a:ext cx="30153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확실한 월 현금흐름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4588154" y="2624328"/>
            <a:ext cx="3015386" cy="0"/>
          </a:xfrm>
          <a:prstGeom prst="line">
            <a:avLst/>
          </a:prstGeom>
          <a:noFill/>
          <a:ln w="6350">
            <a:solidFill>
              <a:srgbClr val="CBD5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88154" y="2779776"/>
            <a:ext cx="301538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우량 테넌트 만실 운영 및 장기 임대차 구조를 기반으로 매월 안정적인 순영업소득(NOI) 창출이 기대됩니다.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8152181" y="1481328"/>
            <a:ext cx="3472586" cy="2560320"/>
          </a:xfrm>
          <a:prstGeom prst="roundRect">
            <a:avLst>
              <a:gd name="adj" fmla="val 2857"/>
            </a:avLst>
          </a:prstGeom>
          <a:solidFill>
            <a:srgbClr val="F7FAFC"/>
          </a:solidFill>
          <a:ln w="10160">
            <a:solidFill>
              <a:srgbClr val="CBD5E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152181" y="1481328"/>
            <a:ext cx="3472586" cy="54864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23" name="Shape 21"/>
          <p:cNvSpPr/>
          <p:nvPr/>
        </p:nvSpPr>
        <p:spPr>
          <a:xfrm>
            <a:off x="8380781" y="1755648"/>
            <a:ext cx="475488" cy="292608"/>
          </a:xfrm>
          <a:prstGeom prst="roundRect">
            <a:avLst>
              <a:gd name="adj" fmla="val 12500"/>
            </a:avLst>
          </a:prstGeom>
          <a:solidFill>
            <a:srgbClr val="D9B668"/>
          </a:solidFill>
          <a:ln/>
        </p:spPr>
      </p:sp>
      <p:sp>
        <p:nvSpPr>
          <p:cNvPr id="24" name="Text 22"/>
          <p:cNvSpPr/>
          <p:nvPr/>
        </p:nvSpPr>
        <p:spPr>
          <a:xfrm>
            <a:off x="8380781" y="1755648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8380781" y="2194560"/>
            <a:ext cx="30153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가치 상승 및 출구 전략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8380781" y="2624328"/>
            <a:ext cx="3015386" cy="0"/>
          </a:xfrm>
          <a:prstGeom prst="line">
            <a:avLst/>
          </a:prstGeom>
          <a:noFill/>
          <a:ln w="6350">
            <a:solidFill>
              <a:srgbClr val="CBD5E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380781" y="2779776"/>
            <a:ext cx="301538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현행 공법 여력을 활용한 밸류업 기회와 더불어 향후 권역 지가 상승에 따른 시세차익 실현이 유력합니다.</a:t>
            </a:r>
            <a:endParaRPr lang="en-US" sz="1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4178808"/>
          <a:ext cx="11057839" cy="914400"/>
        </p:xfrm>
        <a:graphic>
          <a:graphicData uri="http://schemas.openxmlformats.org/drawingml/2006/table">
            <a:tbl>
              <a:tblPr/>
              <a:tblGrid>
                <a:gridCol w="3685946"/>
                <a:gridCol w="3685946"/>
                <a:gridCol w="3685946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유형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적합도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이유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(임대수익)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★★★★★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소형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빌딩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안정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수익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최적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법인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사옥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이전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★★★★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용산권역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직주근접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소규모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개발업체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★★★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밸류업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후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매각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시나리오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9" name="Shape 26"/>
          <p:cNvSpPr/>
          <p:nvPr/>
        </p:nvSpPr>
        <p:spPr>
          <a:xfrm>
            <a:off x="566928" y="5678424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49808" y="5788152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31" name="Text 28"/>
          <p:cNvSpPr/>
          <p:nvPr/>
        </p:nvSpPr>
        <p:spPr>
          <a:xfrm>
            <a:off x="2487168" y="5751576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[참고] 종합 가치 제안: 용산권역 핵심 상권의 희소성 높은 우량 자산으로, 안정적인 임대 수익과 향후 공법상 밸류업 및 권역 지가 상승에 따른 자본 이득(Capital Gain)을 동시에 실현할 수 있는 전략적 매물입니다.</a:t>
            </a:r>
            <a:endParaRPr lang="en-US" sz="1100" dirty="0"/>
          </a:p>
        </p:txBody>
      </p:sp>
      <p:sp>
        <p:nvSpPr>
          <p:cNvPr id="32" name="Text 2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3" name="Text 3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검토 후 다음 단계는 무엇인가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효율화","brokerNotes":["초역세권 매물"]},"detectedSensitiveFields":["exact_address","tenant_name"],"ambiguousFields":[],"warnings":[],"areaSignal":"역삼","assetType":"오피스빌딩","priceBand":"300억","sizeSignal":"3000평(약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 업종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사옥형","budgetRange":{"min":50,"max":80,"display":"50억~80억"},"preferredRegions":["강남","성수"],"assetTypes":["꼬마빌딩","사옥용"],"purchasePurpose":"사옥용 매입","mustHave":["초역세권","주차"],"niceToHave":["테라스","루프탑"],"riskTolerance":"medium","financingNote":"자본금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오피스빌딩입니다.","dealPoints":["초역세권","사옥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Disclaimer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자료의 모든 수치는 예비 검토용이며, 상세 실사 자료 및 비밀 상담은 담당 전문 중개사를 통해 제공됩니다.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2026-08-23T11:28:46Z</dcterms:created>
  <dcterms:modified xsi:type="dcterms:W3CDTF">2026-08-23T11:28:46Z</dcterms:modified>
</cp:coreProperties>
</file>