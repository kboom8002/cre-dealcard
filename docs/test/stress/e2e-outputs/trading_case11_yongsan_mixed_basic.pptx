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6B8E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 rot="120000">
            <a:off x="8412480" y="548640"/>
            <a:ext cx="3291840" cy="5760720"/>
          </a:xfrm>
          <a:prstGeom prst="rect">
            <a:avLst/>
          </a:prstGeom>
          <a:solidFill>
            <a:srgbClr val="0F172A">
              <a:alpha val="12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0" y="53035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상업용 부동산 투자 플랫폼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trading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복합구옥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복합구옥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43억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4F6A00"/>
          </a:solidFill>
          <a:ln w="12700">
            <a:solidFill>
              <a:srgbClr val="6B8E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8F5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43억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Summary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용산권역 내 복합구옥, 매각 희망가 43억. 입지·임대차 현황을 감안할 때 투자 검토 가치가 있는 물건입니다.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6B8E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43억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2,842,971원/평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시세 할인율(갭)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13.1% 저평가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수익률(HPR)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2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Location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053328" y="1481328"/>
            <a:ext cx="5571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및 도로 접근성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6053328" y="1801368"/>
            <a:ext cx="21171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지하철 접근성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170475" y="1801368"/>
            <a:ext cx="34542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강남역(2호선·신분당선) 및 양재역(3호선) 더블역세권 도보 4분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053328" y="2240280"/>
            <a:ext cx="5571439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053328" y="2240280"/>
            <a:ext cx="21171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도로 접면 조건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170475" y="2240280"/>
            <a:ext cx="34542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서초대로 25m 메인 대로변 접면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053328" y="2679192"/>
            <a:ext cx="5571439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053328" y="2679192"/>
            <a:ext cx="21171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차량 진출입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8170475" y="2679192"/>
            <a:ext cx="34542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경부고속도로 서초IC 및 테헤란로 3분 내 진입 가능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053328" y="3118104"/>
            <a:ext cx="5571439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053328" y="3118104"/>
            <a:ext cx="21171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배후 수요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8170475" y="3118104"/>
            <a:ext cx="34542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 테헤란로 IT밸리 및 서초 법조타운 오피스 상주인구 30만 배후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053328" y="3557016"/>
            <a:ext cx="5571439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053328" y="3557016"/>
            <a:ext cx="21171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의료 상권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170475" y="3557016"/>
            <a:ext cx="34542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1층 약국 및 상층부 안과·피부과 전문의원 집적 의료 특화 상권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053328" y="3995928"/>
            <a:ext cx="5571439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053328" y="3995928"/>
            <a:ext cx="21171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편의 인프라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8170475" y="3995928"/>
            <a:ext cx="34542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반경 300m 내 주요 임차 업종, 은행, 대형 베이커리 밀집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3</a:t>
            </a:r>
            <a:endParaRPr lang="en-US" sz="750" dirty="0"/>
          </a:p>
        </p:txBody>
      </p:sp>
      <p:sp>
        <p:nvSpPr>
          <p:cNvPr id="25" name="Shape 22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Building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매물, 어떤 자산인가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DBEAFE"/>
          </a:solidFill>
          <a:ln/>
        </p:spPr>
      </p:sp>
      <p:sp>
        <p:nvSpPr>
          <p:cNvPr id="10" name="Shape 8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1" name="Text 9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건물 분석 포인트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서초대로 25m 메인 도로변 우수한 가시성 확보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제3종일반주거지역 법정 용적률 완비 자산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침대용 승강기 완비로 병의원 입점 최적화 구조</a:t>
            </a:r>
            <a:endParaRPr lang="en-US" sz="930" dirty="0"/>
          </a:p>
        </p:txBody>
      </p:sp>
      <p:sp>
        <p:nvSpPr>
          <p:cNvPr id="13" name="Shape 11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DBEAFE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실사 및 관리 상태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 준공 신축급 상태로 누수·균열 0건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단독 법인 소유로 권리관계 투명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1금융권 담보대출 85억 원 승계 적격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4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Market Position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시장 내 자산 위치와 가격 경쟁력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DBEAFE"/>
          </a:solidFill>
          <a:ln/>
        </p:spPr>
      </p:sp>
      <p:sp>
        <p:nvSpPr>
          <p:cNvPr id="10" name="Shape 8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1" name="Text 9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건물 분석 포인트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서초대로 25m 메인 도로변 우수한 가시성 확보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제3종일반주거지역 법정 용적률 완비 자산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침대용 승강기 완비로 병의원 입점 최적화 구조</a:t>
            </a:r>
            <a:endParaRPr lang="en-US" sz="930" dirty="0"/>
          </a:p>
        </p:txBody>
      </p:sp>
      <p:sp>
        <p:nvSpPr>
          <p:cNvPr id="13" name="Shape 11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DBEAFE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실사 및 관리 상태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 준공 신축급 상태로 누수·균열 0건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단독 법인 소유로 권리관계 투명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1금융권 담보대출 85억 원 승계 적격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5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Comps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유사 거래 사례 및 비교 분석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6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Risk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503066" cy="36118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417320"/>
            <a:ext cx="3503066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417320"/>
            <a:ext cx="3503066" cy="4572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3045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29384"/>
            <a:ext cx="30458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95528" y="2313432"/>
            <a:ext cx="304586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7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Thesis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매물을 사야 하는가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E8F5CC"/>
          </a:solidFill>
          <a:ln w="10160">
            <a:solidFill>
              <a:srgbClr val="A3D9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509320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💡 종합 가치 제안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2441448" y="5074920"/>
            <a:ext cx="90004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8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Process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572768"/>
            <a:ext cx="3442106" cy="320040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572768"/>
            <a:ext cx="3442106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6B8E00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300319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초기 관심 표명 → 담당자 연락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3003194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100474" y="3035808"/>
            <a:ext cx="182880" cy="274320"/>
          </a:xfrm>
          <a:prstGeom prst="rightArrow">
            <a:avLst/>
          </a:prstGeom>
          <a:solidFill>
            <a:srgbClr val="CBD5E1"/>
          </a:solidFill>
          <a:ln w="6350">
            <a:solidFill>
              <a:srgbClr val="64748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74794" y="1572768"/>
            <a:ext cx="3442106" cy="320040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374794" y="1572768"/>
            <a:ext cx="3442106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14" name="Shape 12"/>
          <p:cNvSpPr/>
          <p:nvPr/>
        </p:nvSpPr>
        <p:spPr>
          <a:xfrm>
            <a:off x="4594250" y="1792224"/>
            <a:ext cx="384048" cy="384048"/>
          </a:xfrm>
          <a:prstGeom prst="ellipse">
            <a:avLst/>
          </a:prstGeom>
          <a:solidFill>
            <a:srgbClr val="6B8E00"/>
          </a:solidFill>
          <a:ln/>
        </p:spPr>
      </p:sp>
      <p:sp>
        <p:nvSpPr>
          <p:cNvPr id="15" name="Text 13"/>
          <p:cNvSpPr/>
          <p:nvPr/>
        </p:nvSpPr>
        <p:spPr>
          <a:xfrm>
            <a:off x="4594250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94250" y="2304288"/>
            <a:ext cx="300319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 → 임차인 정보 및 임대차계약서 제공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594250" y="2761488"/>
            <a:ext cx="3003194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908341" y="3035808"/>
            <a:ext cx="182880" cy="274320"/>
          </a:xfrm>
          <a:prstGeom prst="rightArrow">
            <a:avLst/>
          </a:prstGeom>
          <a:solidFill>
            <a:srgbClr val="CBD5E1"/>
          </a:solidFill>
          <a:ln w="6350">
            <a:solidFill>
              <a:srgbClr val="64748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82661" y="1572768"/>
            <a:ext cx="3442106" cy="320040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182661" y="1572768"/>
            <a:ext cx="3442106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21" name="Shape 19"/>
          <p:cNvSpPr/>
          <p:nvPr/>
        </p:nvSpPr>
        <p:spPr>
          <a:xfrm>
            <a:off x="8402117" y="1792224"/>
            <a:ext cx="384048" cy="384048"/>
          </a:xfrm>
          <a:prstGeom prst="ellipse">
            <a:avLst/>
          </a:prstGeom>
          <a:solidFill>
            <a:srgbClr val="6B8E00"/>
          </a:solidFill>
          <a:ln/>
        </p:spPr>
      </p:sp>
      <p:sp>
        <p:nvSpPr>
          <p:cNvPr id="22" name="Text 20"/>
          <p:cNvSpPr/>
          <p:nvPr/>
        </p:nvSpPr>
        <p:spPr>
          <a:xfrm>
            <a:off x="8402117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3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402117" y="2304288"/>
            <a:ext cx="300319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일정 조율 → 건물 컨디션 및 설비 직접 확인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8402117" y="2761488"/>
            <a:ext cx="3003194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9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Disclaimer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5179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1847088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847088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139696" y="1828800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504688" y="184708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66928" y="2505456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05456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139696" y="2487168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504688" y="2505456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0.95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" y="3163824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5" name="Text 13"/>
          <p:cNvSpPr/>
          <p:nvPr/>
        </p:nvSpPr>
        <p:spPr>
          <a:xfrm>
            <a:off x="566928" y="3163824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139696" y="3145536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504688" y="3163824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0.65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3822192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3822192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139696" y="3803904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504688" y="382219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0.60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4480560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23" name="Text 21"/>
          <p:cNvSpPr/>
          <p:nvPr/>
        </p:nvSpPr>
        <p:spPr>
          <a:xfrm>
            <a:off x="566928" y="4480560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139696" y="4462272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504688" y="448056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0.30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92240" y="1517904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92240" y="1847088"/>
            <a:ext cx="5129784" cy="2615184"/>
          </a:xfrm>
          <a:prstGeom prst="roundRect">
            <a:avLst>
              <a:gd name="adj" fmla="val 1399"/>
            </a:avLst>
          </a:prstGeom>
          <a:solidFill>
            <a:srgbClr val="1E293B"/>
          </a:solidFill>
          <a:ln/>
        </p:spPr>
      </p:sp>
      <p:sp>
        <p:nvSpPr>
          <p:cNvPr id="28" name="Text 26"/>
          <p:cNvSpPr/>
          <p:nvPr/>
        </p:nvSpPr>
        <p:spPr>
          <a:xfrm>
            <a:off x="6711696" y="2011680"/>
            <a:ext cx="46908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3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30" dirty="0"/>
          </a:p>
        </p:txBody>
      </p:sp>
      <p:sp>
        <p:nvSpPr>
          <p:cNvPr id="29" name="Shape 27"/>
          <p:cNvSpPr/>
          <p:nvPr/>
        </p:nvSpPr>
        <p:spPr>
          <a:xfrm>
            <a:off x="566928" y="5230368"/>
            <a:ext cx="11057839" cy="640080"/>
          </a:xfrm>
          <a:prstGeom prst="rect">
            <a:avLst/>
          </a:prstGeom>
          <a:solidFill>
            <a:srgbClr val="4F6A00"/>
          </a:solidFill>
          <a:ln/>
        </p:spPr>
      </p:sp>
      <p:sp>
        <p:nvSpPr>
          <p:cNvPr id="30" name="Text 28"/>
          <p:cNvSpPr/>
          <p:nvPr/>
        </p:nvSpPr>
        <p:spPr>
          <a:xfrm>
            <a:off x="786384" y="5321808"/>
            <a:ext cx="106189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5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자료(등기·임대차계약서) 및 1:1 비밀 상담은 담당 전문 중개사를 통해 제공됩니다.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10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2026-08-16T08:22:49Z</dcterms:created>
  <dcterms:modified xsi:type="dcterms:W3CDTF">2026-08-16T08:22:49Z</dcterms:modified>
</cp:coreProperties>
</file>