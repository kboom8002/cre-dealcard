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0"/>
            <a:ext cx="44192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4" name="Shape 1"/>
          <p:cNvSpPr/>
          <p:nvPr/>
        </p:nvSpPr>
        <p:spPr>
          <a:xfrm rot="120000">
            <a:off x="8412480" y="548640"/>
            <a:ext cx="3291840" cy="5760720"/>
          </a:xfrm>
          <a:prstGeom prst="rect">
            <a:avLst/>
          </a:prstGeom>
          <a:solidFill>
            <a:srgbClr val="0F172A">
              <a:alpha val="1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 메디컬 빌딩 투자설명서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메디컬빌딩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메디컬빌딩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773936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3" name="Text 10"/>
          <p:cNvSpPr/>
          <p:nvPr/>
        </p:nvSpPr>
        <p:spPr>
          <a:xfrm>
            <a:off x="1773936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165억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6928" y="4224528"/>
            <a:ext cx="6858000" cy="1225296"/>
          </a:xfrm>
          <a:prstGeom prst="roundRect">
            <a:avLst>
              <a:gd name="adj" fmla="val 2985"/>
            </a:avLst>
          </a:prstGeom>
          <a:solidFill>
            <a:srgbClr val="A3D9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425696"/>
            <a:ext cx="6345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F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165억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66928" y="7863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리얼티코리아 중개법인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박민호 수석팀장  |  리얼티코리아 중개법인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165억 원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7710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170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실투자금(내 돈)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54170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68.5억 원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18728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188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순수익률(Cap Rate)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188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4.62%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997467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62059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자기자본수익률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62059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5.82%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2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Location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상권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강남·서초 메디컬 벨트 핵심 거점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교통 접근성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강남역(2호선·신분당선) 및 양재역 도보 5분 더블역세권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053328" y="224028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240280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배후 수요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170475" y="2240280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삼성타운, 롯데칠성부지 개발호재 인접 및 고소득 오피스 상주인구 12만명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053328" y="2679192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679192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도로망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170475" y="2679192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강남대로, 서초대로, 남부순환로 직결 우수한 차량 접근성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3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Building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개요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 메디컬 빌딩 (올근생)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서울특별시 서초구 서초동 1320-5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142.5평 (471.1㎡)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620.8평 (2,052.2㎡)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건축규모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2층 ~ 지상 7층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66928" y="325526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25526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준공연도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172968" y="32552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2017년 11월 (신축급 내외관 컨디션)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" y="3657600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65760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172968" y="365760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자주식+기계식 총 18대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4287" y="1645920"/>
            <a:ext cx="3840480" cy="301752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7784287" y="4800600"/>
            <a:ext cx="3840480" cy="1325880"/>
          </a:xfrm>
          <a:prstGeom prst="roundRect">
            <a:avLst>
              <a:gd name="adj" fmla="val 4138"/>
            </a:avLst>
          </a:prstGeom>
          <a:solidFill>
            <a:srgbClr val="DBEAFE"/>
          </a:solidFill>
          <a:ln/>
        </p:spPr>
      </p:sp>
      <p:sp>
        <p:nvSpPr>
          <p:cNvPr id="27" name="Shape 24"/>
          <p:cNvSpPr/>
          <p:nvPr/>
        </p:nvSpPr>
        <p:spPr>
          <a:xfrm>
            <a:off x="7784287" y="4855464"/>
            <a:ext cx="36576" cy="12161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8" name="Text 25"/>
          <p:cNvSpPr/>
          <p:nvPr/>
        </p:nvSpPr>
        <p:spPr>
          <a:xfrm>
            <a:off x="7967167" y="491032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7967167" y="5129784"/>
            <a:ext cx="351129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우량 메디컬 테넌트 직영 만실 운영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15인승 침대용 승강기 및 자주식 18대 완비</a:t>
            </a:r>
            <a:endParaRPr lang="en-US" sz="930" dirty="0"/>
          </a:p>
        </p:txBody>
      </p:sp>
      <p:sp>
        <p:nvSpPr>
          <p:cNvPr id="30" name="Text 27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4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Rent Roll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현황 (Rent Roll)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7839" cy="914400"/>
        </p:xfrm>
        <a:graphic>
          <a:graphicData uri="http://schemas.openxmlformats.org/drawingml/2006/table">
            <a:tbl>
              <a:tblPr/>
              <a:tblGrid>
                <a:gridCol w="1442327"/>
                <a:gridCol w="2403878"/>
                <a:gridCol w="2403878"/>
                <a:gridCol w="2403878"/>
                <a:gridCol w="240387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층수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입점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업종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전용(평)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보증금(만원)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월임대료(만원)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1F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대형약국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55.0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1,200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2F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안과의원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65.0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1,100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3F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피부과의원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65.0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1,050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4F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정형외과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65.0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5F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치과의원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65.0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950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6F~7F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대형어학원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130.0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650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합계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만실(6개사)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445.0평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115,000만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5,950만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5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Profit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수익성 분석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매입 즉시 연 4.62% 확정 Cap Rate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매매가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165억 원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보증금 총액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11억 5,000만 원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월 임대료 합계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5,950만 원 (연 7억 1,400만 원)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월 관리비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680만 원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66928" y="325526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25526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기대 레버리지 수익률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172968" y="32552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5.82% (LTV 50% 실행 시)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" y="3657600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65760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실투자금액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172968" y="365760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68.5억 원 (보증금+대출 차감 후)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매매가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165억 원</a:t>
            </a:r>
            <a:endParaRPr lang="en-US" sz="2500" dirty="0"/>
          </a:p>
        </p:txBody>
      </p:sp>
      <p:sp>
        <p:nvSpPr>
          <p:cNvPr id="28" name="Shape 26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보증금 총액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11억 5,000만 원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임대료 합계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5,950만 원 (연 7억 1,400만 원)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관리비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680만 원</a:t>
            </a:r>
            <a:endParaRPr lang="en-US" sz="2500" dirty="0"/>
          </a:p>
        </p:txBody>
      </p:sp>
      <p:sp>
        <p:nvSpPr>
          <p:cNvPr id="37" name="Shape 35"/>
          <p:cNvSpPr/>
          <p:nvPr/>
        </p:nvSpPr>
        <p:spPr>
          <a:xfrm>
            <a:off x="7784287" y="66751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48879" y="6803136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기대 레버리지 수익률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948879" y="6986016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5.82% (LTV 50% 실행 시)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784287" y="791870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48879" y="804672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실투자금액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948879" y="822960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68.5억 원 (보증금+대출 차감 후)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6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Risk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 점검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17320"/>
            <a:ext cx="3503066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17320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417320"/>
            <a:ext cx="3503066" cy="457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" y="1618488"/>
            <a:ext cx="3045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3D9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물리적 리스크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95528" y="1929384"/>
            <a:ext cx="30458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2017년 준공 신축급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95528" y="2313432"/>
            <a:ext cx="304586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대수선 필요 없음, 최근 승강기 정밀점검 완료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44314" y="1417320"/>
            <a:ext cx="3503066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4314" y="1417320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4" name="Shape 12"/>
          <p:cNvSpPr/>
          <p:nvPr/>
        </p:nvSpPr>
        <p:spPr>
          <a:xfrm>
            <a:off x="4344314" y="1417320"/>
            <a:ext cx="3503066" cy="457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914" y="1618488"/>
            <a:ext cx="3045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3D9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리스크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914" y="1929384"/>
            <a:ext cx="30458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메디컬 업종 평균 계약 5년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914" y="2313432"/>
            <a:ext cx="304586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잔여 임대기간 평균 3.5년, 장기 우량 임차인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21701" y="1417320"/>
            <a:ext cx="3503066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21701" y="1417320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20" name="Shape 18"/>
          <p:cNvSpPr/>
          <p:nvPr/>
        </p:nvSpPr>
        <p:spPr>
          <a:xfrm>
            <a:off x="8121701" y="1417320"/>
            <a:ext cx="3503066" cy="457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21" name="Text 19"/>
          <p:cNvSpPr/>
          <p:nvPr/>
        </p:nvSpPr>
        <p:spPr>
          <a:xfrm>
            <a:off x="8350301" y="1618488"/>
            <a:ext cx="3045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3D9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 리스크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350301" y="1929384"/>
            <a:ext cx="30458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금리 변동성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50301" y="2313432"/>
            <a:ext cx="304586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4.1% 우대금리 대출 승계 가능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7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Thesis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포인트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60대 자산가를 위한 핵심 투자 4대 강점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원금 안정성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강남대로 이면 상업지 토지가격 지속 상승 구간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현금흐름 명확성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5,950만원 세후 안정적 배당 소득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관리 편의성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메디컬 단일 성격 임차인으로 공실 리스크 및 명도 마찰 극소화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절세 및 승계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법인 전환 또는 사전증여 시 유리한 우량 자산 구조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원금 안정성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강남대로 이면 상업지 토지가격 지속 상승 구간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현금흐름 명확성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5,950만원 세후 안정적 배당 소득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 편의성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메디컬 단일 성격 임차인으로 공실 리스크 및 명도 마찰 극소화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절세 및 승계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법인 전환 또는 사전증여 시 유리한 우량 자산 구조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8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Process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11057839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72768"/>
            <a:ext cx="11057839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8" name="Shape 6"/>
          <p:cNvSpPr/>
          <p:nvPr/>
        </p:nvSpPr>
        <p:spPr>
          <a:xfrm>
            <a:off x="786384" y="1792224"/>
            <a:ext cx="384048" cy="384048"/>
          </a:xfrm>
          <a:prstGeom prst="ellipse">
            <a:avLst/>
          </a:prstGeom>
          <a:solidFill>
            <a:srgbClr val="C8FF00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86384" y="2304288"/>
            <a:ext cx="1061892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매수 검토를 위한 요약 투자설명서이며, 세부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86384" y="2761488"/>
            <a:ext cx="10618927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매수 검토를 위한 요약 투자설명서이며, 세부 권리관계 및 계약서 원본은 실사 단계에서 제공됩니다.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9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Disclaimer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A3D900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F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리얼티코리아 중개법인 · 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10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2026-08-16T04:23:31Z</dcterms:created>
  <dcterms:modified xsi:type="dcterms:W3CDTF">2026-08-16T04:23:31Z</dcterms:modified>
</cp:coreProperties>
</file>