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0"/>
            <a:ext cx="44192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4" name="Shape 1"/>
          <p:cNvSpPr/>
          <p:nvPr/>
        </p:nvSpPr>
        <p:spPr>
          <a:xfrm rot="120000">
            <a:off x="8412480" y="548640"/>
            <a:ext cx="3291840" cy="5760720"/>
          </a:xfrm>
          <a:prstGeom prst="rect">
            <a:avLst/>
          </a:prstGeom>
          <a:solidFill>
            <a:srgbClr val="0F172A">
              <a:alpha val="1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성수 IT밸리 단독 통사옥 투자설명서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단독사옥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단독사옥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773936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3" name="Text 10"/>
          <p:cNvSpPr/>
          <p:nvPr/>
        </p:nvSpPr>
        <p:spPr>
          <a:xfrm>
            <a:off x="1773936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135억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A3D9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F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135억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66928" y="7863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에이커스 중개법인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이지원 이사  |  에이커스 중개법인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135억 원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37710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170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54170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135.8평 (448.9㎡)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18728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188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35188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512.4평 (1,693.8㎡)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997467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62059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건축규모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162059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1층 ~ 지상 6층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2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상권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IT·스타트업 클러스터 성수역세권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53328" y="1801368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대중교통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170475" y="1801368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지하철 2호선 성수역 3번 출구 도보 5분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053328" y="224028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53328" y="2240280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도로망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170475" y="2240280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성수이로, 강변북로, 올림픽대로 3분 진입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053328" y="2679192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53328" y="2679192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주변 환경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170475" y="2679192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무신사, 크래프톤, SM엔터 등 IT·패션 선도기업 밀집지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3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Building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개요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성수 IT밸리 신축급 단독 사옥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서울특별시 성동구 성수동2가 277-33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135.8평 (448.9㎡)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512.4평 (1,693.8㎡)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건축규모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1층 ~ 지상 6층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2552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준공연도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72968" y="32552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2021년 (신축급 인테리어 완비)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3657600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6576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72968" y="365760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자주식 10대 완비 / 엘리베이터 15인승 1대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4287" y="1645920"/>
            <a:ext cx="3840480" cy="301752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7784287" y="4800600"/>
            <a:ext cx="3840480" cy="1325880"/>
          </a:xfrm>
          <a:prstGeom prst="roundRect">
            <a:avLst>
              <a:gd name="adj" fmla="val 4138"/>
            </a:avLst>
          </a:prstGeom>
          <a:solidFill>
            <a:srgbClr val="DBEAFE"/>
          </a:solidFill>
          <a:ln/>
        </p:spPr>
      </p:sp>
      <p:sp>
        <p:nvSpPr>
          <p:cNvPr id="26" name="Shape 23"/>
          <p:cNvSpPr/>
          <p:nvPr/>
        </p:nvSpPr>
        <p:spPr>
          <a:xfrm>
            <a:off x="7784287" y="4855464"/>
            <a:ext cx="36576" cy="12161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7" name="Text 24"/>
          <p:cNvSpPr/>
          <p:nvPr/>
        </p:nvSpPr>
        <p:spPr>
          <a:xfrm>
            <a:off x="7967167" y="491032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7967167" y="5129784"/>
            <a:ext cx="351129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우량 메디컬 테넌트 직영 만실 운영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15인승 침대용 승강기 및 자주식 18대 완비</a:t>
            </a:r>
            <a:endParaRPr lang="en-US" sz="930" dirty="0"/>
          </a:p>
        </p:txBody>
      </p:sp>
      <p:sp>
        <p:nvSpPr>
          <p:cNvPr id="29" name="Text 26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4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Plan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사옥 활용 계획 (Plan)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50~100인 IT/바이오 기업 최적화 공간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1F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라운지 &amp; 쇼룸 &amp; 방문객 응접실 (층고 4.5m)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2F~5F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개방형 오피스 (층당 실면적 60평, 층고 3.8m)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6F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임원실 및 이사회 회의실 + 프라이빗 테라스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B1F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타운홀 스튜디오 및 사내 피트니스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2552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상태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72968" y="32552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전층 명도 완료로 잔금 즉시 입주 가능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4287" y="1645920"/>
            <a:ext cx="3840480" cy="301752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7784287" y="4800600"/>
            <a:ext cx="3840480" cy="1325880"/>
          </a:xfrm>
          <a:prstGeom prst="roundRect">
            <a:avLst>
              <a:gd name="adj" fmla="val 4138"/>
            </a:avLst>
          </a:prstGeom>
          <a:solidFill>
            <a:srgbClr val="DBEAFE"/>
          </a:solidFill>
          <a:ln/>
        </p:spPr>
      </p:sp>
      <p:sp>
        <p:nvSpPr>
          <p:cNvPr id="23" name="Shape 20"/>
          <p:cNvSpPr/>
          <p:nvPr/>
        </p:nvSpPr>
        <p:spPr>
          <a:xfrm>
            <a:off x="7784287" y="4855464"/>
            <a:ext cx="36576" cy="12161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4" name="Text 21"/>
          <p:cNvSpPr/>
          <p:nvPr/>
        </p:nvSpPr>
        <p:spPr>
          <a:xfrm>
            <a:off x="7967167" y="491032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967167" y="5129784"/>
            <a:ext cx="351129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우량 메디컬 테넌트 직영 만실 운영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15인승 침대용 승강기 및 자주식 18대 완비</a:t>
            </a:r>
            <a:endParaRPr lang="en-US" sz="930" dirty="0"/>
          </a:p>
        </p:txBody>
      </p:sp>
      <p:sp>
        <p:nvSpPr>
          <p:cNvPr id="26" name="Text 2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5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Vs Lease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자가 vs 임차 비용 비교 (Vs Lease)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6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성수 권역 임차 대비 연간 2.8억 절감 효과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847088"/>
            <a:ext cx="107835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50인 오피스 임차 시: 연 임대료 약 4.2억 원 소요 (평당 월 8만원 기준)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41248" y="2139696"/>
            <a:ext cx="107835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자가 사옥 보유 시: 금융비용 약 1.4억 원 (LTV 50%, 금리 4.0% 가정)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41248" y="2432304"/>
            <a:ext cx="107835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절감액: 약 2.8억 원 순비용 절감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107835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10년 환산 보유 효과: 약 35억 원 누적 자산 가치 상승 예상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 점검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3503066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17320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417320"/>
            <a:ext cx="3503066" cy="457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3045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3D9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리스크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1929384"/>
            <a:ext cx="30458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100% 명도 완료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5528" y="2313432"/>
            <a:ext cx="304586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 즉시 인테리어 공사 및 잔금일 입주 확정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44314" y="1417320"/>
            <a:ext cx="3503066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4314" y="1417320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4314" y="1417320"/>
            <a:ext cx="3503066" cy="457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914" y="1618488"/>
            <a:ext cx="3045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3D9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물리적 상태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914" y="1929384"/>
            <a:ext cx="30458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2021년 준공 (3년차)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914" y="2313432"/>
            <a:ext cx="304586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하자보수 기간 내 주요 설비 완벽 유지보수 완료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21701" y="1417320"/>
            <a:ext cx="3503066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21701" y="1417320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9" name="Shape 17"/>
          <p:cNvSpPr/>
          <p:nvPr/>
        </p:nvSpPr>
        <p:spPr>
          <a:xfrm>
            <a:off x="8121701" y="1417320"/>
            <a:ext cx="3503066" cy="457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20" name="Text 18"/>
          <p:cNvSpPr/>
          <p:nvPr/>
        </p:nvSpPr>
        <p:spPr>
          <a:xfrm>
            <a:off x="8350301" y="1618488"/>
            <a:ext cx="3045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3D9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 리스크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350301" y="1929384"/>
            <a:ext cx="30458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중과 여부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50301" y="2313432"/>
            <a:ext cx="304586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본점 이전 감면 혜택 및 법인 취득세 검토 완료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7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86384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Thesis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논거 (Thesis)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808" y="950976"/>
            <a:ext cx="10874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성장 기업의 브랜드 가치 극대화 &amp; 자산화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81328"/>
            <a:ext cx="54864" cy="162306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8" name="Shape 6"/>
          <p:cNvSpPr/>
          <p:nvPr/>
        </p:nvSpPr>
        <p:spPr>
          <a:xfrm>
            <a:off x="795528" y="1664208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E0FF66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" y="166420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3D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98448" y="164592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 브랜딩 독점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95528" y="201168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사옥 단독 명칭 표기(간판 설치권) 및 옥상 브랜딩 가능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55868" y="148132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55868" y="1481328"/>
            <a:ext cx="54864" cy="162306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4" name="Shape 12"/>
          <p:cNvSpPr/>
          <p:nvPr/>
        </p:nvSpPr>
        <p:spPr>
          <a:xfrm>
            <a:off x="6484468" y="1664208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E0FF66"/>
          </a:solidFill>
          <a:ln/>
        </p:spPr>
      </p:sp>
      <p:sp>
        <p:nvSpPr>
          <p:cNvPr id="15" name="Text 13"/>
          <p:cNvSpPr/>
          <p:nvPr/>
        </p:nvSpPr>
        <p:spPr>
          <a:xfrm>
            <a:off x="6484468" y="166420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3D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987388" y="164592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인재 채용 경쟁력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84468" y="201168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2030 핵심 인재 선호도 1위 성수동 핵심 입지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333298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3332988"/>
            <a:ext cx="54864" cy="162306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20" name="Shape 18"/>
          <p:cNvSpPr/>
          <p:nvPr/>
        </p:nvSpPr>
        <p:spPr>
          <a:xfrm>
            <a:off x="795528" y="3515868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E0FF66"/>
          </a:solidFill>
          <a:ln/>
        </p:spPr>
      </p:sp>
      <p:sp>
        <p:nvSpPr>
          <p:cNvPr id="21" name="Text 19"/>
          <p:cNvSpPr/>
          <p:nvPr/>
        </p:nvSpPr>
        <p:spPr>
          <a:xfrm>
            <a:off x="795528" y="351586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3D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98448" y="349758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부동산 자산화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95528" y="386334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임대료 지출을 기업 자산 증식으로 전환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55868" y="333298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55868" y="3332988"/>
            <a:ext cx="54864" cy="162306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26" name="Shape 24"/>
          <p:cNvSpPr/>
          <p:nvPr/>
        </p:nvSpPr>
        <p:spPr>
          <a:xfrm>
            <a:off x="6484468" y="3515868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E0FF66"/>
          </a:solidFill>
          <a:ln/>
        </p:spPr>
      </p:sp>
      <p:sp>
        <p:nvSpPr>
          <p:cNvPr id="27" name="Text 25"/>
          <p:cNvSpPr/>
          <p:nvPr/>
        </p:nvSpPr>
        <p:spPr>
          <a:xfrm>
            <a:off x="6484468" y="351586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3D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87388" y="349758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유연한 확장성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84468" y="386334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추후 성장 시 증축 또는 지점 분리 용이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66928" y="5138928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F5FFCC"/>
          </a:solidFill>
          <a:ln w="10160">
            <a:solidFill>
              <a:srgbClr val="E0FF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524865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3D9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종합 가치 제안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441448" y="5230368"/>
            <a:ext cx="90004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우수한 입지 경쟁력과 견고한 펀더멘털을 기반으로 중장기 자산 가치 상승 및 안정적인 현금흐름을 동시에 기대할 수 있는 우량 투자 기회입니다.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8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Process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11057839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11057839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1792224"/>
            <a:ext cx="384048" cy="384048"/>
          </a:xfrm>
          <a:prstGeom prst="ellipse">
            <a:avLst/>
          </a:prstGeom>
          <a:solidFill>
            <a:srgbClr val="C8FF00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1061892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사옥 매입 검토를 위한 요약 투자설명서이며,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10618927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사옥 매입 검토를 위한 요약 투자설명서이며, 세부 도면 및 실사 보고서는 사전 미팅 시 제공됩니다.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9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Disclaimer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E293B"/>
          </a:solidFill>
          <a:ln/>
        </p:spPr>
      </p:sp>
      <p:sp>
        <p:nvSpPr>
          <p:cNvPr id="28" name="Text 26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A3D900"/>
          </a:solidFill>
          <a:ln/>
        </p:spPr>
      </p:sp>
      <p:sp>
        <p:nvSpPr>
          <p:cNvPr id="30" name="Text 28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F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에이커스 중개법인 · 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10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2026-08-16T04:58:26Z</dcterms:created>
  <dcterms:modified xsi:type="dcterms:W3CDTF">2026-08-16T04:58:26Z</dcterms:modified>
</cp:coreProperties>
</file>