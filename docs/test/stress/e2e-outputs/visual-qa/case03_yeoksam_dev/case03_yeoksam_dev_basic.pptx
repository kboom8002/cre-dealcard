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0"/>
            <a:ext cx="44192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4" name="Shape 1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 테헤란로 복합 신축부지 개발 제안서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3" name="Text 10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 디벨로퍼스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김태진 본부장  |  테헤란 디벨로퍼스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31520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 원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7710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170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541700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2,247.9㎡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 (557.0㎡)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997467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62059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62059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(법정 용적률 250%)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66928" y="283464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96265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31520" y="314553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 원 (평당 1억 2,460만 원)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377108" y="283464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41700" y="296265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상태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541700" y="314553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단층 구옥 100% 명도 완료 (즉시 착공 가능)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상권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 밸리 중심 오피스 배후 거점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053328" y="180136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70475" y="180136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2호선 역삼역 도보 3분 초역세권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053328" y="2240280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2240280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도로망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70475" y="2240280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테헤란로, 언주로, 논현로 직결 차량 접근성 우수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53328" y="2679192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679192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환경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170475" y="2679192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센터필드 및 IT 스타트업 신사옥 밀집 수요 폭발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서울특별시 강남구 역삼동 735-8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 (557.0㎡)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(법정 용적률 250%)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도로접면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8m × 6m 코너 부지 (일조권 사선제한 유리)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 원 (평당 1억 2,460만 원)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상태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단층 구옥 100% 명도 완료 (즉시 착공 가능)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4287" y="1645920"/>
            <a:ext cx="3840480" cy="301752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7784287" y="4800600"/>
            <a:ext cx="3840480" cy="1325880"/>
          </a:xfrm>
          <a:prstGeom prst="roundRect">
            <a:avLst>
              <a:gd name="adj" fmla="val 4138"/>
            </a:avLst>
          </a:prstGeom>
          <a:solidFill>
            <a:srgbClr val="DBEAFE"/>
          </a:solidFill>
          <a:ln/>
        </p:spPr>
      </p:sp>
      <p:sp>
        <p:nvSpPr>
          <p:cNvPr id="26" name="Shape 23"/>
          <p:cNvSpPr/>
          <p:nvPr/>
        </p:nvSpPr>
        <p:spPr>
          <a:xfrm>
            <a:off x="7784287" y="4855464"/>
            <a:ext cx="36576" cy="12161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7" name="Text 24"/>
          <p:cNvSpPr/>
          <p:nvPr/>
        </p:nvSpPr>
        <p:spPr>
          <a:xfrm>
            <a:off x="7967167" y="491032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7967167" y="5129784"/>
            <a:ext cx="3511296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메디컬 테넌트 직영 만실 운영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자주식 18대 완비</a:t>
            </a:r>
            <a:endParaRPr lang="en-US" sz="930" dirty="0"/>
          </a:p>
        </p:txBody>
      </p:sp>
      <p:sp>
        <p:nvSpPr>
          <p:cNvPr id="29" name="Text 2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Land Detail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상세 (Land Detail)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8m 코너 장방형 대지로 건축 효율 극대화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형상/지세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평지 장방형 대지로 지하 굴착 효율 최상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건폐율/용적률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 / 용적률 250% (인센티브 적용 가능)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개발성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2층 주차 16대 및 근린생활시설 배치 최적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4287" y="1645920"/>
            <a:ext cx="3840480" cy="301752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7784287" y="4800600"/>
            <a:ext cx="3840480" cy="1325880"/>
          </a:xfrm>
          <a:prstGeom prst="roundRect">
            <a:avLst>
              <a:gd name="adj" fmla="val 4138"/>
            </a:avLst>
          </a:prstGeom>
          <a:solidFill>
            <a:srgbClr val="DBEAFE"/>
          </a:solidFill>
          <a:ln/>
        </p:spPr>
      </p:sp>
      <p:sp>
        <p:nvSpPr>
          <p:cNvPr id="17" name="Shape 14"/>
          <p:cNvSpPr/>
          <p:nvPr/>
        </p:nvSpPr>
        <p:spPr>
          <a:xfrm>
            <a:off x="7784287" y="4855464"/>
            <a:ext cx="36576" cy="12161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8" name="Text 15"/>
          <p:cNvSpPr/>
          <p:nvPr/>
        </p:nvSpPr>
        <p:spPr>
          <a:xfrm>
            <a:off x="7967167" y="491032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967167" y="5129784"/>
            <a:ext cx="3511296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메디컬 테넌트 직영 만실 운영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자주식 18대 완비</a:t>
            </a:r>
            <a:endParaRPr lang="en-US" sz="930" dirty="0"/>
          </a:p>
        </p:txBody>
      </p:sp>
      <p:sp>
        <p:nvSpPr>
          <p:cNvPr id="20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Feasibility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개요 및 수지 분석 (Feasibility)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2층 ~ 지상 7층 신축 연면적 680평 개발 계획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공사비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850만 원 (약 57.8억 원 소요)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사업비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285억 원 (토지비 210억 + 공사비/부대비용 75억)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후 예상 가치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360억 원 (Cap Rate 4.2% 기준 매각 환산가)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 마진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3152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75억 원 (세전 개발 수익률 26.3%)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66928" y="462686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4681728"/>
            <a:ext cx="36576" cy="117043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473659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49808" y="495604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우수한 입지 경쟁력과 견고한 펀더멘털을 바탕으로 안정적인 현금흐름 창출과 중장기 자산 가치 상승을 동시에 실현할 수 있는 우량 투자 기회입니다.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건축심의 및 법정 인센티브 용적률 확보 계획 수립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공사비 변동성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원자재가 상승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책임준공 및 확정 도급계약(GMP) 방식 시공사 선정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21701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1701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9" name="Shape 17"/>
          <p:cNvSpPr/>
          <p:nvPr/>
        </p:nvSpPr>
        <p:spPr>
          <a:xfrm>
            <a:off x="8121701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0" name="Text 18"/>
          <p:cNvSpPr/>
          <p:nvPr/>
        </p:nvSpPr>
        <p:spPr>
          <a:xfrm>
            <a:off x="8350301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분양/임대 리스크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50301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오피스 공실률 1.2%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350301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6개월 전 테크 기업 통임대(Master Lease) 사전 마케팅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 (Thesis)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 핵심지 희소 코너 부지 가치 극대화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81328"/>
            <a:ext cx="54864" cy="162306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66420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A3D900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66420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298448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희소성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95528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역삼역 도보 3분 테헤란로 핵심 배후 오피스 입지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55868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55868" y="1481328"/>
            <a:ext cx="54864" cy="162306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Shape 12"/>
          <p:cNvSpPr/>
          <p:nvPr/>
        </p:nvSpPr>
        <p:spPr>
          <a:xfrm>
            <a:off x="6484468" y="166420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A3D9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84468" y="166420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987388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마진 확보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84468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완료 시 세전 26.3% 개발 마진 실현 가능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3332988"/>
            <a:ext cx="54864" cy="162306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0" name="Shape 18"/>
          <p:cNvSpPr/>
          <p:nvPr/>
        </p:nvSpPr>
        <p:spPr>
          <a:xfrm>
            <a:off x="795528" y="351586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A3D900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" y="351586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98448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안전성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95528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완료 및 8m 코너로 건축 설계 제약 최소화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55868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55868" y="3332988"/>
            <a:ext cx="54864" cy="162306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6" name="Shape 24"/>
          <p:cNvSpPr/>
          <p:nvPr/>
        </p:nvSpPr>
        <p:spPr>
          <a:xfrm>
            <a:off x="6484468" y="351586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A3D900"/>
          </a:solidFill>
          <a:ln/>
        </p:spPr>
      </p:sp>
      <p:sp>
        <p:nvSpPr>
          <p:cNvPr id="27" name="Text 25"/>
          <p:cNvSpPr/>
          <p:nvPr/>
        </p:nvSpPr>
        <p:spPr>
          <a:xfrm>
            <a:off x="6484468" y="351586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87388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유동성 프리미엄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84468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즉시 기관 및 프라이빗 바이어 통매각 용이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우수한 입지 경쟁력과 견고한 펀더멘털을 기반으로 중장기 자산 가치 상승 및 안정적인 현금흐름을 동시에 기대할 수 있는 우량 투자 기회입니다.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334155"/>
          </a:solidFill>
          <a:ln/>
        </p:spPr>
      </p:sp>
      <p:sp>
        <p:nvSpPr>
          <p:cNvPr id="6" name="Shape 4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8E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334155"/>
          </a:solidFill>
          <a:ln/>
        </p:spPr>
      </p:sp>
      <p:sp>
        <p:nvSpPr>
          <p:cNvPr id="12" name="Shape 10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13" name="Text 11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8E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334155"/>
          </a:solidFill>
          <a:ln/>
        </p:spPr>
      </p:sp>
      <p:sp>
        <p:nvSpPr>
          <p:cNvPr id="18" name="Shape 16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19" name="Text 17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36" name="Text 34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E293B"/>
          </a:solidFill>
          <a:ln/>
        </p:spPr>
      </p:sp>
      <p:sp>
        <p:nvSpPr>
          <p:cNvPr id="40" name="Text 38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42" name="Text 40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 디벨로퍼스 · 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2026-08-19T04:04:07Z</dcterms:created>
  <dcterms:modified xsi:type="dcterms:W3CDTF">2026-08-19T04:04:07Z</dcterms:modified>
</cp:coreProperties>
</file>