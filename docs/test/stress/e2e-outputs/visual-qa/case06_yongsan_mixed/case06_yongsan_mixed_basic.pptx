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0"/>
            <a:ext cx="44192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4" name="Shape 1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용산 용리단길 꼬마빌딩 복합구옥 매각 제안서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복합구옥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복합구옥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3" name="Text 10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용산 마스터스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최유나 팀장  |  용산 마스터스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19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31520" y="16824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 원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37710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170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541700" y="16824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48.2평 (159.3㎡)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7288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1880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51880" y="16824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78.5평 (259.5㎡)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997467" y="137160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62059" y="149961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162059" y="168249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 1층 ~ 지상 2층 (단독주택+상가 복합구조)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66928" y="283464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296265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상태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31520" y="314553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명도 100% 완료 (올근생 대수선 즉시 착공 가능)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377108" y="283464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41700" y="296265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541700" y="314553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 원 (평당 8,920만 원)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상권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삼각지역·신용산역 더블역세권 및 용리단길 메인 축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053328" y="180136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70475" y="180136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4·6호선 삼각지역 도보 4분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053328" y="2240280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2240280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 동선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170475" y="2240280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아모레퍼시픽, 하이브, BTS 본사 직장인 유입 동선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053328" y="2679192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53328" y="2679192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환경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170475" y="2679192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감성 카페, 트렌디 비스트로 밀집 골목 상권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용리단길 핫플레이스 중심 코너 복합 구옥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위치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서울특별시 용산구 원효로1가 41-10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48.2평 (159.3㎡)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78.5평 (259.5㎡)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건축규모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 1층 ~ 지상 2층 (단독주택+상가 복합구조)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상태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명도 100% 완료 (올근생 대수선 즉시 착공 가능)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6576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72968" y="365760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43억 원 (평당 8,920만 원)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4287" y="1645920"/>
            <a:ext cx="3840480" cy="3017520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7784287" y="4800600"/>
            <a:ext cx="3840480" cy="1325880"/>
          </a:xfrm>
          <a:prstGeom prst="roundRect">
            <a:avLst>
              <a:gd name="adj" fmla="val 4138"/>
            </a:avLst>
          </a:prstGeom>
          <a:solidFill>
            <a:srgbClr val="DBEAFE"/>
          </a:solidFill>
          <a:ln/>
        </p:spPr>
      </p:sp>
      <p:sp>
        <p:nvSpPr>
          <p:cNvPr id="26" name="Shape 23"/>
          <p:cNvSpPr/>
          <p:nvPr/>
        </p:nvSpPr>
        <p:spPr>
          <a:xfrm>
            <a:off x="7784287" y="4855464"/>
            <a:ext cx="36576" cy="12161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7" name="Text 24"/>
          <p:cNvSpPr/>
          <p:nvPr/>
        </p:nvSpPr>
        <p:spPr>
          <a:xfrm>
            <a:off x="7967167" y="491032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7967167" y="5129784"/>
            <a:ext cx="3511296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메디컬 테넌트 직영 만실 운영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자주식 18대 완비</a:t>
            </a:r>
            <a:endParaRPr lang="en-US" sz="930" dirty="0"/>
          </a:p>
        </p:txBody>
      </p:sp>
      <p:sp>
        <p:nvSpPr>
          <p:cNvPr id="29" name="Text 2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Market Position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포지션 (Market Position)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40억대 소액 투자로 용산 핵심 상권 진입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현황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주택 복합 구조로 임대 수익 미미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대수선 플랜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 F&amp;B 와인바 + 2F 디자인 스튜디오 올근생 전환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임대료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대수선 후 보증금 1.5억 / 월 1,200만 원 (연 수익률 4.1% 달성)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4287" y="1645920"/>
            <a:ext cx="3840480" cy="301752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7784287" y="4800600"/>
            <a:ext cx="3840480" cy="1325880"/>
          </a:xfrm>
          <a:prstGeom prst="roundRect">
            <a:avLst>
              <a:gd name="adj" fmla="val 4138"/>
            </a:avLst>
          </a:prstGeom>
          <a:solidFill>
            <a:srgbClr val="DBEAFE"/>
          </a:solidFill>
          <a:ln/>
        </p:spPr>
      </p:sp>
      <p:sp>
        <p:nvSpPr>
          <p:cNvPr id="17" name="Shape 14"/>
          <p:cNvSpPr/>
          <p:nvPr/>
        </p:nvSpPr>
        <p:spPr>
          <a:xfrm>
            <a:off x="7784287" y="4855464"/>
            <a:ext cx="36576" cy="12161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8" name="Text 15"/>
          <p:cNvSpPr/>
          <p:nvPr/>
        </p:nvSpPr>
        <p:spPr>
          <a:xfrm>
            <a:off x="7967167" y="491032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7967167" y="5129784"/>
            <a:ext cx="3511296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메디컬 테넌트 직영 만실 운영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자주식 18대 완비</a:t>
            </a:r>
            <a:endParaRPr lang="en-US" sz="930" dirty="0"/>
          </a:p>
        </p:txBody>
      </p:sp>
      <p:sp>
        <p:nvSpPr>
          <p:cNvPr id="20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Comps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사례 (Comps)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본건(예상)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A구옥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B구옥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대지(평)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48.2평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42.5평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51.0평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55억(목표)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50억(23년)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62억(24년)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평당가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1억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1,410만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1억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1,760만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1억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2,150만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지하1~지상3층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지상2층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지상3층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용도변경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단독주택 제2종근생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용산구청 건축과 사전 용도변경 타당성 검토 완료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4314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4314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4314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914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 리스크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914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100% 명도 완료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914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 즉시 잔금 및 착공 가능 (명도 마찰 0건)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21701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21701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9" name="Shape 17"/>
          <p:cNvSpPr/>
          <p:nvPr/>
        </p:nvSpPr>
        <p:spPr>
          <a:xfrm>
            <a:off x="8121701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0" name="Text 18"/>
          <p:cNvSpPr/>
          <p:nvPr/>
        </p:nvSpPr>
        <p:spPr>
          <a:xfrm>
            <a:off x="8350301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350301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15인조 기포식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350301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F&amp;B 입점 대비 30인조 증설 인허가 도면 반영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78638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 (Thesis)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95097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40억대 용산 입성 및 올근생 가치 극대화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81328"/>
            <a:ext cx="54864" cy="162306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1664208"/>
            <a:ext cx="420624" cy="256032"/>
          </a:xfrm>
          <a:prstGeom prst="roundRect">
            <a:avLst>
              <a:gd name="adj" fmla="val 14286"/>
            </a:avLst>
          </a:prstGeom>
          <a:solidFill>
            <a:srgbClr val="A3D900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1664208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298448" y="164592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진입장벽 해소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95528" y="201168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40억대 소액으로 용산 핵심 역세권 토지 선점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55868" y="148132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55868" y="1481328"/>
            <a:ext cx="54864" cy="162306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Shape 12"/>
          <p:cNvSpPr/>
          <p:nvPr/>
        </p:nvSpPr>
        <p:spPr>
          <a:xfrm>
            <a:off x="6484468" y="1664208"/>
            <a:ext cx="420624" cy="256032"/>
          </a:xfrm>
          <a:prstGeom prst="roundRect">
            <a:avLst>
              <a:gd name="adj" fmla="val 14286"/>
            </a:avLst>
          </a:prstGeom>
          <a:solidFill>
            <a:srgbClr val="A3D900"/>
          </a:solidFill>
          <a:ln/>
        </p:spPr>
      </p:sp>
      <p:sp>
        <p:nvSpPr>
          <p:cNvPr id="15" name="Text 13"/>
          <p:cNvSpPr/>
          <p:nvPr/>
        </p:nvSpPr>
        <p:spPr>
          <a:xfrm>
            <a:off x="6484468" y="1664208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987388" y="164592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 리스크 제로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84468" y="201168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공실 명도 완료로 신속한 밸류애드 착공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33298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3332988"/>
            <a:ext cx="54864" cy="162306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0" name="Shape 18"/>
          <p:cNvSpPr/>
          <p:nvPr/>
        </p:nvSpPr>
        <p:spPr>
          <a:xfrm>
            <a:off x="795528" y="3515868"/>
            <a:ext cx="420624" cy="256032"/>
          </a:xfrm>
          <a:prstGeom prst="roundRect">
            <a:avLst>
              <a:gd name="adj" fmla="val 14286"/>
            </a:avLst>
          </a:prstGeom>
          <a:solidFill>
            <a:srgbClr val="A3D900"/>
          </a:solidFill>
          <a:ln/>
        </p:spPr>
      </p:sp>
      <p:sp>
        <p:nvSpPr>
          <p:cNvPr id="21" name="Text 19"/>
          <p:cNvSpPr/>
          <p:nvPr/>
        </p:nvSpPr>
        <p:spPr>
          <a:xfrm>
            <a:off x="795528" y="3515868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98448" y="349758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용도변경 프리미엄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95528" y="386334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올근생 대수선 시 자산가치 55억 원 이상 증대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55868" y="333298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55868" y="3332988"/>
            <a:ext cx="54864" cy="162306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6" name="Shape 24"/>
          <p:cNvSpPr/>
          <p:nvPr/>
        </p:nvSpPr>
        <p:spPr>
          <a:xfrm>
            <a:off x="6484468" y="3515868"/>
            <a:ext cx="420624" cy="256032"/>
          </a:xfrm>
          <a:prstGeom prst="roundRect">
            <a:avLst>
              <a:gd name="adj" fmla="val 14286"/>
            </a:avLst>
          </a:prstGeom>
          <a:solidFill>
            <a:srgbClr val="A3D900"/>
          </a:solidFill>
          <a:ln/>
        </p:spPr>
      </p:sp>
      <p:sp>
        <p:nvSpPr>
          <p:cNvPr id="27" name="Text 25"/>
          <p:cNvSpPr/>
          <p:nvPr/>
        </p:nvSpPr>
        <p:spPr>
          <a:xfrm>
            <a:off x="6484468" y="3515868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987388" y="349758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호재 수혜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84468" y="386334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E293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용산국제업무지구 및 용산민족공원 인접 중장기 시세차익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513892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9808" y="52486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441448" y="5230368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우수한 입지 경쟁력과 견고한 펀더멘털을 기반으로 중장기 자산 가치 상승 및 안정적인 현금흐름을 동시에 기대할 수 있는 우량 투자 기회입니다.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334155"/>
          </a:solidFill>
          <a:ln/>
        </p:spPr>
      </p:sp>
      <p:sp>
        <p:nvSpPr>
          <p:cNvPr id="6" name="Shape 4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8E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334155"/>
          </a:solidFill>
          <a:ln/>
        </p:spPr>
      </p:sp>
      <p:sp>
        <p:nvSpPr>
          <p:cNvPr id="12" name="Shape 10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13" name="Text 11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8E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334155"/>
          </a:solidFill>
          <a:ln/>
        </p:spPr>
      </p:sp>
      <p:sp>
        <p:nvSpPr>
          <p:cNvPr id="18" name="Shape 16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19" name="Text 17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24" name="Text 22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30" name="Text 28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33" name="Text 31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334155"/>
          </a:solidFill>
          <a:ln/>
        </p:spPr>
      </p:sp>
      <p:sp>
        <p:nvSpPr>
          <p:cNvPr id="36" name="Text 34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E293B"/>
          </a:solidFill>
          <a:ln/>
        </p:spPr>
      </p:sp>
      <p:sp>
        <p:nvSpPr>
          <p:cNvPr id="40" name="Text 38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42" name="Text 40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용산 마스터스 · 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2026-08-19T04:04:30Z</dcterms:created>
  <dcterms:modified xsi:type="dcterms:W3CDTF">2026-08-19T04:04:30Z</dcterms:modified>
</cp:coreProperties>
</file>