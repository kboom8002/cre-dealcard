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B98A2E"/>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4" name="Text 2"/>
          <p:cNvSpPr/>
          <p:nvPr/>
        </p:nvSpPr>
        <p:spPr>
          <a:xfrm>
            <a:off x="1133856" y="457200"/>
            <a:ext cx="10490911" cy="182880"/>
          </a:xfrm>
          <a:prstGeom prst="rect">
            <a:avLst/>
          </a:prstGeom>
          <a:noFill/>
          <a:ln/>
        </p:spPr>
        <p:txBody>
          <a:bodyPr wrap="square" lIns="0" tIns="0" rIns="0" bIns="0" rtlCol="0" anchor="ctr"/>
          <a:lstStyle/>
          <a:p>
            <a:pPr indent="0" marL="0">
              <a:buNone/>
            </a:pPr>
            <a:r>
              <a:rPr lang="en-US" sz="950" b="1" spc="200" kern="0" dirty="0">
                <a:solidFill>
                  <a:srgbClr val="B98A2E"/>
                </a:solidFill>
                <a:latin typeface="Arial" pitchFamily="34" charset="0"/>
                <a:ea typeface="Arial" pitchFamily="34" charset="-122"/>
                <a:cs typeface="Arial" pitchFamily="34" charset="-120"/>
              </a:rPr>
              <a:t>Rent Roll</a:t>
            </a:r>
            <a:endParaRPr lang="en-US" sz="950" dirty="0"/>
          </a:p>
        </p:txBody>
      </p:sp>
      <p:sp>
        <p:nvSpPr>
          <p:cNvPr id="5" name="Text 3"/>
          <p:cNvSpPr/>
          <p:nvPr/>
        </p:nvSpPr>
        <p:spPr>
          <a:xfrm>
            <a:off x="1133856" y="640080"/>
            <a:ext cx="10490911" cy="365760"/>
          </a:xfrm>
          <a:prstGeom prst="rect">
            <a:avLst/>
          </a:prstGeom>
          <a:noFill/>
          <a:ln/>
        </p:spPr>
        <p:txBody>
          <a:bodyPr wrap="square" lIns="0" tIns="0" rIns="0" bIns="0" rtlCol="0" anchor="ctr">
            <a:normAutofit/>
          </a:bodyPr>
          <a:lstStyle/>
          <a:p>
            <a:pPr indent="0" marL="0">
              <a:buNone/>
            </a:pPr>
            <a:r>
              <a:rPr lang="en-US" sz="2300" b="1" dirty="0">
                <a:solidFill>
                  <a:srgbClr val="10161F"/>
                </a:solidFill>
                <a:latin typeface="맑은 고딕" pitchFamily="34" charset="0"/>
                <a:ea typeface="맑은 고딕" pitchFamily="34" charset="-122"/>
                <a:cs typeface="맑은 고딕" pitchFamily="34" charset="-120"/>
              </a:rPr>
              <a:t>임대차 상세 계약 현황 (12개 전층)</a:t>
            </a:r>
            <a:endParaRPr lang="en-US" sz="2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921487"/>
                <a:gridCol w="921487"/>
                <a:gridCol w="1535811"/>
                <a:gridCol w="1535811"/>
                <a:gridCol w="1535811"/>
                <a:gridCol w="1535811"/>
                <a:gridCol w="1535811"/>
                <a:gridCol w="1535811"/>
              </a:tblGrid>
              <a:tr h="347472">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층수</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호실</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l" indent="0" marL="0">
                        <a:buNone/>
                      </a:pPr>
                      <a:r>
                        <a:rPr lang="en-US" sz="900" b="1" dirty="0">
                          <a:solidFill>
                            <a:srgbClr val="FFFFFF"/>
                          </a:solidFill>
                          <a:latin typeface="맑은 고딕" pitchFamily="34" charset="0"/>
                          <a:ea typeface="맑은 고딕" pitchFamily="34" charset="-122"/>
                          <a:cs typeface="맑은 고딕" pitchFamily="34" charset="-120"/>
                        </a:rPr>
                        <a:t>임차인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전용면적</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보증금</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월임대료</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r" indent="0" marL="0">
                        <a:buNone/>
                      </a:pPr>
                      <a:r>
                        <a:rPr lang="en-US" sz="900" b="1" dirty="0">
                          <a:solidFill>
                            <a:srgbClr val="FFFFFF"/>
                          </a:solidFill>
                          <a:latin typeface="맑은 고딕" pitchFamily="34" charset="0"/>
                          <a:ea typeface="맑은 고딕" pitchFamily="34" charset="-122"/>
                          <a:cs typeface="맑은 고딕" pitchFamily="34" charset="-120"/>
                        </a:rPr>
                        <a:t>관리비</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만기일</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101호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주식회사대한민국글로벌상업용부동산투자개발자산운용전문회사_제2…</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2F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102호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메디컬케어네트워크의원및종합검진클리닉센터영등포지점_첨단의료복…</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3F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103호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스타벅스코리아리저브당산역프리미엄드라이브스루매장점_스페셜티커…</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4F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104호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주식회사한국엔터프라이즈소프트웨어인텔리전스클라우드솔루션즈_글…</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5F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105호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법무법인대한국민종합법률사무소금융부동산전담변호인단_기업회생파…</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6F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106호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삼정세무회계사무소공인회계사및세무전문컨설팅그룹_상속증여가업승…</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7F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107호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주식회사넥스트제너레이션바이오테크놀로지알앤디연구센터_신약개발…</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8F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108호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글로벌로지스틱스서플라이체인매니지먼트한국물류지사_스마트풀필먼…</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9F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109호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주식회사메가프라임자산운용리츠투자운용본부전략기획실_글로벌투자…</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10F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1010호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에이아이인공지능딥러닝로보틱스응용연구개발실험실_자율주행인지센…</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11F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1011호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3440"/>
                          </a:solidFill>
                          <a:latin typeface="맑은 고딕" pitchFamily="34" charset="0"/>
                          <a:ea typeface="맑은 고딕" pitchFamily="34" charset="-122"/>
                          <a:cs typeface="맑은 고딕" pitchFamily="34" charset="-120"/>
                        </a:rPr>
                        <a:t>주식회사케이비부동산신탁부동산금융수탁투자관리부_리츠투자운용본…</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2B3440"/>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3440"/>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47472">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12F</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1012호</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l" indent="0" marL="0">
                        <a:buNone/>
                      </a:pPr>
                      <a:r>
                        <a:rPr lang="en-US" sz="900" b="1" dirty="0">
                          <a:solidFill>
                            <a:srgbClr val="10161F"/>
                          </a:solidFill>
                          <a:latin typeface="맑은 고딕" pitchFamily="34" charset="0"/>
                          <a:ea typeface="맑은 고딕" pitchFamily="34" charset="-122"/>
                          <a:cs typeface="맑은 고딕" pitchFamily="34" charset="-120"/>
                        </a:rPr>
                        <a:t>합계</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45.2평</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10,000만원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550만원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50만원</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c>
                  <a:txBody>
                    <a:bodyPr/>
                    <a:lstStyle/>
                    <a:p>
                      <a:pPr algn="ctr" indent="0" marL="0">
                        <a:buNone/>
                      </a:pPr>
                      <a:r>
                        <a:rPr lang="en-US" sz="900" b="1" dirty="0">
                          <a:solidFill>
                            <a:srgbClr val="10161F"/>
                          </a:solidFill>
                          <a:latin typeface="맑은 고딕" pitchFamily="34" charset="0"/>
                          <a:ea typeface="맑은 고딕" pitchFamily="34" charset="-122"/>
                          <a:cs typeface="맑은 고딕" pitchFamily="34" charset="-120"/>
                        </a:rPr>
                        <a:t>2028-12-31</a:t>
                      </a:r>
                      <a:endParaRPr lang="en-US" sz="9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1F5F9"/>
                    </a:solidFill>
                  </a:tcPr>
                </a:tc>
              </a:tr>
            </a:tbl>
          </a:graphicData>
        </a:graphic>
      </p:graphicFrame>
      <p:sp>
        <p:nvSpPr>
          <p:cNvPr id="7" name="Text 4"/>
          <p:cNvSpPr/>
          <p:nvPr/>
        </p:nvSpPr>
        <p:spPr>
          <a:xfrm>
            <a:off x="566928" y="6382512"/>
            <a:ext cx="7315200" cy="219456"/>
          </a:xfrm>
          <a:prstGeom prst="rect">
            <a:avLst/>
          </a:prstGeom>
          <a:noFill/>
          <a:ln/>
        </p:spPr>
        <p:txBody>
          <a:bodyPr wrap="square" lIns="0" tIns="0" rIns="0" bIns="0" rtlCol="0" anchor="ctr"/>
          <a:lstStyle/>
          <a:p>
            <a:pPr indent="0" marL="0">
              <a:buNone/>
            </a:pPr>
            <a:r>
              <a:rPr lang="en-US" sz="800" dirty="0">
                <a:solidFill>
                  <a:srgbClr val="7A8794"/>
                </a:solidFill>
                <a:latin typeface="맑은 고딕" pitchFamily="34" charset="0"/>
                <a:ea typeface="맑은 고딕" pitchFamily="34" charset="-122"/>
                <a:cs typeface="맑은 고딕" pitchFamily="34" charset="-120"/>
              </a:rPr>
              <a:t>크리딜   |   A03-CLAMP</a:t>
            </a:r>
            <a:endParaRPr lang="en-US" sz="800" dirty="0"/>
          </a:p>
        </p:txBody>
      </p:sp>
      <p:sp>
        <p:nvSpPr>
          <p:cNvPr id="8" name="Text 5"/>
          <p:cNvSpPr/>
          <p:nvPr/>
        </p:nvSpPr>
        <p:spPr>
          <a:xfrm>
            <a:off x="10710367" y="6382512"/>
            <a:ext cx="914400" cy="219456"/>
          </a:xfrm>
          <a:prstGeom prst="rect">
            <a:avLst/>
          </a:prstGeom>
          <a:noFill/>
          <a:ln/>
        </p:spPr>
        <p:txBody>
          <a:bodyPr wrap="square" lIns="0" tIns="0" rIns="0" bIns="0" rtlCol="0" anchor="ctr"/>
          <a:lstStyle/>
          <a:p>
            <a:pPr algn="r" indent="0" marL="0">
              <a:buNone/>
            </a:pPr>
            <a:r>
              <a:rPr lang="en-US" sz="900" b="1" dirty="0">
                <a:solidFill>
                  <a:srgbClr val="B98A2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2026-10-05T15:07:05Z</dcterms:created>
  <dcterms:modified xsi:type="dcterms:W3CDTF">2026-10-05T15:07:05Z</dcterms:modified>
</cp:coreProperties>
</file>