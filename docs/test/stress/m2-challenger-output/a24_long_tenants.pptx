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84048" cy="384048"/>
          </a:xfrm>
          <a:prstGeom prst="ellipse">
            <a:avLst/>
          </a:prstGeom>
          <a:solidFill>
            <a:srgbClr val="B98A2E"/>
          </a:solidFill>
          <a:ln/>
        </p:spPr>
      </p:sp>
      <p:sp>
        <p:nvSpPr>
          <p:cNvPr id="3" name="Text 1"/>
          <p:cNvSpPr/>
          <p:nvPr/>
        </p:nvSpPr>
        <p:spPr>
          <a:xfrm>
            <a:off x="566928" y="457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01</a:t>
            </a:r>
            <a:endParaRPr lang="en-US" sz="1300" dirty="0"/>
          </a:p>
        </p:txBody>
      </p:sp>
      <p:sp>
        <p:nvSpPr>
          <p:cNvPr id="4" name="Text 2"/>
          <p:cNvSpPr/>
          <p:nvPr/>
        </p:nvSpPr>
        <p:spPr>
          <a:xfrm>
            <a:off x="1133856" y="457200"/>
            <a:ext cx="10490911" cy="182880"/>
          </a:xfrm>
          <a:prstGeom prst="rect">
            <a:avLst/>
          </a:prstGeom>
          <a:noFill/>
          <a:ln/>
        </p:spPr>
        <p:txBody>
          <a:bodyPr wrap="square" lIns="0" tIns="0" rIns="0" bIns="0" rtlCol="0" anchor="ctr"/>
          <a:lstStyle/>
          <a:p>
            <a:pPr indent="0" marL="0">
              <a:buNone/>
            </a:pPr>
            <a:r>
              <a:rPr lang="en-US" sz="950" b="1" spc="200" kern="0" dirty="0">
                <a:solidFill>
                  <a:srgbClr val="B98A2E"/>
                </a:solidFill>
                <a:latin typeface="Arial" pitchFamily="34" charset="0"/>
                <a:ea typeface="Arial" pitchFamily="34" charset="-122"/>
                <a:cs typeface="Arial" pitchFamily="34" charset="-120"/>
              </a:rPr>
              <a:t>Rent Roll</a:t>
            </a:r>
            <a:endParaRPr lang="en-US" sz="950" dirty="0"/>
          </a:p>
        </p:txBody>
      </p:sp>
      <p:sp>
        <p:nvSpPr>
          <p:cNvPr id="5" name="Text 3"/>
          <p:cNvSpPr/>
          <p:nvPr/>
        </p:nvSpPr>
        <p:spPr>
          <a:xfrm>
            <a:off x="1133856" y="640080"/>
            <a:ext cx="10490911" cy="365760"/>
          </a:xfrm>
          <a:prstGeom prst="rect">
            <a:avLst/>
          </a:prstGeom>
          <a:noFill/>
          <a:ln/>
        </p:spPr>
        <p:txBody>
          <a:bodyPr wrap="square" lIns="0" tIns="0" rIns="0" bIns="0" rtlCol="0" anchor="ctr">
            <a:normAutofit/>
          </a:bodyPr>
          <a:lstStyle/>
          <a:p>
            <a:pPr indent="0" marL="0">
              <a:buNone/>
            </a:pPr>
            <a:r>
              <a:rPr lang="en-US" sz="2300" b="1" dirty="0">
                <a:solidFill>
                  <a:srgbClr val="10161F"/>
                </a:solidFill>
                <a:latin typeface="맑은 고딕" pitchFamily="34" charset="0"/>
                <a:ea typeface="맑은 고딕" pitchFamily="34" charset="-122"/>
                <a:cs typeface="맑은 고딕" pitchFamily="34" charset="-120"/>
              </a:rPr>
              <a:t>층별 공간 배치 및 렌트롤 상세</a:t>
            </a:r>
            <a:endParaRPr lang="en-US" sz="2300" dirty="0"/>
          </a:p>
        </p:txBody>
      </p:sp>
      <p:sp>
        <p:nvSpPr>
          <p:cNvPr id="6" name="Shape 4"/>
          <p:cNvSpPr/>
          <p:nvPr/>
        </p:nvSpPr>
        <p:spPr>
          <a:xfrm>
            <a:off x="566928" y="1645920"/>
            <a:ext cx="2011680" cy="329184"/>
          </a:xfrm>
          <a:prstGeom prst="rect">
            <a:avLst/>
          </a:prstGeom>
          <a:solidFill>
            <a:srgbClr val="10161F"/>
          </a:solidFill>
          <a:ln w="6350">
            <a:solidFill>
              <a:srgbClr val="10161F"/>
            </a:solidFill>
            <a:prstDash val="solid"/>
          </a:ln>
        </p:spPr>
      </p:sp>
      <p:sp>
        <p:nvSpPr>
          <p:cNvPr id="7" name="Text 5"/>
          <p:cNvSpPr/>
          <p:nvPr/>
        </p:nvSpPr>
        <p:spPr>
          <a:xfrm>
            <a:off x="566928" y="1645920"/>
            <a:ext cx="2011680" cy="329184"/>
          </a:xfrm>
          <a:prstGeom prst="rect">
            <a:avLst/>
          </a:prstGeom>
          <a:noFill/>
          <a:ln/>
        </p:spPr>
        <p:txBody>
          <a:bodyPr wrap="non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층별 스태킹 플랜 (㎡)</a:t>
            </a:r>
            <a:endParaRPr lang="en-US" sz="900" dirty="0"/>
          </a:p>
        </p:txBody>
      </p:sp>
      <p:sp>
        <p:nvSpPr>
          <p:cNvPr id="8" name="Text 6"/>
          <p:cNvSpPr/>
          <p:nvPr/>
        </p:nvSpPr>
        <p:spPr>
          <a:xfrm>
            <a:off x="566928" y="5266944"/>
            <a:ext cx="475488" cy="329184"/>
          </a:xfrm>
          <a:prstGeom prst="rect">
            <a:avLst/>
          </a:prstGeom>
          <a:noFill/>
          <a:ln/>
        </p:spPr>
        <p:txBody>
          <a:bodyPr wrap="none" lIns="0" tIns="0" rIns="0" bIns="0" rtlCol="0" anchor="ctr"/>
          <a:lstStyle/>
          <a:p>
            <a:pPr algn="r" indent="0" marL="0">
              <a:buNone/>
            </a:pPr>
            <a:r>
              <a:rPr lang="en-US" sz="900" b="1" dirty="0">
                <a:solidFill>
                  <a:srgbClr val="10161F"/>
                </a:solidFill>
                <a:latin typeface="맑은 고딕" pitchFamily="34" charset="0"/>
                <a:ea typeface="맑은 고딕" pitchFamily="34" charset="-122"/>
                <a:cs typeface="맑은 고딕" pitchFamily="34" charset="-120"/>
              </a:rPr>
              <a:t>B1</a:t>
            </a:r>
            <a:endParaRPr lang="en-US" sz="900" dirty="0"/>
          </a:p>
        </p:txBody>
      </p:sp>
      <p:sp>
        <p:nvSpPr>
          <p:cNvPr id="9" name="Shape 7"/>
          <p:cNvSpPr/>
          <p:nvPr/>
        </p:nvSpPr>
        <p:spPr>
          <a:xfrm>
            <a:off x="1115568" y="5298948"/>
            <a:ext cx="1444752" cy="265176"/>
          </a:xfrm>
          <a:prstGeom prst="rect">
            <a:avLst/>
          </a:prstGeom>
          <a:solidFill>
            <a:srgbClr val="FBEFE8"/>
          </a:solidFill>
          <a:ln w="12700">
            <a:solidFill>
              <a:srgbClr val="B05A2E"/>
            </a:solidFill>
            <a:prstDash val="dash"/>
          </a:ln>
        </p:spPr>
      </p:sp>
      <p:sp>
        <p:nvSpPr>
          <p:cNvPr id="10" name="Text 8"/>
          <p:cNvSpPr/>
          <p:nvPr/>
        </p:nvSpPr>
        <p:spPr>
          <a:xfrm>
            <a:off x="1143000" y="5298948"/>
            <a:ext cx="1389888" cy="265176"/>
          </a:xfrm>
          <a:prstGeom prst="rect">
            <a:avLst/>
          </a:prstGeom>
          <a:noFill/>
          <a:ln/>
        </p:spPr>
        <p:txBody>
          <a:bodyPr wrap="none" lIns="0" tIns="0" rIns="0" bIns="0" rtlCol="0" anchor="ctr"/>
          <a:lstStyle/>
          <a:p>
            <a:pPr algn="ctr" indent="0" marL="0">
              <a:buNone/>
            </a:pPr>
            <a:r>
              <a:rPr lang="en-US" sz="800" b="1" dirty="0">
                <a:solidFill>
                  <a:srgbClr val="B05A2E"/>
                </a:solidFill>
                <a:latin typeface="맑은 고딕" pitchFamily="34" charset="0"/>
                <a:ea typeface="맑은 고딕" pitchFamily="34" charset="-122"/>
                <a:cs typeface="맑은 고딕" pitchFamily="34" charset="-120"/>
              </a:rPr>
              <a:t>공실 200.0㎡</a:t>
            </a:r>
            <a:endParaRPr lang="en-US" sz="800" dirty="0"/>
          </a:p>
        </p:txBody>
      </p:sp>
      <p:sp>
        <p:nvSpPr>
          <p:cNvPr id="11" name="Text 9"/>
          <p:cNvSpPr/>
          <p:nvPr/>
        </p:nvSpPr>
        <p:spPr>
          <a:xfrm>
            <a:off x="566928" y="4937760"/>
            <a:ext cx="475488" cy="329184"/>
          </a:xfrm>
          <a:prstGeom prst="rect">
            <a:avLst/>
          </a:prstGeom>
          <a:noFill/>
          <a:ln/>
        </p:spPr>
        <p:txBody>
          <a:bodyPr wrap="none" lIns="0" tIns="0" rIns="0" bIns="0" rtlCol="0" anchor="ctr"/>
          <a:lstStyle/>
          <a:p>
            <a:pPr algn="r" indent="0" marL="0">
              <a:buNone/>
            </a:pPr>
            <a:r>
              <a:rPr lang="en-US" sz="900" b="1" dirty="0">
                <a:solidFill>
                  <a:srgbClr val="10161F"/>
                </a:solidFill>
                <a:latin typeface="맑은 고딕" pitchFamily="34" charset="0"/>
                <a:ea typeface="맑은 고딕" pitchFamily="34" charset="-122"/>
                <a:cs typeface="맑은 고딕" pitchFamily="34" charset="-120"/>
              </a:rPr>
              <a:t>1F</a:t>
            </a:r>
            <a:endParaRPr lang="en-US" sz="900" dirty="0"/>
          </a:p>
        </p:txBody>
      </p:sp>
      <p:sp>
        <p:nvSpPr>
          <p:cNvPr id="12" name="Shape 10"/>
          <p:cNvSpPr/>
          <p:nvPr/>
        </p:nvSpPr>
        <p:spPr>
          <a:xfrm>
            <a:off x="1115568" y="4969764"/>
            <a:ext cx="1444752" cy="265176"/>
          </a:xfrm>
          <a:prstGeom prst="rect">
            <a:avLst/>
          </a:prstGeom>
          <a:solidFill>
            <a:srgbClr val="B8D8D8"/>
          </a:solidFill>
          <a:ln w="9525">
            <a:solidFill>
              <a:srgbClr val="5B6B73"/>
            </a:solidFill>
            <a:prstDash val="solid"/>
          </a:ln>
        </p:spPr>
      </p:sp>
      <p:sp>
        <p:nvSpPr>
          <p:cNvPr id="13" name="Text 11"/>
          <p:cNvSpPr/>
          <p:nvPr/>
        </p:nvSpPr>
        <p:spPr>
          <a:xfrm>
            <a:off x="566928" y="4608576"/>
            <a:ext cx="475488" cy="329184"/>
          </a:xfrm>
          <a:prstGeom prst="rect">
            <a:avLst/>
          </a:prstGeom>
          <a:noFill/>
          <a:ln/>
        </p:spPr>
        <p:txBody>
          <a:bodyPr wrap="none" lIns="0" tIns="0" rIns="0" bIns="0" rtlCol="0" anchor="ctr"/>
          <a:lstStyle/>
          <a:p>
            <a:pPr algn="r" indent="0" marL="0">
              <a:buNone/>
            </a:pPr>
            <a:r>
              <a:rPr lang="en-US" sz="900" b="1" dirty="0">
                <a:solidFill>
                  <a:srgbClr val="10161F"/>
                </a:solidFill>
                <a:latin typeface="맑은 고딕" pitchFamily="34" charset="0"/>
                <a:ea typeface="맑은 고딕" pitchFamily="34" charset="-122"/>
                <a:cs typeface="맑은 고딕" pitchFamily="34" charset="-120"/>
              </a:rPr>
              <a:t>2F</a:t>
            </a:r>
            <a:endParaRPr lang="en-US" sz="900" dirty="0"/>
          </a:p>
        </p:txBody>
      </p:sp>
      <p:sp>
        <p:nvSpPr>
          <p:cNvPr id="14" name="Shape 12"/>
          <p:cNvSpPr/>
          <p:nvPr/>
        </p:nvSpPr>
        <p:spPr>
          <a:xfrm>
            <a:off x="1115568" y="4640580"/>
            <a:ext cx="1444752" cy="265176"/>
          </a:xfrm>
          <a:prstGeom prst="rect">
            <a:avLst/>
          </a:prstGeom>
          <a:solidFill>
            <a:srgbClr val="93B3A0"/>
          </a:solidFill>
          <a:ln w="9525">
            <a:solidFill>
              <a:srgbClr val="5B6B73"/>
            </a:solidFill>
            <a:prstDash val="solid"/>
          </a:ln>
        </p:spPr>
      </p:sp>
      <p:sp>
        <p:nvSpPr>
          <p:cNvPr id="15" name="Text 13"/>
          <p:cNvSpPr/>
          <p:nvPr/>
        </p:nvSpPr>
        <p:spPr>
          <a:xfrm>
            <a:off x="566928" y="4279392"/>
            <a:ext cx="475488" cy="329184"/>
          </a:xfrm>
          <a:prstGeom prst="rect">
            <a:avLst/>
          </a:prstGeom>
          <a:noFill/>
          <a:ln/>
        </p:spPr>
        <p:txBody>
          <a:bodyPr wrap="none" lIns="0" tIns="0" rIns="0" bIns="0" rtlCol="0" anchor="ctr"/>
          <a:lstStyle/>
          <a:p>
            <a:pPr algn="r" indent="0" marL="0">
              <a:buNone/>
            </a:pPr>
            <a:r>
              <a:rPr lang="en-US" sz="900" b="1" dirty="0">
                <a:solidFill>
                  <a:srgbClr val="10161F"/>
                </a:solidFill>
                <a:latin typeface="맑은 고딕" pitchFamily="34" charset="0"/>
                <a:ea typeface="맑은 고딕" pitchFamily="34" charset="-122"/>
                <a:cs typeface="맑은 고딕" pitchFamily="34" charset="-120"/>
              </a:rPr>
              <a:t>3F</a:t>
            </a:r>
            <a:endParaRPr lang="en-US" sz="900" dirty="0"/>
          </a:p>
        </p:txBody>
      </p:sp>
      <p:sp>
        <p:nvSpPr>
          <p:cNvPr id="16" name="Shape 14"/>
          <p:cNvSpPr/>
          <p:nvPr/>
        </p:nvSpPr>
        <p:spPr>
          <a:xfrm>
            <a:off x="1115568" y="4311396"/>
            <a:ext cx="1444752" cy="265176"/>
          </a:xfrm>
          <a:prstGeom prst="rect">
            <a:avLst/>
          </a:prstGeom>
          <a:solidFill>
            <a:srgbClr val="A6C1D9"/>
          </a:solidFill>
          <a:ln w="9525">
            <a:solidFill>
              <a:srgbClr val="5B6B73"/>
            </a:solidFill>
            <a:prstDash val="solid"/>
          </a:ln>
        </p:spPr>
      </p:sp>
      <p:sp>
        <p:nvSpPr>
          <p:cNvPr id="17" name="Text 15"/>
          <p:cNvSpPr/>
          <p:nvPr/>
        </p:nvSpPr>
        <p:spPr>
          <a:xfrm>
            <a:off x="566928" y="3950208"/>
            <a:ext cx="475488" cy="329184"/>
          </a:xfrm>
          <a:prstGeom prst="rect">
            <a:avLst/>
          </a:prstGeom>
          <a:noFill/>
          <a:ln/>
        </p:spPr>
        <p:txBody>
          <a:bodyPr wrap="none" lIns="0" tIns="0" rIns="0" bIns="0" rtlCol="0" anchor="ctr"/>
          <a:lstStyle/>
          <a:p>
            <a:pPr algn="r" indent="0" marL="0">
              <a:buNone/>
            </a:pPr>
            <a:r>
              <a:rPr lang="en-US" sz="900" b="1" dirty="0">
                <a:solidFill>
                  <a:srgbClr val="10161F"/>
                </a:solidFill>
                <a:latin typeface="맑은 고딕" pitchFamily="34" charset="0"/>
                <a:ea typeface="맑은 고딕" pitchFamily="34" charset="-122"/>
                <a:cs typeface="맑은 고딕" pitchFamily="34" charset="-120"/>
              </a:rPr>
              <a:t>4F</a:t>
            </a:r>
            <a:endParaRPr lang="en-US" sz="900" dirty="0"/>
          </a:p>
        </p:txBody>
      </p:sp>
      <p:sp>
        <p:nvSpPr>
          <p:cNvPr id="18" name="Shape 16"/>
          <p:cNvSpPr/>
          <p:nvPr/>
        </p:nvSpPr>
        <p:spPr>
          <a:xfrm>
            <a:off x="1115568" y="3982212"/>
            <a:ext cx="1444752" cy="265176"/>
          </a:xfrm>
          <a:prstGeom prst="rect">
            <a:avLst/>
          </a:prstGeom>
          <a:solidFill>
            <a:srgbClr val="C5B4E3"/>
          </a:solidFill>
          <a:ln w="9525">
            <a:solidFill>
              <a:srgbClr val="5B6B73"/>
            </a:solidFill>
            <a:prstDash val="solid"/>
          </a:ln>
        </p:spPr>
      </p:sp>
      <p:sp>
        <p:nvSpPr>
          <p:cNvPr id="19" name="Text 17"/>
          <p:cNvSpPr/>
          <p:nvPr/>
        </p:nvSpPr>
        <p:spPr>
          <a:xfrm>
            <a:off x="566928" y="3621024"/>
            <a:ext cx="475488" cy="329184"/>
          </a:xfrm>
          <a:prstGeom prst="rect">
            <a:avLst/>
          </a:prstGeom>
          <a:noFill/>
          <a:ln/>
        </p:spPr>
        <p:txBody>
          <a:bodyPr wrap="none" lIns="0" tIns="0" rIns="0" bIns="0" rtlCol="0" anchor="ctr"/>
          <a:lstStyle/>
          <a:p>
            <a:pPr algn="r" indent="0" marL="0">
              <a:buNone/>
            </a:pPr>
            <a:r>
              <a:rPr lang="en-US" sz="900" b="1" dirty="0">
                <a:solidFill>
                  <a:srgbClr val="10161F"/>
                </a:solidFill>
                <a:latin typeface="맑은 고딕" pitchFamily="34" charset="0"/>
                <a:ea typeface="맑은 고딕" pitchFamily="34" charset="-122"/>
                <a:cs typeface="맑은 고딕" pitchFamily="34" charset="-120"/>
              </a:rPr>
              <a:t>5F</a:t>
            </a:r>
            <a:endParaRPr lang="en-US" sz="900" dirty="0"/>
          </a:p>
        </p:txBody>
      </p:sp>
      <p:sp>
        <p:nvSpPr>
          <p:cNvPr id="20" name="Shape 18"/>
          <p:cNvSpPr/>
          <p:nvPr/>
        </p:nvSpPr>
        <p:spPr>
          <a:xfrm>
            <a:off x="1115568" y="3653028"/>
            <a:ext cx="1444752" cy="265176"/>
          </a:xfrm>
          <a:prstGeom prst="rect">
            <a:avLst/>
          </a:prstGeom>
          <a:solidFill>
            <a:srgbClr val="A6C1D9"/>
          </a:solidFill>
          <a:ln w="9525">
            <a:solidFill>
              <a:srgbClr val="5B6B73"/>
            </a:solidFill>
            <a:prstDash val="solid"/>
          </a:ln>
        </p:spPr>
      </p:sp>
      <p:sp>
        <p:nvSpPr>
          <p:cNvPr id="21" name="Text 19"/>
          <p:cNvSpPr/>
          <p:nvPr/>
        </p:nvSpPr>
        <p:spPr>
          <a:xfrm>
            <a:off x="566928" y="3291840"/>
            <a:ext cx="475488" cy="329184"/>
          </a:xfrm>
          <a:prstGeom prst="rect">
            <a:avLst/>
          </a:prstGeom>
          <a:noFill/>
          <a:ln/>
        </p:spPr>
        <p:txBody>
          <a:bodyPr wrap="none" lIns="0" tIns="0" rIns="0" bIns="0" rtlCol="0" anchor="ctr"/>
          <a:lstStyle/>
          <a:p>
            <a:pPr algn="r" indent="0" marL="0">
              <a:buNone/>
            </a:pPr>
            <a:r>
              <a:rPr lang="en-US" sz="900" b="1" dirty="0">
                <a:solidFill>
                  <a:srgbClr val="10161F"/>
                </a:solidFill>
                <a:latin typeface="맑은 고딕" pitchFamily="34" charset="0"/>
                <a:ea typeface="맑은 고딕" pitchFamily="34" charset="-122"/>
                <a:cs typeface="맑은 고딕" pitchFamily="34" charset="-120"/>
              </a:rPr>
              <a:t>6F</a:t>
            </a:r>
            <a:endParaRPr lang="en-US" sz="900" dirty="0"/>
          </a:p>
        </p:txBody>
      </p:sp>
      <p:sp>
        <p:nvSpPr>
          <p:cNvPr id="22" name="Shape 20"/>
          <p:cNvSpPr/>
          <p:nvPr/>
        </p:nvSpPr>
        <p:spPr>
          <a:xfrm>
            <a:off x="1115568" y="3323844"/>
            <a:ext cx="1444752" cy="265176"/>
          </a:xfrm>
          <a:prstGeom prst="rect">
            <a:avLst/>
          </a:prstGeom>
          <a:solidFill>
            <a:srgbClr val="C5B4E3"/>
          </a:solidFill>
          <a:ln w="9525">
            <a:solidFill>
              <a:srgbClr val="5B6B73"/>
            </a:solidFill>
            <a:prstDash val="solid"/>
          </a:ln>
        </p:spPr>
      </p:sp>
      <p:sp>
        <p:nvSpPr>
          <p:cNvPr id="23" name="Text 21"/>
          <p:cNvSpPr/>
          <p:nvPr/>
        </p:nvSpPr>
        <p:spPr>
          <a:xfrm>
            <a:off x="566928" y="2962656"/>
            <a:ext cx="475488" cy="329184"/>
          </a:xfrm>
          <a:prstGeom prst="rect">
            <a:avLst/>
          </a:prstGeom>
          <a:noFill/>
          <a:ln/>
        </p:spPr>
        <p:txBody>
          <a:bodyPr wrap="none" lIns="0" tIns="0" rIns="0" bIns="0" rtlCol="0" anchor="ctr"/>
          <a:lstStyle/>
          <a:p>
            <a:pPr algn="r" indent="0" marL="0">
              <a:buNone/>
            </a:pPr>
            <a:r>
              <a:rPr lang="en-US" sz="900" b="1" dirty="0">
                <a:solidFill>
                  <a:srgbClr val="10161F"/>
                </a:solidFill>
                <a:latin typeface="맑은 고딕" pitchFamily="34" charset="0"/>
                <a:ea typeface="맑은 고딕" pitchFamily="34" charset="-122"/>
                <a:cs typeface="맑은 고딕" pitchFamily="34" charset="-120"/>
              </a:rPr>
              <a:t>7F</a:t>
            </a:r>
            <a:endParaRPr lang="en-US" sz="900" dirty="0"/>
          </a:p>
        </p:txBody>
      </p:sp>
      <p:sp>
        <p:nvSpPr>
          <p:cNvPr id="24" name="Shape 22"/>
          <p:cNvSpPr/>
          <p:nvPr/>
        </p:nvSpPr>
        <p:spPr>
          <a:xfrm>
            <a:off x="1115568" y="2994660"/>
            <a:ext cx="1444752" cy="265176"/>
          </a:xfrm>
          <a:prstGeom prst="rect">
            <a:avLst/>
          </a:prstGeom>
          <a:solidFill>
            <a:srgbClr val="93B3A0"/>
          </a:solidFill>
          <a:ln w="9525">
            <a:solidFill>
              <a:srgbClr val="5B6B73"/>
            </a:solidFill>
            <a:prstDash val="solid"/>
          </a:ln>
        </p:spPr>
      </p:sp>
      <p:sp>
        <p:nvSpPr>
          <p:cNvPr id="25" name="Text 23"/>
          <p:cNvSpPr/>
          <p:nvPr/>
        </p:nvSpPr>
        <p:spPr>
          <a:xfrm>
            <a:off x="566928" y="2633472"/>
            <a:ext cx="475488" cy="329184"/>
          </a:xfrm>
          <a:prstGeom prst="rect">
            <a:avLst/>
          </a:prstGeom>
          <a:noFill/>
          <a:ln/>
        </p:spPr>
        <p:txBody>
          <a:bodyPr wrap="none" lIns="0" tIns="0" rIns="0" bIns="0" rtlCol="0" anchor="ctr"/>
          <a:lstStyle/>
          <a:p>
            <a:pPr algn="r" indent="0" marL="0">
              <a:buNone/>
            </a:pPr>
            <a:r>
              <a:rPr lang="en-US" sz="900" b="1" dirty="0">
                <a:solidFill>
                  <a:srgbClr val="10161F"/>
                </a:solidFill>
                <a:latin typeface="맑은 고딕" pitchFamily="34" charset="0"/>
                <a:ea typeface="맑은 고딕" pitchFamily="34" charset="-122"/>
                <a:cs typeface="맑은 고딕" pitchFamily="34" charset="-120"/>
              </a:rPr>
              <a:t>8F</a:t>
            </a:r>
            <a:endParaRPr lang="en-US" sz="900" dirty="0"/>
          </a:p>
        </p:txBody>
      </p:sp>
      <p:sp>
        <p:nvSpPr>
          <p:cNvPr id="26" name="Shape 24"/>
          <p:cNvSpPr/>
          <p:nvPr/>
        </p:nvSpPr>
        <p:spPr>
          <a:xfrm>
            <a:off x="1115568" y="2665476"/>
            <a:ext cx="1444752" cy="265176"/>
          </a:xfrm>
          <a:prstGeom prst="rect">
            <a:avLst/>
          </a:prstGeom>
          <a:solidFill>
            <a:srgbClr val="F2C4A2"/>
          </a:solidFill>
          <a:ln w="9525">
            <a:solidFill>
              <a:srgbClr val="5B6B73"/>
            </a:solidFill>
            <a:prstDash val="solid"/>
          </a:ln>
        </p:spPr>
      </p:sp>
      <p:sp>
        <p:nvSpPr>
          <p:cNvPr id="27" name="Text 25"/>
          <p:cNvSpPr/>
          <p:nvPr/>
        </p:nvSpPr>
        <p:spPr>
          <a:xfrm>
            <a:off x="566928" y="2304288"/>
            <a:ext cx="475488" cy="329184"/>
          </a:xfrm>
          <a:prstGeom prst="rect">
            <a:avLst/>
          </a:prstGeom>
          <a:noFill/>
          <a:ln/>
        </p:spPr>
        <p:txBody>
          <a:bodyPr wrap="none" lIns="0" tIns="0" rIns="0" bIns="0" rtlCol="0" anchor="ctr"/>
          <a:lstStyle/>
          <a:p>
            <a:pPr algn="r" indent="0" marL="0">
              <a:buNone/>
            </a:pPr>
            <a:r>
              <a:rPr lang="en-US" sz="900" b="1" dirty="0">
                <a:solidFill>
                  <a:srgbClr val="10161F"/>
                </a:solidFill>
                <a:latin typeface="맑은 고딕" pitchFamily="34" charset="0"/>
                <a:ea typeface="맑은 고딕" pitchFamily="34" charset="-122"/>
                <a:cs typeface="맑은 고딕" pitchFamily="34" charset="-120"/>
              </a:rPr>
              <a:t>9F</a:t>
            </a:r>
            <a:endParaRPr lang="en-US" sz="900" dirty="0"/>
          </a:p>
        </p:txBody>
      </p:sp>
      <p:sp>
        <p:nvSpPr>
          <p:cNvPr id="28" name="Shape 26"/>
          <p:cNvSpPr/>
          <p:nvPr/>
        </p:nvSpPr>
        <p:spPr>
          <a:xfrm>
            <a:off x="1115568" y="2336292"/>
            <a:ext cx="1444752" cy="265176"/>
          </a:xfrm>
          <a:prstGeom prst="rect">
            <a:avLst/>
          </a:prstGeom>
          <a:solidFill>
            <a:srgbClr val="A6C1D9"/>
          </a:solidFill>
          <a:ln w="9525">
            <a:solidFill>
              <a:srgbClr val="5B6B73"/>
            </a:solidFill>
            <a:prstDash val="solid"/>
          </a:ln>
        </p:spPr>
      </p:sp>
      <p:sp>
        <p:nvSpPr>
          <p:cNvPr id="29" name="Text 27"/>
          <p:cNvSpPr/>
          <p:nvPr/>
        </p:nvSpPr>
        <p:spPr>
          <a:xfrm>
            <a:off x="566928" y="1975104"/>
            <a:ext cx="475488" cy="329184"/>
          </a:xfrm>
          <a:prstGeom prst="rect">
            <a:avLst/>
          </a:prstGeom>
          <a:noFill/>
          <a:ln/>
        </p:spPr>
        <p:txBody>
          <a:bodyPr wrap="none" lIns="0" tIns="0" rIns="0" bIns="0" rtlCol="0" anchor="ctr"/>
          <a:lstStyle/>
          <a:p>
            <a:pPr algn="r" indent="0" marL="0">
              <a:buNone/>
            </a:pPr>
            <a:r>
              <a:rPr lang="en-US" sz="900" b="1" dirty="0">
                <a:solidFill>
                  <a:srgbClr val="10161F"/>
                </a:solidFill>
                <a:latin typeface="맑은 고딕" pitchFamily="34" charset="0"/>
                <a:ea typeface="맑은 고딕" pitchFamily="34" charset="-122"/>
                <a:cs typeface="맑은 고딕" pitchFamily="34" charset="-120"/>
              </a:rPr>
              <a:t>10F</a:t>
            </a:r>
            <a:endParaRPr lang="en-US" sz="900" dirty="0"/>
          </a:p>
        </p:txBody>
      </p:sp>
      <p:sp>
        <p:nvSpPr>
          <p:cNvPr id="30" name="Shape 28"/>
          <p:cNvSpPr/>
          <p:nvPr/>
        </p:nvSpPr>
        <p:spPr>
          <a:xfrm>
            <a:off x="1115568" y="2007108"/>
            <a:ext cx="1444752" cy="265176"/>
          </a:xfrm>
          <a:prstGeom prst="rect">
            <a:avLst/>
          </a:prstGeom>
          <a:solidFill>
            <a:srgbClr val="C5B4E3"/>
          </a:solidFill>
          <a:ln w="9525">
            <a:solidFill>
              <a:srgbClr val="5B6B73"/>
            </a:solidFill>
            <a:prstDash val="solid"/>
          </a:ln>
        </p:spPr>
      </p:sp>
      <p:sp>
        <p:nvSpPr>
          <p:cNvPr id="31" name="Shape 29"/>
          <p:cNvSpPr/>
          <p:nvPr/>
        </p:nvSpPr>
        <p:spPr>
          <a:xfrm>
            <a:off x="1078992" y="5266944"/>
            <a:ext cx="1499616" cy="0"/>
          </a:xfrm>
          <a:prstGeom prst="line">
            <a:avLst/>
          </a:prstGeom>
          <a:noFill/>
          <a:ln w="15875">
            <a:solidFill>
              <a:srgbClr val="94A3B8"/>
            </a:solidFill>
            <a:prstDash val="dash"/>
          </a:ln>
        </p:spPr>
      </p:sp>
      <p:sp>
        <p:nvSpPr>
          <p:cNvPr id="32" name="Text 30"/>
          <p:cNvSpPr/>
          <p:nvPr/>
        </p:nvSpPr>
        <p:spPr>
          <a:xfrm>
            <a:off x="566928" y="5193792"/>
            <a:ext cx="219456" cy="146304"/>
          </a:xfrm>
          <a:prstGeom prst="rect">
            <a:avLst/>
          </a:prstGeom>
          <a:noFill/>
          <a:ln/>
        </p:spPr>
        <p:txBody>
          <a:bodyPr wrap="none" lIns="0" tIns="0" rIns="0" bIns="0" rtlCol="0" anchor="ctr"/>
          <a:lstStyle/>
          <a:p>
            <a:pPr algn="l" indent="0" marL="0">
              <a:buNone/>
            </a:pPr>
            <a:r>
              <a:rPr lang="en-US" sz="650" b="1" dirty="0">
                <a:solidFill>
                  <a:srgbClr val="64748B"/>
                </a:solidFill>
                <a:latin typeface="맑은 고딕" pitchFamily="34" charset="0"/>
                <a:ea typeface="맑은 고딕" pitchFamily="34" charset="-122"/>
                <a:cs typeface="맑은 고딕" pitchFamily="34" charset="-120"/>
              </a:rPr>
              <a:t>GL</a:t>
            </a:r>
            <a:endParaRPr lang="en-US" sz="650" dirty="0"/>
          </a:p>
        </p:txBody>
      </p:sp>
      <p:sp>
        <p:nvSpPr>
          <p:cNvPr id="33" name="Shape 31"/>
          <p:cNvSpPr/>
          <p:nvPr/>
        </p:nvSpPr>
        <p:spPr>
          <a:xfrm>
            <a:off x="603504" y="5705856"/>
            <a:ext cx="118872" cy="109728"/>
          </a:xfrm>
          <a:prstGeom prst="rect">
            <a:avLst/>
          </a:prstGeom>
          <a:solidFill>
            <a:srgbClr val="FBEFE8"/>
          </a:solidFill>
          <a:ln w="9525">
            <a:solidFill>
              <a:srgbClr val="B05A2E"/>
            </a:solidFill>
            <a:prstDash val="dash"/>
          </a:ln>
        </p:spPr>
      </p:sp>
      <p:sp>
        <p:nvSpPr>
          <p:cNvPr id="34" name="Text 32"/>
          <p:cNvSpPr/>
          <p:nvPr/>
        </p:nvSpPr>
        <p:spPr>
          <a:xfrm>
            <a:off x="758952" y="5596128"/>
            <a:ext cx="243332" cy="329184"/>
          </a:xfrm>
          <a:prstGeom prst="rect">
            <a:avLst/>
          </a:prstGeom>
          <a:noFill/>
          <a:ln/>
        </p:spPr>
        <p:txBody>
          <a:bodyPr wrap="none" lIns="0" tIns="0" rIns="0" bIns="0" rtlCol="0" anchor="ctr"/>
          <a:lstStyle/>
          <a:p>
            <a:pPr indent="0" marL="0">
              <a:buNone/>
            </a:pPr>
            <a:r>
              <a:rPr lang="en-US" sz="700" b="1" dirty="0">
                <a:solidFill>
                  <a:srgbClr val="B05A2E"/>
                </a:solidFill>
                <a:latin typeface="맑은 고딕" pitchFamily="34" charset="0"/>
                <a:ea typeface="맑은 고딕" pitchFamily="34" charset="-122"/>
                <a:cs typeface="맑은 고딕" pitchFamily="34" charset="-120"/>
              </a:rPr>
              <a:t>공실</a:t>
            </a:r>
            <a:endParaRPr lang="en-US" sz="700" dirty="0"/>
          </a:p>
        </p:txBody>
      </p:sp>
      <p:sp>
        <p:nvSpPr>
          <p:cNvPr id="35" name="Text 33"/>
          <p:cNvSpPr/>
          <p:nvPr/>
        </p:nvSpPr>
        <p:spPr>
          <a:xfrm>
            <a:off x="1038860" y="5596128"/>
            <a:ext cx="232664" cy="329184"/>
          </a:xfrm>
          <a:prstGeom prst="rect">
            <a:avLst/>
          </a:prstGeom>
          <a:noFill/>
          <a:ln/>
        </p:spPr>
        <p:txBody>
          <a:bodyPr wrap="none" lIns="0" tIns="0" rIns="0" bIns="0" rtlCol="0" anchor="ctr"/>
          <a:lstStyle/>
          <a:p>
            <a:pPr indent="0" marL="0">
              <a:buNone/>
            </a:pPr>
            <a:r>
              <a:rPr lang="en-US" sz="700" dirty="0">
                <a:solidFill>
                  <a:srgbClr val="5B6B73"/>
                </a:solidFill>
                <a:latin typeface="맑은 고딕" pitchFamily="34" charset="0"/>
                <a:ea typeface="맑은 고딕" pitchFamily="34" charset="-122"/>
                <a:cs typeface="맑은 고딕" pitchFamily="34" charset="-120"/>
              </a:rPr>
              <a:t>만기</a:t>
            </a:r>
            <a:endParaRPr lang="en-US" sz="700" dirty="0"/>
          </a:p>
        </p:txBody>
      </p:sp>
      <p:sp>
        <p:nvSpPr>
          <p:cNvPr id="36" name="Shape 34"/>
          <p:cNvSpPr/>
          <p:nvPr/>
        </p:nvSpPr>
        <p:spPr>
          <a:xfrm>
            <a:off x="1308100" y="5705856"/>
            <a:ext cx="118872" cy="109728"/>
          </a:xfrm>
          <a:prstGeom prst="rect">
            <a:avLst/>
          </a:prstGeom>
          <a:solidFill>
            <a:srgbClr val="93B3A0"/>
          </a:solidFill>
          <a:ln w="6350">
            <a:solidFill>
              <a:srgbClr val="5B6B73"/>
            </a:solidFill>
            <a:prstDash val="solid"/>
          </a:ln>
        </p:spPr>
      </p:sp>
      <p:sp>
        <p:nvSpPr>
          <p:cNvPr id="37" name="Text 35"/>
          <p:cNvSpPr/>
          <p:nvPr/>
        </p:nvSpPr>
        <p:spPr>
          <a:xfrm>
            <a:off x="1463548" y="5596128"/>
            <a:ext cx="183769" cy="329184"/>
          </a:xfrm>
          <a:prstGeom prst="rect">
            <a:avLst/>
          </a:prstGeom>
          <a:noFill/>
          <a:ln/>
        </p:spPr>
        <p:txBody>
          <a:bodyPr wrap="none" lIns="0" tIns="0" rIns="0" bIns="0" rtlCol="0" anchor="ctr"/>
          <a:lstStyle/>
          <a:p>
            <a:pPr indent="0" marL="0">
              <a:buNone/>
            </a:pPr>
            <a:r>
              <a:rPr lang="en-US" sz="700" dirty="0">
                <a:solidFill>
                  <a:srgbClr val="5B6B73"/>
                </a:solidFill>
                <a:latin typeface="맑은 고딕" pitchFamily="34" charset="0"/>
                <a:ea typeface="맑은 고딕" pitchFamily="34" charset="-122"/>
                <a:cs typeface="맑은 고딕" pitchFamily="34" charset="-120"/>
              </a:rPr>
              <a:t>'26</a:t>
            </a:r>
            <a:endParaRPr lang="en-US" sz="700" dirty="0"/>
          </a:p>
        </p:txBody>
      </p:sp>
      <p:sp>
        <p:nvSpPr>
          <p:cNvPr id="38" name="Shape 36"/>
          <p:cNvSpPr/>
          <p:nvPr/>
        </p:nvSpPr>
        <p:spPr>
          <a:xfrm>
            <a:off x="1683893" y="5705856"/>
            <a:ext cx="118872" cy="109728"/>
          </a:xfrm>
          <a:prstGeom prst="rect">
            <a:avLst/>
          </a:prstGeom>
          <a:solidFill>
            <a:srgbClr val="A6C1D9"/>
          </a:solidFill>
          <a:ln w="6350">
            <a:solidFill>
              <a:srgbClr val="5B6B73"/>
            </a:solidFill>
            <a:prstDash val="solid"/>
          </a:ln>
        </p:spPr>
      </p:sp>
      <p:sp>
        <p:nvSpPr>
          <p:cNvPr id="39" name="Text 37"/>
          <p:cNvSpPr/>
          <p:nvPr/>
        </p:nvSpPr>
        <p:spPr>
          <a:xfrm>
            <a:off x="1839341" y="5596128"/>
            <a:ext cx="183769" cy="329184"/>
          </a:xfrm>
          <a:prstGeom prst="rect">
            <a:avLst/>
          </a:prstGeom>
          <a:noFill/>
          <a:ln/>
        </p:spPr>
        <p:txBody>
          <a:bodyPr wrap="none" lIns="0" tIns="0" rIns="0" bIns="0" rtlCol="0" anchor="ctr"/>
          <a:lstStyle/>
          <a:p>
            <a:pPr indent="0" marL="0">
              <a:buNone/>
            </a:pPr>
            <a:r>
              <a:rPr lang="en-US" sz="700" dirty="0">
                <a:solidFill>
                  <a:srgbClr val="5B6B73"/>
                </a:solidFill>
                <a:latin typeface="맑은 고딕" pitchFamily="34" charset="0"/>
                <a:ea typeface="맑은 고딕" pitchFamily="34" charset="-122"/>
                <a:cs typeface="맑은 고딕" pitchFamily="34" charset="-120"/>
              </a:rPr>
              <a:t>'27</a:t>
            </a:r>
            <a:endParaRPr lang="en-US" sz="700" dirty="0"/>
          </a:p>
        </p:txBody>
      </p:sp>
      <p:sp>
        <p:nvSpPr>
          <p:cNvPr id="40" name="Shape 38"/>
          <p:cNvSpPr/>
          <p:nvPr/>
        </p:nvSpPr>
        <p:spPr>
          <a:xfrm>
            <a:off x="2059686" y="5705856"/>
            <a:ext cx="118872" cy="109728"/>
          </a:xfrm>
          <a:prstGeom prst="rect">
            <a:avLst/>
          </a:prstGeom>
          <a:solidFill>
            <a:srgbClr val="C5B4E3"/>
          </a:solidFill>
          <a:ln w="6350">
            <a:solidFill>
              <a:srgbClr val="5B6B73"/>
            </a:solidFill>
            <a:prstDash val="solid"/>
          </a:ln>
        </p:spPr>
      </p:sp>
      <p:sp>
        <p:nvSpPr>
          <p:cNvPr id="41" name="Text 39"/>
          <p:cNvSpPr/>
          <p:nvPr/>
        </p:nvSpPr>
        <p:spPr>
          <a:xfrm>
            <a:off x="2215134" y="5596128"/>
            <a:ext cx="183769" cy="329184"/>
          </a:xfrm>
          <a:prstGeom prst="rect">
            <a:avLst/>
          </a:prstGeom>
          <a:noFill/>
          <a:ln/>
        </p:spPr>
        <p:txBody>
          <a:bodyPr wrap="none" lIns="0" tIns="0" rIns="0" bIns="0" rtlCol="0" anchor="ctr"/>
          <a:lstStyle/>
          <a:p>
            <a:pPr indent="0" marL="0">
              <a:buNone/>
            </a:pPr>
            <a:r>
              <a:rPr lang="en-US" sz="700" dirty="0">
                <a:solidFill>
                  <a:srgbClr val="5B6B73"/>
                </a:solidFill>
                <a:latin typeface="맑은 고딕" pitchFamily="34" charset="0"/>
                <a:ea typeface="맑은 고딕" pitchFamily="34" charset="-122"/>
                <a:cs typeface="맑은 고딕" pitchFamily="34" charset="-120"/>
              </a:rPr>
              <a:t>'28</a:t>
            </a:r>
            <a:endParaRPr lang="en-US" sz="7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2807208" y="1645920"/>
          <a:ext cx="8817559" cy="914400"/>
        </p:xfrm>
        <a:graphic>
          <a:graphicData uri="http://schemas.openxmlformats.org/drawingml/2006/table">
            <a:tbl>
              <a:tblPr/>
              <a:tblGrid>
                <a:gridCol w="448056"/>
                <a:gridCol w="3090672"/>
                <a:gridCol w="685800"/>
                <a:gridCol w="713232"/>
                <a:gridCol w="713232"/>
                <a:gridCol w="640080"/>
                <a:gridCol w="713232"/>
                <a:gridCol w="576072"/>
                <a:gridCol w="576072"/>
                <a:gridCol w="658368"/>
              </a:tblGrid>
              <a:tr h="329184">
                <a:tc>
                  <a:txBody>
                    <a:bodyPr/>
                    <a:lstStyle/>
                    <a:p>
                      <a:pPr algn="ctr" indent="0" marL="0">
                        <a:buNone/>
                      </a:pPr>
                      <a:r>
                        <a:rPr lang="en-US" sz="900" b="1" dirty="0">
                          <a:solidFill>
                            <a:srgbClr val="FFFFFF"/>
                          </a:solidFill>
                        </a:rPr>
                        <a:t>층</a:t>
                      </a:r>
                      <a:endParaRPr lang="en-US" sz="900" dirty="0"/>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ctr" indent="0" marL="0">
                        <a:buNone/>
                      </a:pPr>
                      <a:r>
                        <a:rPr lang="en-US" sz="900" b="1" dirty="0">
                          <a:solidFill>
                            <a:srgbClr val="FFFFFF"/>
                          </a:solidFill>
                        </a:rPr>
                        <a:t>임차인</a:t>
                      </a:r>
                      <a:endParaRPr lang="en-US" sz="900" dirty="0"/>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ctr" indent="0" marL="0">
                        <a:buNone/>
                      </a:pPr>
                      <a:r>
                        <a:rPr lang="en-US" sz="900" b="1" dirty="0">
                          <a:solidFill>
                            <a:srgbClr val="FFFFFF"/>
                          </a:solidFill>
                        </a:rPr>
                        <a:t>용도</a:t>
                      </a:r>
                      <a:endParaRPr lang="en-US" sz="900" dirty="0"/>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ctr" indent="0" marL="0">
                        <a:buNone/>
                      </a:pPr>
                      <a:r>
                        <a:rPr lang="en-US" sz="900" b="1" dirty="0">
                          <a:solidFill>
                            <a:srgbClr val="FFFFFF"/>
                          </a:solidFill>
                        </a:rPr>
                        <a:t>임대면적</a:t>
                      </a:r>
                      <a:endParaRPr lang="en-US" sz="900" dirty="0"/>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ctr" indent="0" marL="0">
                        <a:buNone/>
                      </a:pPr>
                      <a:r>
                        <a:rPr lang="en-US" sz="900" b="1" dirty="0">
                          <a:solidFill>
                            <a:srgbClr val="FFFFFF"/>
                          </a:solidFill>
                        </a:rPr>
                        <a:t>전용면적</a:t>
                      </a:r>
                      <a:endParaRPr lang="en-US" sz="900" dirty="0"/>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ctr" indent="0" marL="0">
                        <a:buNone/>
                      </a:pPr>
                      <a:r>
                        <a:rPr lang="en-US" sz="900" b="1" dirty="0">
                          <a:solidFill>
                            <a:srgbClr val="FFFFFF"/>
                          </a:solidFill>
                        </a:rPr>
                        <a:t>보증금</a:t>
                      </a:r>
                      <a:endParaRPr lang="en-US" sz="900" dirty="0"/>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ctr" indent="0" marL="0">
                        <a:buNone/>
                      </a:pPr>
                      <a:r>
                        <a:rPr lang="en-US" sz="900" b="1" dirty="0">
                          <a:solidFill>
                            <a:srgbClr val="FFFFFF"/>
                          </a:solidFill>
                        </a:rPr>
                        <a:t>월임대료</a:t>
                      </a:r>
                      <a:endParaRPr lang="en-US" sz="900" dirty="0"/>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ctr" indent="0" marL="0">
                        <a:buNone/>
                      </a:pPr>
                      <a:r>
                        <a:rPr lang="en-US" sz="900" b="1" dirty="0">
                          <a:solidFill>
                            <a:srgbClr val="FFFFFF"/>
                          </a:solidFill>
                        </a:rPr>
                        <a:t>관리비</a:t>
                      </a:r>
                      <a:endParaRPr lang="en-US" sz="900" dirty="0"/>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ctr" indent="0" marL="0">
                        <a:buNone/>
                      </a:pPr>
                      <a:r>
                        <a:rPr lang="en-US" sz="900" b="1" dirty="0">
                          <a:solidFill>
                            <a:srgbClr val="FFFFFF"/>
                          </a:solidFill>
                        </a:rPr>
                        <a:t>월합계</a:t>
                      </a:r>
                      <a:endParaRPr lang="en-US" sz="900" dirty="0"/>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c>
                  <a:txBody>
                    <a:bodyPr/>
                    <a:lstStyle/>
                    <a:p>
                      <a:pPr algn="ctr" indent="0" marL="0">
                        <a:buNone/>
                      </a:pPr>
                      <a:r>
                        <a:rPr lang="en-US" sz="900" b="1" dirty="0">
                          <a:solidFill>
                            <a:srgbClr val="FFFFFF"/>
                          </a:solidFill>
                        </a:rPr>
                        <a:t>만기일</a:t>
                      </a:r>
                      <a:endParaRPr lang="en-US" sz="900" dirty="0"/>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10161F"/>
                    </a:solidFill>
                  </a:tcPr>
                </a:tc>
              </a:tr>
              <a:tr h="329184">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10F</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2B2B2B"/>
                          </a:solidFill>
                          <a:latin typeface="맑은 고딕" pitchFamily="34" charset="0"/>
                          <a:ea typeface="맑은 고딕" pitchFamily="34" charset="-122"/>
                          <a:cs typeface="맑은 고딕" pitchFamily="34" charset="-120"/>
                        </a:rPr>
                        <a:t>주식회사대한민국글로벌상업용부동산투자개발자산운용전문회사_본사</a:t>
                      </a:r>
                      <a:endParaRPr lang="en-US" sz="70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업무시설</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200.0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150.0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10,000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800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900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2028-12</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r>
              <a:tr h="329184">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9F</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l" indent="0" marL="0">
                        <a:buNone/>
                      </a:pPr>
                      <a:r>
                        <a:rPr lang="en-US" sz="850" dirty="0">
                          <a:solidFill>
                            <a:srgbClr val="2B2B2B"/>
                          </a:solidFill>
                          <a:latin typeface="맑은 고딕" pitchFamily="34" charset="0"/>
                          <a:ea typeface="맑은 고딕" pitchFamily="34" charset="-122"/>
                          <a:cs typeface="맑은 고딕" pitchFamily="34" charset="-120"/>
                        </a:rPr>
                        <a:t>메디컬케어네트워크의원및종합검진클리닉센터영등포지점</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의원</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200.0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150.0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10,000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800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900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2027-06</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r>
              <a:tr h="329184">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8F</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2B2B2B"/>
                          </a:solidFill>
                          <a:latin typeface="맑은 고딕" pitchFamily="34" charset="0"/>
                          <a:ea typeface="맑은 고딕" pitchFamily="34" charset="-122"/>
                          <a:cs typeface="맑은 고딕" pitchFamily="34" charset="-120"/>
                        </a:rPr>
                        <a:t>주식회사한국엔터프라이즈소프트웨어인텔리전스클라우드솔루션즈</a:t>
                      </a:r>
                      <a:endParaRPr lang="en-US" sz="7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업무시설</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200.0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150.0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10,000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800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900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2029-01</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r>
              <a:tr h="329184">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7F</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l" indent="0" marL="0">
                        <a:buNone/>
                      </a:pPr>
                      <a:r>
                        <a:rPr lang="en-US" sz="850" dirty="0">
                          <a:solidFill>
                            <a:srgbClr val="2B2B2B"/>
                          </a:solidFill>
                          <a:latin typeface="맑은 고딕" pitchFamily="34" charset="0"/>
                          <a:ea typeface="맑은 고딕" pitchFamily="34" charset="-122"/>
                          <a:cs typeface="맑은 고딕" pitchFamily="34" charset="-120"/>
                        </a:rPr>
                        <a:t>법무법인대한국민종합법률사무소금융부동산전담변호인단</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업무시설</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200.0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150.0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10,000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800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900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2026-11</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r>
              <a:tr h="329184">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6F</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2B2B2B"/>
                          </a:solidFill>
                          <a:latin typeface="맑은 고딕" pitchFamily="34" charset="0"/>
                          <a:ea typeface="맑은 고딕" pitchFamily="34" charset="-122"/>
                          <a:cs typeface="맑은 고딕" pitchFamily="34" charset="-120"/>
                        </a:rPr>
                        <a:t>삼정세무회계사무소공인회계사및세무전문컨설팅그룹</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업무시설</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200.0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150.0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10,000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800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900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2028-05</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r>
              <a:tr h="329184">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5F</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l" indent="0" marL="0">
                        <a:buNone/>
                      </a:pPr>
                      <a:r>
                        <a:rPr lang="en-US" sz="850" dirty="0">
                          <a:solidFill>
                            <a:srgbClr val="2B2B2B"/>
                          </a:solidFill>
                          <a:latin typeface="맑은 고딕" pitchFamily="34" charset="0"/>
                          <a:ea typeface="맑은 고딕" pitchFamily="34" charset="-122"/>
                          <a:cs typeface="맑은 고딕" pitchFamily="34" charset="-120"/>
                        </a:rPr>
                        <a:t>주식회사넥스트제너레이션바이오테크놀로지알앤디연구센터</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업무시설</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200.0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150.0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10,000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800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900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2027-09</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r>
              <a:tr h="329184">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4F</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2B2B2B"/>
                          </a:solidFill>
                          <a:latin typeface="맑은 고딕" pitchFamily="34" charset="0"/>
                          <a:ea typeface="맑은 고딕" pitchFamily="34" charset="-122"/>
                          <a:cs typeface="맑은 고딕" pitchFamily="34" charset="-120"/>
                        </a:rPr>
                        <a:t>에이아이인공지능딥러닝로보틱스응용연구개발실험실</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의원</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200.0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150.0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10,000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800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900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2028-03</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r>
              <a:tr h="329184">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3F</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l" indent="0" marL="0">
                        <a:buNone/>
                      </a:pPr>
                      <a:r>
                        <a:rPr lang="en-US" sz="850" dirty="0">
                          <a:solidFill>
                            <a:srgbClr val="2B2B2B"/>
                          </a:solidFill>
                          <a:latin typeface="맑은 고딕" pitchFamily="34" charset="0"/>
                          <a:ea typeface="맑은 고딕" pitchFamily="34" charset="-122"/>
                          <a:cs typeface="맑은 고딕" pitchFamily="34" charset="-120"/>
                        </a:rPr>
                        <a:t>글로벌로지스틱스서플라이체인매니지먼트한국물류지사</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근린생활</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200.0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150.0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10,000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800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900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2027-10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r>
              <a:tr h="329184">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2F</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2B2B2B"/>
                          </a:solidFill>
                          <a:latin typeface="맑은 고딕" pitchFamily="34" charset="0"/>
                          <a:ea typeface="맑은 고딕" pitchFamily="34" charset="-122"/>
                          <a:cs typeface="맑은 고딕" pitchFamily="34" charset="-120"/>
                        </a:rPr>
                        <a:t>주식회사케이비부동산신탁부동산금융수탁투자관리부</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근린생활</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200.0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150.0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10,000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800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900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2026-08</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FFFFF"/>
                    </a:solidFill>
                  </a:tcPr>
                </a:tc>
              </a:tr>
              <a:tr h="329184">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1F</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l" indent="0" marL="0">
                        <a:buNone/>
                      </a:pPr>
                      <a:r>
                        <a:rPr lang="en-US" sz="850" dirty="0">
                          <a:solidFill>
                            <a:srgbClr val="2B2B2B"/>
                          </a:solidFill>
                          <a:latin typeface="맑은 고딕" pitchFamily="34" charset="0"/>
                          <a:ea typeface="맑은 고딕" pitchFamily="34" charset="-122"/>
                          <a:cs typeface="맑은 고딕" pitchFamily="34" charset="-120"/>
                        </a:rPr>
                        <a:t>스타벅스코리아리저브당산역프리미엄드라이브스루매장점</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휴게음식</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200.0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150.0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20,000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1,500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150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r" indent="0" marL="0">
                        <a:buNone/>
                      </a:pPr>
                      <a:r>
                        <a:rPr lang="en-US" sz="850" dirty="0">
                          <a:solidFill>
                            <a:srgbClr val="2B2B2B"/>
                          </a:solidFill>
                          <a:latin typeface="맑은 고딕" pitchFamily="34" charset="0"/>
                          <a:ea typeface="맑은 고딕" pitchFamily="34" charset="-122"/>
                          <a:cs typeface="맑은 고딕" pitchFamily="34" charset="-120"/>
                        </a:rPr>
                        <a:t>1,650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c>
                  <a:txBody>
                    <a:bodyPr/>
                    <a:lstStyle/>
                    <a:p>
                      <a:pPr algn="ctr" indent="0" marL="0">
                        <a:buNone/>
                      </a:pPr>
                      <a:r>
                        <a:rPr lang="en-US" sz="850" dirty="0">
                          <a:solidFill>
                            <a:srgbClr val="2B2B2B"/>
                          </a:solidFill>
                          <a:latin typeface="맑은 고딕" pitchFamily="34" charset="0"/>
                          <a:ea typeface="맑은 고딕" pitchFamily="34" charset="-122"/>
                          <a:cs typeface="맑은 고딕" pitchFamily="34" charset="-120"/>
                        </a:rPr>
                        <a:t>2031-12</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3F6F7"/>
                    </a:solidFill>
                  </a:tcPr>
                </a:tc>
              </a:tr>
              <a:tr h="329184">
                <a:tc>
                  <a:txBody>
                    <a:bodyPr/>
                    <a:lstStyle/>
                    <a:p>
                      <a:pPr algn="ctr" indent="0" marL="0">
                        <a:buNone/>
                      </a:pPr>
                      <a:r>
                        <a:rPr lang="en-US" sz="850" b="1" dirty="0">
                          <a:solidFill>
                            <a:srgbClr val="B05A2E"/>
                          </a:solidFill>
                          <a:latin typeface="맑은 고딕" pitchFamily="34" charset="0"/>
                          <a:ea typeface="맑은 고딕" pitchFamily="34" charset="-122"/>
                          <a:cs typeface="맑은 고딕" pitchFamily="34" charset="-120"/>
                        </a:rPr>
                        <a:t>B1</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BEFE8"/>
                    </a:solidFill>
                  </a:tcPr>
                </a:tc>
                <a:tc>
                  <a:txBody>
                    <a:bodyPr/>
                    <a:lstStyle/>
                    <a:p>
                      <a:pPr algn="l" indent="0" marL="0">
                        <a:buNone/>
                      </a:pPr>
                      <a:r>
                        <a:rPr lang="en-US" sz="850" b="1" dirty="0">
                          <a:solidFill>
                            <a:srgbClr val="B05A2E"/>
                          </a:solidFill>
                          <a:latin typeface="맑은 고딕" pitchFamily="34" charset="0"/>
                          <a:ea typeface="맑은 고딕" pitchFamily="34" charset="-122"/>
                          <a:cs typeface="맑은 고딕" pitchFamily="34" charset="-120"/>
                        </a:rPr>
                        <a:t>공실 (임차의향 접수 중)</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BEFE8"/>
                    </a:solidFill>
                  </a:tcPr>
                </a:tc>
                <a:tc>
                  <a:txBody>
                    <a:bodyPr/>
                    <a:lstStyle/>
                    <a:p>
                      <a:pPr algn="ctr" indent="0" marL="0">
                        <a:buNone/>
                      </a:pPr>
                      <a:r>
                        <a:rPr lang="en-US" sz="850" b="1" dirty="0">
                          <a:solidFill>
                            <a:srgbClr val="B05A2E"/>
                          </a:solidFill>
                          <a:latin typeface="맑은 고딕" pitchFamily="34" charset="0"/>
                          <a:ea typeface="맑은 고딕" pitchFamily="34" charset="-122"/>
                          <a:cs typeface="맑은 고딕" pitchFamily="34" charset="-120"/>
                        </a:rPr>
                        <a:t>근린생활</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BEFE8"/>
                    </a:solidFill>
                  </a:tcPr>
                </a:tc>
                <a:tc>
                  <a:txBody>
                    <a:bodyPr/>
                    <a:lstStyle/>
                    <a:p>
                      <a:pPr algn="r" indent="0" marL="0">
                        <a:buNone/>
                      </a:pPr>
                      <a:r>
                        <a:rPr lang="en-US" sz="850" b="1" dirty="0">
                          <a:solidFill>
                            <a:srgbClr val="B05A2E"/>
                          </a:solidFill>
                          <a:latin typeface="맑은 고딕" pitchFamily="34" charset="0"/>
                          <a:ea typeface="맑은 고딕" pitchFamily="34" charset="-122"/>
                          <a:cs typeface="맑은 고딕" pitchFamily="34" charset="-120"/>
                        </a:rPr>
                        <a:t>200.0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BEFE8"/>
                    </a:solidFill>
                  </a:tcPr>
                </a:tc>
                <a:tc>
                  <a:txBody>
                    <a:bodyPr/>
                    <a:lstStyle/>
                    <a:p>
                      <a:pPr algn="r" indent="0" marL="0">
                        <a:buNone/>
                      </a:pPr>
                      <a:r>
                        <a:rPr lang="en-US" sz="850" b="1" dirty="0">
                          <a:solidFill>
                            <a:srgbClr val="B05A2E"/>
                          </a:solidFill>
                          <a:latin typeface="맑은 고딕" pitchFamily="34" charset="0"/>
                          <a:ea typeface="맑은 고딕" pitchFamily="34" charset="-122"/>
                          <a:cs typeface="맑은 고딕" pitchFamily="34" charset="-120"/>
                        </a:rPr>
                        <a:t>150.0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BEFE8"/>
                    </a:solidFill>
                  </a:tcPr>
                </a:tc>
                <a:tc>
                  <a:txBody>
                    <a:bodyPr/>
                    <a:lstStyle/>
                    <a:p>
                      <a:pPr algn="r" indent="0" marL="0">
                        <a:buNone/>
                      </a:pPr>
                      <a:r>
                        <a:rPr lang="en-US" sz="850" b="1" dirty="0">
                          <a:solidFill>
                            <a:srgbClr val="B05A2E"/>
                          </a:solidFill>
                          <a:latin typeface="맑은 고딕" pitchFamily="34" charset="0"/>
                          <a:ea typeface="맑은 고딕" pitchFamily="34" charset="-122"/>
                          <a:cs typeface="맑은 고딕" pitchFamily="34" charset="-120"/>
                        </a:rPr>
                        <a:t>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BEFE8"/>
                    </a:solidFill>
                  </a:tcPr>
                </a:tc>
                <a:tc>
                  <a:txBody>
                    <a:bodyPr/>
                    <a:lstStyle/>
                    <a:p>
                      <a:pPr algn="r" indent="0" marL="0">
                        <a:buNone/>
                      </a:pPr>
                      <a:r>
                        <a:rPr lang="en-US" sz="850" b="1" dirty="0">
                          <a:solidFill>
                            <a:srgbClr val="B05A2E"/>
                          </a:solidFill>
                          <a:latin typeface="맑은 고딕" pitchFamily="34" charset="0"/>
                          <a:ea typeface="맑은 고딕" pitchFamily="34" charset="-122"/>
                          <a:cs typeface="맑은 고딕" pitchFamily="34" charset="-120"/>
                        </a:rPr>
                        <a:t>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BEFE8"/>
                    </a:solidFill>
                  </a:tcPr>
                </a:tc>
                <a:tc>
                  <a:txBody>
                    <a:bodyPr/>
                    <a:lstStyle/>
                    <a:p>
                      <a:pPr algn="r" indent="0" marL="0">
                        <a:buNone/>
                      </a:pPr>
                      <a:r>
                        <a:rPr lang="en-US" sz="850" b="1" dirty="0">
                          <a:solidFill>
                            <a:srgbClr val="B05A2E"/>
                          </a:solidFill>
                          <a:latin typeface="맑은 고딕" pitchFamily="34" charset="0"/>
                          <a:ea typeface="맑은 고딕" pitchFamily="34" charset="-122"/>
                          <a:cs typeface="맑은 고딕" pitchFamily="34" charset="-120"/>
                        </a:rPr>
                        <a:t>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BEFE8"/>
                    </a:solidFill>
                  </a:tcPr>
                </a:tc>
                <a:tc>
                  <a:txBody>
                    <a:bodyPr/>
                    <a:lstStyle/>
                    <a:p>
                      <a:pPr algn="r" indent="0" marL="0">
                        <a:buNone/>
                      </a:pPr>
                      <a:r>
                        <a:rPr lang="en-US" sz="850" b="1" dirty="0">
                          <a:solidFill>
                            <a:srgbClr val="B05A2E"/>
                          </a:solidFill>
                          <a:latin typeface="맑은 고딕" pitchFamily="34" charset="0"/>
                          <a:ea typeface="맑은 고딕" pitchFamily="34" charset="-122"/>
                          <a:cs typeface="맑은 고딕" pitchFamily="34" charset="-120"/>
                        </a:rPr>
                        <a:t>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BEFE8"/>
                    </a:solidFill>
                  </a:tcPr>
                </a:tc>
                <a:tc>
                  <a:txBody>
                    <a:bodyPr/>
                    <a:lstStyle/>
                    <a:p>
                      <a:pPr algn="ctr" indent="0" marL="0">
                        <a:buNone/>
                      </a:pPr>
                      <a:r>
                        <a:rPr lang="en-US" sz="850" b="1" dirty="0">
                          <a:solidFill>
                            <a:srgbClr val="B05A2E"/>
                          </a:solidFill>
                          <a:latin typeface="맑은 고딕" pitchFamily="34" charset="0"/>
                          <a:ea typeface="맑은 고딕" pitchFamily="34" charset="-122"/>
                          <a:cs typeface="맑은 고딕" pitchFamily="34" charset="-120"/>
                        </a:rPr>
                        <a:t>-</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BEFE8"/>
                    </a:solidFill>
                  </a:tcPr>
                </a:tc>
              </a:tr>
              <a:tr h="329184">
                <a:tc>
                  <a:txBody>
                    <a:bodyPr/>
                    <a:lstStyle/>
                    <a:p>
                      <a:pPr algn="ctr" indent="0" marL="0">
                        <a:buNone/>
                      </a:pPr>
                      <a:r>
                        <a:rPr lang="en-US" sz="850" b="1" dirty="0">
                          <a:solidFill>
                            <a:srgbClr val="10161F"/>
                          </a:solidFill>
                          <a:latin typeface="맑은 고딕" pitchFamily="34" charset="0"/>
                          <a:ea typeface="맑은 고딕" pitchFamily="34" charset="-122"/>
                          <a:cs typeface="맑은 고딕" pitchFamily="34" charset="-120"/>
                        </a:rPr>
                        <a:t>합계</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l" indent="0" marL="0">
                        <a:buNone/>
                      </a:pPr>
                      <a:r>
                        <a:rPr lang="en-US" sz="850" b="1" dirty="0">
                          <a:solidFill>
                            <a:srgbClr val="10161F"/>
                          </a:solidFill>
                          <a:latin typeface="맑은 고딕" pitchFamily="34" charset="0"/>
                          <a:ea typeface="맑은 고딕" pitchFamily="34" charset="-122"/>
                          <a:cs typeface="맑은 고딕" pitchFamily="34" charset="-120"/>
                        </a:rPr>
                        <a:t>11개 호실</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850" b="1" dirty="0">
                          <a:solidFill>
                            <a:srgbClr val="10161F"/>
                          </a:solidFill>
                          <a:latin typeface="맑은 고딕" pitchFamily="34" charset="0"/>
                          <a:ea typeface="맑은 고딕" pitchFamily="34" charset="-122"/>
                          <a:cs typeface="맑은 고딕" pitchFamily="34" charset="-120"/>
                        </a:rPr>
                        <a:t>-</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850" b="1" dirty="0">
                          <a:solidFill>
                            <a:srgbClr val="10161F"/>
                          </a:solidFill>
                          <a:latin typeface="맑은 고딕" pitchFamily="34" charset="0"/>
                          <a:ea typeface="맑은 고딕" pitchFamily="34" charset="-122"/>
                          <a:cs typeface="맑은 고딕" pitchFamily="34" charset="-120"/>
                        </a:rPr>
                        <a:t>2,200.0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850" b="1" dirty="0">
                          <a:solidFill>
                            <a:srgbClr val="10161F"/>
                          </a:solidFill>
                          <a:latin typeface="맑은 고딕" pitchFamily="34" charset="0"/>
                          <a:ea typeface="맑은 고딕" pitchFamily="34" charset="-122"/>
                          <a:cs typeface="맑은 고딕" pitchFamily="34" charset="-120"/>
                        </a:rPr>
                        <a:t>1,650.0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850" b="1" dirty="0">
                          <a:solidFill>
                            <a:srgbClr val="10161F"/>
                          </a:solidFill>
                          <a:latin typeface="맑은 고딕" pitchFamily="34" charset="0"/>
                          <a:ea typeface="맑은 고딕" pitchFamily="34" charset="-122"/>
                          <a:cs typeface="맑은 고딕" pitchFamily="34" charset="-120"/>
                        </a:rPr>
                        <a:t>110,000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850" b="1" dirty="0">
                          <a:solidFill>
                            <a:srgbClr val="10161F"/>
                          </a:solidFill>
                          <a:latin typeface="맑은 고딕" pitchFamily="34" charset="0"/>
                          <a:ea typeface="맑은 고딕" pitchFamily="34" charset="-122"/>
                          <a:cs typeface="맑은 고딕" pitchFamily="34" charset="-120"/>
                        </a:rPr>
                        <a:t>8,700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850" b="1" dirty="0">
                          <a:solidFill>
                            <a:srgbClr val="10161F"/>
                          </a:solidFill>
                          <a:latin typeface="맑은 고딕" pitchFamily="34" charset="0"/>
                          <a:ea typeface="맑은 고딕" pitchFamily="34" charset="-122"/>
                          <a:cs typeface="맑은 고딕" pitchFamily="34" charset="-120"/>
                        </a:rPr>
                        <a:t>1,050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r" indent="0" marL="0">
                        <a:buNone/>
                      </a:pPr>
                      <a:r>
                        <a:rPr lang="en-US" sz="850" b="1" dirty="0">
                          <a:solidFill>
                            <a:srgbClr val="10161F"/>
                          </a:solidFill>
                          <a:latin typeface="맑은 고딕" pitchFamily="34" charset="0"/>
                          <a:ea typeface="맑은 고딕" pitchFamily="34" charset="-122"/>
                          <a:cs typeface="맑은 고딕" pitchFamily="34" charset="-120"/>
                        </a:rPr>
                        <a:t>9,750</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c>
                  <a:txBody>
                    <a:bodyPr/>
                    <a:lstStyle/>
                    <a:p>
                      <a:pPr algn="ctr" indent="0" marL="0">
                        <a:buNone/>
                      </a:pPr>
                      <a:r>
                        <a:rPr lang="en-US" sz="850" b="1" dirty="0">
                          <a:solidFill>
                            <a:srgbClr val="10161F"/>
                          </a:solidFill>
                          <a:latin typeface="맑은 고딕" pitchFamily="34" charset="0"/>
                          <a:ea typeface="맑은 고딕" pitchFamily="34" charset="-122"/>
                          <a:cs typeface="맑은 고딕" pitchFamily="34" charset="-120"/>
                        </a:rPr>
                        <a:t>-</a:t>
                      </a:r>
                      <a:endParaRPr lang="en-US" sz="850" dirty="0">
                        <a:latin typeface="맑은 고딕" charset="0"/>
                        <a:ea typeface="맑은 고딕" charset="0"/>
                        <a:cs typeface="맑은 고딕" charset="0"/>
                      </a:endParaRPr>
                    </a:p>
                  </a:txBody>
                  <a:tcPr marL="50800" marR="50800" marT="25400" marB="25400" anchor="ctr">
                    <a:lnL w="3810" cap="flat" cmpd="sng" algn="ctr">
                      <a:solidFill>
                        <a:srgbClr val="DDE3E8"/>
                      </a:solidFill>
                      <a:prstDash val="solid"/>
                      <a:round/>
                      <a:headEnd type="none" w="med" len="med"/>
                      <a:tailEnd type="none" w="med" len="med"/>
                    </a:lnL>
                    <a:lnR w="3810" cap="flat" cmpd="sng" algn="ctr">
                      <a:solidFill>
                        <a:srgbClr val="DDE3E8"/>
                      </a:solidFill>
                      <a:prstDash val="solid"/>
                      <a:round/>
                      <a:headEnd type="none" w="med" len="med"/>
                      <a:tailEnd type="none" w="med" len="med"/>
                    </a:lnR>
                    <a:lnT w="3810" cap="flat" cmpd="sng" algn="ctr">
                      <a:solidFill>
                        <a:srgbClr val="DDE3E8"/>
                      </a:solidFill>
                      <a:prstDash val="solid"/>
                      <a:round/>
                      <a:headEnd type="none" w="med" len="med"/>
                      <a:tailEnd type="none" w="med" len="med"/>
                    </a:lnT>
                    <a:lnB w="3810" cap="flat" cmpd="sng" algn="ctr">
                      <a:solidFill>
                        <a:srgbClr val="DDE3E8"/>
                      </a:solidFill>
                      <a:prstDash val="solid"/>
                      <a:round/>
                      <a:headEnd type="none" w="med" len="med"/>
                      <a:tailEnd type="none" w="med" len="med"/>
                    </a:lnB>
                    <a:solidFill>
                      <a:srgbClr val="F5F7F9"/>
                    </a:solidFill>
                  </a:tcPr>
                </a:tc>
              </a:tr>
            </a:tbl>
          </a:graphicData>
        </a:graphic>
      </p:graphicFrame>
      <p:sp>
        <p:nvSpPr>
          <p:cNvPr id="43" name="Text 40"/>
          <p:cNvSpPr/>
          <p:nvPr/>
        </p:nvSpPr>
        <p:spPr>
          <a:xfrm>
            <a:off x="566928" y="6382512"/>
            <a:ext cx="7315200" cy="219456"/>
          </a:xfrm>
          <a:prstGeom prst="rect">
            <a:avLst/>
          </a:prstGeom>
          <a:noFill/>
          <a:ln/>
        </p:spPr>
        <p:txBody>
          <a:bodyPr wrap="square" lIns="0" tIns="0" rIns="0" bIns="0" rtlCol="0" anchor="ctr"/>
          <a:lstStyle/>
          <a:p>
            <a:pPr indent="0" marL="0">
              <a:buNone/>
            </a:pPr>
            <a:r>
              <a:rPr lang="en-US" sz="800" dirty="0">
                <a:solidFill>
                  <a:srgbClr val="7A8794"/>
                </a:solidFill>
                <a:latin typeface="맑은 고딕" pitchFamily="34" charset="0"/>
                <a:ea typeface="맑은 고딕" pitchFamily="34" charset="-122"/>
                <a:cs typeface="맑은 고딕" pitchFamily="34" charset="-120"/>
              </a:rPr>
              <a:t>크리딜   |   A24-CLAMP</a:t>
            </a:r>
            <a:endParaRPr lang="en-US" sz="800" dirty="0"/>
          </a:p>
        </p:txBody>
      </p:sp>
      <p:sp>
        <p:nvSpPr>
          <p:cNvPr id="44" name="Text 41"/>
          <p:cNvSpPr/>
          <p:nvPr/>
        </p:nvSpPr>
        <p:spPr>
          <a:xfrm>
            <a:off x="10710367" y="6382512"/>
            <a:ext cx="914400" cy="219456"/>
          </a:xfrm>
          <a:prstGeom prst="rect">
            <a:avLst/>
          </a:prstGeom>
          <a:noFill/>
          <a:ln/>
        </p:spPr>
        <p:txBody>
          <a:bodyPr wrap="square" lIns="0" tIns="0" rIns="0" bIns="0" rtlCol="0" anchor="ctr"/>
          <a:lstStyle/>
          <a:p>
            <a:pPr algn="r" indent="0" marL="0">
              <a:buNone/>
            </a:pPr>
            <a:r>
              <a:rPr lang="en-US" sz="900" b="1" dirty="0">
                <a:solidFill>
                  <a:srgbClr val="B98A2E"/>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2026-10-05T15:07:08Z</dcterms:created>
  <dcterms:modified xsi:type="dcterms:W3CDTF">2026-10-05T15:07:08Z</dcterms:modified>
</cp:coreProperties>
</file>