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B98A2E"/>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4" name="Text 2"/>
          <p:cNvSpPr/>
          <p:nvPr/>
        </p:nvSpPr>
        <p:spPr>
          <a:xfrm>
            <a:off x="1133856" y="457200"/>
            <a:ext cx="10490911" cy="182880"/>
          </a:xfrm>
          <a:prstGeom prst="rect">
            <a:avLst/>
          </a:prstGeom>
          <a:noFill/>
          <a:ln/>
        </p:spPr>
        <p:txBody>
          <a:bodyPr wrap="square" lIns="0" tIns="0" rIns="0" bIns="0" rtlCol="0" anchor="ctr"/>
          <a:lstStyle/>
          <a:p>
            <a:pPr indent="0" marL="0">
              <a:buNone/>
            </a:pPr>
            <a:r>
              <a:rPr lang="en-US" sz="950" b="1" spc="200" kern="0" dirty="0">
                <a:solidFill>
                  <a:srgbClr val="B98A2E"/>
                </a:solidFill>
                <a:latin typeface="Arial" pitchFamily="34" charset="0"/>
                <a:ea typeface="Arial" pitchFamily="34" charset="-122"/>
                <a:cs typeface="Arial" pitchFamily="34" charset="-120"/>
              </a:rPr>
              <a:t>Rent Roll Matrix</a:t>
            </a:r>
            <a:endParaRPr lang="en-US" sz="950" dirty="0"/>
          </a:p>
        </p:txBody>
      </p:sp>
      <p:sp>
        <p:nvSpPr>
          <p:cNvPr id="5" name="Text 3"/>
          <p:cNvSpPr/>
          <p:nvPr/>
        </p:nvSpPr>
        <p:spPr>
          <a:xfrm>
            <a:off x="1133856" y="640080"/>
            <a:ext cx="10490911" cy="365760"/>
          </a:xfrm>
          <a:prstGeom prst="rect">
            <a:avLst/>
          </a:prstGeom>
          <a:noFill/>
          <a:ln/>
        </p:spPr>
        <p:txBody>
          <a:bodyPr wrap="square" lIns="0" tIns="0" rIns="0" bIns="0" rtlCol="0" anchor="ctr">
            <a:normAutofit/>
          </a:bodyPr>
          <a:lstStyle/>
          <a:p>
            <a:pPr indent="0" marL="0">
              <a:buNone/>
            </a:pPr>
            <a:r>
              <a:rPr lang="en-US" sz="2300" b="1" dirty="0">
                <a:solidFill>
                  <a:srgbClr val="10161F"/>
                </a:solidFill>
                <a:latin typeface="맑은 고딕" pitchFamily="34" charset="0"/>
                <a:ea typeface="맑은 고딕" pitchFamily="34" charset="-122"/>
                <a:cs typeface="맑은 고딕" pitchFamily="34" charset="-120"/>
              </a:rPr>
              <a:t>임대차 계약 명세 (초고가/소형 복합 및 다중 통화 스트레스)</a:t>
            </a:r>
            <a:endParaRPr lang="en-US" sz="2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914400"/>
        </p:xfrm>
        <a:graphic>
          <a:graphicData uri="http://schemas.openxmlformats.org/drawingml/2006/table">
            <a:tbl>
              <a:tblPr/>
              <a:tblGrid>
                <a:gridCol w="921487"/>
                <a:gridCol w="921487"/>
                <a:gridCol w="1535811"/>
                <a:gridCol w="1535811"/>
                <a:gridCol w="1535811"/>
                <a:gridCol w="1535811"/>
                <a:gridCol w="1535811"/>
                <a:gridCol w="1535811"/>
              </a:tblGrid>
              <a:tr h="347472">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층수</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호실</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l" indent="0" marL="0">
                        <a:buNone/>
                      </a:pPr>
                      <a:r>
                        <a:rPr lang="en-US" sz="900" b="1" dirty="0">
                          <a:solidFill>
                            <a:srgbClr val="FFFFFF"/>
                          </a:solidFill>
                          <a:latin typeface="맑은 고딕" pitchFamily="34" charset="0"/>
                          <a:ea typeface="맑은 고딕" pitchFamily="34" charset="-122"/>
                          <a:cs typeface="맑은 고딕" pitchFamily="34" charset="-120"/>
                        </a:rPr>
                        <a:t>임차인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r" indent="0" marL="0">
                        <a:buNone/>
                      </a:pPr>
                      <a:r>
                        <a:rPr lang="en-US" sz="900" b="1" dirty="0">
                          <a:solidFill>
                            <a:srgbClr val="FFFFFF"/>
                          </a:solidFill>
                          <a:latin typeface="맑은 고딕" pitchFamily="34" charset="0"/>
                          <a:ea typeface="맑은 고딕" pitchFamily="34" charset="-122"/>
                          <a:cs typeface="맑은 고딕" pitchFamily="34" charset="-120"/>
                        </a:rPr>
                        <a:t>전용(평)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r" indent="0" marL="0">
                        <a:buNone/>
                      </a:pPr>
                      <a:r>
                        <a:rPr lang="en-US" sz="900" b="1" dirty="0">
                          <a:solidFill>
                            <a:srgbClr val="FFFFFF"/>
                          </a:solidFill>
                          <a:latin typeface="맑은 고딕" pitchFamily="34" charset="0"/>
                          <a:ea typeface="맑은 고딕" pitchFamily="34" charset="-122"/>
                          <a:cs typeface="맑은 고딕" pitchFamily="34" charset="-120"/>
                        </a:rPr>
                        <a:t>보증금(원)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r" indent="0" marL="0">
                        <a:buNone/>
                      </a:pPr>
                      <a:r>
                        <a:rPr lang="en-US" sz="900" b="1" dirty="0">
                          <a:solidFill>
                            <a:srgbClr val="FFFFFF"/>
                          </a:solidFill>
                          <a:latin typeface="맑은 고딕" pitchFamily="34" charset="0"/>
                          <a:ea typeface="맑은 고딕" pitchFamily="34" charset="-122"/>
                          <a:cs typeface="맑은 고딕" pitchFamily="34" charset="-120"/>
                        </a:rPr>
                        <a:t>월임대료(원)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r" indent="0" marL="0">
                        <a:buNone/>
                      </a:pPr>
                      <a:r>
                        <a:rPr lang="en-US" sz="900" b="1" dirty="0">
                          <a:solidFill>
                            <a:srgbClr val="FFFFFF"/>
                          </a:solidFill>
                          <a:latin typeface="맑은 고딕" pitchFamily="34" charset="0"/>
                          <a:ea typeface="맑은 고딕" pitchFamily="34" charset="-122"/>
                          <a:cs typeface="맑은 고딕" pitchFamily="34" charset="-120"/>
                        </a:rPr>
                        <a:t>관리비(USD)</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만기일</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12F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1201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주식회사한국글로벌상업용부동산투자개발자산운용전문유한회사영등…</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125.5</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580,000,000,000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1,250,000,000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$95,000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2030-12-31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11F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1101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PricewaterhouseCoopers </a:t>
                      </a:r>
                      <a:pPr algn="l" indent="0" marL="0">
                        <a:buNone/>
                      </a:pPr>
                      <a:r>
                        <a:rPr lang="en-US" sz="700" dirty="0">
                          <a:solidFill>
                            <a:srgbClr val="2B3440"/>
                          </a:solidFill>
                          <a:latin typeface="맑은 고딕" pitchFamily="34" charset="0"/>
                          <a:ea typeface="맑은 고딕" pitchFamily="34" charset="-122"/>
                          <a:cs typeface="맑은 고딕" pitchFamily="34" charset="-120"/>
                        </a:rPr>
                        <a:t>Global </a:t>
                      </a:r>
                      <a:pPr algn="l" indent="0" marL="0">
                        <a:buNone/>
                      </a:pPr>
                      <a:r>
                        <a:rPr lang="en-US" sz="700" dirty="0">
                          <a:solidFill>
                            <a:srgbClr val="2B3440"/>
                          </a:solidFill>
                          <a:latin typeface="맑은 고딕" pitchFamily="34" charset="0"/>
                          <a:ea typeface="맑은 고딕" pitchFamily="34" charset="-122"/>
                          <a:cs typeface="맑은 고딕" pitchFamily="34" charset="-120"/>
                        </a:rPr>
                        <a:t>Financial </a:t>
                      </a:r>
                      <a:pPr algn="l" indent="0" marL="0">
                        <a:buNone/>
                      </a:pPr>
                      <a:r>
                        <a:rPr lang="en-US" sz="700" dirty="0">
                          <a:solidFill>
                            <a:srgbClr val="2B3440"/>
                          </a:solidFill>
                          <a:latin typeface="맑은 고딕" pitchFamily="34" charset="0"/>
                          <a:ea typeface="맑은 고딕" pitchFamily="34" charset="-122"/>
                          <a:cs typeface="맑은 고딕" pitchFamily="34" charset="-120"/>
                        </a:rPr>
                        <a:t>Advisory </a:t>
                      </a:r>
                      <a:pPr algn="l" indent="0" marL="0">
                        <a:buNone/>
                      </a:pPr>
                      <a:r>
                        <a:rPr lang="en-US" sz="700" dirty="0">
                          <a:solidFill>
                            <a:srgbClr val="2B3440"/>
                          </a:solidFill>
                          <a:latin typeface="맑은 고딕" pitchFamily="34" charset="0"/>
                          <a:ea typeface="맑은 고딕" pitchFamily="34" charset="-122"/>
                          <a:cs typeface="맑은 고딕" pitchFamily="34" charset="-120"/>
                        </a:rPr>
                        <a:t>Group </a:t>
                      </a:r>
                      <a:pPr algn="l" indent="0" marL="0">
                        <a:buNone/>
                      </a:pPr>
                      <a:r>
                        <a:rPr lang="en-US" sz="700" dirty="0">
                          <a:solidFill>
                            <a:srgbClr val="2B3440"/>
                          </a:solidFill>
                          <a:latin typeface="맑은 고딕" pitchFamily="34" charset="0"/>
                          <a:ea typeface="맑은 고딕" pitchFamily="34" charset="-122"/>
                          <a:cs typeface="맑은 고딕" pitchFamily="34" charset="-120"/>
                        </a:rPr>
                        <a:t>Kore…</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120.0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120,000,000,000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850,000,000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$75,000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2029-06-30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10F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1001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3440"/>
                          </a:solidFill>
                          <a:latin typeface="맑은 고딕" pitchFamily="34" charset="0"/>
                          <a:ea typeface="맑은 고딕" pitchFamily="34" charset="-122"/>
                          <a:cs typeface="맑은 고딕" pitchFamily="34" charset="-120"/>
                        </a:rPr>
                        <a:t>메디컬케어네트워크종합검진클리닉센터영등포영업소</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115.2</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80,000,000,000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650,000,000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$55,000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2028-09-30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9F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901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l" indent="0" marL="0">
                        <a:buNone/>
                      </a:pPr>
                      <a:r>
                        <a:rPr lang="en-US" sz="900" dirty="0">
                          <a:solidFill>
                            <a:srgbClr val="2B3440"/>
                          </a:solidFill>
                          <a:latin typeface="맑은 고딕" pitchFamily="34" charset="0"/>
                          <a:ea typeface="맑은 고딕" pitchFamily="34" charset="-122"/>
                          <a:cs typeface="맑은 고딕" pitchFamily="34" charset="-120"/>
                        </a:rPr>
                        <a:t>에이아이인공지능딥러닝로보틱스소프트웨어연구소</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110.0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50,000,000,000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2027-11-30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8F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801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3440"/>
                          </a:solidFill>
                          <a:latin typeface="맑은 고딕" pitchFamily="34" charset="0"/>
                          <a:ea typeface="맑은 고딕" pitchFamily="34" charset="-122"/>
                          <a:cs typeface="맑은 고딕" pitchFamily="34" charset="-120"/>
                        </a:rPr>
                        <a:t>법무법인대한국민종합법률사무소금융부동산센터</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110.0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30,000,000,000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320,000,000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$30,000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2028-04-30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7F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701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l" indent="0" marL="0">
                        <a:buNone/>
                      </a:pPr>
                      <a:r>
                        <a:rPr lang="en-US" sz="900" dirty="0">
                          <a:solidFill>
                            <a:srgbClr val="2B3440"/>
                          </a:solidFill>
                          <a:latin typeface="맑은 고딕" pitchFamily="34" charset="0"/>
                          <a:ea typeface="맑은 고딕" pitchFamily="34" charset="-122"/>
                          <a:cs typeface="맑은 고딕" pitchFamily="34" charset="-120"/>
                        </a:rPr>
                        <a:t>삼정세무회계사무소공인회계사및세무전문컨설팅</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105.0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15,000,000,000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180,000,000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$18,000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2026-10-31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6F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601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3440"/>
                          </a:solidFill>
                          <a:latin typeface="맑은 고딕" pitchFamily="34" charset="0"/>
                          <a:ea typeface="맑은 고딕" pitchFamily="34" charset="-122"/>
                          <a:cs typeface="맑은 고딕" pitchFamily="34" charset="-120"/>
                        </a:rPr>
                        <a:t>스타트업인큐베이팅엑셀러레이터협회</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95.5</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5,000,000,000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95,000,000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$9,500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2027-03-31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5F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501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l" indent="0" marL="0">
                        <a:buNone/>
                      </a:pPr>
                      <a:r>
                        <a:rPr lang="en-US" sz="900" dirty="0">
                          <a:solidFill>
                            <a:srgbClr val="2B3440"/>
                          </a:solidFill>
                          <a:latin typeface="맑은 고딕" pitchFamily="34" charset="0"/>
                          <a:ea typeface="맑은 고딕" pitchFamily="34" charset="-122"/>
                          <a:cs typeface="맑은 고딕" pitchFamily="34" charset="-120"/>
                        </a:rPr>
                        <a:t>소규모벤처기업소프트웨어개발실</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80.0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1,200,000,000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25,000,000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$2,500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2026-08-31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4F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401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3440"/>
                          </a:solidFill>
                          <a:latin typeface="맑은 고딕" pitchFamily="34" charset="0"/>
                          <a:ea typeface="맑은 고딕" pitchFamily="34" charset="-122"/>
                          <a:cs typeface="맑은 고딕" pitchFamily="34" charset="-120"/>
                        </a:rPr>
                        <a:t>개인사업자디자인스튜디오</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8,500,000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$850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2026-05-31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3F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301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l" indent="0" marL="0">
                        <a:buNone/>
                      </a:pPr>
                      <a:r>
                        <a:rPr lang="en-US" sz="900" dirty="0">
                          <a:solidFill>
                            <a:srgbClr val="2B3440"/>
                          </a:solidFill>
                          <a:latin typeface="맑은 고딕" pitchFamily="34" charset="0"/>
                          <a:ea typeface="맑은 고딕" pitchFamily="34" charset="-122"/>
                          <a:cs typeface="맑은 고딕" pitchFamily="34" charset="-120"/>
                        </a:rPr>
                        <a:t>소형상담실및회의공간</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35.0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150,000,000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3,500,000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$350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2025-12-31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2F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3440"/>
                          </a:solidFill>
                          <a:latin typeface="맑은 고딕" pitchFamily="34" charset="0"/>
                          <a:ea typeface="맑은 고딕" pitchFamily="34" charset="-122"/>
                          <a:cs typeface="맑은 고딕" pitchFamily="34" charset="-120"/>
                        </a:rPr>
                        <a:t>초소형공유오피스임차인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20.0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1,200,000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$120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2025-10-31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합계</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11개실</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l" indent="0" marL="0">
                        <a:buNone/>
                      </a:pPr>
                      <a:r>
                        <a:rPr lang="en-US" sz="900" b="1" dirty="0">
                          <a:solidFill>
                            <a:srgbClr val="10161F"/>
                          </a:solidFill>
                          <a:latin typeface="맑은 고딕" pitchFamily="34" charset="0"/>
                          <a:ea typeface="맑은 고딕" pitchFamily="34" charset="-122"/>
                          <a:cs typeface="맑은 고딕" pitchFamily="34" charset="-120"/>
                        </a:rPr>
                        <a:t>-</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961.2</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881,900,000,000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3,833,200,000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$326,320</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r>
            </a:tbl>
          </a:graphicData>
        </a:graphic>
      </p:graphicFrame>
      <p:sp>
        <p:nvSpPr>
          <p:cNvPr id="7" name="Text 4"/>
          <p:cNvSpPr/>
          <p:nvPr/>
        </p:nvSpPr>
        <p:spPr>
          <a:xfrm>
            <a:off x="566928" y="6382512"/>
            <a:ext cx="7315200" cy="219456"/>
          </a:xfrm>
          <a:prstGeom prst="rect">
            <a:avLst/>
          </a:prstGeom>
          <a:noFill/>
          <a:ln/>
        </p:spPr>
        <p:txBody>
          <a:bodyPr wrap="square" lIns="0" tIns="0" rIns="0" bIns="0" rtlCol="0" anchor="ctr"/>
          <a:lstStyle/>
          <a:p>
            <a:pPr indent="0" marL="0">
              <a:buNone/>
            </a:pPr>
            <a:r>
              <a:rPr lang="en-US" sz="800" dirty="0">
                <a:solidFill>
                  <a:srgbClr val="7A8794"/>
                </a:solidFill>
                <a:latin typeface="맑은 고딕" pitchFamily="34" charset="0"/>
                <a:ea typeface="맑은 고딕" pitchFamily="34" charset="-122"/>
                <a:cs typeface="맑은 고딕" pitchFamily="34" charset="-120"/>
              </a:rPr>
              <a:t>크리딜   |   A03-STRESS</a:t>
            </a:r>
            <a:endParaRPr lang="en-US" sz="800" dirty="0"/>
          </a:p>
        </p:txBody>
      </p:sp>
      <p:sp>
        <p:nvSpPr>
          <p:cNvPr id="8" name="Text 5"/>
          <p:cNvSpPr/>
          <p:nvPr/>
        </p:nvSpPr>
        <p:spPr>
          <a:xfrm>
            <a:off x="10710367" y="6382512"/>
            <a:ext cx="914400" cy="219456"/>
          </a:xfrm>
          <a:prstGeom prst="rect">
            <a:avLst/>
          </a:prstGeom>
          <a:noFill/>
          <a:ln/>
        </p:spPr>
        <p:txBody>
          <a:bodyPr wrap="square" lIns="0" tIns="0" rIns="0" bIns="0" rtlCol="0" anchor="ctr"/>
          <a:lstStyle/>
          <a:p>
            <a:pPr algn="r" indent="0" marL="0">
              <a:buNone/>
            </a:pPr>
            <a:r>
              <a:rPr lang="en-US" sz="900" b="1" dirty="0">
                <a:solidFill>
                  <a:srgbClr val="B98A2E"/>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2026-10-02T04:24:23Z</dcterms:created>
  <dcterms:modified xsi:type="dcterms:W3CDTF">2026-10-02T04:24:23Z</dcterms:modified>
</cp:coreProperties>
</file>