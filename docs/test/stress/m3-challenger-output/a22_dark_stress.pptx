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Stacking Plan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다크 테마 건축 셋백 및 층별 임대차 현황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4983480" cy="4800600"/>
          </a:xfrm>
          <a:prstGeom prst="roundRect">
            <a:avLst>
              <a:gd name="adj" fmla="val 1143"/>
            </a:avLst>
          </a:prstGeom>
          <a:solidFill>
            <a:srgbClr val="1B2531"/>
          </a:solidFill>
          <a:ln w="6350">
            <a:solidFill>
              <a:srgbClr val="2A36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99616"/>
            <a:ext cx="458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건축 입면 셋백 및 층별 단면 실루엣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6350">
            <a:solidFill>
              <a:srgbClr val="B98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3677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965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0545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65F46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리테일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7413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D374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701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주차/기계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4281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991B1B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569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92708" y="1993392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5860" y="19933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11F~18F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61388" y="19933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기준층 업무 (8개층)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384548" y="2011680"/>
            <a:ext cx="566928" cy="192024"/>
          </a:xfrm>
          <a:prstGeom prst="rect">
            <a:avLst/>
          </a:prstGeom>
          <a:solidFill>
            <a:srgbClr val="2A36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'27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1092708" y="2235708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5860" y="22357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3F~10F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61388" y="22357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기준층 업무 (8개층)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384548" y="2253996"/>
            <a:ext cx="566928" cy="192024"/>
          </a:xfrm>
          <a:prstGeom prst="rect">
            <a:avLst/>
          </a:prstGeom>
          <a:solidFill>
            <a:srgbClr val="2A36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'27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1092708" y="2478024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5860" y="24780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20F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61388" y="24780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테넌트_20F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384548" y="2496312"/>
            <a:ext cx="566928" cy="192024"/>
          </a:xfrm>
          <a:prstGeom prst="rect">
            <a:avLst/>
          </a:prstGeom>
          <a:solidFill>
            <a:srgbClr val="2A36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'27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1092708" y="2720340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65860" y="27203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19F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61388" y="27203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테넌트_19F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384548" y="2738628"/>
            <a:ext cx="566928" cy="192024"/>
          </a:xfrm>
          <a:prstGeom prst="rect">
            <a:avLst/>
          </a:prstGeom>
          <a:solidFill>
            <a:srgbClr val="2A36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'27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1092708" y="2962656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065F46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65860" y="296265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961388" y="296265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테넌트_2F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4384548" y="2980944"/>
            <a:ext cx="566928" cy="192024"/>
          </a:xfrm>
          <a:prstGeom prst="rect">
            <a:avLst/>
          </a:prstGeom>
          <a:solidFill>
            <a:srgbClr val="2A36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'27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1092708" y="3204972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 w="6350">
            <a:solidFill>
              <a:srgbClr val="B98A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65860" y="32049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1F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961388" y="32049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8DE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스타벅스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384548" y="3223260"/>
            <a:ext cx="566928" cy="192024"/>
          </a:xfrm>
          <a:prstGeom prst="rect">
            <a:avLst/>
          </a:prstGeom>
          <a:solidFill>
            <a:srgbClr val="2A36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'27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841248" y="3538728"/>
            <a:ext cx="4434840" cy="0"/>
          </a:xfrm>
          <a:prstGeom prst="line">
            <a:avLst/>
          </a:prstGeom>
          <a:noFill/>
          <a:ln w="15240">
            <a:solidFill>
              <a:srgbClr val="8A96A2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886968" y="34747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96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지표면 (GL ±0.0m)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2648" y="36210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-3.5m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92708" y="3621024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065F46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65860" y="36210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B1F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961388" y="36210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1FA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아케이드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4384548" y="3639312"/>
            <a:ext cx="566928" cy="192024"/>
          </a:xfrm>
          <a:prstGeom prst="rect">
            <a:avLst/>
          </a:prstGeom>
          <a:solidFill>
            <a:srgbClr val="2A36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'26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612648" y="38633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-7m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092708" y="3863340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2D374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65860" y="38633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B2F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961388" y="38633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5806440" y="1353312"/>
            <a:ext cx="5818327" cy="4800600"/>
          </a:xfrm>
          <a:prstGeom prst="roundRect">
            <a:avLst>
              <a:gd name="adj" fmla="val 1143"/>
            </a:avLst>
          </a:prstGeom>
          <a:solidFill>
            <a:srgbClr val="1B2531"/>
          </a:solidFill>
          <a:ln w="6350">
            <a:solidFill>
              <a:srgbClr val="2A36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07608" y="1499616"/>
            <a:ext cx="54159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층별 면적 및 임대차 제원 매트릭스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600760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232F3C"/>
          </a:solidFill>
          <a:ln w="6350">
            <a:solidFill>
              <a:srgbClr val="2A36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8076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6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08076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2,200평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608076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건축물대장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738903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232F3C"/>
          </a:solidFill>
          <a:ln w="6350">
            <a:solidFill>
              <a:srgbClr val="2A36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6219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6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전용률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46219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57.3%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746219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계약면적 대비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877046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232F3C"/>
          </a:solidFill>
          <a:ln w="6350">
            <a:solidFill>
              <a:srgbClr val="2A36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84362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6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WALE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84362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2.8년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884362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 임대기간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10151897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232F3C"/>
          </a:solidFill>
          <a:ln w="6350">
            <a:solidFill>
              <a:srgbClr val="2A36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225049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6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공실률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0225049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70" name="Text 68"/>
          <p:cNvSpPr/>
          <p:nvPr/>
        </p:nvSpPr>
        <p:spPr>
          <a:xfrm>
            <a:off x="10225049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72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7608" y="2633472"/>
          <a:ext cx="5413248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051560"/>
                <a:gridCol w="713232"/>
                <a:gridCol w="713232"/>
                <a:gridCol w="1792224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A96A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A96A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주용도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8A96A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전용(평)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8A96A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임대(평)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A96A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A96A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입주사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A96A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테넌트_20F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테넌트_19F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11F~18F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기준층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기준층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(8개층)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3F~10F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기준층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기준층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(8개층)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근린생활시설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테넌트_2F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근린생활시설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아케이드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주차장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주차장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8B2B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8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98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1개층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98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98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1260.0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98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2,200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98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98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1개층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98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사옥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98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단독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98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B98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WALE </a:t>
                      </a:r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B98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2.8…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6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C"/>
                    </a:solidFill>
                  </a:tcPr>
                </a:tc>
              </a:tr>
            </a:tbl>
          </a:graphicData>
        </a:graphic>
      </p:graphicFrame>
      <p:sp>
        <p:nvSpPr>
          <p:cNvPr id="72" name="Text 69"/>
          <p:cNvSpPr/>
          <p:nvPr/>
        </p:nvSpPr>
        <p:spPr>
          <a:xfrm>
            <a:off x="6007608" y="5861304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본 제원은 건축물대장 및 임대차계약서 실측 기준입니다.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2026-10-02T04:25:10Z</dcterms:created>
  <dcterms:modified xsi:type="dcterms:W3CDTF">2026-10-02T04:25:10Z</dcterms:modified>
</cp:coreProperties>
</file>