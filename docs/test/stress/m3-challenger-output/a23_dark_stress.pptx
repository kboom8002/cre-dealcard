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&amp; Land 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격리 환경 하 공시지가 바 차트 렌더링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5087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86968" y="21854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1854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18.0억원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253288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2532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53288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288036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880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28803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22783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2278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22783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57530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357530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(평당)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27248" y="357530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29,752만원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" y="392277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" y="392277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토지 비중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27248" y="392277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105.0%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95528" y="427024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146304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공시지가 추이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90488" y="187452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1911096"/>
            <a:ext cx="2373173" cy="219456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32" name="Text 30"/>
          <p:cNvSpPr/>
          <p:nvPr/>
        </p:nvSpPr>
        <p:spPr>
          <a:xfrm>
            <a:off x="9203741" y="18745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60,000,000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90488" y="2167128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84848" y="2203704"/>
            <a:ext cx="2689596" cy="219456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35" name="Text 33"/>
          <p:cNvSpPr/>
          <p:nvPr/>
        </p:nvSpPr>
        <p:spPr>
          <a:xfrm>
            <a:off x="9520164" y="216712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68,000,000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90488" y="2459736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784848" y="2496312"/>
            <a:ext cx="2966466" cy="219456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38" name="Text 36"/>
          <p:cNvSpPr/>
          <p:nvPr/>
        </p:nvSpPr>
        <p:spPr>
          <a:xfrm>
            <a:off x="9797034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75,000,000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90488" y="275234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784848" y="2788920"/>
            <a:ext cx="3243336" cy="219456"/>
          </a:xfrm>
          <a:prstGeom prst="rect">
            <a:avLst/>
          </a:prstGeom>
          <a:solidFill>
            <a:srgbClr val="4A5568"/>
          </a:solidFill>
          <a:ln/>
        </p:spPr>
      </p:sp>
      <p:sp>
        <p:nvSpPr>
          <p:cNvPr id="41" name="Text 39"/>
          <p:cNvSpPr/>
          <p:nvPr/>
        </p:nvSpPr>
        <p:spPr>
          <a:xfrm>
            <a:off x="10073904" y="275234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82,000,000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90488" y="304495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784848" y="3081528"/>
            <a:ext cx="3559759" cy="219456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44" name="Text 42"/>
          <p:cNvSpPr/>
          <p:nvPr/>
        </p:nvSpPr>
        <p:spPr>
          <a:xfrm>
            <a:off x="10390327" y="30449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90,000,000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236208" y="347472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상승률(CAGR)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10.6%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36208" y="3794760"/>
            <a:ext cx="52056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누적 상승률 </a:t>
            </a:r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50%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190488" y="4828032"/>
            <a:ext cx="529711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국토교통부 개별공시지가 기준 (투자 판단 참고 자료)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BEE3F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0" name="Text 48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5년간 개별공시지가 연평균 10.6% 상승, 매매가 대비 토지 가치 비중 105.0% (공시지가×대지면적 기준)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임대수익률은 운영비 차감 전 기준, 보증금 승계 가정.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A23-THEME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2026-10-05T15:15:03Z</dcterms:created>
  <dcterms:modified xsi:type="dcterms:W3CDTF">2026-10-05T15:15:03Z</dcterms:modified>
</cp:coreProperties>
</file>