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Yield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투자수익률 분석 및 10개년 개별공시지가 추이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5120640" cy="3822192"/>
          </a:xfrm>
          <a:prstGeom prst="roundRect">
            <a:avLst>
              <a:gd name="adj" fmla="val 191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50876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10161F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158191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임대수익률 (Gross, 매매가−보증금 대비)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904488" y="158191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86968" y="218541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27248" y="218541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35.0억원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253288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253288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27248" y="253288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50.0억원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2880360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28803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27248" y="288036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500.0억원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5528" y="3227832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22783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보증금 차감 매입가 (매매가−보증금)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27248" y="322783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" y="3575304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" y="357530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공시지가 (평당)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27248" y="357530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41,322만원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5528" y="3922776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6968" y="392277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대비 토지 비중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127248" y="392277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95528" y="427024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53328" y="1325880"/>
            <a:ext cx="5571439" cy="3822192"/>
          </a:xfrm>
          <a:prstGeom prst="roundRect">
            <a:avLst>
              <a:gd name="adj" fmla="val 1914"/>
            </a:avLst>
          </a:prstGeom>
          <a:solidFill>
            <a:srgbClr val="FFFFFF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36208" y="1463040"/>
            <a:ext cx="52056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공시지가 추이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190488" y="1874520"/>
            <a:ext cx="50292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784848" y="1911096"/>
            <a:ext cx="1281513" cy="130759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2" name="Text 30"/>
          <p:cNvSpPr/>
          <p:nvPr/>
        </p:nvSpPr>
        <p:spPr>
          <a:xfrm>
            <a:off x="8112081" y="1874520"/>
            <a:ext cx="109728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45,000,000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190488" y="2078431"/>
            <a:ext cx="50292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784848" y="2115007"/>
            <a:ext cx="1452382" cy="130759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5" name="Text 33"/>
          <p:cNvSpPr/>
          <p:nvPr/>
        </p:nvSpPr>
        <p:spPr>
          <a:xfrm>
            <a:off x="8282950" y="2078431"/>
            <a:ext cx="109728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51,000,000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90488" y="2282342"/>
            <a:ext cx="50292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784848" y="2318918"/>
            <a:ext cx="1651728" cy="130759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8" name="Text 36"/>
          <p:cNvSpPr/>
          <p:nvPr/>
        </p:nvSpPr>
        <p:spPr>
          <a:xfrm>
            <a:off x="8482296" y="2282342"/>
            <a:ext cx="109728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58,000,000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190488" y="2486254"/>
            <a:ext cx="50292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784848" y="2522830"/>
            <a:ext cx="1879553" cy="130759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41" name="Text 39"/>
          <p:cNvSpPr/>
          <p:nvPr/>
        </p:nvSpPr>
        <p:spPr>
          <a:xfrm>
            <a:off x="8710121" y="2486254"/>
            <a:ext cx="109728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66,000,000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190488" y="2690165"/>
            <a:ext cx="50292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784848" y="2726741"/>
            <a:ext cx="2135856" cy="130759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44" name="Text 42"/>
          <p:cNvSpPr/>
          <p:nvPr/>
        </p:nvSpPr>
        <p:spPr>
          <a:xfrm>
            <a:off x="8966424" y="2690165"/>
            <a:ext cx="109728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75,000,000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190488" y="2894076"/>
            <a:ext cx="50292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784848" y="2930652"/>
            <a:ext cx="2420636" cy="130759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47" name="Text 45"/>
          <p:cNvSpPr/>
          <p:nvPr/>
        </p:nvSpPr>
        <p:spPr>
          <a:xfrm>
            <a:off x="9251204" y="2894076"/>
            <a:ext cx="109728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85,000,000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190488" y="3097987"/>
            <a:ext cx="50292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784848" y="3134563"/>
            <a:ext cx="2790851" cy="130759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50" name="Text 48"/>
          <p:cNvSpPr/>
          <p:nvPr/>
        </p:nvSpPr>
        <p:spPr>
          <a:xfrm>
            <a:off x="9621419" y="3097987"/>
            <a:ext cx="109728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98,000,000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190488" y="3301898"/>
            <a:ext cx="50292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784848" y="3338474"/>
            <a:ext cx="3075632" cy="130759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53" name="Text 51"/>
          <p:cNvSpPr/>
          <p:nvPr/>
        </p:nvSpPr>
        <p:spPr>
          <a:xfrm>
            <a:off x="9906200" y="3301898"/>
            <a:ext cx="109728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108,000,000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190488" y="3505810"/>
            <a:ext cx="50292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84848" y="3542386"/>
            <a:ext cx="3274978" cy="130759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56" name="Text 54"/>
          <p:cNvSpPr/>
          <p:nvPr/>
        </p:nvSpPr>
        <p:spPr>
          <a:xfrm>
            <a:off x="10105546" y="3505810"/>
            <a:ext cx="109728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115,000,000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190488" y="3709721"/>
            <a:ext cx="50292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84848" y="3746297"/>
            <a:ext cx="3559759" cy="130759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59" name="Text 57"/>
          <p:cNvSpPr/>
          <p:nvPr/>
        </p:nvSpPr>
        <p:spPr>
          <a:xfrm>
            <a:off x="10390327" y="3709721"/>
            <a:ext cx="1097280" cy="2039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125,000,000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236208" y="4050792"/>
            <a:ext cx="52056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연평균 상승률(CAGR) </a:t>
            </a:r>
            <a:pPr indent="0" marL="0">
              <a:buNone/>
            </a:pPr>
            <a:r>
              <a:rPr lang="en-US" sz="1400" b="1" dirty="0">
                <a:solidFill>
                  <a:srgbClr val="B9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12%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6236208" y="4370832"/>
            <a:ext cx="520567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 누적 상승률 </a:t>
            </a:r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177.8%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190488" y="4828032"/>
            <a:ext cx="529711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국토교통부 개별공시지가 기준 (투자 판단 참고 자료)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66928" y="5285232"/>
            <a:ext cx="11057839" cy="612648"/>
          </a:xfrm>
          <a:prstGeom prst="roundRect">
            <a:avLst>
              <a:gd name="adj" fmla="val 8955"/>
            </a:avLst>
          </a:prstGeom>
          <a:solidFill>
            <a:srgbClr val="E9EEF3"/>
          </a:solidFill>
          <a:ln/>
        </p:spPr>
      </p:sp>
      <p:sp>
        <p:nvSpPr>
          <p:cNvPr id="64" name="Shape 62"/>
          <p:cNvSpPr/>
          <p:nvPr/>
        </p:nvSpPr>
        <p:spPr>
          <a:xfrm>
            <a:off x="566928" y="5340096"/>
            <a:ext cx="36576" cy="502920"/>
          </a:xfrm>
          <a:prstGeom prst="rect">
            <a:avLst/>
          </a:prstGeom>
          <a:solidFill>
            <a:srgbClr val="44637F"/>
          </a:solidFill>
          <a:ln/>
        </p:spPr>
      </p:sp>
      <p:sp>
        <p:nvSpPr>
          <p:cNvPr id="65" name="Text 63"/>
          <p:cNvSpPr/>
          <p:nvPr/>
        </p:nvSpPr>
        <p:spPr>
          <a:xfrm>
            <a:off x="713232" y="5376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63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산출 요약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713232" y="5577840"/>
            <a:ext cx="1080180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10년간 개별공시지가 연평균 12% 상승, 매매가 대비 토지 가치 비중 100.0% (공시지가×대지면적 기준)</a:t>
            </a:r>
            <a:endParaRPr lang="en-US" sz="980" dirty="0"/>
          </a:p>
        </p:txBody>
      </p:sp>
      <p:sp>
        <p:nvSpPr>
          <p:cNvPr id="67" name="Text 65"/>
          <p:cNvSpPr/>
          <p:nvPr/>
        </p:nvSpPr>
        <p:spPr>
          <a:xfrm>
            <a:off x="566928" y="595274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임대수익률은 운영비 차감 전 기준, 보증금 승계 가정.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크리딜   |   A23-LIGHT-10Y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2026-10-05T15:15:02Z</dcterms:created>
  <dcterms:modified xsi:type="dcterms:W3CDTF">2026-10-05T15:15:02Z</dcterms:modified>
</cp:coreProperties>
</file>