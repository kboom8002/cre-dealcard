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Yield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투자수익률 분석 및 10개년 개별공시지가 추이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0161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168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18211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52958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27248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877056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422452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2245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공시지가 (평당)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27248" y="4224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41,322만원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" y="4572000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572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대비 토지 비중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27248" y="4572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5528" y="491947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3328" y="1371600"/>
            <a:ext cx="5571439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1508760"/>
            <a:ext cx="5205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공시지가 추이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90488" y="19202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4848" y="1956816"/>
            <a:ext cx="1281513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2" name="Text 30"/>
          <p:cNvSpPr/>
          <p:nvPr/>
        </p:nvSpPr>
        <p:spPr>
          <a:xfrm>
            <a:off x="8112081" y="1920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45,000,000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90488" y="21488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2185416"/>
            <a:ext cx="1452382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8282950" y="2148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51,000,000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0488" y="23774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4848" y="2414016"/>
            <a:ext cx="1651728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8" name="Text 36"/>
          <p:cNvSpPr/>
          <p:nvPr/>
        </p:nvSpPr>
        <p:spPr>
          <a:xfrm>
            <a:off x="8482296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58,000,000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0488" y="2606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84848" y="2642616"/>
            <a:ext cx="1879553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1" name="Text 39"/>
          <p:cNvSpPr/>
          <p:nvPr/>
        </p:nvSpPr>
        <p:spPr>
          <a:xfrm>
            <a:off x="8710121" y="2606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66,000,000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90488" y="28346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84848" y="2871216"/>
            <a:ext cx="2135856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4" name="Text 42"/>
          <p:cNvSpPr/>
          <p:nvPr/>
        </p:nvSpPr>
        <p:spPr>
          <a:xfrm>
            <a:off x="8966424" y="2834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75,000,000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90488" y="30632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84848" y="3099816"/>
            <a:ext cx="2420636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7" name="Text 45"/>
          <p:cNvSpPr/>
          <p:nvPr/>
        </p:nvSpPr>
        <p:spPr>
          <a:xfrm>
            <a:off x="9251204" y="3063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85,000,000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90488" y="32918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84848" y="3328416"/>
            <a:ext cx="2790851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0" name="Text 48"/>
          <p:cNvSpPr/>
          <p:nvPr/>
        </p:nvSpPr>
        <p:spPr>
          <a:xfrm>
            <a:off x="9621419" y="3291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98,000,000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90488" y="35204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84848" y="3557016"/>
            <a:ext cx="3075632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3" name="Text 51"/>
          <p:cNvSpPr/>
          <p:nvPr/>
        </p:nvSpPr>
        <p:spPr>
          <a:xfrm>
            <a:off x="9906200" y="3520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108,000,000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90488" y="3749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84848" y="3785616"/>
            <a:ext cx="3274978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6" name="Text 54"/>
          <p:cNvSpPr/>
          <p:nvPr/>
        </p:nvSpPr>
        <p:spPr>
          <a:xfrm>
            <a:off x="10105546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115,000,000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90488" y="39776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84848" y="4014216"/>
            <a:ext cx="3559759" cy="15544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59" name="Text 57"/>
          <p:cNvSpPr/>
          <p:nvPr/>
        </p:nvSpPr>
        <p:spPr>
          <a:xfrm>
            <a:off x="10390327" y="3977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125,000,000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36208" y="4343400"/>
            <a:ext cx="5205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연평균 상승률(CAGR) </a:t>
            </a:r>
            <a:pPr indent="0" marL="0">
              <a:buNone/>
            </a:pPr>
            <a:r>
              <a:rPr lang="en-US" sz="1400" b="1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36208" y="4663440"/>
            <a:ext cx="52056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 누적 상승률 </a:t>
            </a:r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177.8%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190488" y="4892040"/>
            <a:ext cx="52971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국토교통부 개별공시지가 기준 (투자 판단 참고 자료)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66928" y="5349240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E9EEF3"/>
          </a:solidFill>
          <a:ln/>
        </p:spPr>
      </p:sp>
      <p:sp>
        <p:nvSpPr>
          <p:cNvPr id="64" name="Shape 62"/>
          <p:cNvSpPr/>
          <p:nvPr/>
        </p:nvSpPr>
        <p:spPr>
          <a:xfrm>
            <a:off x="566928" y="5404104"/>
            <a:ext cx="36576" cy="585216"/>
          </a:xfrm>
          <a:prstGeom prst="rect">
            <a:avLst/>
          </a:prstGeom>
          <a:solidFill>
            <a:srgbClr val="44637F"/>
          </a:solidFill>
          <a:ln/>
        </p:spPr>
      </p:sp>
      <p:sp>
        <p:nvSpPr>
          <p:cNvPr id="65" name="Text 63"/>
          <p:cNvSpPr/>
          <p:nvPr/>
        </p:nvSpPr>
        <p:spPr>
          <a:xfrm>
            <a:off x="713232" y="544068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13232" y="5641848"/>
            <a:ext cx="10801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10년간 공시지가 연평균 12% 상승 → 토지가치 보존력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대비 토지비중 100% → 감가 리스크 낮은 토지 중심 자산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A23-LIGHT-10Y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2026-10-02T04:25:42Z</dcterms:created>
  <dcterms:modified xsi:type="dcterms:W3CDTF">2026-10-02T04:25:42Z</dcterms:modified>
</cp:coreProperties>
</file>