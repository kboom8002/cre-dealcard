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임대차 계약 명세 (A03 스트레스 검증)</a:t>
            </a:r>
            <a:endParaRPr lang="en-US" sz="2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921487"/>
                <a:gridCol w="921487"/>
                <a:gridCol w="1535811"/>
                <a:gridCol w="1535811"/>
                <a:gridCol w="1535811"/>
                <a:gridCol w="1535811"/>
                <a:gridCol w="1535811"/>
                <a:gridCol w="1535811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층수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호실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임차인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전용면적(평)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보증금(만원)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월임대료(만원)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관리비(만원)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만기일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B1F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B101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이마트에브리데이 </a:t>
                      </a:r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역삼프리미엄점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125.8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50,000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2,500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2029-12-31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1F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스타벅스 </a:t>
                      </a:r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코리아 </a:t>
                      </a:r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리저브 </a:t>
                      </a:r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강남점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75.2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30,000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2,000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2030-05-31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1F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올리브영 </a:t>
                      </a:r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플래그십 </a:t>
                      </a:r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스토어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65.0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25,000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1,800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2028-08-31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2F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투썸플레이스 </a:t>
                      </a:r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프랜차이즈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55.5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15,000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1,200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2027-11-30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3F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한화생명 </a:t>
                      </a:r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금융사업단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110.0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20,000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1,500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2026-10-31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4F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공실 </a:t>
                      </a:r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(임차의향서 </a:t>
                      </a:r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접수 </a:t>
                      </a:r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110.0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5F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주식회사 </a:t>
                      </a:r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메디컬헬스케어센터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110.0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22,000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1,650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480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344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2031-03-31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7개 </a:t>
                      </a:r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호실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총 </a:t>
                      </a:r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6개사 </a:t>
                      </a:r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입주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651.5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162,000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10,650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2,460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크리딜   |   DOC-M3-STRESS-1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STACKING 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건축 단면 스태킹 플랜 (A22 스트레스 검증)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4983480" cy="4800600"/>
          </a:xfrm>
          <a:prstGeom prst="roundRect">
            <a:avLst>
              <a:gd name="adj" fmla="val 1143"/>
            </a:avLst>
          </a:prstGeom>
          <a:solidFill>
            <a:srgbClr val="F5F7F9"/>
          </a:solidFill>
          <a:ln w="6350">
            <a:solidFill>
              <a:srgbClr val="DDE3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499616"/>
            <a:ext cx="4581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E6A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건축 입면 셋백 및 층별 단면 실루엣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68096" y="177393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1E3A8A"/>
          </a:solidFill>
          <a:ln w="635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50976" y="175564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앵커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1636776" y="177393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475569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19656" y="175564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505456" y="177393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0D9488"/>
          </a:solidFill>
          <a:ln w="6350">
            <a:solidFill>
              <a:srgbClr val="14B8A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88336" y="175564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리테일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374136" y="177393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334155"/>
          </a:solidFill>
          <a:ln w="6350">
            <a:solidFill>
              <a:srgbClr val="47556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57016" y="175564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주차/기계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242816" y="177393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EF4444"/>
          </a:solidFill>
          <a:ln w="6350">
            <a:solidFill>
              <a:srgbClr val="F8717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25696" y="175564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841248" y="2084832"/>
            <a:ext cx="4434840" cy="0"/>
          </a:xfrm>
          <a:prstGeom prst="line">
            <a:avLst/>
          </a:prstGeom>
          <a:noFill/>
          <a:ln w="15240">
            <a:solidFill>
              <a:srgbClr val="2E3A4A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886968" y="2020824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E3A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지표면 (GL ±0.0m)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5806440" y="1353312"/>
            <a:ext cx="5818327" cy="4800600"/>
          </a:xfrm>
          <a:prstGeom prst="roundRect">
            <a:avLst>
              <a:gd name="adj" fmla="val 1143"/>
            </a:avLst>
          </a:prstGeom>
          <a:solidFill>
            <a:srgbClr val="F5F7F9"/>
          </a:solidFill>
          <a:ln w="6350">
            <a:solidFill>
              <a:srgbClr val="DDE3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007608" y="1499616"/>
            <a:ext cx="54159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E6A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층별 면적 및 임대차 제원 매트릭스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007608" y="1773936"/>
            <a:ext cx="1271702" cy="713232"/>
          </a:xfrm>
          <a:prstGeom prst="roundRect">
            <a:avLst>
              <a:gd name="adj" fmla="val 6410"/>
            </a:avLst>
          </a:prstGeom>
          <a:solidFill>
            <a:srgbClr val="F5F7F9"/>
          </a:solidFill>
          <a:ln w="6350">
            <a:solidFill>
              <a:srgbClr val="DDE3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80760" y="1847088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6080760" y="2011680"/>
            <a:ext cx="11253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900평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6080760" y="2267712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AA5B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건축물대장</a:t>
            </a:r>
            <a:endParaRPr lang="en-US" sz="720" dirty="0"/>
          </a:p>
        </p:txBody>
      </p:sp>
      <p:sp>
        <p:nvSpPr>
          <p:cNvPr id="26" name="Shape 24"/>
          <p:cNvSpPr/>
          <p:nvPr/>
        </p:nvSpPr>
        <p:spPr>
          <a:xfrm>
            <a:off x="7389038" y="1773936"/>
            <a:ext cx="1271702" cy="713232"/>
          </a:xfrm>
          <a:prstGeom prst="roundRect">
            <a:avLst>
              <a:gd name="adj" fmla="val 6410"/>
            </a:avLst>
          </a:prstGeom>
          <a:solidFill>
            <a:srgbClr val="F5F7F9"/>
          </a:solidFill>
          <a:ln w="6350">
            <a:solidFill>
              <a:srgbClr val="DDE3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462190" y="1847088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전용률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7462190" y="2011680"/>
            <a:ext cx="11253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58.3%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7462190" y="2267712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AA5B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계약면적 대비</a:t>
            </a:r>
            <a:endParaRPr lang="en-US" sz="720" dirty="0"/>
          </a:p>
        </p:txBody>
      </p:sp>
      <p:sp>
        <p:nvSpPr>
          <p:cNvPr id="30" name="Shape 28"/>
          <p:cNvSpPr/>
          <p:nvPr/>
        </p:nvSpPr>
        <p:spPr>
          <a:xfrm>
            <a:off x="8770468" y="1773936"/>
            <a:ext cx="1271702" cy="713232"/>
          </a:xfrm>
          <a:prstGeom prst="roundRect">
            <a:avLst>
              <a:gd name="adj" fmla="val 6410"/>
            </a:avLst>
          </a:prstGeom>
          <a:solidFill>
            <a:srgbClr val="F5F7F9"/>
          </a:solidFill>
          <a:ln w="6350">
            <a:solidFill>
              <a:srgbClr val="DDE3E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843620" y="1847088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WALE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8843620" y="2011680"/>
            <a:ext cx="11253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3.2년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8843620" y="2267712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AA5B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잔여 임대기간</a:t>
            </a:r>
            <a:endParaRPr lang="en-US" sz="720" dirty="0"/>
          </a:p>
        </p:txBody>
      </p:sp>
      <p:sp>
        <p:nvSpPr>
          <p:cNvPr id="34" name="Shape 32"/>
          <p:cNvSpPr/>
          <p:nvPr/>
        </p:nvSpPr>
        <p:spPr>
          <a:xfrm>
            <a:off x="10151897" y="1773936"/>
            <a:ext cx="1271702" cy="713232"/>
          </a:xfrm>
          <a:prstGeom prst="roundRect">
            <a:avLst>
              <a:gd name="adj" fmla="val 6410"/>
            </a:avLst>
          </a:prstGeom>
          <a:solidFill>
            <a:srgbClr val="F5F7F9"/>
          </a:solidFill>
          <a:ln w="6350">
            <a:solidFill>
              <a:srgbClr val="DDE3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225049" y="1847088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공실률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10225049" y="2011680"/>
            <a:ext cx="11253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10225049" y="2267712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AA5B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</a:t>
            </a:r>
            <a:endParaRPr lang="en-US" sz="72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07608" y="2633472"/>
          <a:ext cx="5413248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1051560"/>
                <a:gridCol w="713232"/>
                <a:gridCol w="713232"/>
                <a:gridCol w="1792224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층수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주용도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전용(평)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임대(평)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주요 </a:t>
                      </a:r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입주사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만기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8E6A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8E6A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전층 </a:t>
                      </a:r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8E6A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만실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8E6A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8E6A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8E6A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 </a:t>
                      </a:r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8E6A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임대 </a:t>
                      </a:r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8E6A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운용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8E6A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WALE </a:t>
                      </a:r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8E6A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3.2…</a:t>
                      </a:r>
                      <a:endParaRPr lang="en-US" sz="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39" name="Text 36"/>
          <p:cNvSpPr/>
          <p:nvPr/>
        </p:nvSpPr>
        <p:spPr>
          <a:xfrm>
            <a:off x="6007608" y="5861304"/>
            <a:ext cx="5413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5B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본 제원은 건축물대장 및 임대차계약서 실측 기준입니다.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렌트롤 &amp; 스태킹 (A24 스트레스 검증)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2011680" cy="329184"/>
          </a:xfrm>
          <a:prstGeom prst="rect">
            <a:avLst/>
          </a:prstGeom>
          <a:solidFill>
            <a:srgbClr val="10161F"/>
          </a:solidFill>
          <a:ln w="6350">
            <a:solidFill>
              <a:srgbClr val="10161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645920"/>
            <a:ext cx="2011680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층별 스태킹 플랜 (㎡)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2633472"/>
            <a:ext cx="475488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1F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115568" y="2665476"/>
            <a:ext cx="1444752" cy="265176"/>
          </a:xfrm>
          <a:prstGeom prst="rect">
            <a:avLst/>
          </a:prstGeom>
          <a:solidFill>
            <a:srgbClr val="E8D1A7"/>
          </a:solidFill>
          <a:ln w="9525">
            <a:solidFill>
              <a:srgbClr val="5B6B7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3000" y="2665476"/>
            <a:ext cx="1389888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스타벅스 100㎡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475488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2F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187806" y="2336292"/>
            <a:ext cx="1300277" cy="265176"/>
          </a:xfrm>
          <a:prstGeom prst="rect">
            <a:avLst/>
          </a:prstGeom>
          <a:solidFill>
            <a:srgbClr val="A6C1D9"/>
          </a:solidFill>
          <a:ln w="9525">
            <a:solidFill>
              <a:srgbClr val="5B6B7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15238" y="2336292"/>
            <a:ext cx="1245413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투썸플레이스 90㎡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66928" y="1975104"/>
            <a:ext cx="475488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3F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115568" y="2007108"/>
            <a:ext cx="1444752" cy="265176"/>
          </a:xfrm>
          <a:prstGeom prst="rect">
            <a:avLst/>
          </a:prstGeom>
          <a:solidFill>
            <a:srgbClr val="93B3A0"/>
          </a:solidFill>
          <a:ln w="9525">
            <a:solidFill>
              <a:srgbClr val="5B6B7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43000" y="2007108"/>
            <a:ext cx="1389888" cy="2651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한화생명 150㎡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03504" y="2962656"/>
            <a:ext cx="23266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872744" y="3072384"/>
            <a:ext cx="118872" cy="109728"/>
          </a:xfrm>
          <a:prstGeom prst="rect">
            <a:avLst/>
          </a:prstGeom>
          <a:solidFill>
            <a:srgbClr val="93B3A0"/>
          </a:solidFill>
          <a:ln w="6350">
            <a:solidFill>
              <a:srgbClr val="5B6B7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28192" y="2962656"/>
            <a:ext cx="25044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1315212" y="3072384"/>
            <a:ext cx="118872" cy="109728"/>
          </a:xfrm>
          <a:prstGeom prst="rect">
            <a:avLst/>
          </a:prstGeom>
          <a:solidFill>
            <a:srgbClr val="A6C1D9"/>
          </a:solidFill>
          <a:ln w="6350">
            <a:solidFill>
              <a:srgbClr val="5B6B7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470660" y="2962656"/>
            <a:ext cx="25044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1757680" y="3072384"/>
            <a:ext cx="118872" cy="109728"/>
          </a:xfrm>
          <a:prstGeom prst="rect">
            <a:avLst/>
          </a:prstGeom>
          <a:solidFill>
            <a:srgbClr val="E8D1A7"/>
          </a:solidFill>
          <a:ln w="6350">
            <a:solidFill>
              <a:srgbClr val="5B6B7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913128" y="2962656"/>
            <a:ext cx="25044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2030</a:t>
            </a:r>
            <a:endParaRPr lang="en-US" sz="7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807208" y="1645920"/>
          <a:ext cx="8817559" cy="914400"/>
        </p:xfrm>
        <a:graphic>
          <a:graphicData uri="http://schemas.openxmlformats.org/drawingml/2006/table">
            <a:tbl>
              <a:tblPr/>
              <a:tblGrid>
                <a:gridCol w="621792"/>
                <a:gridCol w="1316736"/>
                <a:gridCol w="621792"/>
                <a:gridCol w="987552"/>
                <a:gridCol w="987552"/>
                <a:gridCol w="795528"/>
                <a:gridCol w="987552"/>
                <a:gridCol w="795528"/>
                <a:gridCol w="795528"/>
                <a:gridCol w="905256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층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임차인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용도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임대면적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전용면적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보증금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월임대료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관리비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월합계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만기일</a:t>
                      </a:r>
                      <a:endParaRPr lang="en-US" sz="900" dirty="0"/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스타벅스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근생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950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2030-05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투썸플레이스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근생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720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2027-11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3F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한화생명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업무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1,200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1,450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2026-10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 호실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340.0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210.0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33,000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2,600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3,120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8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25" name="Text 2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크리딜   |   DOC-M3-STRESS-3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YIELD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투자수익률 및 공시지가 추이 (A23 스트레스 검증)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5120640" cy="3822192"/>
          </a:xfrm>
          <a:prstGeom prst="roundRect">
            <a:avLst>
              <a:gd name="adj" fmla="val 1914"/>
            </a:avLst>
          </a:prstGeom>
          <a:solidFill>
            <a:srgbClr val="FFFFFF"/>
          </a:solidFill>
          <a:ln w="12700">
            <a:solidFill>
              <a:srgbClr val="DDE3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5528" y="1508760"/>
            <a:ext cx="4663440" cy="566928"/>
          </a:xfrm>
          <a:prstGeom prst="roundRect">
            <a:avLst>
              <a:gd name="adj" fmla="val 12903"/>
            </a:avLst>
          </a:prstGeom>
          <a:solidFill>
            <a:srgbClr val="10161F"/>
          </a:solidFill>
          <a:ln/>
        </p:spPr>
      </p:sp>
      <p:sp>
        <p:nvSpPr>
          <p:cNvPr id="8" name="Text 6"/>
          <p:cNvSpPr/>
          <p:nvPr/>
        </p:nvSpPr>
        <p:spPr>
          <a:xfrm>
            <a:off x="978408" y="1581912"/>
            <a:ext cx="2880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임대수익률 (Gross, 매매가−보증금 대비)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904488" y="1581912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0.00%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886968" y="2185416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임대수입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127248" y="2185416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1만원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95528" y="2532888"/>
            <a:ext cx="466344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86968" y="2532888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127248" y="2532888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2만원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95528" y="2880360"/>
            <a:ext cx="466344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6968" y="288036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127248" y="288036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250만원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95528" y="3227832"/>
            <a:ext cx="466344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6968" y="3227832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보증금 차감 매입가 (매매가−보증금)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127248" y="3227832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248만원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95528" y="3575304"/>
            <a:ext cx="466344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53328" y="1325880"/>
            <a:ext cx="5571439" cy="3822192"/>
          </a:xfrm>
          <a:prstGeom prst="roundRect">
            <a:avLst>
              <a:gd name="adj" fmla="val 1914"/>
            </a:avLst>
          </a:prstGeom>
          <a:solidFill>
            <a:srgbClr val="FFFFFF"/>
          </a:solidFill>
          <a:ln w="6350">
            <a:solidFill>
              <a:srgbClr val="DDE3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36208" y="1463040"/>
            <a:ext cx="520567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공시지가 추이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190488" y="1874520"/>
            <a:ext cx="502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2020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784848" y="1911096"/>
            <a:ext cx="2272187" cy="219456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26" name="Text 24"/>
          <p:cNvSpPr/>
          <p:nvPr/>
        </p:nvSpPr>
        <p:spPr>
          <a:xfrm>
            <a:off x="9102755" y="1874520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A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15,000,000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190488" y="2167128"/>
            <a:ext cx="502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2021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784848" y="2203704"/>
            <a:ext cx="2605441" cy="219456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29" name="Text 27"/>
          <p:cNvSpPr/>
          <p:nvPr/>
        </p:nvSpPr>
        <p:spPr>
          <a:xfrm>
            <a:off x="9436009" y="2167128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A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17,200,000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6190488" y="2459736"/>
            <a:ext cx="502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784848" y="2496312"/>
            <a:ext cx="2953843" cy="219456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32" name="Text 30"/>
          <p:cNvSpPr/>
          <p:nvPr/>
        </p:nvSpPr>
        <p:spPr>
          <a:xfrm>
            <a:off x="9784411" y="2459736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A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19,500,000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190488" y="2752344"/>
            <a:ext cx="502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784848" y="2788920"/>
            <a:ext cx="3181061" cy="219456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35" name="Text 33"/>
          <p:cNvSpPr/>
          <p:nvPr/>
        </p:nvSpPr>
        <p:spPr>
          <a:xfrm>
            <a:off x="10011629" y="2752344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A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21,000,000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190488" y="3044952"/>
            <a:ext cx="502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A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784848" y="3081528"/>
            <a:ext cx="3559759" cy="219456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38" name="Text 36"/>
          <p:cNvSpPr/>
          <p:nvPr/>
        </p:nvSpPr>
        <p:spPr>
          <a:xfrm>
            <a:off x="10390327" y="3044952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A87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23,500,000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6236208" y="3474720"/>
            <a:ext cx="5205679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연평균 상승률(CAGR) </a:t>
            </a:r>
            <a:pPr indent="0" marL="0">
              <a:buNone/>
            </a:pPr>
            <a:r>
              <a:rPr lang="en-US" sz="1400" b="1" dirty="0">
                <a:solidFill>
                  <a:srgbClr val="B9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11.9%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236208" y="3794760"/>
            <a:ext cx="520567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5년 누적 상승률 </a:t>
            </a:r>
            <a:pPr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56.7%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190488" y="4828032"/>
            <a:ext cx="5297119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국토교통부 개별공시지가 기준 (투자 판단 참고 자료)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566928" y="5285232"/>
            <a:ext cx="11057839" cy="612648"/>
          </a:xfrm>
          <a:prstGeom prst="roundRect">
            <a:avLst>
              <a:gd name="adj" fmla="val 8955"/>
            </a:avLst>
          </a:prstGeom>
          <a:solidFill>
            <a:srgbClr val="E9EEF3"/>
          </a:solidFill>
          <a:ln/>
        </p:spPr>
      </p:sp>
      <p:sp>
        <p:nvSpPr>
          <p:cNvPr id="43" name="Shape 41"/>
          <p:cNvSpPr/>
          <p:nvPr/>
        </p:nvSpPr>
        <p:spPr>
          <a:xfrm>
            <a:off x="566928" y="5340096"/>
            <a:ext cx="36576" cy="502920"/>
          </a:xfrm>
          <a:prstGeom prst="rect">
            <a:avLst/>
          </a:prstGeom>
          <a:solidFill>
            <a:srgbClr val="44637F"/>
          </a:solidFill>
          <a:ln/>
        </p:spPr>
      </p:sp>
      <p:sp>
        <p:nvSpPr>
          <p:cNvPr id="44" name="Text 42"/>
          <p:cNvSpPr/>
          <p:nvPr/>
        </p:nvSpPr>
        <p:spPr>
          <a:xfrm>
            <a:off x="713232" y="5376672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463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 산출 요약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713232" y="5577840"/>
            <a:ext cx="10801807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5년간 개별공시지가 연평균 11.9% 상승</a:t>
            </a:r>
            <a:endParaRPr lang="en-US" sz="980" dirty="0"/>
          </a:p>
        </p:txBody>
      </p:sp>
      <p:sp>
        <p:nvSpPr>
          <p:cNvPr id="46" name="Text 44"/>
          <p:cNvSpPr/>
          <p:nvPr/>
        </p:nvSpPr>
        <p:spPr>
          <a:xfrm>
            <a:off x="566928" y="5952744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임대수익률은 운영비 차감 전 기준, 보증금 승계 가정.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79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크리딜   |   DOC-M3-STRESS-4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2026-10-05T15:11:03Z</dcterms:created>
  <dcterms:modified xsi:type="dcterms:W3CDTF">2026-10-05T15:11:03Z</dcterms:modified>
</cp:coreProperties>
</file>