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임대차 계약 명세 (A03 스트레스 검증)</a:t>
            </a:r>
            <a:endParaRPr lang="en-US" sz="2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921487"/>
                <a:gridCol w="921487"/>
                <a:gridCol w="1535811"/>
                <a:gridCol w="1535811"/>
                <a:gridCol w="1535811"/>
                <a:gridCol w="1535811"/>
                <a:gridCol w="1535811"/>
                <a:gridCol w="1535811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층수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호실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임차인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전용면적(평)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보증금(만원)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월임대료(만원)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관리비(만원)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만기일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B1F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B101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이마트에브리데이 </a:t>
                      </a:r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역삼프리미엄점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125.8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50,000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2,500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2029-12-31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1F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스타벅스 </a:t>
                      </a:r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코리아 </a:t>
                      </a:r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리저브 </a:t>
                      </a:r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강남점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75.2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30,000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2,000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2030-05-31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1F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올리브영 </a:t>
                      </a:r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플래그십 </a:t>
                      </a:r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스토어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65.0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25,000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1,800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2028-08-31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2F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투썸플레이스 </a:t>
                      </a:r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프랜차이즈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55.5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15,000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1,200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2027-11-30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3F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한화생명 </a:t>
                      </a:r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금융사업단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110.0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20,000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1,500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2026-10-31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4F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공실 </a:t>
                      </a:r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(임차의향서 </a:t>
                      </a:r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접수 </a:t>
                      </a:r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110.0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5F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주식회사 </a:t>
                      </a:r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메디컬헬스케어센터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110.0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22,000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1,650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480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2031-03-31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7개 </a:t>
                      </a:r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호실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총 </a:t>
                      </a:r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6개사 </a:t>
                      </a:r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입주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651.5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162,000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10,650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2,460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크리딜   |   DOC-M3-STRESS-1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STACKING 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 단면 스태킹 플랜 (A22 스트레스 검증)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4983480" cy="4800600"/>
          </a:xfrm>
          <a:prstGeom prst="roundRect">
            <a:avLst>
              <a:gd name="adj" fmla="val 1143"/>
            </a:avLst>
          </a:prstGeom>
          <a:solidFill>
            <a:srgbClr val="F5F7F9"/>
          </a:solidFill>
          <a:ln w="6350">
            <a:solidFill>
              <a:srgbClr val="DDE3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499616"/>
            <a:ext cx="4581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E6A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건축 입면 셋백 및 층별 단면 실루엣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68096" y="1773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1E3A8A"/>
          </a:solidFill>
          <a:ln w="635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50976" y="17556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앵커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636776" y="1773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19656" y="17556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505456" y="1773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0D9488"/>
          </a:solidFill>
          <a:ln w="6350">
            <a:solidFill>
              <a:srgbClr val="14B8A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88336" y="17556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리테일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374136" y="1773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334155"/>
          </a:solidFill>
          <a:ln w="6350">
            <a:solidFill>
              <a:srgbClr val="47556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57016" y="17556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주차/기계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242816" y="1773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EF4444"/>
          </a:solidFill>
          <a:ln w="6350">
            <a:solidFill>
              <a:srgbClr val="F8717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25696" y="17556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841248" y="2084832"/>
            <a:ext cx="4434840" cy="0"/>
          </a:xfrm>
          <a:prstGeom prst="line">
            <a:avLst/>
          </a:prstGeom>
          <a:noFill/>
          <a:ln w="15240">
            <a:solidFill>
              <a:srgbClr val="2E3A4A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886968" y="2020824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E3A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지표면 (GL ±0.0m)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5806440" y="1353312"/>
            <a:ext cx="5818327" cy="4800600"/>
          </a:xfrm>
          <a:prstGeom prst="roundRect">
            <a:avLst>
              <a:gd name="adj" fmla="val 1143"/>
            </a:avLst>
          </a:prstGeom>
          <a:solidFill>
            <a:srgbClr val="F5F7F9"/>
          </a:solidFill>
          <a:ln w="6350">
            <a:solidFill>
              <a:srgbClr val="DDE3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007608" y="1499616"/>
            <a:ext cx="54159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E6A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층별 면적 및 임대차 제원 매트릭스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007608" y="1773936"/>
            <a:ext cx="1271702" cy="713232"/>
          </a:xfrm>
          <a:prstGeom prst="roundRect">
            <a:avLst>
              <a:gd name="adj" fmla="val 6410"/>
            </a:avLst>
          </a:prstGeom>
          <a:solidFill>
            <a:srgbClr val="F5F7F9"/>
          </a:solidFill>
          <a:ln w="6350">
            <a:solidFill>
              <a:srgbClr val="DDE3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80760" y="1847088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6080760" y="2011680"/>
            <a:ext cx="11253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900평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6080760" y="2267712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AA5B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건축물대장</a:t>
            </a:r>
            <a:endParaRPr lang="en-US" sz="720" dirty="0"/>
          </a:p>
        </p:txBody>
      </p:sp>
      <p:sp>
        <p:nvSpPr>
          <p:cNvPr id="26" name="Shape 24"/>
          <p:cNvSpPr/>
          <p:nvPr/>
        </p:nvSpPr>
        <p:spPr>
          <a:xfrm>
            <a:off x="7389038" y="1773936"/>
            <a:ext cx="1271702" cy="713232"/>
          </a:xfrm>
          <a:prstGeom prst="roundRect">
            <a:avLst>
              <a:gd name="adj" fmla="val 6410"/>
            </a:avLst>
          </a:prstGeom>
          <a:solidFill>
            <a:srgbClr val="F5F7F9"/>
          </a:solidFill>
          <a:ln w="6350">
            <a:solidFill>
              <a:srgbClr val="DDE3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62190" y="1847088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전용률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7462190" y="2011680"/>
            <a:ext cx="11253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58.3%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7462190" y="2267712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AA5B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계약면적 대비</a:t>
            </a:r>
            <a:endParaRPr lang="en-US" sz="720" dirty="0"/>
          </a:p>
        </p:txBody>
      </p:sp>
      <p:sp>
        <p:nvSpPr>
          <p:cNvPr id="30" name="Shape 28"/>
          <p:cNvSpPr/>
          <p:nvPr/>
        </p:nvSpPr>
        <p:spPr>
          <a:xfrm>
            <a:off x="8770468" y="1773936"/>
            <a:ext cx="1271702" cy="713232"/>
          </a:xfrm>
          <a:prstGeom prst="roundRect">
            <a:avLst>
              <a:gd name="adj" fmla="val 6410"/>
            </a:avLst>
          </a:prstGeom>
          <a:solidFill>
            <a:srgbClr val="F5F7F9"/>
          </a:solidFill>
          <a:ln w="6350">
            <a:solidFill>
              <a:srgbClr val="DDE3E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843620" y="1847088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WALE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8843620" y="2011680"/>
            <a:ext cx="11253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3.2년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8843620" y="2267712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AA5B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잔여 임대기간</a:t>
            </a:r>
            <a:endParaRPr lang="en-US" sz="720" dirty="0"/>
          </a:p>
        </p:txBody>
      </p:sp>
      <p:sp>
        <p:nvSpPr>
          <p:cNvPr id="34" name="Shape 32"/>
          <p:cNvSpPr/>
          <p:nvPr/>
        </p:nvSpPr>
        <p:spPr>
          <a:xfrm>
            <a:off x="10151897" y="1773936"/>
            <a:ext cx="1271702" cy="713232"/>
          </a:xfrm>
          <a:prstGeom prst="roundRect">
            <a:avLst>
              <a:gd name="adj" fmla="val 6410"/>
            </a:avLst>
          </a:prstGeom>
          <a:solidFill>
            <a:srgbClr val="F5F7F9"/>
          </a:solidFill>
          <a:ln w="6350">
            <a:solidFill>
              <a:srgbClr val="DDE3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225049" y="1847088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공실률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10225049" y="2011680"/>
            <a:ext cx="11253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10225049" y="2267712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AA5B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</a:t>
            </a:r>
            <a:endParaRPr lang="en-US" sz="72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07608" y="2633472"/>
          <a:ext cx="5413248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1051560"/>
                <a:gridCol w="713232"/>
                <a:gridCol w="713232"/>
                <a:gridCol w="1792224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층수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주용도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전용(평)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임대(평)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주요 </a:t>
                      </a:r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입주사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만기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8E6A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8E6A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전층 </a:t>
                      </a:r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8E6A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만실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8E6A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8E6A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8E6A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 </a:t>
                      </a:r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8E6A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임대 </a:t>
                      </a:r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8E6A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운용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8E6A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WALE </a:t>
                      </a:r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8E6A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3.2…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39" name="Text 36"/>
          <p:cNvSpPr/>
          <p:nvPr/>
        </p:nvSpPr>
        <p:spPr>
          <a:xfrm>
            <a:off x="6007608" y="5861304"/>
            <a:ext cx="5413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5B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본 제원은 건축물대장 및 임대차계약서 실측 기준입니다.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렌트롤 &amp; 스태킹 (A24 스트레스 검증)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137160" cy="137160"/>
          </a:xfrm>
          <a:prstGeom prst="rect">
            <a:avLst/>
          </a:prstGeom>
          <a:solidFill>
            <a:srgbClr val="93B3A0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298448" y="1645920"/>
            <a:ext cx="137160" cy="137160"/>
          </a:xfrm>
          <a:prstGeom prst="rect">
            <a:avLst/>
          </a:prstGeom>
          <a:solidFill>
            <a:srgbClr val="A6C1D9"/>
          </a:solidFill>
          <a:ln/>
        </p:spPr>
      </p:sp>
      <p:sp>
        <p:nvSpPr>
          <p:cNvPr id="9" name="Text 7"/>
          <p:cNvSpPr/>
          <p:nvPr/>
        </p:nvSpPr>
        <p:spPr>
          <a:xfrm>
            <a:off x="1481328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029968" y="1645920"/>
            <a:ext cx="137160" cy="137160"/>
          </a:xfrm>
          <a:prstGeom prst="rect">
            <a:avLst/>
          </a:prstGeom>
          <a:solidFill>
            <a:srgbClr val="E8D1A7"/>
          </a:solidFill>
          <a:ln/>
        </p:spPr>
      </p:sp>
      <p:sp>
        <p:nvSpPr>
          <p:cNvPr id="11" name="Text 9"/>
          <p:cNvSpPr/>
          <p:nvPr/>
        </p:nvSpPr>
        <p:spPr>
          <a:xfrm>
            <a:off x="2212848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2030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761488" y="1645920"/>
            <a:ext cx="137160" cy="137160"/>
          </a:xfrm>
          <a:prstGeom prst="rect">
            <a:avLst/>
          </a:prstGeom>
          <a:solidFill>
            <a:srgbClr val="FBEFE8"/>
          </a:solidFill>
          <a:ln w="12700">
            <a:solidFill>
              <a:srgbClr val="B05A2E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2944368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5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66928" y="4693920"/>
            <a:ext cx="475488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1F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504645" y="4721352"/>
            <a:ext cx="1654150" cy="1286256"/>
          </a:xfrm>
          <a:prstGeom prst="rect">
            <a:avLst/>
          </a:prstGeom>
          <a:solidFill>
            <a:srgbClr val="E8D1A7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541221" y="4712208"/>
            <a:ext cx="1580998" cy="13045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스타벅스 (30평)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66928" y="3352800"/>
            <a:ext cx="475488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2F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591056" y="3380232"/>
            <a:ext cx="1481328" cy="1286256"/>
          </a:xfrm>
          <a:prstGeom prst="rect">
            <a:avLst/>
          </a:prstGeom>
          <a:solidFill>
            <a:srgbClr val="A6C1D9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627632" y="3371088"/>
            <a:ext cx="1408176" cy="13045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투썸플레이스 (27평)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66928" y="2011680"/>
            <a:ext cx="475488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3F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097280" y="2039112"/>
            <a:ext cx="2468880" cy="1286256"/>
          </a:xfrm>
          <a:prstGeom prst="rect">
            <a:avLst/>
          </a:prstGeom>
          <a:solidFill>
            <a:srgbClr val="93B3A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33856" y="2029968"/>
            <a:ext cx="2395728" cy="13045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한화생명 (45평)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66928" y="5961888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8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렌트롤 현황 기준 층별 공간 배치도</a:t>
            </a:r>
            <a:endParaRPr lang="en-US" sz="8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50208" y="1645920"/>
          <a:ext cx="7674559" cy="914400"/>
        </p:xfrm>
        <a:graphic>
          <a:graphicData uri="http://schemas.openxmlformats.org/drawingml/2006/table">
            <a:tbl>
              <a:tblPr/>
              <a:tblGrid>
                <a:gridCol w="438912"/>
                <a:gridCol w="960120"/>
                <a:gridCol w="804672"/>
                <a:gridCol w="713232"/>
                <a:gridCol w="713232"/>
                <a:gridCol w="713232"/>
                <a:gridCol w="713232"/>
                <a:gridCol w="713232"/>
                <a:gridCol w="713232"/>
                <a:gridCol w="118872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층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임차인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용도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임대면적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전용면적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보증금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월임대료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관리비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월합계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만기일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스타벅스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근생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950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2030-05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투썸플레이스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근생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720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2027-11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한화생명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1,450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2026-10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 호실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340.0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210.0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2,600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3,120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</a:tbl>
          </a:graphicData>
        </a:graphic>
      </p:graphicFrame>
      <p:sp>
        <p:nvSpPr>
          <p:cNvPr id="25" name="Text 2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크리딜   |   DOC-M3-STRESS-3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YIELD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투자수익률 및 공시지가 추이 (A23 스트레스 검증)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71600"/>
            <a:ext cx="5120640" cy="384048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5528" y="160020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10161F"/>
          </a:solidFill>
          <a:ln/>
        </p:spPr>
      </p:sp>
      <p:sp>
        <p:nvSpPr>
          <p:cNvPr id="8" name="Text 6"/>
          <p:cNvSpPr/>
          <p:nvPr/>
        </p:nvSpPr>
        <p:spPr>
          <a:xfrm>
            <a:off x="1024128" y="1600200"/>
            <a:ext cx="2286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487168" y="1600200"/>
            <a:ext cx="2743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0.00%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886968" y="283464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임대수입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127248" y="283464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1만원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95528" y="3182112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86968" y="3182112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127248" y="3182112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2만원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95528" y="3529584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6968" y="3529584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127248" y="3529584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250만원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95528" y="3877056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6968" y="3877056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순투자금 (매매가 − 보증금)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127248" y="3877056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248만원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95528" y="4224528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3328" y="1371600"/>
            <a:ext cx="5571439" cy="384048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6350">
            <a:solidFill>
              <a:srgbClr val="DDE3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36208" y="1508760"/>
            <a:ext cx="520567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공시지가 추이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190488" y="1920240"/>
            <a:ext cx="502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784848" y="1956816"/>
            <a:ext cx="2272187" cy="219456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26" name="Text 24"/>
          <p:cNvSpPr/>
          <p:nvPr/>
        </p:nvSpPr>
        <p:spPr>
          <a:xfrm>
            <a:off x="9102755" y="192024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A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15,000,000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190488" y="2212848"/>
            <a:ext cx="502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2021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784848" y="2249424"/>
            <a:ext cx="2605441" cy="219456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29" name="Text 27"/>
          <p:cNvSpPr/>
          <p:nvPr/>
        </p:nvSpPr>
        <p:spPr>
          <a:xfrm>
            <a:off x="9436009" y="2212848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A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17,200,000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190488" y="2505456"/>
            <a:ext cx="502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784848" y="2542032"/>
            <a:ext cx="2953843" cy="219456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32" name="Text 30"/>
          <p:cNvSpPr/>
          <p:nvPr/>
        </p:nvSpPr>
        <p:spPr>
          <a:xfrm>
            <a:off x="9784411" y="2505456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A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19,500,000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190488" y="2798064"/>
            <a:ext cx="502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784848" y="2834640"/>
            <a:ext cx="3181061" cy="219456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35" name="Text 33"/>
          <p:cNvSpPr/>
          <p:nvPr/>
        </p:nvSpPr>
        <p:spPr>
          <a:xfrm>
            <a:off x="10011629" y="2798064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A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21,000,000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190488" y="3090672"/>
            <a:ext cx="502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784848" y="3127248"/>
            <a:ext cx="3559759" cy="219456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8" name="Text 36"/>
          <p:cNvSpPr/>
          <p:nvPr/>
        </p:nvSpPr>
        <p:spPr>
          <a:xfrm>
            <a:off x="10390327" y="3090672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A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23,500,000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6236208" y="3520440"/>
            <a:ext cx="520567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연평균 상승률(CAGR) </a:t>
            </a:r>
            <a:pPr indent="0" marL="0">
              <a:buNone/>
            </a:pPr>
            <a:r>
              <a:rPr lang="en-US" sz="1400" b="1" dirty="0">
                <a:solidFill>
                  <a:srgbClr val="B9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11.9%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236208" y="3840480"/>
            <a:ext cx="520567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5년 누적 상승률 </a:t>
            </a:r>
            <a:pPr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56.7%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190488" y="4892040"/>
            <a:ext cx="5297119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국토교통부 개별공시지가 기준 (투자 판단 참고 자료)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66928" y="5349240"/>
            <a:ext cx="11057839" cy="438912"/>
          </a:xfrm>
          <a:prstGeom prst="roundRect">
            <a:avLst>
              <a:gd name="adj" fmla="val 12500"/>
            </a:avLst>
          </a:prstGeom>
          <a:solidFill>
            <a:srgbClr val="E9EEF3"/>
          </a:solidFill>
          <a:ln/>
        </p:spPr>
      </p:sp>
      <p:sp>
        <p:nvSpPr>
          <p:cNvPr id="43" name="Shape 41"/>
          <p:cNvSpPr/>
          <p:nvPr/>
        </p:nvSpPr>
        <p:spPr>
          <a:xfrm>
            <a:off x="566928" y="5404104"/>
            <a:ext cx="36576" cy="329184"/>
          </a:xfrm>
          <a:prstGeom prst="rect">
            <a:avLst/>
          </a:prstGeom>
          <a:solidFill>
            <a:srgbClr val="44637F"/>
          </a:solidFill>
          <a:ln/>
        </p:spPr>
      </p:sp>
      <p:sp>
        <p:nvSpPr>
          <p:cNvPr id="44" name="Text 42"/>
          <p:cNvSpPr/>
          <p:nvPr/>
        </p:nvSpPr>
        <p:spPr>
          <a:xfrm>
            <a:off x="713232" y="5440680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463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판단 참고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713232" y="5641848"/>
            <a:ext cx="10801807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5년간 공시지가 연평균 11.9% 상승 → 토지가치 보존력 확인</a:t>
            </a:r>
            <a:endParaRPr lang="en-US" sz="980" dirty="0"/>
          </a:p>
        </p:txBody>
      </p:sp>
      <p:sp>
        <p:nvSpPr>
          <p:cNvPr id="46" name="Text 4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크리딜   |   DOC-M3-STRESS-4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2026-10-03T07:19:36Z</dcterms:created>
  <dcterms:modified xsi:type="dcterms:W3CDTF">2026-10-03T07:19:36Z</dcterms:modified>
</cp:coreProperties>
</file>