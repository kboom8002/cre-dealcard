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 명세 (A03 스트레스 검증)</a:t>
            </a:r>
            <a:endParaRPr lang="en-US" sz="2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921487"/>
                <a:gridCol w="921487"/>
                <a:gridCol w="1535811"/>
                <a:gridCol w="1535811"/>
                <a:gridCol w="1535811"/>
                <a:gridCol w="1535811"/>
                <a:gridCol w="1535811"/>
                <a:gridCol w="1535811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임차인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전용면적(평)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보증금(만원)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월임대료(만원)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관리비(만원)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만기일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B1F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이마트에브리데이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역삼프리미엄점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125.8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2029-12-31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코리아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리저브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강남점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2030-05-31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올리브영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플래그십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스토어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1,800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2028-08-31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투썸플레이스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프랜차이즈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2027-11-30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한화생명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금융사업단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2026-10-31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(임차의향서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접수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메디컬헬스케어센터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1,650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2031-03-31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7개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6개사 </a:t>
                      </a:r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651.5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162,000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10,650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2,460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DOC-M3-STRESS-1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STACKING PLAN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 단면 스태킹 플랜 (A22 스트레스 검증)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4983480" cy="4800600"/>
          </a:xfrm>
          <a:prstGeom prst="roundRect">
            <a:avLst>
              <a:gd name="adj" fmla="val 1143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99616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건축 입면 셋백 및 층별 단면 실루엣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3677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965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0545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리테일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7413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701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주차/기계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4281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569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41248" y="2084832"/>
            <a:ext cx="4434840" cy="0"/>
          </a:xfrm>
          <a:prstGeom prst="line">
            <a:avLst/>
          </a:prstGeom>
          <a:noFill/>
          <a:ln w="15240">
            <a:solidFill>
              <a:srgbClr val="2E3A4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86968" y="202082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3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지표면 (GL ±0.0m)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806440" y="1353312"/>
            <a:ext cx="5818327" cy="4800600"/>
          </a:xfrm>
          <a:prstGeom prst="roundRect">
            <a:avLst>
              <a:gd name="adj" fmla="val 1143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07608" y="1499616"/>
            <a:ext cx="54159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층별 면적 및 임대차 제원 매트릭스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0760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8076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900평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08076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건축물대장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738903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6219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전용률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6219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58.3%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46219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계약면적 대비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877046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4362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84362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3.2년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84362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임대기간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10151897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25049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공실률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25049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0225049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72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7608" y="2633472"/>
          <a:ext cx="5413248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051560"/>
                <a:gridCol w="713232"/>
                <a:gridCol w="713232"/>
                <a:gridCol w="1792224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주용도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전용(평)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임대(평)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입주사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전층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임대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WALE </a:t>
                      </a:r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>
            <a:off x="6007608" y="5861304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본 제원은 건축물대장 및 임대차계약서 실측 기준입니다.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 &amp; 스태킹 (A24 스트레스 검증)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469392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91056" y="4721352"/>
            <a:ext cx="1481328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4712208"/>
            <a:ext cx="1408176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(18평)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35280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14500" y="3380232"/>
            <a:ext cx="123444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51076" y="3371088"/>
            <a:ext cx="116128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 (15평)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01168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203911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02996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 (30평)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5961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50208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960120"/>
                <a:gridCol w="804672"/>
                <a:gridCol w="713232"/>
                <a:gridCol w="713232"/>
                <a:gridCol w="713232"/>
                <a:gridCol w="713232"/>
                <a:gridCol w="713232"/>
                <a:gridCol w="713232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임대면적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월임대료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월합계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2030-05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투썸플레이스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한화생명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33000.0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15714%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3,120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608,326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DOC-M3-STRESS-3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투자수익률 및 공시지가 추이 (A23 스트레스 검증)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60020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0161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87168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7248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1만원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318211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27248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2만원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3529584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27248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250만원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" y="3877056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7248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248만원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" y="4224528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371600"/>
            <a:ext cx="5571439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508760"/>
            <a:ext cx="52056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공시지가 추이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90488" y="19202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84848" y="1956816"/>
            <a:ext cx="2272187" cy="21945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6" name="Text 24"/>
          <p:cNvSpPr/>
          <p:nvPr/>
        </p:nvSpPr>
        <p:spPr>
          <a:xfrm>
            <a:off x="9102755" y="19202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15,000,000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90488" y="221284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84848" y="2249424"/>
            <a:ext cx="2605441" cy="21945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9" name="Text 27"/>
          <p:cNvSpPr/>
          <p:nvPr/>
        </p:nvSpPr>
        <p:spPr>
          <a:xfrm>
            <a:off x="9436009" y="22128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17,200,000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90488" y="250545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84848" y="2542032"/>
            <a:ext cx="2953843" cy="21945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2" name="Text 30"/>
          <p:cNvSpPr/>
          <p:nvPr/>
        </p:nvSpPr>
        <p:spPr>
          <a:xfrm>
            <a:off x="9784411" y="25054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19,500,000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90488" y="279806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84848" y="2834640"/>
            <a:ext cx="3181061" cy="21945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5" name="Text 33"/>
          <p:cNvSpPr/>
          <p:nvPr/>
        </p:nvSpPr>
        <p:spPr>
          <a:xfrm>
            <a:off x="10011629" y="279806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21,000,000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90488" y="309067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84848" y="3127248"/>
            <a:ext cx="3559759" cy="21945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38" name="Text 36"/>
          <p:cNvSpPr/>
          <p:nvPr/>
        </p:nvSpPr>
        <p:spPr>
          <a:xfrm>
            <a:off x="10390327" y="30906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23,500,000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36208" y="3520440"/>
            <a:ext cx="52056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연평균 상승률(CAGR) </a:t>
            </a:r>
            <a:pPr indent="0" marL="0">
              <a:buNone/>
            </a:pPr>
            <a:r>
              <a:rPr lang="en-US" sz="1400" b="1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11.9%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36208" y="3840480"/>
            <a:ext cx="52056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 누적 상승률 </a:t>
            </a:r>
            <a:pPr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56.7%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90488" y="4892040"/>
            <a:ext cx="52971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국토교통부 개별공시지가 기준 (투자 판단 참고 자료)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66928" y="5349240"/>
            <a:ext cx="11057839" cy="438912"/>
          </a:xfrm>
          <a:prstGeom prst="roundRect">
            <a:avLst>
              <a:gd name="adj" fmla="val 12500"/>
            </a:avLst>
          </a:prstGeom>
          <a:solidFill>
            <a:srgbClr val="E9EEF3"/>
          </a:solidFill>
          <a:ln/>
        </p:spPr>
      </p:sp>
      <p:sp>
        <p:nvSpPr>
          <p:cNvPr id="43" name="Shape 41"/>
          <p:cNvSpPr/>
          <p:nvPr/>
        </p:nvSpPr>
        <p:spPr>
          <a:xfrm>
            <a:off x="566928" y="5404104"/>
            <a:ext cx="36576" cy="329184"/>
          </a:xfrm>
          <a:prstGeom prst="rect">
            <a:avLst/>
          </a:prstGeom>
          <a:solidFill>
            <a:srgbClr val="44637F"/>
          </a:solidFill>
          <a:ln/>
        </p:spPr>
      </p:sp>
      <p:sp>
        <p:nvSpPr>
          <p:cNvPr id="44" name="Text 42"/>
          <p:cNvSpPr/>
          <p:nvPr/>
        </p:nvSpPr>
        <p:spPr>
          <a:xfrm>
            <a:off x="713232" y="544068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13232" y="5641848"/>
            <a:ext cx="108018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5년간 공시지가 연평균 11.9% 상승 → 토지가치 보존력 확인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DOC-M3-STRESS-4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2026-10-02T04:26:16Z</dcterms:created>
  <dcterms:modified xsi:type="dcterms:W3CDTF">2026-10-02T04:26:16Z</dcterms:modified>
</cp:coreProperties>
</file>