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jpeg"/><Relationship Id="rId3" Type="http://schemas.openxmlformats.org/officeDocument/2006/relationships/image" Target="../media/image-2-3.jpeg"/><Relationship Id="rId4" Type="http://schemas.openxmlformats.org/officeDocument/2006/relationships/image" Target="../media/image-2-4.jpeg"/><Relationship Id="rId5" Type="http://schemas.openxmlformats.org/officeDocument/2006/relationships/image" Target="../media/image-2-5.jpe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0"/>
            <a:ext cx="44192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315200" y="457200"/>
            <a:ext cx="5486400" cy="5486400"/>
          </a:xfrm>
          <a:prstGeom prst="ellipse">
            <a:avLst/>
          </a:prstGeom>
          <a:solidFill>
            <a:srgbClr val="0C2A30"/>
          </a:solidFill>
          <a:ln/>
        </p:spPr>
      </p:sp>
      <p:sp>
        <p:nvSpPr>
          <p:cNvPr id="4" name="Shape 1"/>
          <p:cNvSpPr/>
          <p:nvPr/>
        </p:nvSpPr>
        <p:spPr>
          <a:xfrm>
            <a:off x="8229600" y="1371600"/>
            <a:ext cx="3657600" cy="3657600"/>
          </a:xfrm>
          <a:prstGeom prst="ellipse">
            <a:avLst/>
          </a:prstGeom>
          <a:solidFill>
            <a:srgbClr val="0E3640"/>
          </a:solidFill>
          <a:ln/>
        </p:spPr>
      </p:sp>
      <p:sp>
        <p:nvSpPr>
          <p:cNvPr id="5" name="Shape 2"/>
          <p:cNvSpPr/>
          <p:nvPr/>
        </p:nvSpPr>
        <p:spPr>
          <a:xfrm>
            <a:off x="8961120" y="2103120"/>
            <a:ext cx="2194560" cy="2194560"/>
          </a:xfrm>
          <a:prstGeom prst="ellipse">
            <a:avLst/>
          </a:prstGeom>
          <a:solidFill>
            <a:srgbClr val="134E5E"/>
          </a:solidFill>
          <a:ln/>
        </p:spPr>
      </p:sp>
      <p:sp>
        <p:nvSpPr>
          <p:cNvPr id="6" name="Text 3"/>
          <p:cNvSpPr/>
          <p:nvPr/>
        </p:nvSpPr>
        <p:spPr>
          <a:xfrm>
            <a:off x="566928" y="4754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</a:t>
            </a:r>
            <a:pPr indent="0" marL="0">
              <a:buNone/>
            </a:pPr>
            <a:r>
              <a:rPr lang="en-US" sz="15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66928" y="20299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50" kern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IM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66928" y="2304288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성수 IT밸리 130억대 단독 통사옥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566928" y="309067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AFA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단독통사옥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66928" y="3584448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27272A"/>
          </a:solidFill>
          <a:ln/>
        </p:spPr>
      </p:sp>
      <p:sp>
        <p:nvSpPr>
          <p:cNvPr id="11" name="Text 8"/>
          <p:cNvSpPr/>
          <p:nvPr/>
        </p:nvSpPr>
        <p:spPr>
          <a:xfrm>
            <a:off x="566928" y="358444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단독통사옥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1773936" y="3584448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27272A"/>
          </a:solidFill>
          <a:ln/>
        </p:spPr>
      </p:sp>
      <p:sp>
        <p:nvSpPr>
          <p:cNvPr id="13" name="Text 10"/>
          <p:cNvSpPr/>
          <p:nvPr/>
        </p:nvSpPr>
        <p:spPr>
          <a:xfrm>
            <a:off x="1773936" y="358444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130억대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66928" y="4224528"/>
            <a:ext cx="6858000" cy="1225296"/>
          </a:xfrm>
          <a:prstGeom prst="roundRect">
            <a:avLst>
              <a:gd name="adj" fmla="val 2985"/>
            </a:avLst>
          </a:prstGeom>
          <a:solidFill>
            <a:srgbClr val="0891B2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4425696"/>
            <a:ext cx="63459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FFA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130억대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566928" y="78638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CREDEAL CORPORATE PARTNERS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박사옥 기업부동산팀장  |  CREDEAL CORPORATE PARTNERS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19" name="Shape 16"/>
          <p:cNvSpPr/>
          <p:nvPr/>
        </p:nvSpPr>
        <p:spPr>
          <a:xfrm>
            <a:off x="0" y="6473952"/>
            <a:ext cx="109728" cy="38404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0" name="Text 17"/>
          <p:cNvSpPr/>
          <p:nvPr/>
        </p:nvSpPr>
        <p:spPr>
          <a:xfrm>
            <a:off x="566928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CRE-2026-HQ-02</a:t>
            </a:r>
            <a:endParaRPr lang="en-US" sz="700" dirty="0"/>
          </a:p>
        </p:txBody>
      </p:sp>
      <p:sp>
        <p:nvSpPr>
          <p:cNvPr id="21" name="Text 18"/>
          <p:cNvSpPr/>
          <p:nvPr/>
        </p:nvSpPr>
        <p:spPr>
          <a:xfrm>
            <a:off x="10893247" y="651052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12191695" cy="914400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4320"/>
            <a:ext cx="109728" cy="9144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32918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07008" y="329184"/>
            <a:ext cx="104177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Gallery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07008" y="530352"/>
            <a:ext cx="1041775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 사진</a:t>
            </a:r>
            <a:endParaRPr lang="en-US" sz="24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6928" y="1371600"/>
            <a:ext cx="5474056" cy="151180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66928" y="2627376"/>
            <a:ext cx="5474056" cy="256032"/>
          </a:xfrm>
          <a:prstGeom prst="rect">
            <a:avLst/>
          </a:prstGeom>
          <a:solidFill>
            <a:srgbClr val="000000">
              <a:alpha val="50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2627376"/>
            <a:ext cx="5327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테라코타 &amp; 노출콘크리트 모던 사옥 전경</a:t>
            </a:r>
            <a:endParaRPr lang="en-US" sz="7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150712" y="1371600"/>
            <a:ext cx="5474056" cy="1511808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6150712" y="2627376"/>
            <a:ext cx="5474056" cy="256032"/>
          </a:xfrm>
          <a:prstGeom prst="rect">
            <a:avLst/>
          </a:prstGeom>
          <a:solidFill>
            <a:srgbClr val="000000">
              <a:alpha val="50000"/>
            </a:srgbClr>
          </a:solidFill>
          <a:ln/>
        </p:spPr>
      </p:sp>
      <p:sp>
        <p:nvSpPr>
          <p:cNvPr id="12" name="Text 8"/>
          <p:cNvSpPr/>
          <p:nvPr/>
        </p:nvSpPr>
        <p:spPr>
          <a:xfrm>
            <a:off x="6223864" y="2627376"/>
            <a:ext cx="5327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1층 브랜드 쇼룸 및 타운홀 미팅 라운지</a:t>
            </a:r>
            <a:endParaRPr lang="en-US" sz="75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66928" y="2993136"/>
            <a:ext cx="5474056" cy="1511808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566928" y="4248912"/>
            <a:ext cx="5474056" cy="256032"/>
          </a:xfrm>
          <a:prstGeom prst="rect">
            <a:avLst/>
          </a:prstGeom>
          <a:solidFill>
            <a:srgbClr val="000000">
              <a:alpha val="50000"/>
            </a:srgbClr>
          </a:solidFill>
          <a:ln/>
        </p:spPr>
      </p:sp>
      <p:sp>
        <p:nvSpPr>
          <p:cNvPr id="15" name="Text 10"/>
          <p:cNvSpPr/>
          <p:nvPr/>
        </p:nvSpPr>
        <p:spPr>
          <a:xfrm>
            <a:off x="640080" y="4248912"/>
            <a:ext cx="5327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기준층 층고 4.2m 개방형 오픈 오피스</a:t>
            </a:r>
            <a:endParaRPr lang="en-US" sz="75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150712" y="2993136"/>
            <a:ext cx="5474056" cy="1511808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6150712" y="4248912"/>
            <a:ext cx="5474056" cy="256032"/>
          </a:xfrm>
          <a:prstGeom prst="rect">
            <a:avLst/>
          </a:prstGeom>
          <a:solidFill>
            <a:srgbClr val="000000">
              <a:alpha val="50000"/>
            </a:srgbClr>
          </a:solidFill>
          <a:ln/>
        </p:spPr>
      </p:sp>
      <p:sp>
        <p:nvSpPr>
          <p:cNvPr id="18" name="Text 12"/>
          <p:cNvSpPr/>
          <p:nvPr/>
        </p:nvSpPr>
        <p:spPr>
          <a:xfrm>
            <a:off x="6223864" y="4248912"/>
            <a:ext cx="5327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지하 1층 층고 4.5m 대형 스튜디오</a:t>
            </a:r>
            <a:endParaRPr lang="en-US" sz="75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566928" y="4614672"/>
            <a:ext cx="5474056" cy="1511808"/>
          </a:xfrm>
          <a:prstGeom prst="rect">
            <a:avLst/>
          </a:prstGeom>
        </p:spPr>
      </p:pic>
      <p:sp>
        <p:nvSpPr>
          <p:cNvPr id="20" name="Shape 13"/>
          <p:cNvSpPr/>
          <p:nvPr/>
        </p:nvSpPr>
        <p:spPr>
          <a:xfrm>
            <a:off x="566928" y="5870448"/>
            <a:ext cx="5474056" cy="256032"/>
          </a:xfrm>
          <a:prstGeom prst="rect">
            <a:avLst/>
          </a:prstGeom>
          <a:solidFill>
            <a:srgbClr val="000000">
              <a:alpha val="50000"/>
            </a:srgbClr>
          </a:solidFill>
          <a:ln/>
        </p:spPr>
      </p:sp>
      <p:sp>
        <p:nvSpPr>
          <p:cNvPr id="21" name="Text 14"/>
          <p:cNvSpPr/>
          <p:nvPr/>
        </p:nvSpPr>
        <p:spPr>
          <a:xfrm>
            <a:off x="640080" y="5870448"/>
            <a:ext cx="5327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서울숲 조망 루프탑 테라스 정원</a:t>
            </a:r>
            <a:endParaRPr lang="en-US" sz="750" dirty="0"/>
          </a:p>
        </p:txBody>
      </p:sp>
      <p:sp>
        <p:nvSpPr>
          <p:cNvPr id="22" name="Shape 15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23" name="Shape 16"/>
          <p:cNvSpPr/>
          <p:nvPr/>
        </p:nvSpPr>
        <p:spPr>
          <a:xfrm>
            <a:off x="0" y="6473952"/>
            <a:ext cx="109728" cy="38404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4" name="Text 17"/>
          <p:cNvSpPr/>
          <p:nvPr/>
        </p:nvSpPr>
        <p:spPr>
          <a:xfrm>
            <a:off x="566928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1A1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CRE-2026-HQ-02</a:t>
            </a:r>
            <a:endParaRPr lang="en-US" sz="700" dirty="0"/>
          </a:p>
        </p:txBody>
      </p:sp>
      <p:sp>
        <p:nvSpPr>
          <p:cNvPr id="25" name="Text 18"/>
          <p:cNvSpPr/>
          <p:nvPr/>
        </p:nvSpPr>
        <p:spPr>
          <a:xfrm>
            <a:off x="10893247" y="651052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12191695" cy="914400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4320"/>
            <a:ext cx="109728" cy="9144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32918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07008" y="329184"/>
            <a:ext cx="104177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07008" y="530352"/>
            <a:ext cx="1041775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투자 지표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66928" y="1371600"/>
            <a:ext cx="3564026" cy="1280160"/>
          </a:xfrm>
          <a:prstGeom prst="roundRect">
            <a:avLst>
              <a:gd name="adj" fmla="val 4286"/>
            </a:avLst>
          </a:prstGeom>
          <a:solidFill>
            <a:srgbClr val="FAFAFA"/>
          </a:solidFill>
          <a:ln w="6350">
            <a:solidFill>
              <a:srgbClr val="E4E4E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499616"/>
            <a:ext cx="323484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등급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31520" y="1682496"/>
            <a:ext cx="323484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313834" y="1371600"/>
            <a:ext cx="3564026" cy="1280160"/>
          </a:xfrm>
          <a:prstGeom prst="roundRect">
            <a:avLst>
              <a:gd name="adj" fmla="val 4286"/>
            </a:avLst>
          </a:prstGeom>
          <a:solidFill>
            <a:srgbClr val="FAFAFA"/>
          </a:solidFill>
          <a:ln w="6350">
            <a:solidFill>
              <a:srgbClr val="E4E4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78426" y="1499616"/>
            <a:ext cx="323484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소재지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478426" y="1682496"/>
            <a:ext cx="323484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성수권역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8060741" y="1371600"/>
            <a:ext cx="3564026" cy="1280160"/>
          </a:xfrm>
          <a:prstGeom prst="roundRect">
            <a:avLst>
              <a:gd name="adj" fmla="val 4286"/>
            </a:avLst>
          </a:prstGeom>
          <a:solidFill>
            <a:srgbClr val="FAFAFA"/>
          </a:solidFill>
          <a:ln w="6350">
            <a:solidFill>
              <a:srgbClr val="E4E4E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5333" y="1499616"/>
            <a:ext cx="323484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자산유형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8225333" y="1682496"/>
            <a:ext cx="323484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단독통사옥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17" name="Shape 15"/>
          <p:cNvSpPr/>
          <p:nvPr/>
        </p:nvSpPr>
        <p:spPr>
          <a:xfrm>
            <a:off x="0" y="6473952"/>
            <a:ext cx="109728" cy="38404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8" name="Text 16"/>
          <p:cNvSpPr/>
          <p:nvPr/>
        </p:nvSpPr>
        <p:spPr>
          <a:xfrm>
            <a:off x="566928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1A1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CRE-2026-HQ-02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10893247" y="651052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12191695" cy="914400"/>
          </a:xfrm>
          <a:prstGeom prst="rect">
            <a:avLst/>
          </a:prstGeom>
          <a:solidFill>
            <a:srgbClr val="272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4320"/>
            <a:ext cx="109728" cy="9144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32918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07008" y="329184"/>
            <a:ext cx="104177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Disclaimer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07008" y="530352"/>
            <a:ext cx="1041775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표기 기준 및 면책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66928" y="151790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출처 표기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66928" y="1847088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7272A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184708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공부확인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139696" y="1828800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AFA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등기부·대장 등 공적 장부 직접 확인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504688" y="184708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1.00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66928" y="2505456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7272A"/>
          </a:solidFill>
          <a:ln/>
        </p:spPr>
      </p:sp>
      <p:sp>
        <p:nvSpPr>
          <p:cNvPr id="13" name="Text 11"/>
          <p:cNvSpPr/>
          <p:nvPr/>
        </p:nvSpPr>
        <p:spPr>
          <a:xfrm>
            <a:off x="566928" y="2505456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★ 전문가검증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139696" y="2487168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AFA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세무사·감정평가사 등 전문가 확인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504688" y="2505456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0.95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66928" y="3163824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7272A"/>
          </a:solidFill>
          <a:ln/>
        </p:spPr>
      </p:sp>
      <p:sp>
        <p:nvSpPr>
          <p:cNvPr id="17" name="Text 15"/>
          <p:cNvSpPr/>
          <p:nvPr/>
        </p:nvSpPr>
        <p:spPr>
          <a:xfrm>
            <a:off x="566928" y="3163824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▲ 매도인고지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139696" y="3145536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AFA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매도인이 구두 또는 서면으로 고지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504688" y="3163824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0.65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66928" y="3822192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7272A"/>
          </a:solidFill>
          <a:ln/>
        </p:spPr>
      </p:sp>
      <p:sp>
        <p:nvSpPr>
          <p:cNvPr id="21" name="Text 19"/>
          <p:cNvSpPr/>
          <p:nvPr/>
        </p:nvSpPr>
        <p:spPr>
          <a:xfrm>
            <a:off x="566928" y="382219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● 중개인입력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139696" y="3803904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AFA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중개인 현장 조사 및 경험 기반 입력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504688" y="382219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0.60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66928" y="4480560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7272A"/>
          </a:solidFill>
          <a:ln/>
        </p:spPr>
      </p:sp>
      <p:sp>
        <p:nvSpPr>
          <p:cNvPr id="25" name="Text 23"/>
          <p:cNvSpPr/>
          <p:nvPr/>
        </p:nvSpPr>
        <p:spPr>
          <a:xfrm>
            <a:off x="566928" y="448056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◇ AI추정·가정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139696" y="4462272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AFA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시나리오 분석 및 AI 모델 추정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504688" y="448056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0.30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92240" y="1517904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면책 조항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492240" y="1847088"/>
            <a:ext cx="5129784" cy="2615184"/>
          </a:xfrm>
          <a:prstGeom prst="roundRect">
            <a:avLst>
              <a:gd name="adj" fmla="val 1399"/>
            </a:avLst>
          </a:prstGeom>
          <a:solidFill>
            <a:srgbClr val="18181B"/>
          </a:solidFill>
          <a:ln/>
        </p:spPr>
      </p:sp>
      <p:sp>
        <p:nvSpPr>
          <p:cNvPr id="30" name="Text 28"/>
          <p:cNvSpPr/>
          <p:nvPr/>
        </p:nvSpPr>
        <p:spPr>
          <a:xfrm>
            <a:off x="6711696" y="2011680"/>
            <a:ext cx="469087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A1A1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자료는 투자 권유가 아니며, 기재된 정보의 정확성을 보증하지 않습니다.</a:t>
            </a:r>
            <a:endParaRPr lang="en-US" sz="930" dirty="0"/>
          </a:p>
        </p:txBody>
      </p:sp>
      <p:sp>
        <p:nvSpPr>
          <p:cNvPr id="31" name="Shape 29"/>
          <p:cNvSpPr/>
          <p:nvPr/>
        </p:nvSpPr>
        <p:spPr>
          <a:xfrm>
            <a:off x="566928" y="5230368"/>
            <a:ext cx="11057839" cy="6400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2" name="Text 30"/>
          <p:cNvSpPr/>
          <p:nvPr/>
        </p:nvSpPr>
        <p:spPr>
          <a:xfrm>
            <a:off x="786384" y="5321808"/>
            <a:ext cx="106189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FFA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CREDEAL CORPORATE PARTNERS · CRE-2026-HQ-02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34" name="Shape 32"/>
          <p:cNvSpPr/>
          <p:nvPr/>
        </p:nvSpPr>
        <p:spPr>
          <a:xfrm>
            <a:off x="0" y="6473952"/>
            <a:ext cx="109728" cy="38404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5" name="Text 33"/>
          <p:cNvSpPr/>
          <p:nvPr/>
        </p:nvSpPr>
        <p:spPr>
          <a:xfrm>
            <a:off x="566928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CRE-2026-HQ-02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10893247" y="651052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2026-08-15T02:07:38Z</dcterms:created>
  <dcterms:modified xsi:type="dcterms:W3CDTF">2026-08-15T02:07:38Z</dcterms:modified>
</cp:coreProperties>
</file>