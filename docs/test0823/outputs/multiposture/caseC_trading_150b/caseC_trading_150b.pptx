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0"/>
            <a:ext cx="4419295" cy="6858000"/>
          </a:xfrm>
          <a:prstGeom prst="rect">
            <a:avLst/>
          </a:prstGeom>
          <a:solidFill>
            <a:srgbClr val="2A2118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731520"/>
            <a:ext cx="2926080" cy="2377440"/>
          </a:xfrm>
          <a:prstGeom prst="rect">
            <a:avLst/>
          </a:prstGeom>
          <a:solidFill>
            <a:srgbClr val="3D2E1A"/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3657600"/>
            <a:ext cx="3474720" cy="2560320"/>
          </a:xfrm>
          <a:prstGeom prst="rect">
            <a:avLst/>
          </a:prstGeom>
          <a:solidFill>
            <a:srgbClr val="33271A"/>
          </a:solidFill>
          <a:ln/>
        </p:spPr>
      </p:sp>
      <p:sp>
        <p:nvSpPr>
          <p:cNvPr id="5" name="Shape 3"/>
          <p:cNvSpPr/>
          <p:nvPr/>
        </p:nvSpPr>
        <p:spPr>
          <a:xfrm>
            <a:off x="8503920" y="365760"/>
            <a:ext cx="0" cy="6126480"/>
          </a:xfrm>
          <a:prstGeom prst="line">
            <a:avLst/>
          </a:prstGeom>
          <a:noFill/>
          <a:ln w="10160">
            <a:solidFill>
              <a:srgbClr val="B98A2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75320" y="0"/>
            <a:ext cx="1417320" cy="4041648"/>
          </a:xfrm>
          <a:prstGeom prst="rect">
            <a:avLst/>
          </a:prstGeom>
          <a:solidFill>
            <a:srgbClr val="1A2030"/>
          </a:solidFill>
          <a:ln/>
        </p:spPr>
      </p:sp>
      <p:sp>
        <p:nvSpPr>
          <p:cNvPr id="7" name="Shape 5"/>
          <p:cNvSpPr/>
          <p:nvPr/>
        </p:nvSpPr>
        <p:spPr>
          <a:xfrm>
            <a:off x="9784080" y="868680"/>
            <a:ext cx="1143000" cy="3172968"/>
          </a:xfrm>
          <a:prstGeom prst="rect">
            <a:avLst/>
          </a:prstGeom>
          <a:solidFill>
            <a:srgbClr val="161D2B"/>
          </a:solidFill>
          <a:ln/>
        </p:spPr>
      </p:sp>
      <p:sp>
        <p:nvSpPr>
          <p:cNvPr id="8" name="Shape 6"/>
          <p:cNvSpPr/>
          <p:nvPr/>
        </p:nvSpPr>
        <p:spPr>
          <a:xfrm>
            <a:off x="11018520" y="1691640"/>
            <a:ext cx="1170432" cy="2350008"/>
          </a:xfrm>
          <a:prstGeom prst="rect">
            <a:avLst/>
          </a:prstGeom>
          <a:solidFill>
            <a:srgbClr val="2E2718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4754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</a:t>
            </a:r>
            <a:pPr indent="0" marL="0">
              <a:buNone/>
            </a:pPr>
            <a:r>
              <a:rPr lang="en-US" sz="15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66928" y="20299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5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MEMORANDUM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66928" y="2304288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대치동 밸류애드 150억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566928" y="309067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근린생활시설 (밸류애드)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6928" y="3584448"/>
            <a:ext cx="2267712" cy="310896"/>
          </a:xfrm>
          <a:prstGeom prst="roundRect">
            <a:avLst>
              <a:gd name="adj" fmla="val 50000"/>
            </a:avLst>
          </a:prstGeom>
          <a:solidFill>
            <a:srgbClr val="2D3748"/>
          </a:solidFill>
          <a:ln/>
        </p:spPr>
      </p:sp>
      <p:sp>
        <p:nvSpPr>
          <p:cNvPr id="14" name="Text 12"/>
          <p:cNvSpPr/>
          <p:nvPr/>
        </p:nvSpPr>
        <p:spPr>
          <a:xfrm>
            <a:off x="566928" y="3584448"/>
            <a:ext cx="22677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근린생활시설 (밸류애드)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944368" y="3584448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2D3748"/>
          </a:solidFill>
          <a:ln/>
        </p:spPr>
      </p:sp>
      <p:sp>
        <p:nvSpPr>
          <p:cNvPr id="16" name="Text 14"/>
          <p:cNvSpPr/>
          <p:nvPr/>
        </p:nvSpPr>
        <p:spPr>
          <a:xfrm>
            <a:off x="2944368" y="358444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150억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66928" y="4224528"/>
            <a:ext cx="6858000" cy="1225296"/>
          </a:xfrm>
          <a:prstGeom prst="roundRect">
            <a:avLst>
              <a:gd name="adj" fmla="val 2985"/>
            </a:avLst>
          </a:prstGeom>
          <a:solidFill>
            <a:srgbClr val="977024"/>
          </a:solidFill>
          <a:ln w="12700">
            <a:solidFill>
              <a:srgbClr val="B98A2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4425696"/>
            <a:ext cx="63459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3EBD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150억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투자 지표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66928" y="137160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49961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매각 희망가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731520" y="1682496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150억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3377108" y="137160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41700" y="149961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등급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541700" y="1682496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0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6187288" y="137160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51880" y="149961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소재지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351880" y="1682496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대치동 학원가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8997467" y="137160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62059" y="149961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자산유형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9162059" y="1682496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근린생활시설 (밸류애드)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66928" y="342900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770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3대 핵심 투자 포인트 (Investment Highlights)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66928" y="3758184"/>
            <a:ext cx="11057839" cy="585216"/>
          </a:xfrm>
          <a:prstGeom prst="roundRect">
            <a:avLst>
              <a:gd name="adj" fmla="val 7813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76656" y="3867912"/>
            <a:ext cx="411480" cy="365760"/>
          </a:xfrm>
          <a:prstGeom prst="roundRect">
            <a:avLst>
              <a:gd name="adj" fmla="val 10000"/>
            </a:avLst>
          </a:prstGeom>
          <a:solidFill>
            <a:srgbClr val="F3EBDA"/>
          </a:solidFill>
          <a:ln w="6350">
            <a:solidFill>
              <a:srgbClr val="D9B66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6656" y="3867912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770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207008" y="3831336"/>
            <a:ext cx="1028059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입지 가치: 해당 권역 소재 자산으로 중장기 자산 가치 및 안정적 수요 검토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66928" y="4453128"/>
            <a:ext cx="11057839" cy="585216"/>
          </a:xfrm>
          <a:prstGeom prst="roundRect">
            <a:avLst>
              <a:gd name="adj" fmla="val 7813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76656" y="4562856"/>
            <a:ext cx="411480" cy="365760"/>
          </a:xfrm>
          <a:prstGeom prst="roundRect">
            <a:avLst>
              <a:gd name="adj" fmla="val 10000"/>
            </a:avLst>
          </a:prstGeom>
          <a:solidFill>
            <a:srgbClr val="F3EBDA"/>
          </a:solidFill>
          <a:ln w="6350">
            <a:solidFill>
              <a:srgbClr val="D9B66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6656" y="4562856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770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207008" y="4526280"/>
            <a:ext cx="1028059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임대 구조: 적정가 수준의 가격대 및 현 임대차 기반의 현금흐름 분석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66928" y="5148072"/>
            <a:ext cx="11057839" cy="585216"/>
          </a:xfrm>
          <a:prstGeom prst="roundRect">
            <a:avLst>
              <a:gd name="adj" fmla="val 7813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76656" y="5257800"/>
            <a:ext cx="411480" cy="365760"/>
          </a:xfrm>
          <a:prstGeom prst="roundRect">
            <a:avLst>
              <a:gd name="adj" fmla="val 10000"/>
            </a:avLst>
          </a:prstGeom>
          <a:solidFill>
            <a:srgbClr val="F3EBDA"/>
          </a:solidFill>
          <a:ln w="6350">
            <a:solidFill>
              <a:srgbClr val="D9B66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76656" y="525780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770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207008" y="5221224"/>
            <a:ext cx="1028059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실사 점검: 계약서 및 공부 확인을 통한 권리관계·물리적 상태 정밀 진단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1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Closing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58368"/>
            <a:ext cx="1049091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표기 기준 및 면책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66928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2D3748"/>
          </a:solidFill>
          <a:ln/>
        </p:spPr>
      </p:sp>
      <p:sp>
        <p:nvSpPr>
          <p:cNvPr id="7" name="Shape 5"/>
          <p:cNvSpPr/>
          <p:nvPr/>
        </p:nvSpPr>
        <p:spPr>
          <a:xfrm>
            <a:off x="676656" y="1572768"/>
            <a:ext cx="438912" cy="438912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8" name="Text 6"/>
          <p:cNvSpPr/>
          <p:nvPr/>
        </p:nvSpPr>
        <p:spPr>
          <a:xfrm>
            <a:off x="676656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25296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관심 표명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225296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담당 중개사에게 초기 관심 표명 및 상담 요청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155338" y="1600200"/>
            <a:ext cx="146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98A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301642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2D3748"/>
          </a:solidFill>
          <a:ln/>
        </p:spPr>
      </p:sp>
      <p:sp>
        <p:nvSpPr>
          <p:cNvPr id="13" name="Shape 11"/>
          <p:cNvSpPr/>
          <p:nvPr/>
        </p:nvSpPr>
        <p:spPr>
          <a:xfrm>
            <a:off x="4411370" y="1572768"/>
            <a:ext cx="438912" cy="438912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14" name="Text 12"/>
          <p:cNvSpPr/>
          <p:nvPr/>
        </p:nvSpPr>
        <p:spPr>
          <a:xfrm>
            <a:off x="4411370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60010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NDA 체결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60010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비밀유지계약 후 상세 임대차·재무 자료 제공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7890053" y="1600200"/>
            <a:ext cx="146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98A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036357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2D3748"/>
          </a:solidFill>
          <a:ln/>
        </p:spPr>
      </p:sp>
      <p:sp>
        <p:nvSpPr>
          <p:cNvPr id="19" name="Shape 17"/>
          <p:cNvSpPr/>
          <p:nvPr/>
        </p:nvSpPr>
        <p:spPr>
          <a:xfrm>
            <a:off x="8146085" y="1572768"/>
            <a:ext cx="438912" cy="438912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20" name="Text 18"/>
          <p:cNvSpPr/>
          <p:nvPr/>
        </p:nvSpPr>
        <p:spPr>
          <a:xfrm>
            <a:off x="8146085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694725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현장 실사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694725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건물 컨디션 및 설비 직접 확인 후 의향서(LOI) 제출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566928" y="239572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출처 표기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66928" y="2724912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2D3748"/>
          </a:solidFill>
          <a:ln/>
        </p:spPr>
      </p:sp>
      <p:sp>
        <p:nvSpPr>
          <p:cNvPr id="25" name="Text 23"/>
          <p:cNvSpPr/>
          <p:nvPr/>
        </p:nvSpPr>
        <p:spPr>
          <a:xfrm>
            <a:off x="566928" y="272491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공부확인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993392" y="270662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등기부·대장 등 공적 장부 직접 확인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66928" y="3200400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2D3748"/>
          </a:solidFill>
          <a:ln/>
        </p:spPr>
      </p:sp>
      <p:sp>
        <p:nvSpPr>
          <p:cNvPr id="28" name="Text 26"/>
          <p:cNvSpPr/>
          <p:nvPr/>
        </p:nvSpPr>
        <p:spPr>
          <a:xfrm>
            <a:off x="566928" y="320040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★ 전문가검증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1993392" y="318211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세무사·감정평가사 등 전문가 확인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66928" y="3675888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2D3748"/>
          </a:solidFill>
          <a:ln/>
        </p:spPr>
      </p:sp>
      <p:sp>
        <p:nvSpPr>
          <p:cNvPr id="31" name="Text 29"/>
          <p:cNvSpPr/>
          <p:nvPr/>
        </p:nvSpPr>
        <p:spPr>
          <a:xfrm>
            <a:off x="566928" y="367588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▲ 매도인고지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1993392" y="365760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매도인이 구두 또는 서면으로 고지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66928" y="4151376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2D3748"/>
          </a:solidFill>
          <a:ln/>
        </p:spPr>
      </p:sp>
      <p:sp>
        <p:nvSpPr>
          <p:cNvPr id="34" name="Text 32"/>
          <p:cNvSpPr/>
          <p:nvPr/>
        </p:nvSpPr>
        <p:spPr>
          <a:xfrm>
            <a:off x="566928" y="415137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● 중개인입력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1993392" y="413308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중개인 현장 조사 및 경험 기반 입력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66928" y="4626864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2D3748"/>
          </a:solidFill>
          <a:ln/>
        </p:spPr>
      </p:sp>
      <p:sp>
        <p:nvSpPr>
          <p:cNvPr id="37" name="Text 35"/>
          <p:cNvSpPr/>
          <p:nvPr/>
        </p:nvSpPr>
        <p:spPr>
          <a:xfrm>
            <a:off x="566928" y="4626864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◇ AI추정·가정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1993392" y="4608576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시나리오 분석 및 AI 모델 추정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492240" y="2395728"/>
            <a:ext cx="5129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면책 조항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492240" y="2724912"/>
            <a:ext cx="5129784" cy="1645920"/>
          </a:xfrm>
          <a:prstGeom prst="roundRect">
            <a:avLst>
              <a:gd name="adj" fmla="val 2222"/>
            </a:avLst>
          </a:prstGeom>
          <a:solidFill>
            <a:srgbClr val="1C2433"/>
          </a:solidFill>
          <a:ln/>
        </p:spPr>
      </p:sp>
      <p:sp>
        <p:nvSpPr>
          <p:cNvPr id="41" name="Text 39"/>
          <p:cNvSpPr/>
          <p:nvPr/>
        </p:nvSpPr>
        <p:spPr>
          <a:xfrm>
            <a:off x="6675120" y="2834640"/>
            <a:ext cx="4764024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자료는 투자 권유가 아니며, 기재된 정보의 정확성을 보증하지 않습니다.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566928" y="5760720"/>
            <a:ext cx="11057839" cy="457200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43" name="Text 41"/>
          <p:cNvSpPr/>
          <p:nvPr/>
        </p:nvSpPr>
        <p:spPr>
          <a:xfrm>
            <a:off x="749808" y="5806440"/>
            <a:ext cx="106920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3EBD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자료의 모든 수치는 예비 검토용이며, 상세 실사 자료 및 비밀 상담은 담당 전문 중개사를 통해 제공됩니다.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2026-08-23T22:39:52Z</dcterms:created>
  <dcterms:modified xsi:type="dcterms:W3CDTF">2026-08-23T22:39:52Z</dcterms:modified>
</cp:coreProperties>
</file>