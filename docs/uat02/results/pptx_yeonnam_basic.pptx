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772400" y="0"/>
            <a:ext cx="4419295" cy="6858000"/>
          </a:xfrm>
          <a:prstGeom prst="rect">
            <a:avLst/>
          </a:prstGeom>
          <a:solidFill>
            <a:srgbClr val="C8FF00">
              <a:alpha val="2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8778240" y="731520"/>
            <a:ext cx="2926080" cy="2377440"/>
          </a:xfrm>
          <a:prstGeom prst="rect">
            <a:avLst/>
          </a:prstGeom>
          <a:solidFill>
            <a:srgbClr val="C8FF00">
              <a:alpha val="5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8138160" y="3657600"/>
            <a:ext cx="3474720" cy="2560320"/>
          </a:xfrm>
          <a:prstGeom prst="rect">
            <a:avLst/>
          </a:prstGeom>
          <a:solidFill>
            <a:srgbClr val="C8FF00">
              <a:alpha val="40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8503920" y="365760"/>
            <a:ext cx="0" cy="6126480"/>
          </a:xfrm>
          <a:prstGeom prst="line">
            <a:avLst/>
          </a:prstGeom>
          <a:noFill/>
          <a:ln w="10160">
            <a:solidFill>
              <a:srgbClr val="C8FF0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772400" y="0"/>
            <a:ext cx="4419295" cy="6858000"/>
          </a:xfrm>
          <a:prstGeom prst="rect">
            <a:avLst/>
          </a:prstGeom>
          <a:solidFill>
            <a:srgbClr val="C8FF00"/>
          </a:solidFill>
          <a:ln/>
        </p:spPr>
      </p:sp>
      <p:sp>
        <p:nvSpPr>
          <p:cNvPr id="7" name="Shape 5"/>
          <p:cNvSpPr/>
          <p:nvPr/>
        </p:nvSpPr>
        <p:spPr>
          <a:xfrm rot="120000">
            <a:off x="8412480" y="548640"/>
            <a:ext cx="3291840" cy="5760720"/>
          </a:xfrm>
          <a:prstGeom prst="rect">
            <a:avLst/>
          </a:prstGeom>
          <a:solidFill>
            <a:srgbClr val="0F172A">
              <a:alpha val="12000"/>
            </a:srgbClr>
          </a:solidFill>
          <a:ln/>
        </p:spPr>
      </p:sp>
      <p:sp>
        <p:nvSpPr>
          <p:cNvPr id="8" name="Text 6"/>
          <p:cNvSpPr/>
          <p:nvPr/>
        </p:nvSpPr>
        <p:spPr>
          <a:xfrm>
            <a:off x="566928" y="475488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</a:t>
            </a:r>
            <a:pPr indent="0" marL="0">
              <a:buNone/>
            </a:pPr>
            <a:r>
              <a:rPr lang="en-US" sz="1500" b="1" dirty="0">
                <a:solidFill>
                  <a:srgbClr val="C8FF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DEAL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8229600" y="530352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상업용 부동산 투자 플랫폼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566928" y="202996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250" kern="0" dirty="0">
                <a:solidFill>
                  <a:srgbClr val="C8FF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BASIC IM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566928" y="2304288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핵심 입지 상가주택 매각</a:t>
            </a:r>
            <a:endParaRPr lang="en-US" sz="4000" dirty="0"/>
          </a:p>
        </p:txBody>
      </p:sp>
      <p:sp>
        <p:nvSpPr>
          <p:cNvPr id="12" name="Text 10"/>
          <p:cNvSpPr/>
          <p:nvPr/>
        </p:nvSpPr>
        <p:spPr>
          <a:xfrm>
            <a:off x="566928" y="6035040"/>
            <a:ext cx="110578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IM-F2A70B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566928" y="6419088"/>
            <a:ext cx="11057839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크리딜  ·  IM-F2A70B  ·  1</a:t>
            </a:r>
            <a:endParaRPr lang="en-US" sz="750" dirty="0"/>
          </a:p>
        </p:txBody>
      </p:sp>
      <p:sp>
        <p:nvSpPr>
          <p:cNvPr id="14" name="Shape 12"/>
          <p:cNvSpPr/>
          <p:nvPr/>
        </p:nvSpPr>
        <p:spPr>
          <a:xfrm>
            <a:off x="4437172" y="6382512"/>
            <a:ext cx="3317352" cy="0"/>
          </a:xfrm>
          <a:prstGeom prst="line">
            <a:avLst/>
          </a:prstGeom>
          <a:noFill/>
          <a:ln w="6350">
            <a:solidFill>
              <a:srgbClr val="C8FF00"/>
            </a:solidFill>
            <a:prstDash val="solid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384048"/>
            <a:ext cx="45720" cy="731520"/>
          </a:xfrm>
          <a:prstGeom prst="rect">
            <a:avLst/>
          </a:prstGeom>
          <a:solidFill>
            <a:srgbClr val="C8FF00"/>
          </a:solidFill>
          <a:ln/>
        </p:spPr>
      </p:sp>
      <p:sp>
        <p:nvSpPr>
          <p:cNvPr id="3" name="Text 1"/>
          <p:cNvSpPr/>
          <p:nvPr/>
        </p:nvSpPr>
        <p:spPr>
          <a:xfrm>
            <a:off x="768096" y="384048"/>
            <a:ext cx="10856671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C8FF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  Summary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768096" y="585216"/>
            <a:ext cx="10856671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핵심요약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566928" y="1115568"/>
            <a:ext cx="11057839" cy="0"/>
          </a:xfrm>
          <a:prstGeom prst="line">
            <a:avLst/>
          </a:prstGeom>
          <a:noFill/>
          <a:ln w="19050">
            <a:solidFill>
              <a:srgbClr val="C8FF0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66928" y="1188720"/>
            <a:ext cx="11057839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본 자산은 상가주택으로, 상업시설과 주거 기능을 결합한 복합 수익형 부동산입니다. 상가 임대수익과 주거 임대수요를 함께 확보할 수 있는 구조로, 단일 용도 자산 대비 임차수요 분산 및 안정적인 현금흐름 관리에 유리합니다.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66928" y="1691640"/>
            <a:ext cx="11057839" cy="0"/>
          </a:xfrm>
          <a:prstGeom prst="line">
            <a:avLst/>
          </a:prstGeom>
          <a:noFill/>
          <a:ln w="19050">
            <a:solidFill>
              <a:srgbClr val="C8FF0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66928" y="1965960"/>
            <a:ext cx="2627300" cy="1280160"/>
          </a:xfrm>
          <a:prstGeom prst="roundRect">
            <a:avLst>
              <a:gd name="adj" fmla="val 4286"/>
            </a:avLst>
          </a:prstGeom>
          <a:solidFill>
            <a:srgbClr val="F8FAFC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31520" y="2093976"/>
            <a:ext cx="22981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매각 희망가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731520" y="2276856"/>
            <a:ext cx="229811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3377108" y="1965960"/>
            <a:ext cx="2627300" cy="1280160"/>
          </a:xfrm>
          <a:prstGeom prst="roundRect">
            <a:avLst>
              <a:gd name="adj" fmla="val 4286"/>
            </a:avLst>
          </a:prstGeom>
          <a:solidFill>
            <a:srgbClr val="F8FAFC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541700" y="2093976"/>
            <a:ext cx="22981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총 수익률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3541700" y="2276856"/>
            <a:ext cx="229811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6187288" y="1965960"/>
            <a:ext cx="2627300" cy="1280160"/>
          </a:xfrm>
          <a:prstGeom prst="roundRect">
            <a:avLst>
              <a:gd name="adj" fmla="val 4286"/>
            </a:avLst>
          </a:prstGeom>
          <a:solidFill>
            <a:srgbClr val="F8FAFC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351880" y="2093976"/>
            <a:ext cx="22981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연면적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6351880" y="2276856"/>
            <a:ext cx="229811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000" dirty="0"/>
          </a:p>
        </p:txBody>
      </p:sp>
      <p:sp>
        <p:nvSpPr>
          <p:cNvPr id="17" name="Shape 15"/>
          <p:cNvSpPr/>
          <p:nvPr/>
        </p:nvSpPr>
        <p:spPr>
          <a:xfrm>
            <a:off x="8997467" y="1965960"/>
            <a:ext cx="2627300" cy="1280160"/>
          </a:xfrm>
          <a:prstGeom prst="roundRect">
            <a:avLst>
              <a:gd name="adj" fmla="val 4286"/>
            </a:avLst>
          </a:prstGeom>
          <a:solidFill>
            <a:srgbClr val="F8FAFC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162059" y="2093976"/>
            <a:ext cx="22981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공실률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9162059" y="2276856"/>
            <a:ext cx="229811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566928" y="6419088"/>
            <a:ext cx="11057839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크리딜  ·  IM-F2A70B  ·  2</a:t>
            </a:r>
            <a:endParaRPr lang="en-US" sz="750" dirty="0"/>
          </a:p>
        </p:txBody>
      </p:sp>
      <p:sp>
        <p:nvSpPr>
          <p:cNvPr id="21" name="Shape 19"/>
          <p:cNvSpPr/>
          <p:nvPr/>
        </p:nvSpPr>
        <p:spPr>
          <a:xfrm>
            <a:off x="4437172" y="6382512"/>
            <a:ext cx="3317352" cy="0"/>
          </a:xfrm>
          <a:prstGeom prst="line">
            <a:avLst/>
          </a:prstGeom>
          <a:noFill/>
          <a:ln w="6350">
            <a:solidFill>
              <a:srgbClr val="C8FF00"/>
            </a:solidFill>
            <a:prstDash val="solid"/>
          </a:ln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384048"/>
            <a:ext cx="45720" cy="731520"/>
          </a:xfrm>
          <a:prstGeom prst="rect">
            <a:avLst/>
          </a:prstGeom>
          <a:solidFill>
            <a:srgbClr val="C8FF00"/>
          </a:solidFill>
          <a:ln/>
        </p:spPr>
      </p:sp>
      <p:sp>
        <p:nvSpPr>
          <p:cNvPr id="3" name="Text 1"/>
          <p:cNvSpPr/>
          <p:nvPr/>
        </p:nvSpPr>
        <p:spPr>
          <a:xfrm>
            <a:off x="768096" y="384048"/>
            <a:ext cx="10856671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C8FF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  Location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768096" y="585216"/>
            <a:ext cx="10856671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📍 이 입지, 투자할 만한 곳인가?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566928" y="1115568"/>
            <a:ext cx="11057839" cy="0"/>
          </a:xfrm>
          <a:prstGeom prst="line">
            <a:avLst/>
          </a:prstGeom>
          <a:noFill/>
          <a:ln w="19050">
            <a:solidFill>
              <a:srgbClr val="C8FF00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1481328"/>
            <a:ext cx="5120640" cy="41148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053328" y="1481328"/>
            <a:ext cx="557143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입지 / 접근성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6053328" y="1801368"/>
            <a:ext cx="2117147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입지 정보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8170475" y="1801368"/>
            <a:ext cx="34542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입지 / 접근성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6053328" y="2148840"/>
            <a:ext cx="5571439" cy="0"/>
          </a:xfrm>
          <a:prstGeom prst="line">
            <a:avLst/>
          </a:prstGeom>
          <a:noFill/>
          <a:ln w="3810">
            <a:solidFill>
              <a:srgbClr val="CBD5E1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053328" y="2148840"/>
            <a:ext cx="2117147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입지 정보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8170475" y="2148840"/>
            <a:ext cx="34542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본 자산은 상가주택으로서 상업 기능과 주거 기능을 함께 수용할 수 있어, 생활밀착…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6053328" y="2496312"/>
            <a:ext cx="5571439" cy="0"/>
          </a:xfrm>
          <a:prstGeom prst="line">
            <a:avLst/>
          </a:prstGeom>
          <a:noFill/>
          <a:ln w="3810">
            <a:solidFill>
              <a:srgbClr val="CBD5E1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6053328" y="2496312"/>
            <a:ext cx="2117147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입지 정보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8170475" y="2496312"/>
            <a:ext cx="34542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향후에는 주변 권역의 유동인구·배후주거·생활 인프라를 기반으로 1층 상가의 집객력…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566928" y="6419088"/>
            <a:ext cx="11057839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크리딜  ·  IM-F2A70B  ·  3</a:t>
            </a:r>
            <a:endParaRPr lang="en-US" sz="750" dirty="0"/>
          </a:p>
        </p:txBody>
      </p:sp>
      <p:sp>
        <p:nvSpPr>
          <p:cNvPr id="17" name="Shape 14"/>
          <p:cNvSpPr/>
          <p:nvPr/>
        </p:nvSpPr>
        <p:spPr>
          <a:xfrm>
            <a:off x="4437172" y="6382512"/>
            <a:ext cx="3317352" cy="0"/>
          </a:xfrm>
          <a:prstGeom prst="line">
            <a:avLst/>
          </a:prstGeom>
          <a:noFill/>
          <a:ln w="6350">
            <a:solidFill>
              <a:srgbClr val="C8FF00"/>
            </a:solidFill>
            <a:prstDash val="solid"/>
          </a:ln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384048"/>
            <a:ext cx="45720" cy="731520"/>
          </a:xfrm>
          <a:prstGeom prst="rect">
            <a:avLst/>
          </a:prstGeom>
          <a:solidFill>
            <a:srgbClr val="C8FF00"/>
          </a:solidFill>
          <a:ln/>
        </p:spPr>
      </p:sp>
      <p:sp>
        <p:nvSpPr>
          <p:cNvPr id="3" name="Text 1"/>
          <p:cNvSpPr/>
          <p:nvPr/>
        </p:nvSpPr>
        <p:spPr>
          <a:xfrm>
            <a:off x="768096" y="384048"/>
            <a:ext cx="10856671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C8FF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  Building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768096" y="585216"/>
            <a:ext cx="10856671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🏢 이 건물, 어떤 자산인가?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566928" y="1115568"/>
            <a:ext cx="11057839" cy="0"/>
          </a:xfrm>
          <a:prstGeom prst="line">
            <a:avLst/>
          </a:prstGeom>
          <a:noFill/>
          <a:ln w="19050">
            <a:solidFill>
              <a:srgbClr val="C8FF0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66928" y="1371600"/>
            <a:ext cx="6858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자산 개요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66928" y="2011680"/>
            <a:ext cx="6858000" cy="1280160"/>
          </a:xfrm>
          <a:prstGeom prst="roundRect">
            <a:avLst>
              <a:gd name="adj" fmla="val 4286"/>
            </a:avLst>
          </a:prstGeom>
          <a:solidFill>
            <a:srgbClr val="DBEAFE"/>
          </a:solidFill>
          <a:ln/>
        </p:spPr>
      </p:sp>
      <p:sp>
        <p:nvSpPr>
          <p:cNvPr id="8" name="Shape 6"/>
          <p:cNvSpPr/>
          <p:nvPr/>
        </p:nvSpPr>
        <p:spPr>
          <a:xfrm>
            <a:off x="566928" y="2066544"/>
            <a:ext cx="36576" cy="1170432"/>
          </a:xfrm>
          <a:prstGeom prst="rect">
            <a:avLst/>
          </a:prstGeom>
          <a:solidFill>
            <a:srgbClr val="1D4ED8"/>
          </a:solidFill>
          <a:ln/>
        </p:spPr>
      </p:sp>
      <p:sp>
        <p:nvSpPr>
          <p:cNvPr id="9" name="Text 7"/>
          <p:cNvSpPr/>
          <p:nvPr/>
        </p:nvSpPr>
        <p:spPr>
          <a:xfrm>
            <a:off x="749808" y="2121408"/>
            <a:ext cx="65288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D4E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데이터 업데이트 예정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749808" y="2340864"/>
            <a:ext cx="6528816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8000"/>
              </a:lnSpc>
              <a:buNone/>
            </a:pPr>
            <a:r>
              <a:rPr lang="en-US" sz="930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상세 건물 정보는 건축물대장 조회 완료 후 자동으로 업데이트됩니다.</a:t>
            </a:r>
            <a:endParaRPr lang="en-US" sz="930" dirty="0"/>
          </a:p>
        </p:txBody>
      </p:sp>
      <p:sp>
        <p:nvSpPr>
          <p:cNvPr id="11" name="Shape 9"/>
          <p:cNvSpPr/>
          <p:nvPr/>
        </p:nvSpPr>
        <p:spPr>
          <a:xfrm>
            <a:off x="7604608" y="1371600"/>
            <a:ext cx="0" cy="4754880"/>
          </a:xfrm>
          <a:prstGeom prst="line">
            <a:avLst/>
          </a:prstGeom>
          <a:noFill/>
          <a:ln w="8890">
            <a:solidFill>
              <a:srgbClr val="C8FF0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66928" y="6419088"/>
            <a:ext cx="11057839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크리딜  ·  IM-F2A70B  ·  4</a:t>
            </a:r>
            <a:endParaRPr lang="en-US" sz="750" dirty="0"/>
          </a:p>
        </p:txBody>
      </p:sp>
      <p:sp>
        <p:nvSpPr>
          <p:cNvPr id="13" name="Shape 11"/>
          <p:cNvSpPr/>
          <p:nvPr/>
        </p:nvSpPr>
        <p:spPr>
          <a:xfrm>
            <a:off x="4437172" y="6382512"/>
            <a:ext cx="3317352" cy="0"/>
          </a:xfrm>
          <a:prstGeom prst="line">
            <a:avLst/>
          </a:prstGeom>
          <a:noFill/>
          <a:ln w="6350">
            <a:solidFill>
              <a:srgbClr val="C8FF00"/>
            </a:solidFill>
            <a:prstDash val="solid"/>
          </a:ln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384048"/>
            <a:ext cx="45720" cy="731520"/>
          </a:xfrm>
          <a:prstGeom prst="rect">
            <a:avLst/>
          </a:prstGeom>
          <a:solidFill>
            <a:srgbClr val="C8FF00"/>
          </a:solidFill>
          <a:ln/>
        </p:spPr>
      </p:sp>
      <p:sp>
        <p:nvSpPr>
          <p:cNvPr id="3" name="Text 1"/>
          <p:cNvSpPr/>
          <p:nvPr/>
        </p:nvSpPr>
        <p:spPr>
          <a:xfrm>
            <a:off x="768096" y="384048"/>
            <a:ext cx="10856671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C8FF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  Rent Roll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768096" y="585216"/>
            <a:ext cx="10856671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📊 임대 현황과 공실, 실제로 어떤가?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566928" y="1115568"/>
            <a:ext cx="11057839" cy="0"/>
          </a:xfrm>
          <a:prstGeom prst="line">
            <a:avLst/>
          </a:prstGeom>
          <a:noFill/>
          <a:ln w="19050">
            <a:solidFill>
              <a:srgbClr val="C8FF0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66928" y="2011680"/>
            <a:ext cx="11057839" cy="1280160"/>
          </a:xfrm>
          <a:prstGeom prst="roundRect">
            <a:avLst>
              <a:gd name="adj" fmla="val 4286"/>
            </a:avLst>
          </a:prstGeom>
          <a:solidFill>
            <a:srgbClr val="DBEAFE"/>
          </a:solidFill>
          <a:ln/>
        </p:spPr>
      </p:sp>
      <p:sp>
        <p:nvSpPr>
          <p:cNvPr id="7" name="Shape 5"/>
          <p:cNvSpPr/>
          <p:nvPr/>
        </p:nvSpPr>
        <p:spPr>
          <a:xfrm>
            <a:off x="566928" y="2066544"/>
            <a:ext cx="36576" cy="1170432"/>
          </a:xfrm>
          <a:prstGeom prst="rect">
            <a:avLst/>
          </a:prstGeom>
          <a:solidFill>
            <a:srgbClr val="1D4ED8"/>
          </a:solidFill>
          <a:ln/>
        </p:spPr>
      </p:sp>
      <p:sp>
        <p:nvSpPr>
          <p:cNvPr id="8" name="Text 6"/>
          <p:cNvSpPr/>
          <p:nvPr/>
        </p:nvSpPr>
        <p:spPr>
          <a:xfrm>
            <a:off x="749808" y="2121408"/>
            <a:ext cx="10728655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D4E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임대 현황 데이터 준비 중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749808" y="2340864"/>
            <a:ext cx="10728655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8000"/>
              </a:lnSpc>
              <a:buNone/>
            </a:pPr>
            <a:r>
              <a:rPr lang="en-US" sz="930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임대차 현황 데이터는 상세 입력 완료 후 자동으로 업데이트됩니다.</a:t>
            </a:r>
            <a:endParaRPr lang="en-US" sz="930" dirty="0"/>
          </a:p>
        </p:txBody>
      </p:sp>
      <p:sp>
        <p:nvSpPr>
          <p:cNvPr id="10" name="Text 8"/>
          <p:cNvSpPr/>
          <p:nvPr/>
        </p:nvSpPr>
        <p:spPr>
          <a:xfrm>
            <a:off x="566928" y="6419088"/>
            <a:ext cx="11057839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크리딜  ·  IM-F2A70B  ·  5</a:t>
            </a:r>
            <a:endParaRPr lang="en-US" sz="750" dirty="0"/>
          </a:p>
        </p:txBody>
      </p:sp>
      <p:sp>
        <p:nvSpPr>
          <p:cNvPr id="11" name="Shape 9"/>
          <p:cNvSpPr/>
          <p:nvPr/>
        </p:nvSpPr>
        <p:spPr>
          <a:xfrm>
            <a:off x="4437172" y="6382512"/>
            <a:ext cx="3317352" cy="0"/>
          </a:xfrm>
          <a:prstGeom prst="line">
            <a:avLst/>
          </a:prstGeom>
          <a:noFill/>
          <a:ln w="6350">
            <a:solidFill>
              <a:srgbClr val="C8FF00"/>
            </a:solidFill>
            <a:prstDash val="solid"/>
          </a:ln>
        </p:spPr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384048"/>
            <a:ext cx="45720" cy="731520"/>
          </a:xfrm>
          <a:prstGeom prst="rect">
            <a:avLst/>
          </a:prstGeom>
          <a:solidFill>
            <a:srgbClr val="C8FF00"/>
          </a:solidFill>
          <a:ln/>
        </p:spPr>
      </p:sp>
      <p:sp>
        <p:nvSpPr>
          <p:cNvPr id="3" name="Text 1"/>
          <p:cNvSpPr/>
          <p:nvPr/>
        </p:nvSpPr>
        <p:spPr>
          <a:xfrm>
            <a:off x="768096" y="384048"/>
            <a:ext cx="10856671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C8FF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  Risk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768096" y="585216"/>
            <a:ext cx="10856671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⚠️ 숨은 리스크는 없는가?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566928" y="1115568"/>
            <a:ext cx="11057839" cy="0"/>
          </a:xfrm>
          <a:prstGeom prst="line">
            <a:avLst/>
          </a:prstGeom>
          <a:noFill/>
          <a:ln w="19050">
            <a:solidFill>
              <a:srgbClr val="C8FF0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66928" y="1572768"/>
            <a:ext cx="3503066" cy="3200400"/>
          </a:xfrm>
          <a:prstGeom prst="rect">
            <a:avLst/>
          </a:prstGeom>
          <a:solidFill>
            <a:srgbClr val="F8FAFC"/>
          </a:solidFill>
          <a:ln w="3810">
            <a:solidFill>
              <a:srgbClr val="CBD5E1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66928" y="1572768"/>
            <a:ext cx="3503066" cy="36576"/>
          </a:xfrm>
          <a:prstGeom prst="rect">
            <a:avLst/>
          </a:prstGeom>
          <a:solidFill>
            <a:srgbClr val="C8FF00"/>
          </a:solidFill>
          <a:ln/>
        </p:spPr>
      </p:sp>
      <p:sp>
        <p:nvSpPr>
          <p:cNvPr id="8" name="Shape 6"/>
          <p:cNvSpPr/>
          <p:nvPr/>
        </p:nvSpPr>
        <p:spPr>
          <a:xfrm>
            <a:off x="566928" y="1572768"/>
            <a:ext cx="3503066" cy="36576"/>
          </a:xfrm>
          <a:prstGeom prst="rect">
            <a:avLst/>
          </a:prstGeom>
          <a:solidFill>
            <a:srgbClr val="C8FF00"/>
          </a:solidFill>
          <a:ln/>
        </p:spPr>
      </p:sp>
      <p:sp>
        <p:nvSpPr>
          <p:cNvPr id="9" name="Text 7"/>
          <p:cNvSpPr/>
          <p:nvPr/>
        </p:nvSpPr>
        <p:spPr>
          <a:xfrm>
            <a:off x="749808" y="1755648"/>
            <a:ext cx="313730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749808" y="2121408"/>
            <a:ext cx="313730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🔵 준공연도 확인 권장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749808" y="2761488"/>
            <a:ext cx="3137306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344314" y="1572768"/>
            <a:ext cx="3503066" cy="3200400"/>
          </a:xfrm>
          <a:prstGeom prst="rect">
            <a:avLst/>
          </a:prstGeom>
          <a:solidFill>
            <a:srgbClr val="F8FAFC"/>
          </a:solidFill>
          <a:ln w="3810">
            <a:solidFill>
              <a:srgbClr val="CBD5E1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344314" y="1572768"/>
            <a:ext cx="3503066" cy="36576"/>
          </a:xfrm>
          <a:prstGeom prst="rect">
            <a:avLst/>
          </a:prstGeom>
          <a:solidFill>
            <a:srgbClr val="C8FF00"/>
          </a:solidFill>
          <a:ln/>
        </p:spPr>
      </p:sp>
      <p:sp>
        <p:nvSpPr>
          <p:cNvPr id="14" name="Shape 12"/>
          <p:cNvSpPr/>
          <p:nvPr/>
        </p:nvSpPr>
        <p:spPr>
          <a:xfrm>
            <a:off x="4344314" y="1572768"/>
            <a:ext cx="3503066" cy="36576"/>
          </a:xfrm>
          <a:prstGeom prst="rect">
            <a:avLst/>
          </a:prstGeom>
          <a:solidFill>
            <a:srgbClr val="C8FF00"/>
          </a:solidFill>
          <a:ln/>
        </p:spPr>
      </p:sp>
      <p:sp>
        <p:nvSpPr>
          <p:cNvPr id="15" name="Text 13"/>
          <p:cNvSpPr/>
          <p:nvPr/>
        </p:nvSpPr>
        <p:spPr>
          <a:xfrm>
            <a:off x="4527194" y="1755648"/>
            <a:ext cx="313730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🔵 석면 조사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527194" y="2121408"/>
            <a:ext cx="313730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건축 시기 자재 확인 권장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4527194" y="2761488"/>
            <a:ext cx="3137306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8121701" y="1572768"/>
            <a:ext cx="3503066" cy="3200400"/>
          </a:xfrm>
          <a:prstGeom prst="rect">
            <a:avLst/>
          </a:prstGeom>
          <a:solidFill>
            <a:srgbClr val="F8FAFC"/>
          </a:solidFill>
          <a:ln w="3810">
            <a:solidFill>
              <a:srgbClr val="CBD5E1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121701" y="1572768"/>
            <a:ext cx="3503066" cy="36576"/>
          </a:xfrm>
          <a:prstGeom prst="rect">
            <a:avLst/>
          </a:prstGeom>
          <a:solidFill>
            <a:srgbClr val="C8FF00"/>
          </a:solidFill>
          <a:ln/>
        </p:spPr>
      </p:sp>
      <p:sp>
        <p:nvSpPr>
          <p:cNvPr id="20" name="Shape 18"/>
          <p:cNvSpPr/>
          <p:nvPr/>
        </p:nvSpPr>
        <p:spPr>
          <a:xfrm>
            <a:off x="8121701" y="1572768"/>
            <a:ext cx="3503066" cy="36576"/>
          </a:xfrm>
          <a:prstGeom prst="rect">
            <a:avLst/>
          </a:prstGeom>
          <a:solidFill>
            <a:srgbClr val="C8FF00"/>
          </a:solidFill>
          <a:ln/>
        </p:spPr>
      </p:sp>
      <p:sp>
        <p:nvSpPr>
          <p:cNvPr id="21" name="Text 19"/>
          <p:cNvSpPr/>
          <p:nvPr/>
        </p:nvSpPr>
        <p:spPr>
          <a:xfrm>
            <a:off x="8304581" y="1755648"/>
            <a:ext cx="313730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🔵 용도지역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8304581" y="2121408"/>
            <a:ext cx="313730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확인 필요 / 중복지구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8304581" y="2761488"/>
            <a:ext cx="3137306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566928" y="5047488"/>
            <a:ext cx="11057839" cy="896112"/>
          </a:xfrm>
          <a:prstGeom prst="rect">
            <a:avLst/>
          </a:prstGeom>
          <a:solidFill>
            <a:srgbClr val="F8FAFC"/>
          </a:solidFill>
          <a:ln w="3810">
            <a:solidFill>
              <a:srgbClr val="CBD5E1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66928" y="5047488"/>
            <a:ext cx="11057839" cy="36576"/>
          </a:xfrm>
          <a:prstGeom prst="rect">
            <a:avLst/>
          </a:prstGeom>
          <a:solidFill>
            <a:srgbClr val="C8FF00"/>
          </a:solidFill>
          <a:ln/>
        </p:spPr>
      </p:sp>
      <p:sp>
        <p:nvSpPr>
          <p:cNvPr id="26" name="Text 24"/>
          <p:cNvSpPr/>
          <p:nvPr/>
        </p:nvSpPr>
        <p:spPr>
          <a:xfrm>
            <a:off x="749808" y="5230368"/>
            <a:ext cx="10692079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🔶 우선 확인 | 🔵 일반 확인 | 공법 규제 세부 내용은 관할 관청 및 전문가 확인이 필요합니다.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566928" y="6419088"/>
            <a:ext cx="11057839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크리딜  ·  IM-F2A70B  ·  6</a:t>
            </a:r>
            <a:endParaRPr lang="en-US" sz="750" dirty="0"/>
          </a:p>
        </p:txBody>
      </p:sp>
      <p:sp>
        <p:nvSpPr>
          <p:cNvPr id="28" name="Shape 26"/>
          <p:cNvSpPr/>
          <p:nvPr/>
        </p:nvSpPr>
        <p:spPr>
          <a:xfrm>
            <a:off x="4437172" y="6382512"/>
            <a:ext cx="3317352" cy="0"/>
          </a:xfrm>
          <a:prstGeom prst="line">
            <a:avLst/>
          </a:prstGeom>
          <a:noFill/>
          <a:ln w="6350">
            <a:solidFill>
              <a:srgbClr val="C8FF00"/>
            </a:solidFill>
            <a:prstDash val="solid"/>
          </a:ln>
        </p:spPr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384048"/>
            <a:ext cx="45720" cy="731520"/>
          </a:xfrm>
          <a:prstGeom prst="rect">
            <a:avLst/>
          </a:prstGeom>
          <a:solidFill>
            <a:srgbClr val="C8FF00"/>
          </a:solidFill>
          <a:ln/>
        </p:spPr>
      </p:sp>
      <p:sp>
        <p:nvSpPr>
          <p:cNvPr id="3" name="Text 1"/>
          <p:cNvSpPr/>
          <p:nvPr/>
        </p:nvSpPr>
        <p:spPr>
          <a:xfrm>
            <a:off x="768096" y="384048"/>
            <a:ext cx="10856671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C8FF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  Disclaimer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768096" y="585216"/>
            <a:ext cx="10856671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표기 기준 및 면책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566928" y="1115568"/>
            <a:ext cx="11057839" cy="0"/>
          </a:xfrm>
          <a:prstGeom prst="line">
            <a:avLst/>
          </a:prstGeom>
          <a:noFill/>
          <a:ln w="19050">
            <a:solidFill>
              <a:srgbClr val="C8FF0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66928" y="1517904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데이터 출처 표기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66928" y="1847088"/>
            <a:ext cx="1417320" cy="292608"/>
          </a:xfrm>
          <a:prstGeom prst="roundRect">
            <a:avLst>
              <a:gd name="adj" fmla="val 12500"/>
            </a:avLst>
          </a:prstGeom>
          <a:solidFill>
            <a:srgbClr val="334155"/>
          </a:solidFill>
          <a:ln/>
        </p:spPr>
      </p:sp>
      <p:sp>
        <p:nvSpPr>
          <p:cNvPr id="8" name="Text 6"/>
          <p:cNvSpPr/>
          <p:nvPr/>
        </p:nvSpPr>
        <p:spPr>
          <a:xfrm>
            <a:off x="566928" y="1847088"/>
            <a:ext cx="1417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✓ 공부확인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2139696" y="1792224"/>
            <a:ext cx="3566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1F5F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등기부·대장 등 공적 장부 직접 확인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5504688" y="1847088"/>
            <a:ext cx="731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1.00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66928" y="2414016"/>
            <a:ext cx="1417320" cy="292608"/>
          </a:xfrm>
          <a:prstGeom prst="roundRect">
            <a:avLst>
              <a:gd name="adj" fmla="val 12500"/>
            </a:avLst>
          </a:prstGeom>
          <a:solidFill>
            <a:srgbClr val="334155"/>
          </a:solidFill>
          <a:ln/>
        </p:spPr>
      </p:sp>
      <p:sp>
        <p:nvSpPr>
          <p:cNvPr id="12" name="Text 10"/>
          <p:cNvSpPr/>
          <p:nvPr/>
        </p:nvSpPr>
        <p:spPr>
          <a:xfrm>
            <a:off x="566928" y="2414016"/>
            <a:ext cx="1417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★ 전문가검증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2139696" y="2359152"/>
            <a:ext cx="3566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1F5F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세무사·감정평가사 등 전문가 확인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5504688" y="2414016"/>
            <a:ext cx="731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0.95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66928" y="2980944"/>
            <a:ext cx="1417320" cy="292608"/>
          </a:xfrm>
          <a:prstGeom prst="roundRect">
            <a:avLst>
              <a:gd name="adj" fmla="val 12500"/>
            </a:avLst>
          </a:prstGeom>
          <a:solidFill>
            <a:srgbClr val="334155"/>
          </a:solidFill>
          <a:ln/>
        </p:spPr>
      </p:sp>
      <p:sp>
        <p:nvSpPr>
          <p:cNvPr id="16" name="Text 14"/>
          <p:cNvSpPr/>
          <p:nvPr/>
        </p:nvSpPr>
        <p:spPr>
          <a:xfrm>
            <a:off x="566928" y="2980944"/>
            <a:ext cx="1417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▲ 매도인고지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2139696" y="2926080"/>
            <a:ext cx="3566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1F5F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매도인이 구두 또는 서면으로 고지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5504688" y="2980944"/>
            <a:ext cx="731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0.65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566928" y="3547872"/>
            <a:ext cx="1417320" cy="292608"/>
          </a:xfrm>
          <a:prstGeom prst="roundRect">
            <a:avLst>
              <a:gd name="adj" fmla="val 12500"/>
            </a:avLst>
          </a:prstGeom>
          <a:solidFill>
            <a:srgbClr val="334155"/>
          </a:solidFill>
          <a:ln/>
        </p:spPr>
      </p:sp>
      <p:sp>
        <p:nvSpPr>
          <p:cNvPr id="20" name="Text 18"/>
          <p:cNvSpPr/>
          <p:nvPr/>
        </p:nvSpPr>
        <p:spPr>
          <a:xfrm>
            <a:off x="566928" y="3547872"/>
            <a:ext cx="1417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● 중개인입력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2139696" y="3493008"/>
            <a:ext cx="3566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1F5F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중개인 현장 조사 및 경험 기반 입력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5504688" y="3547872"/>
            <a:ext cx="731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0.60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566928" y="4114800"/>
            <a:ext cx="1417320" cy="292608"/>
          </a:xfrm>
          <a:prstGeom prst="roundRect">
            <a:avLst>
              <a:gd name="adj" fmla="val 12500"/>
            </a:avLst>
          </a:prstGeom>
          <a:solidFill>
            <a:srgbClr val="334155"/>
          </a:solidFill>
          <a:ln/>
        </p:spPr>
      </p:sp>
      <p:sp>
        <p:nvSpPr>
          <p:cNvPr id="24" name="Text 22"/>
          <p:cNvSpPr/>
          <p:nvPr/>
        </p:nvSpPr>
        <p:spPr>
          <a:xfrm>
            <a:off x="566928" y="4114800"/>
            <a:ext cx="1417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◇ AI추정·가정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2139696" y="4059936"/>
            <a:ext cx="3566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1F5F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시나리오 분석 및 AI 모델 추정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5504688" y="4114800"/>
            <a:ext cx="731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0.30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6492240" y="1517904"/>
            <a:ext cx="51297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면책 조항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6492240" y="1847088"/>
            <a:ext cx="5129784" cy="2615184"/>
          </a:xfrm>
          <a:prstGeom prst="roundRect">
            <a:avLst>
              <a:gd name="adj" fmla="val 1399"/>
            </a:avLst>
          </a:prstGeom>
          <a:solidFill>
            <a:srgbClr val="1E293B"/>
          </a:solidFill>
          <a:ln/>
        </p:spPr>
      </p:sp>
      <p:sp>
        <p:nvSpPr>
          <p:cNvPr id="29" name="Text 27"/>
          <p:cNvSpPr/>
          <p:nvPr/>
        </p:nvSpPr>
        <p:spPr>
          <a:xfrm>
            <a:off x="6711696" y="2011680"/>
            <a:ext cx="4690872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8000"/>
              </a:lnSpc>
              <a:buNone/>
            </a:pPr>
            <a:r>
              <a:rPr lang="en-US" sz="930" dirty="0">
                <a:solidFill>
                  <a:srgbClr val="94A3B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본 자료는 투자 권유가 아니며, 기재된 정보의 정확성을 보증하지 않습니다.</a:t>
            </a:r>
            <a:endParaRPr lang="en-US" sz="930" dirty="0"/>
          </a:p>
        </p:txBody>
      </p:sp>
      <p:sp>
        <p:nvSpPr>
          <p:cNvPr id="30" name="Shape 28"/>
          <p:cNvSpPr/>
          <p:nvPr/>
        </p:nvSpPr>
        <p:spPr>
          <a:xfrm>
            <a:off x="566928" y="5230368"/>
            <a:ext cx="11057839" cy="640080"/>
          </a:xfrm>
          <a:prstGeom prst="rect">
            <a:avLst/>
          </a:prstGeom>
          <a:solidFill>
            <a:srgbClr val="A3D900"/>
          </a:solidFill>
          <a:ln/>
        </p:spPr>
      </p:sp>
      <p:sp>
        <p:nvSpPr>
          <p:cNvPr id="31" name="Text 29"/>
          <p:cNvSpPr/>
          <p:nvPr/>
        </p:nvSpPr>
        <p:spPr>
          <a:xfrm>
            <a:off x="786384" y="5321808"/>
            <a:ext cx="10618927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5FFC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IM-F2A70B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566928" y="6419088"/>
            <a:ext cx="11057839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크리딜  ·  IM-F2A70B  ·  7</a:t>
            </a:r>
            <a:endParaRPr lang="en-US" sz="750" dirty="0"/>
          </a:p>
        </p:txBody>
      </p:sp>
      <p:sp>
        <p:nvSpPr>
          <p:cNvPr id="33" name="Shape 31"/>
          <p:cNvSpPr/>
          <p:nvPr/>
        </p:nvSpPr>
        <p:spPr>
          <a:xfrm>
            <a:off x="4437172" y="6382512"/>
            <a:ext cx="3317352" cy="0"/>
          </a:xfrm>
          <a:prstGeom prst="line">
            <a:avLst/>
          </a:prstGeom>
          <a:noFill/>
          <a:ln w="6350">
            <a:solidFill>
              <a:srgbClr val="C8FF00"/>
            </a:solidFill>
            <a:prstDash val="solid"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2026-08-12T16:13:54Z</dcterms:created>
  <dcterms:modified xsi:type="dcterms:W3CDTF">2026-08-12T16:13:54Z</dcterms:modified>
</cp:coreProperties>
</file>