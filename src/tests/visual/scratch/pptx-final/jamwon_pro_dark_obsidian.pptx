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"/>
            <a:ext cx="5486400" cy="5486400"/>
          </a:xfrm>
          <a:prstGeom prst="ellipse">
            <a:avLst/>
          </a:prstGeom>
          <a:solidFill>
            <a:srgbClr val="0C2A30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371600"/>
            <a:ext cx="3657600" cy="3657600"/>
          </a:xfrm>
          <a:prstGeom prst="ellipse">
            <a:avLst/>
          </a:prstGeom>
          <a:solidFill>
            <a:srgbClr val="0E3640"/>
          </a:solidFill>
          <a:ln/>
        </p:spPr>
      </p:sp>
      <p:sp>
        <p:nvSpPr>
          <p:cNvPr id="4" name="Shape 2"/>
          <p:cNvSpPr/>
          <p:nvPr/>
        </p:nvSpPr>
        <p:spPr>
          <a:xfrm>
            <a:off x="8961120" y="2103120"/>
            <a:ext cx="2194560" cy="2194560"/>
          </a:xfrm>
          <a:prstGeom prst="ellipse">
            <a:avLst/>
          </a:prstGeom>
          <a:solidFill>
            <a:srgbClr val="134E5E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입지 상가빌딩 매각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 핵심 권역 소재 상가빌딩 물건입니다.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965960"/>
            <a:ext cx="5437480" cy="1280160"/>
          </a:xfrm>
          <a:prstGeom prst="roundRect">
            <a:avLst>
              <a:gd name="adj" fmla="val 4286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93976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31520" y="2276856"/>
            <a:ext cx="510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6692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매물은 서울 핵심 권역 핵심 입지의 안정적인 수익형 자산입니다.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6187288" y="3611880"/>
            <a:ext cx="5437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7" name="Shape 15"/>
          <p:cNvSpPr/>
          <p:nvPr/>
        </p:nvSpPr>
        <p:spPr>
          <a:xfrm>
            <a:off x="6187288" y="3666744"/>
            <a:ext cx="36576" cy="9875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70168" y="3721608"/>
            <a:ext cx="5108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70168" y="3941064"/>
            <a:ext cx="510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🔍 건축물대장 조회 미완료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입지, 투자할 만한 곳인가?</a:t>
            </a:r>
            <a:endParaRPr lang="en-US" sz="2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53328" y="1801368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주요 대중교통 노선 양호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170475" y="1801368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53328" y="2148840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53328" y="2148840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업무 권역 접근성 확보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170475" y="2148840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53328" y="2496312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53328" y="2496312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풍부한 유동인구 및 배후 상권 형성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170475" y="2496312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053328" y="2843784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53328" y="2843784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편의시설 집중 입지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170475" y="2843784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53328" y="3191256"/>
            <a:ext cx="5571439" cy="0"/>
          </a:xfrm>
          <a:prstGeom prst="line">
            <a:avLst/>
          </a:prstGeom>
          <a:noFill/>
          <a:ln w="3810">
            <a:solidFill>
              <a:srgbClr val="E4E4E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53328" y="3191256"/>
            <a:ext cx="2117147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권역 우수 입지, 안정적 임대 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170475" y="3191256"/>
            <a:ext cx="3454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4" name="Shape 21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5" name="Text 22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700784"/>
            <a:ext cx="6858000" cy="1645920"/>
          </a:xfrm>
          <a:prstGeom prst="roundRect">
            <a:avLst>
              <a:gd name="adj" fmla="val 3333"/>
            </a:avLst>
          </a:prstGeom>
          <a:solidFill>
            <a:srgbClr val="DBEAFE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755648"/>
            <a:ext cx="36576" cy="15361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18105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데이터 준비 중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49808" y="2029968"/>
            <a:ext cx="6528816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공적 장부 조회 완료 후 층별 세부 용도, 연면적, 건폐율/용적률이 자동 반영됩니다.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66928" y="3529584"/>
            <a:ext cx="6858000" cy="2560320"/>
          </a:xfrm>
          <a:prstGeom prst="roundRect">
            <a:avLst>
              <a:gd name="adj" fmla="val 2143"/>
            </a:avLst>
          </a:prstGeom>
          <a:solidFill>
            <a:srgbClr val="DBEAFE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3584448"/>
            <a:ext cx="36576" cy="24505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639312"/>
            <a:ext cx="6528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필수 확인 공적 서류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49808" y="3858768"/>
            <a:ext cx="6528816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일반건축물대장 (갑/을구 — 위반건축물 등재 여부 확인)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토지이용계획확인서 (용도지역, 지구단위계획, 저촉 여부)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토지 및 건물 등기사항전부증명서 (근저당, 압류 등 권리관계)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84287" y="1700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18" name="Shape 16"/>
          <p:cNvSpPr/>
          <p:nvPr/>
        </p:nvSpPr>
        <p:spPr>
          <a:xfrm>
            <a:off x="7784287" y="1755648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7967167" y="1810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토지/용도 분석 포인트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967167" y="2029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용도지역/지구별 법정 건폐율 및 용적률 상한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도로 접면 조건(너비 및 코너 여부)과 건축선 후퇴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지구단위계획구역 여부 및 층수/업종 제한 사항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7784287" y="3986784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4041648"/>
            <a:ext cx="36576" cy="19933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409651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실사 및 권리 점검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4315968"/>
            <a:ext cx="3511296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근저당·신탁·가압류 등 권리제한 사항 정밀 실사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현황 도로와 지적도상 도로 일치 여부 확인</a:t>
            </a:r>
            <a:endParaRPr lang="en-US" sz="93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크리딜 전문 자문팀을 통한 공부 정밀 검토 가능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6" name="Shape 24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신축/개발 사업수지와 수익성은?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사업수지 및 개발 타당성 분석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06B6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84287" y="170078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48879" y="1828800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매입비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48879" y="2011680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희망가 기준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7948879" y="2377440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사업비 내 비중 산출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784287" y="2944368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8879" y="3072384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추정 신축 공사비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48879" y="3255264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평당 공사비 산정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948879" y="3621024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연면적 기준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7784287" y="4187952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48879" y="43159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총 사업비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948879" y="4498848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토지비 + 공사비 + 금융/기타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48879" y="4864608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투자금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7784287" y="543153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AFAFA"/>
          </a:solidFill>
          <a:ln w="6350">
            <a:solidFill>
              <a:srgbClr val="E4E4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48879" y="5559552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개발 이익률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948879" y="5742432"/>
            <a:ext cx="3511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15% ~ 25% 수준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948879" y="6108192"/>
            <a:ext cx="35112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시장 상황 연동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7784287" y="667512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6729984"/>
            <a:ext cx="36576" cy="9875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67848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7004304"/>
            <a:ext cx="3511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신축 공사비 및 분양가 변동에 따라 최종 수익률이 달라질 수 있습니다.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0" name="Shape 28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️ 숨은 리스크는 없는가?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 리스크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49808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상가빌딩은 건축물대장·토지이용계획확인서·등기부등본 등 기초 공적장부가 미제공된 상태이므로, 용도지역·지구, 건축물 용도 적합성, 건축법 위반 사항물 표기, 주차장 적법성, 건폐율·용적률 잔여분 및 근저당·가압류 등 권리제한을 거래 전 우선 확인해야 합니다. 또한 소방·전기·승강기·방수·배관 등 핵심 설비의 노후도와 석면 등 유해물질 해당 여부는 향후 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4314" y="1572768"/>
            <a:ext cx="3503066" cy="3200400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4314" y="1572768"/>
            <a:ext cx="45720" cy="3200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4527194" y="1755648"/>
            <a:ext cx="313730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리스크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27194" y="2121408"/>
            <a:ext cx="313730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909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27194" y="2761488"/>
            <a:ext cx="3137306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5047488"/>
            <a:ext cx="11057839" cy="896112"/>
          </a:xfrm>
          <a:prstGeom prst="rect">
            <a:avLst/>
          </a:prstGeom>
          <a:solidFill>
            <a:srgbClr val="FAFAFA"/>
          </a:solidFill>
          <a:ln w="3810">
            <a:solidFill>
              <a:srgbClr val="E4E4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5047488"/>
            <a:ext cx="45720" cy="89611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5230368"/>
            <a:ext cx="10692079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909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내용은 제한된 자료에 기초한 예비 검토로서 법률·세무·건축·수익성을 보장하지 않습니다. 최종 투자 및 계약 전 관할 행정기관 확인, 공적장부 발급, 임대차·권리관계 실사 및 관련 전문가 자문이 필요합니다.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21" name="Shape 19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272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4320"/>
            <a:ext cx="109728" cy="9144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32918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07008" y="329184"/>
            <a:ext cx="104177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5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Disclaimer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530352"/>
            <a:ext cx="1041775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66928" y="15179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1847088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847088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39696" y="182880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504688" y="184708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" y="2505456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2505456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139696" y="248716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04688" y="250545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66928" y="3163824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63824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139696" y="314553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04688" y="31638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822192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822192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39696" y="380390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04688" y="382219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6928" y="4480560"/>
            <a:ext cx="1417320" cy="347472"/>
          </a:xfrm>
          <a:prstGeom prst="roundRect">
            <a:avLst>
              <a:gd name="adj" fmla="val 10526"/>
            </a:avLst>
          </a:prstGeom>
          <a:solidFill>
            <a:srgbClr val="27272A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480560"/>
            <a:ext cx="1417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139696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A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04688" y="4480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1517904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1847088"/>
            <a:ext cx="5129784" cy="2615184"/>
          </a:xfrm>
          <a:prstGeom prst="roundRect">
            <a:avLst>
              <a:gd name="adj" fmla="val 1399"/>
            </a:avLst>
          </a:prstGeom>
          <a:solidFill>
            <a:srgbClr val="18181B"/>
          </a:solidFill>
          <a:ln/>
        </p:spPr>
      </p:sp>
      <p:sp>
        <p:nvSpPr>
          <p:cNvPr id="30" name="Text 28"/>
          <p:cNvSpPr/>
          <p:nvPr/>
        </p:nvSpPr>
        <p:spPr>
          <a:xfrm>
            <a:off x="6711696" y="2011680"/>
            <a:ext cx="46908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30" dirty="0">
                <a:solidFill>
                  <a:srgbClr val="A1A1A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30" dirty="0"/>
          </a:p>
        </p:txBody>
      </p:sp>
      <p:sp>
        <p:nvSpPr>
          <p:cNvPr id="31" name="Shape 29"/>
          <p:cNvSpPr/>
          <p:nvPr/>
        </p:nvSpPr>
        <p:spPr>
          <a:xfrm>
            <a:off x="566928" y="5230368"/>
            <a:ext cx="11057839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2" name="Text 30"/>
          <p:cNvSpPr/>
          <p:nvPr/>
        </p:nvSpPr>
        <p:spPr>
          <a:xfrm>
            <a:off x="786384" y="5321808"/>
            <a:ext cx="1061892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F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9090B"/>
          </a:solidFill>
          <a:ln/>
        </p:spPr>
      </p:sp>
      <p:sp>
        <p:nvSpPr>
          <p:cNvPr id="34" name="Shape 32"/>
          <p:cNvSpPr/>
          <p:nvPr/>
        </p:nvSpPr>
        <p:spPr>
          <a:xfrm>
            <a:off x="0" y="6473952"/>
            <a:ext cx="109728" cy="384048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5" name="Text 33"/>
          <p:cNvSpPr/>
          <p:nvPr/>
        </p:nvSpPr>
        <p:spPr>
          <a:xfrm>
            <a:off x="566928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1717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IM-FE5CBA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0893247" y="6510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2026-08-14T12:42:14Z</dcterms:created>
  <dcterms:modified xsi:type="dcterms:W3CDTF">2026-08-14T12:42:14Z</dcterms:modified>
</cp:coreProperties>
</file>