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510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1097280"/>
            <a:ext cx="8534095" cy="466344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645920"/>
            <a:ext cx="11057839" cy="3108960"/>
          </a:xfrm>
          <a:prstGeom prst="rect">
            <a:avLst/>
          </a:prstGeom>
          <a:solidFill>
            <a:srgbClr val="D4A853">
              <a:alpha val="8000"/>
            </a:srgbClr>
          </a:solidFill>
          <a:ln w="19050">
            <a:solidFill>
              <a:srgbClr val="D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3657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algn="ctr" indent="0" marL="0">
              <a:buNone/>
            </a:pPr>
            <a:r>
              <a:rPr lang="en-US" sz="1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19202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5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1945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 입지 상가주택 매각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핵심요약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상가주택으로, 상업시설과 주거 기능을 결합한 복합 수익형 부동산입니다. 상가 임대수익과 주거 임대수요를 함께 확보할 수 있는 구조로, 단일 용도 자산 대비 임차수요 분산 및 안정적인 현금흐름 관리에 유리합니다.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D4A85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510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Location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📍 이 입지, 투자할 만한 곳인가?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특성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 조건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상가주택으로서 상업 기능과 주거 기능을 함께 수용할 수 있어, 생활밀착…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향후에는 주변 권역의 유동인구·배후주거·생활 인프라를 기반으로 1층 상가의 집객력…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Building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🏢 이 건물, 어떤 자산인가?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00784"/>
            <a:ext cx="6858000" cy="1645920"/>
          </a:xfrm>
          <a:prstGeom prst="roundRect">
            <a:avLst>
              <a:gd name="adj" fmla="val 3333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755648"/>
            <a:ext cx="36576" cy="15361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810512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데이터 준비 중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029968"/>
            <a:ext cx="65288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공적 장부 조회 완료 후 층별 세부 용도, 연면적, 건폐율/용적률이 자동 반영됩니다.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566928" y="3529584"/>
            <a:ext cx="6858000" cy="2560320"/>
          </a:xfrm>
          <a:prstGeom prst="roundRect">
            <a:avLst>
              <a:gd name="adj" fmla="val 2143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584448"/>
            <a:ext cx="36576" cy="2450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639312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확인 공적 서류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858768"/>
            <a:ext cx="652881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일반건축물대장 (갑/을구 — 위반건축물 등재 여부 확인)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토지이용계획확인서 (용도지역, 지구단위계획, 저촉 여부)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토지 및 건물 등기사항전부증명서 (근저당, 압류 등 권리관계)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84287" y="1700784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1755648"/>
            <a:ext cx="36576" cy="19933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토지/용도 분석 포인트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67167" y="2029968"/>
            <a:ext cx="351129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용도지역/지구별 법정 건폐율 및 용적률 상한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도로 접면 조건(너비 및 코너 여부)과 건축선 후퇴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지구단위계획구역 여부 및 층수/업종 제한 사항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7784287" y="3986784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21" name="Shape 19"/>
          <p:cNvSpPr/>
          <p:nvPr/>
        </p:nvSpPr>
        <p:spPr>
          <a:xfrm>
            <a:off x="7784287" y="4041648"/>
            <a:ext cx="36576" cy="19933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7967167" y="4096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실사 및 권리 점검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967167" y="4315968"/>
            <a:ext cx="351129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근저당·신탁·가압류 등 권리제한 사항 정밀 실사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현황 도로와 지적도상 도로 일치 여부 확인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크리딜 전문 자문팀을 통한 공부 정밀 검토 가능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Rent Roll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📊 임대 현황과 공실, 실제로 어떤가?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00784"/>
            <a:ext cx="11057839" cy="13716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755648"/>
            <a:ext cx="36576" cy="12618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810512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029968"/>
            <a:ext cx="1072865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임대차 계약 현황(호실별 보증금, 월차임, 관리비, 만기일)은 소유자/중개인 확인 후 업데이트됩니다.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566928" y="3291840"/>
            <a:ext cx="5437480" cy="2194560"/>
          </a:xfrm>
          <a:prstGeom prst="roundRect">
            <a:avLst>
              <a:gd name="adj" fmla="val 2500"/>
            </a:avLst>
          </a:prstGeom>
          <a:solidFill>
            <a:srgbClr val="DBEAFE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3346704"/>
            <a:ext cx="36576" cy="20848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40156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실사 점검 항목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49808" y="3621024"/>
            <a:ext cx="510829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층별/호실별 임대차 계약서 및 사업자등록 현황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보증금 총액 및 월 임대료 입금 내역(최근 6개월)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렌트프리, 핏아웃 등 특약 조건 존재 여부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6187288" y="3291840"/>
            <a:ext cx="5437480" cy="2194560"/>
          </a:xfrm>
          <a:prstGeom prst="roundRect">
            <a:avLst>
              <a:gd name="adj" fmla="val 2500"/>
            </a:avLst>
          </a:prstGeom>
          <a:solidFill>
            <a:srgbClr val="DBEAFE"/>
          </a:solidFill>
          <a:ln/>
        </p:spPr>
      </p:sp>
      <p:sp>
        <p:nvSpPr>
          <p:cNvPr id="15" name="Shape 13"/>
          <p:cNvSpPr/>
          <p:nvPr/>
        </p:nvSpPr>
        <p:spPr>
          <a:xfrm>
            <a:off x="6187288" y="3346704"/>
            <a:ext cx="36576" cy="20848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370168" y="340156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수익률 분석 유의사항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70168" y="3621024"/>
            <a:ext cx="510829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상가임대차보호법상 10년 계약갱신요구권 적용 여부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주변 시세 대비 적정 임대료(Market Rent) 갭 분석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향후 명도 가능 여부 및 리모델링/신축 타당성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Risk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⚠️ 숨은 리스크는 없는가?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2857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🔵 준공연도 확인 권장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4314" y="1572768"/>
            <a:ext cx="3503066" cy="3200400"/>
          </a:xfrm>
          <a:prstGeom prst="roundRect">
            <a:avLst>
              <a:gd name="adj" fmla="val 2857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3" name="Text 11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🔵 석면 조사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 시기 자재 확인 권장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21701" y="1572768"/>
            <a:ext cx="3503066" cy="3200400"/>
          </a:xfrm>
          <a:prstGeom prst="roundRect">
            <a:avLst>
              <a:gd name="adj" fmla="val 2857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21701" y="1572768"/>
            <a:ext cx="3503066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8" name="Text 16"/>
          <p:cNvSpPr/>
          <p:nvPr/>
        </p:nvSpPr>
        <p:spPr>
          <a:xfrm>
            <a:off x="8304581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🔵 용도지역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04581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 / 중복지구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04581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5047488"/>
            <a:ext cx="11057839" cy="896112"/>
          </a:xfrm>
          <a:prstGeom prst="roundRect">
            <a:avLst>
              <a:gd name="adj" fmla="val 10204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🔶 우선 확인 | 🔵 일반 확인 | 공법 규제 세부 내용은 관할 관청 및 전문가 확인이 필요합니다.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Disclaimer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표기 기준 및 면책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21F45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A843D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1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2026-08-14T12:42:19Z</dcterms:created>
  <dcterms:modified xsi:type="dcterms:W3CDTF">2026-08-14T12:42:19Z</dcterms:modified>
</cp:coreProperties>
</file>