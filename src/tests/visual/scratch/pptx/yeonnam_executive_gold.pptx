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10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1097280"/>
            <a:ext cx="8534095" cy="466344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3108960"/>
          </a:xfrm>
          <a:prstGeom prst="rect">
            <a:avLst/>
          </a:prstGeom>
          <a:solidFill>
            <a:srgbClr val="D4A853">
              <a:alpha val="8000"/>
            </a:srgbClr>
          </a:solidFill>
          <a:ln w="19050">
            <a:solidFill>
              <a:srgbClr val="D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36576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algn="ctr" indent="0" marL="0">
              <a:buNone/>
            </a:pPr>
            <a:r>
              <a:rPr lang="en-US" sz="1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19202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5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194560"/>
            <a:ext cx="1105783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 입지 상가주택 매각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핵심요약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상가주택으로, 상업시설과 주거 기능을 결합한 복합 수익형 부동산입니다. 상가 임대수익과 주거 임대수요를 함께 확보할 수 있는 구조로, 단일 용도 자산 대비 임차수요 분산 및 안정적인 현금흐름 관리에 유리합니다.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D4A85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4F6F9"/>
          </a:solidFill>
          <a:ln w="6350">
            <a:solidFill>
              <a:srgbClr val="D1D8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1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Location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📍 이 입지, 투자할 만한 곳인가?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/ 접근성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상가주택으로서 상업 기능과 주거 기능을 함께 수용할 수 있어, 생활밀착…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D1D8E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정보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향후에는 주변 권역의 유동인구·배후주거·생활 인프라를 기반으로 1층 상가의 집객력…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Building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🏢 이 건물, 어떤 자산인가?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D4A8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Rent Roll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📊 임대 현황과 공실, 실제로 어떤가?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Risk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1128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⚠️ 숨은 리스크는 없는가?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준공연도 확인 권장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4314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4314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3" name="Text 11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석면 조사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시기 자재 확인 권장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572768"/>
            <a:ext cx="3503066" cy="3200400"/>
          </a:xfrm>
          <a:prstGeom prst="roundRect">
            <a:avLst>
              <a:gd name="adj" fmla="val 2857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21701" y="1572768"/>
            <a:ext cx="3503066" cy="36576"/>
          </a:xfrm>
          <a:prstGeom prst="rect">
            <a:avLst/>
          </a:prstGeom>
          <a:solidFill>
            <a:srgbClr val="D4A853"/>
          </a:solidFill>
          <a:ln/>
        </p:spPr>
      </p:sp>
      <p:sp>
        <p:nvSpPr>
          <p:cNvPr id="18" name="Text 16"/>
          <p:cNvSpPr/>
          <p:nvPr/>
        </p:nvSpPr>
        <p:spPr>
          <a:xfrm>
            <a:off x="8304581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🔵 용도지역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04581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 / 중복지구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04581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" y="5047488"/>
            <a:ext cx="11057839" cy="896112"/>
          </a:xfrm>
          <a:prstGeom prst="roundRect">
            <a:avLst>
              <a:gd name="adj" fmla="val 10204"/>
            </a:avLst>
          </a:prstGeom>
          <a:solidFill>
            <a:srgbClr val="F4F6F9"/>
          </a:solidFill>
          <a:ln w="12700">
            <a:solidFill>
              <a:srgbClr val="D1D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112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🔶 우선 확인 | 🔵 일반 확인 | 공법 규제 세부 내용은 관할 관청 및 전문가 확인이 필요합니다.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47472"/>
            <a:ext cx="11057839" cy="0"/>
          </a:xfrm>
          <a:prstGeom prst="line">
            <a:avLst/>
          </a:prstGeom>
          <a:noFill/>
          <a:ln w="6350">
            <a:solidFill>
              <a:srgbClr val="D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38912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·  Disclaimer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105783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표기 기준 및 면책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884280" y="1097280"/>
            <a:ext cx="4423136" cy="0"/>
          </a:xfrm>
          <a:prstGeom prst="line">
            <a:avLst/>
          </a:prstGeom>
          <a:noFill/>
          <a:ln w="12700">
            <a:solidFill>
              <a:srgbClr val="D4A8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1C254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6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21F45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0A0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A843D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1E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" y="6345936"/>
            <a:ext cx="11057839" cy="0"/>
          </a:xfrm>
          <a:prstGeom prst="line">
            <a:avLst/>
          </a:prstGeom>
          <a:noFill/>
          <a:ln w="3810">
            <a:solidFill>
              <a:srgbClr val="D4A8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00800"/>
            <a:ext cx="552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B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IM-F2A70B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1076127" y="64008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D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2026-08-14T12:14:06Z</dcterms:created>
  <dcterms:modified xsi:type="dcterms:W3CDTF">2026-08-14T12:14:06Z</dcterms:modified>
</cp:coreProperties>
</file>