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4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5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초역세권 신축 오피스빌딩(더레드빌딩) 투자설명서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사무용빌딩 (신축오피스)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사무용빌딩 (신축오피스)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4436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13" name="Text 10"/>
          <p:cNvSpPr/>
          <p:nvPr/>
        </p:nvSpPr>
        <p:spPr>
          <a:xfrm>
            <a:off x="294436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016687"/>
          </a:solidFill>
          <a:ln w="12700">
            <a:solidFill>
              <a:srgbClr val="0284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 |  CREDEAL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주요 전경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59856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33008" y="1307592"/>
            <a:ext cx="996696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6233008" y="130759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항공/드론뷰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66928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159856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로비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4" name="Shape 1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25" name="Text 1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신축 자산 · 11개 법인 분산 만실 · 지하 리스업 시 2.71%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284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250.0억 원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125억 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Rate, 기준: NOI)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2.41%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3.85%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66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대지면적: 156.91평 (518.7㎡)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연면적: 전체 753.49평 (2,490.88㎡) / 지상 625.75평 (2,068.60㎡)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건축규모: 지하 1층 ~ 지상 10층 (철근콘크리트, 승강기 1대, 옥외1+기계식22대 주차)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교통 접근성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9호선 역세권 및 대로변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역세권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4번 출구 도보 1분(80m) 대로변 직결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올림픽대로, 서부간선도로, 양화대교 초인접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오피스 수요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 벤처밸리 및 여의도 금융업 배후 수요 지속 유입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8" name="Shape 15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양평동4가 117, 134, 125-2 (3필지 통합)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156.91평 (518.7㎡)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753.49평 (2,490.88㎡) / 지상 625.75평 (2,068.60㎡)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10층 (철근콘크리트, 승강기 1대, 옥외1+기계식22대 주차)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9월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현황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연면적 기준 398.8% (준공업지역 법정 상한 400% 근접)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형태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매매희망가 250억 원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284A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28" name="Shape 25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제원 및 용도 현황은 첨부 건축물대장을 기준으로 합니다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2" name="Shape 2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33" name="Text 3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보증금 총액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5억 3,500만 원  월 임대료 총액: 5,017만 원 (관리비 648만 별도)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110578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공실 현황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68907" y="204825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17.0% (지하 1층 127.7평만 리스업 대기)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110578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임차인 구성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68907" y="245059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디자인스튜디오, IT, 회계법인, 무역상사, 이커머스, 컨설팅 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110578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상임법 분석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68907" y="2852928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호실 전원 환산보증금 9억 이하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분석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Cap Rate 2.41% + 지하 공실 리스업 시 2.71%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0284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Cap Rate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2.41%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1층(127.7평) 리스업 시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7233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638만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잠재 Cap Rate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13141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2.71%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점검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11057839" cy="36576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17320"/>
            <a:ext cx="45720" cy="36576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66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 및 물리적 안전성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적격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398.8%: 법정 상한 400%에 근접, 증축 여력 제한적 → 운영 집중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컨디션: 2018년 준공, 주요 설비 양호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등기: 단일 소유자, 권리제한사항 확인 필요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5193792"/>
            <a:ext cx="45720" cy="621792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07008" y="932688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밸류애드 리스크 없는 완성형 자산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AFAFA"/>
          </a:solidFill>
          <a:ln w="10160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9호선 도보 1분 대로변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AFAFA"/>
          </a:solidFill>
          <a:ln w="10160">
            <a:solidFill>
              <a:srgbClr val="E4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8446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48446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신축, 추가 캡엑스 불필요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AFAFA"/>
          </a:solidFill>
          <a:ln w="10160">
            <a:solidFill>
              <a:srgbClr val="E4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22" name="Shape 20"/>
          <p:cNvSpPr/>
          <p:nvPr/>
        </p:nvSpPr>
        <p:spPr>
          <a:xfrm>
            <a:off x="79552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분산 임차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테넌트로 리스크 분산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AFAFA"/>
          </a:solidFill>
          <a:ln w="10160">
            <a:solidFill>
              <a:srgbClr val="E4E4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28" name="Shape 26"/>
          <p:cNvSpPr/>
          <p:nvPr/>
        </p:nvSpPr>
        <p:spPr>
          <a:xfrm>
            <a:off x="648446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648446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리스업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임대화 시 2.71% 달성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CFFAFE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66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진행 일정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44210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45720" cy="3200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0284A8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의향서 접수 및 임대차 실사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00474" y="3035808"/>
            <a:ext cx="182880" cy="274320"/>
          </a:xfrm>
          <a:prstGeom prst="rightArrow">
            <a:avLst/>
          </a:prstGeom>
          <a:solidFill>
            <a:srgbClr val="E4E4E7"/>
          </a:solidFill>
          <a:ln w="6350">
            <a:solidFill>
              <a:srgbClr val="7171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4794" y="1572768"/>
            <a:ext cx="344210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4794" y="1572768"/>
            <a:ext cx="45720" cy="3200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94250" y="1792224"/>
            <a:ext cx="438912" cy="438912"/>
          </a:xfrm>
          <a:prstGeom prst="ellipse">
            <a:avLst/>
          </a:prstGeom>
          <a:solidFill>
            <a:srgbClr val="0284A8"/>
          </a:solidFill>
          <a:ln/>
        </p:spPr>
      </p:sp>
      <p:sp>
        <p:nvSpPr>
          <p:cNvPr id="17" name="Text 15"/>
          <p:cNvSpPr/>
          <p:nvPr/>
        </p:nvSpPr>
        <p:spPr>
          <a:xfrm>
            <a:off x="4594250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94250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94250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보증금 정산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08341" y="3035808"/>
            <a:ext cx="182880" cy="274320"/>
          </a:xfrm>
          <a:prstGeom prst="rightArrow">
            <a:avLst/>
          </a:prstGeom>
          <a:solidFill>
            <a:srgbClr val="E4E4E7"/>
          </a:solidFill>
          <a:ln w="6350">
            <a:solidFill>
              <a:srgbClr val="7171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2661" y="1572768"/>
            <a:ext cx="344210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2661" y="1572768"/>
            <a:ext cx="45720" cy="3200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23" name="Shape 21"/>
          <p:cNvSpPr/>
          <p:nvPr/>
        </p:nvSpPr>
        <p:spPr>
          <a:xfrm>
            <a:off x="8402117" y="1792224"/>
            <a:ext cx="438912" cy="438912"/>
          </a:xfrm>
          <a:prstGeom prst="ellipse">
            <a:avLst/>
          </a:prstGeom>
          <a:solidFill>
            <a:srgbClr val="0284A8"/>
          </a:solidFill>
          <a:ln/>
        </p:spPr>
      </p:sp>
      <p:sp>
        <p:nvSpPr>
          <p:cNvPr id="24" name="Text 22"/>
          <p:cNvSpPr/>
          <p:nvPr/>
        </p:nvSpPr>
        <p:spPr>
          <a:xfrm>
            <a:off x="8402117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02117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02117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지급 및 관리 인수인계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7272A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0284A8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4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7272A"/>
          </a:solidFill>
          <a:ln/>
        </p:spPr>
      </p:sp>
      <p:sp>
        <p:nvSpPr>
          <p:cNvPr id="14" name="Shape 12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0284A8"/>
          </a:solidFill>
          <a:ln/>
        </p:spPr>
      </p:sp>
      <p:sp>
        <p:nvSpPr>
          <p:cNvPr id="15" name="Text 13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4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7272A"/>
          </a:solidFill>
          <a:ln/>
        </p:spPr>
      </p:sp>
      <p:sp>
        <p:nvSpPr>
          <p:cNvPr id="20" name="Shape 18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0284A8"/>
          </a:solidFill>
          <a:ln/>
        </p:spPr>
      </p:sp>
      <p:sp>
        <p:nvSpPr>
          <p:cNvPr id="21" name="Text 19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7272A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7272A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7272A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7272A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7272A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8181B"/>
          </a:solidFill>
          <a:ln/>
        </p:spPr>
      </p:sp>
      <p:sp>
        <p:nvSpPr>
          <p:cNvPr id="42" name="Text 40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016687"/>
          </a:solidFill>
          <a:ln/>
        </p:spPr>
      </p:sp>
      <p:sp>
        <p:nvSpPr>
          <p:cNvPr id="44" name="Text 42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7" name="Text 45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2026-08-26T06:02:42Z</dcterms:created>
  <dcterms:modified xsi:type="dcterms:W3CDTF">2026-08-26T06:02:42Z</dcterms:modified>
</cp:coreProperties>
</file>